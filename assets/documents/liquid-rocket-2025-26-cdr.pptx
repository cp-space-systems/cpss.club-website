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2.xml" ContentType="application/vnd.openxmlformats-officedocument.theme+xml"/>
  <Override PartName="/ppt/notesSlides/notesSlide1.xml" ContentType="application/vnd.openxmlformats-officedocument.presentationml.notesSlide+xml"/>
  <Override PartName="/ppt/comments/modernComment_103_77ADCD51.xml" ContentType="application/vnd.ms-powerpoint.comments+xml"/>
  <Override PartName="/ppt/notesSlides/notesSlide2.xml" ContentType="application/vnd.openxmlformats-officedocument.presentationml.notesSlide+xml"/>
  <Override PartName="/ppt/comments/modernComment_12D_C1E8239A.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2F_61F04474.xml" ContentType="application/vnd.ms-powerpoint.comments+xml"/>
  <Override PartName="/ppt/notesSlides/notesSlide5.xml" ContentType="application/vnd.openxmlformats-officedocument.presentationml.notesSlide+xml"/>
  <Override PartName="/ppt/comments/modernComment_19E_41CFC87E.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A4_D720166A.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87_B267FA19.xml" ContentType="application/vnd.ms-powerpoint.comments+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227_1626F096.xml" ContentType="application/vnd.ms-powerpoint.comments+xml"/>
  <Override PartName="/ppt/notesSlides/notesSlide19.xml" ContentType="application/vnd.openxmlformats-officedocument.presentationml.notesSlide+xml"/>
  <Override PartName="/ppt/comments/modernComment_18E_B1F233D7.xml" ContentType="application/vnd.ms-powerpoint.comments+xml"/>
  <Override PartName="/ppt/notesSlides/notesSlide20.xml" ContentType="application/vnd.openxmlformats-officedocument.presentationml.notesSlide+xml"/>
  <Override PartName="/ppt/comments/modernComment_18F_E94D2E9.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195_9B71CE6D.xml" ContentType="application/vnd.ms-powerpoint.comments+xml"/>
  <Override PartName="/ppt/notesSlides/notesSlide24.xml" ContentType="application/vnd.openxmlformats-officedocument.presentationml.notesSlide+xml"/>
  <Override PartName="/ppt/comments/modernComment_198_17432CD4.xml" ContentType="application/vnd.ms-powerpoint.comments+xml"/>
  <Override PartName="/ppt/notesSlides/notesSlide25.xml" ContentType="application/vnd.openxmlformats-officedocument.presentationml.notesSlide+xml"/>
  <Override PartName="/ppt/comments/modernComment_199_2D2640A4.xml" ContentType="application/vnd.ms-powerpoint.comment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modernComment_193_D5DB25EC.xml" ContentType="application/vnd.ms-powerpoint.comments+xml"/>
  <Override PartName="/ppt/notesSlides/notesSlide28.xml" ContentType="application/vnd.openxmlformats-officedocument.presentationml.notesSlide+xml"/>
  <Override PartName="/ppt/comments/modernComment_19C_CF9A74D9.xml" ContentType="application/vnd.ms-powerpoint.comments+xml"/>
  <Override PartName="/ppt/comments/modernComment_194_25722753.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196_44A5CD7B.xml" ContentType="application/vnd.ms-powerpoint.comments+xml"/>
  <Override PartName="/ppt/notesSlides/notesSlide31.xml" ContentType="application/vnd.openxmlformats-officedocument.presentationml.notesSlide+xml"/>
  <Override PartName="/ppt/comments/modernComment_21E_E23EE16F.xml" ContentType="application/vnd.ms-powerpoint.comment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1BE_8B19740F.xml" ContentType="application/vnd.ms-powerpoint.comments+xml"/>
  <Override PartName="/ppt/notesSlides/notesSlide36.xml" ContentType="application/vnd.openxmlformats-officedocument.presentationml.notesSlide+xml"/>
  <Override PartName="/ppt/comments/modernComment_1A7_73BC8D8A.xml" ContentType="application/vnd.ms-powerpoint.comments+xml"/>
  <Override PartName="/ppt/notesSlides/notesSlide37.xml" ContentType="application/vnd.openxmlformats-officedocument.presentationml.notesSlide+xml"/>
  <Override PartName="/ppt/comments/modernComment_1A3_5837D4BD.xml" ContentType="application/vnd.ms-powerpoint.comments+xml"/>
  <Override PartName="/ppt/notesSlides/notesSlide38.xml" ContentType="application/vnd.openxmlformats-officedocument.presentationml.notesSlide+xml"/>
  <Override PartName="/ppt/comments/modernComment_1E1_EB5215B1.xml" ContentType="application/vnd.ms-powerpoint.comment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omments/modernComment_1CD_2967EC19.xml" ContentType="application/vnd.ms-powerpoint.comment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225_45AA20C8.xml" ContentType="application/vnd.ms-powerpoint.comment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drawings/drawing1.xml" ContentType="application/vnd.openxmlformats-officedocument.drawingml.chartshapes+xml"/>
  <Override PartName="/ppt/notesSlides/notesSlide4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3.xml" ContentType="application/vnd.openxmlformats-officedocument.themeOverride+xml"/>
  <Override PartName="/ppt/drawings/drawing2.xml" ContentType="application/vnd.openxmlformats-officedocument.drawingml.chartshape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omments/modernComment_1CA_5F977AA4.xml" ContentType="application/vnd.ms-powerpoint.comments+xml"/>
  <Override PartName="/ppt/comments/modernComment_159_1C2E6C9B.xml" ContentType="application/vnd.ms-powerpoint.comments+xml"/>
  <Override PartName="/ppt/comments/modernComment_1B2_61DA371A.xml" ContentType="application/vnd.ms-powerpoint.comment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omments/modernComment_1BF_F2D5BD87.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36"/>
  </p:notesMasterIdLst>
  <p:sldIdLst>
    <p:sldId id="259" r:id="rId5"/>
    <p:sldId id="301" r:id="rId6"/>
    <p:sldId id="302" r:id="rId7"/>
    <p:sldId id="303" r:id="rId8"/>
    <p:sldId id="306" r:id="rId9"/>
    <p:sldId id="414" r:id="rId10"/>
    <p:sldId id="416" r:id="rId11"/>
    <p:sldId id="300" r:id="rId12"/>
    <p:sldId id="496" r:id="rId13"/>
    <p:sldId id="522" r:id="rId14"/>
    <p:sldId id="420" r:id="rId15"/>
    <p:sldId id="495" r:id="rId16"/>
    <p:sldId id="261" r:id="rId17"/>
    <p:sldId id="395" r:id="rId18"/>
    <p:sldId id="380" r:id="rId19"/>
    <p:sldId id="391" r:id="rId20"/>
    <p:sldId id="552" r:id="rId21"/>
    <p:sldId id="527" r:id="rId22"/>
    <p:sldId id="551" r:id="rId23"/>
    <p:sldId id="398" r:id="rId24"/>
    <p:sldId id="399" r:id="rId25"/>
    <p:sldId id="544" r:id="rId26"/>
    <p:sldId id="385" r:id="rId27"/>
    <p:sldId id="506" r:id="rId28"/>
    <p:sldId id="405" r:id="rId29"/>
    <p:sldId id="408" r:id="rId30"/>
    <p:sldId id="409" r:id="rId31"/>
    <p:sldId id="407" r:id="rId32"/>
    <p:sldId id="403" r:id="rId33"/>
    <p:sldId id="412" r:id="rId34"/>
    <p:sldId id="404" r:id="rId35"/>
    <p:sldId id="386" r:id="rId36"/>
    <p:sldId id="406" r:id="rId37"/>
    <p:sldId id="542" r:id="rId38"/>
    <p:sldId id="411" r:id="rId39"/>
    <p:sldId id="467" r:id="rId40"/>
    <p:sldId id="545" r:id="rId41"/>
    <p:sldId id="453" r:id="rId42"/>
    <p:sldId id="471" r:id="rId43"/>
    <p:sldId id="387" r:id="rId44"/>
    <p:sldId id="474" r:id="rId45"/>
    <p:sldId id="462" r:id="rId46"/>
    <p:sldId id="485" r:id="rId47"/>
    <p:sldId id="417" r:id="rId48"/>
    <p:sldId id="446" r:id="rId49"/>
    <p:sldId id="423" r:id="rId50"/>
    <p:sldId id="419" r:id="rId51"/>
    <p:sldId id="510" r:id="rId52"/>
    <p:sldId id="509" r:id="rId53"/>
    <p:sldId id="521" r:id="rId54"/>
    <p:sldId id="481" r:id="rId55"/>
    <p:sldId id="440" r:id="rId56"/>
    <p:sldId id="441" r:id="rId57"/>
    <p:sldId id="442" r:id="rId58"/>
    <p:sldId id="524" r:id="rId59"/>
    <p:sldId id="525" r:id="rId60"/>
    <p:sldId id="461" r:id="rId61"/>
    <p:sldId id="526" r:id="rId62"/>
    <p:sldId id="549" r:id="rId63"/>
    <p:sldId id="379" r:id="rId64"/>
    <p:sldId id="316" r:id="rId65"/>
    <p:sldId id="325" r:id="rId66"/>
    <p:sldId id="541" r:id="rId67"/>
    <p:sldId id="513" r:id="rId68"/>
    <p:sldId id="514" r:id="rId69"/>
    <p:sldId id="515" r:id="rId70"/>
    <p:sldId id="518" r:id="rId71"/>
    <p:sldId id="523" r:id="rId72"/>
    <p:sldId id="352" r:id="rId73"/>
    <p:sldId id="282" r:id="rId74"/>
    <p:sldId id="280" r:id="rId75"/>
    <p:sldId id="454" r:id="rId76"/>
    <p:sldId id="362" r:id="rId77"/>
    <p:sldId id="266" r:id="rId78"/>
    <p:sldId id="356" r:id="rId79"/>
    <p:sldId id="268" r:id="rId80"/>
    <p:sldId id="262" r:id="rId81"/>
    <p:sldId id="425" r:id="rId82"/>
    <p:sldId id="473" r:id="rId83"/>
    <p:sldId id="317" r:id="rId84"/>
    <p:sldId id="477" r:id="rId85"/>
    <p:sldId id="475" r:id="rId86"/>
    <p:sldId id="384" r:id="rId87"/>
    <p:sldId id="478" r:id="rId88"/>
    <p:sldId id="281" r:id="rId89"/>
    <p:sldId id="548" r:id="rId90"/>
    <p:sldId id="546" r:id="rId91"/>
    <p:sldId id="547" r:id="rId92"/>
    <p:sldId id="333" r:id="rId93"/>
    <p:sldId id="295" r:id="rId94"/>
    <p:sldId id="263" r:id="rId95"/>
    <p:sldId id="366" r:id="rId96"/>
    <p:sldId id="458" r:id="rId97"/>
    <p:sldId id="429" r:id="rId98"/>
    <p:sldId id="430" r:id="rId99"/>
    <p:sldId id="431" r:id="rId100"/>
    <p:sldId id="345" r:id="rId101"/>
    <p:sldId id="433" r:id="rId102"/>
    <p:sldId id="432" r:id="rId103"/>
    <p:sldId id="466" r:id="rId104"/>
    <p:sldId id="507" r:id="rId105"/>
    <p:sldId id="508" r:id="rId106"/>
    <p:sldId id="434" r:id="rId107"/>
    <p:sldId id="553" r:id="rId108"/>
    <p:sldId id="265" r:id="rId109"/>
    <p:sldId id="528" r:id="rId110"/>
    <p:sldId id="529" r:id="rId111"/>
    <p:sldId id="530" r:id="rId112"/>
    <p:sldId id="531" r:id="rId113"/>
    <p:sldId id="532" r:id="rId114"/>
    <p:sldId id="533" r:id="rId115"/>
    <p:sldId id="534" r:id="rId116"/>
    <p:sldId id="535" r:id="rId117"/>
    <p:sldId id="536" r:id="rId118"/>
    <p:sldId id="537" r:id="rId119"/>
    <p:sldId id="538" r:id="rId120"/>
    <p:sldId id="539" r:id="rId121"/>
    <p:sldId id="315" r:id="rId122"/>
    <p:sldId id="516" r:id="rId123"/>
    <p:sldId id="469" r:id="rId124"/>
    <p:sldId id="482" r:id="rId125"/>
    <p:sldId id="483" r:id="rId126"/>
    <p:sldId id="520" r:id="rId127"/>
    <p:sldId id="464" r:id="rId128"/>
    <p:sldId id="484" r:id="rId129"/>
    <p:sldId id="511" r:id="rId130"/>
    <p:sldId id="309" r:id="rId131"/>
    <p:sldId id="479" r:id="rId132"/>
    <p:sldId id="459" r:id="rId133"/>
    <p:sldId id="543" r:id="rId134"/>
    <p:sldId id="447" r:id="rId1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DA0A2E3-F770-4431-8BC0-B1B9B9FF0D23}">
          <p14:sldIdLst>
            <p14:sldId id="259"/>
            <p14:sldId id="301"/>
            <p14:sldId id="302"/>
            <p14:sldId id="303"/>
            <p14:sldId id="306"/>
            <p14:sldId id="414"/>
            <p14:sldId id="416"/>
            <p14:sldId id="300"/>
            <p14:sldId id="496"/>
            <p14:sldId id="522"/>
            <p14:sldId id="420"/>
            <p14:sldId id="495"/>
            <p14:sldId id="261"/>
            <p14:sldId id="395"/>
            <p14:sldId id="380"/>
            <p14:sldId id="391"/>
            <p14:sldId id="552"/>
            <p14:sldId id="527"/>
            <p14:sldId id="551"/>
            <p14:sldId id="398"/>
            <p14:sldId id="399"/>
            <p14:sldId id="544"/>
            <p14:sldId id="385"/>
            <p14:sldId id="506"/>
            <p14:sldId id="405"/>
            <p14:sldId id="408"/>
            <p14:sldId id="409"/>
            <p14:sldId id="407"/>
            <p14:sldId id="403"/>
            <p14:sldId id="412"/>
            <p14:sldId id="404"/>
            <p14:sldId id="386"/>
            <p14:sldId id="406"/>
            <p14:sldId id="542"/>
            <p14:sldId id="411"/>
            <p14:sldId id="467"/>
            <p14:sldId id="545"/>
            <p14:sldId id="453"/>
            <p14:sldId id="471"/>
            <p14:sldId id="387"/>
            <p14:sldId id="474"/>
            <p14:sldId id="462"/>
            <p14:sldId id="485"/>
            <p14:sldId id="417"/>
            <p14:sldId id="446"/>
            <p14:sldId id="423"/>
            <p14:sldId id="419"/>
            <p14:sldId id="510"/>
            <p14:sldId id="509"/>
            <p14:sldId id="521"/>
            <p14:sldId id="481"/>
            <p14:sldId id="440"/>
            <p14:sldId id="441"/>
            <p14:sldId id="442"/>
            <p14:sldId id="524"/>
            <p14:sldId id="525"/>
            <p14:sldId id="461"/>
            <p14:sldId id="526"/>
            <p14:sldId id="549"/>
            <p14:sldId id="379"/>
            <p14:sldId id="316"/>
            <p14:sldId id="325"/>
            <p14:sldId id="541"/>
            <p14:sldId id="513"/>
            <p14:sldId id="514"/>
            <p14:sldId id="515"/>
            <p14:sldId id="518"/>
            <p14:sldId id="523"/>
            <p14:sldId id="352"/>
            <p14:sldId id="282"/>
            <p14:sldId id="280"/>
            <p14:sldId id="454"/>
            <p14:sldId id="362"/>
            <p14:sldId id="266"/>
            <p14:sldId id="356"/>
            <p14:sldId id="268"/>
            <p14:sldId id="262"/>
            <p14:sldId id="425"/>
            <p14:sldId id="473"/>
            <p14:sldId id="317"/>
            <p14:sldId id="477"/>
            <p14:sldId id="475"/>
            <p14:sldId id="384"/>
            <p14:sldId id="478"/>
            <p14:sldId id="281"/>
            <p14:sldId id="548"/>
            <p14:sldId id="546"/>
            <p14:sldId id="547"/>
            <p14:sldId id="333"/>
            <p14:sldId id="295"/>
            <p14:sldId id="263"/>
            <p14:sldId id="366"/>
            <p14:sldId id="458"/>
            <p14:sldId id="429"/>
            <p14:sldId id="430"/>
            <p14:sldId id="431"/>
            <p14:sldId id="345"/>
            <p14:sldId id="433"/>
            <p14:sldId id="432"/>
            <p14:sldId id="466"/>
            <p14:sldId id="507"/>
            <p14:sldId id="508"/>
            <p14:sldId id="434"/>
            <p14:sldId id="553"/>
            <p14:sldId id="265"/>
            <p14:sldId id="528"/>
            <p14:sldId id="529"/>
            <p14:sldId id="530"/>
            <p14:sldId id="531"/>
            <p14:sldId id="532"/>
            <p14:sldId id="533"/>
            <p14:sldId id="534"/>
            <p14:sldId id="535"/>
            <p14:sldId id="536"/>
            <p14:sldId id="537"/>
            <p14:sldId id="538"/>
            <p14:sldId id="539"/>
          </p14:sldIdLst>
        </p14:section>
        <p14:section name="Testing" id="{3CF9D647-DFA4-484D-9841-66E94B5E5212}">
          <p14:sldIdLst>
            <p14:sldId id="315"/>
            <p14:sldId id="516"/>
            <p14:sldId id="469"/>
            <p14:sldId id="482"/>
            <p14:sldId id="483"/>
            <p14:sldId id="520"/>
            <p14:sldId id="464"/>
            <p14:sldId id="484"/>
            <p14:sldId id="511"/>
            <p14:sldId id="309"/>
            <p14:sldId id="479"/>
            <p14:sldId id="459"/>
            <p14:sldId id="543"/>
            <p14:sldId id="447"/>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B27701-9A7C-0E3C-397D-297F31B62F88}" name="Timothy Casey Barry" initials="" userId="S::tibarry@calpoly.edu::db5ff5cd-743e-4ca1-b15e-0469afd79d56" providerId="AD"/>
  <p188:author id="{FEC47005-7FA9-81B6-735F-DA52E8190C8C}" name="Conner Pao" initials="CP" userId="S::copao@calpoly.edu::5ae79f09-c075-4981-ab63-14cb31f1af56" providerId="AD"/>
  <p188:author id="{1EB33F17-957E-B4D8-CAA4-050AB487468B}" name="Metztli Singha" initials="MS" userId="S::msingha@calpoly.edu::58e61414-032b-4e68-bbf6-4086a69883e2" providerId="AD"/>
  <p188:author id="{94554C43-8A85-D3A8-A4D2-4D5D6134B728}" name="Sloan Davian Robbins" initials="SR" userId="S::sdrobbin@calpoly.edu::9619f384-cd66-4ebe-ad2b-7ff0762ea216" providerId="AD"/>
  <p188:author id="{16F46D47-40EF-AF25-0299-32ED11499FA3}" name="Elizabeth Ashley Matranga" initials="EM" userId="S::ematrang@calpoly.edu::0436fd68-7b49-4f04-b527-9a620eafe08e" providerId="AD"/>
  <p188:author id="{5C8E7C4D-0532-25FF-E87F-A1CD415D1DAB}" name="Brayant Silva Hernandez" initials="BS" userId="S::bsilvahe@calpoly.edu::30c98785-428f-4ecb-8273-48372d3a096e" providerId="AD"/>
  <p188:author id="{41CD9461-4812-1D10-0BBA-E68222941669}" name="Brandon Nicholas Muck" initials="BM" userId="S::bmuck@calpoly.edu::f4908edd-4efc-4fee-a672-c1658a75784c" providerId="AD"/>
  <p188:author id="{A5EE9762-B04A-ACA7-D08A-625112A523FD}" name="Devin Chen" initials="DC" userId="S::dchen110@calpoly.edu::a0cc3181-89cd-4524-830f-441b40223ed7" providerId="AD"/>
  <p188:author id="{B685C06E-258F-3D96-522B-2EF331BF47F4}" name="Tate Robert Manley" initials="TM" userId="S::trmanley@calpoly.edu::7a769cc2-ac1b-4a15-a174-bc73dfc5bb1e" providerId="AD"/>
  <p188:author id="{CF429D76-0DBF-14F1-34BB-9059ED08F700}" name="Auriel Corazon Soriano" initials="AS" userId="S::acsorian@calpoly.edu::de55cd38-b297-4347-b611-18ef79d9c61b" providerId="AD"/>
  <p188:author id="{E359218E-D0BD-D1B5-EA44-6E3D4927AB00}" name="Juan Pablo Lopez Godina" initials="JL" userId="S::lopezgod@calpoly.edu::24b80656-c65a-42a8-867c-91144eb88cb7" providerId="AD"/>
  <p188:author id="{849D42AE-B138-1CB3-6C48-3D2825550CCA}" name="Kendall Ryane Wilhite" initials="KW" userId="S::kwilhite@calpoly.edu::616df655-aa47-425f-897c-4b0b3ef4e91c" providerId="AD"/>
  <p188:author id="{ADBE0FB5-5363-46AE-2864-5CFF7BEC7C92}" name="Jasmine Cheuklam Cheng" initials="JC" userId="S::jcheng74@calpoly.edu::925333cc-0da8-4708-adb0-f265dbbd90e5" providerId="AD"/>
  <p188:author id="{AC8B5AC5-7988-C296-928E-AA294E5E9992}" name="Joshua L. Chung" initials="JC" userId="S::jchung97@calpoly.edu::33c4e0d6-6d53-4c58-8761-61f7524c3a25" providerId="AD"/>
  <p188:author id="{3B2542DC-5D81-6859-338B-368167A532B4}" name="Tianna Waring" initials="TW" userId="S::twaring@calpoly.edu::fe14226b-7b21-4e0d-8f60-4880e6cdf54a" providerId="AD"/>
  <p188:author id="{B9C3B5DE-EA07-014F-AE73-199304C25B8D}" name="Sean Oxenhorn" initials="SO" userId="S::soxenhor@calpoly.edu::073bf00c-bd78-410d-a655-bed4dd6f1360" providerId="AD"/>
  <p188:author id="{D248EFDE-0C4E-F7D3-D718-2F60F085BE75}" name="Calvin Jay-Ming Fong" initials="CF" userId="S::cfong28@calpoly.edu::c0c53a69-4de3-4927-aa9e-a00ae0d7322b" providerId="AD"/>
  <p188:author id="{EFB807E0-CB45-B64A-2328-831B8DFC25B8}" name="Ryan James Fukui" initials="RF" userId="S::rfukui@calpoly.edu::7a944b96-625c-4b24-bb69-bde5d896ebc3" providerId="AD"/>
  <p188:author id="{397A80EB-6F6A-3032-BFD9-9DE157C0183D}" name="Arjan Reyes" initials="AR" userId="S::areye162@calpoly.edu::e6294f37-aa8a-4c72-b10d-0da3ee269489" providerId="AD"/>
  <p188:author id="{3DF190F2-9B66-377F-B7E0-4ACE95964A70}" name="Gustavo Gabriel Chavez" initials="GC" userId="S::gchave28@calpoly.edu::f2e535f8-59a6-42e4-a0ae-09caeef9144c" providerId="AD"/>
  <p188:author id="{DCC499F5-1A41-2E36-8198-5F486690C7A1}" name="Tyler Thomas Sova" initials="TS" userId="S::tsova@calpoly.edu::00a6b6d3-2135-4194-a246-672cf0cc6088" providerId="AD"/>
  <p188:author id="{AA37F2F5-3874-E43D-51D3-BC2B8AE9E661}" name="Tarzan Ma" initials="TM" userId="S::tma08@calpoly.edu::33a7fda7-a4e9-40a5-8e38-d3d418d050e3" providerId="AD"/>
  <p188:author id="{BBB72BFB-C04A-7D11-13C8-4B2E4CF753C3}" name="Yang Hai" initials="YH" userId="S::yahai@calpoly.edu::aae57e85-cf2b-4332-a01e-a5ef3eefedb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AFEF"/>
    <a:srgbClr val="FFFF00"/>
    <a:srgbClr val="348338"/>
    <a:srgbClr val="E7E9E9"/>
    <a:srgbClr val="CBD1CF"/>
    <a:srgbClr val="F2F0F0"/>
    <a:srgbClr val="8A948F"/>
    <a:srgbClr val="154734"/>
    <a:srgbClr val="2147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0798B6-D7FF-D708-052D-035551077167}" v="1" dt="2026-04-15T16:22:30.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viewProps" Target="viewProp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microsoft.com/office/2015/10/relationships/revisionInfo" Target="revisionInfo.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on Nicholas Muck" userId="S::bmuck@calpoly.edu::f4908edd-4efc-4fee-a672-c1658a75784c" providerId="AD" clId="Web-{480798B6-D7FF-D708-052D-035551077167}"/>
    <pc:docChg chg="modSld">
      <pc:chgData name="Brandon Nicholas Muck" userId="S::bmuck@calpoly.edu::f4908edd-4efc-4fee-a672-c1658a75784c" providerId="AD" clId="Web-{480798B6-D7FF-D708-052D-035551077167}" dt="2026-04-15T16:22:30.266" v="0" actId="1076"/>
      <pc:docMkLst>
        <pc:docMk/>
      </pc:docMkLst>
      <pc:sldChg chg="modSp">
        <pc:chgData name="Brandon Nicholas Muck" userId="S::bmuck@calpoly.edu::f4908edd-4efc-4fee-a672-c1658a75784c" providerId="AD" clId="Web-{480798B6-D7FF-D708-052D-035551077167}" dt="2026-04-15T16:22:30.266" v="0" actId="1076"/>
        <pc:sldMkLst>
          <pc:docMk/>
          <pc:sldMk cId="2807201145" sldId="524"/>
        </pc:sldMkLst>
        <pc:picChg chg="mod">
          <ac:chgData name="Brandon Nicholas Muck" userId="S::bmuck@calpoly.edu::f4908edd-4efc-4fee-a672-c1658a75784c" providerId="AD" clId="Web-{480798B6-D7FF-D708-052D-035551077167}" dt="2026-04-15T16:22:30.266" v="0" actId="1076"/>
          <ac:picMkLst>
            <pc:docMk/>
            <pc:sldMk cId="2807201145" sldId="524"/>
            <ac:picMk id="8" creationId="{DA018550-2CD3-333A-8460-AF174FC8D7C5}"/>
          </ac:picMkLst>
        </pc:picChg>
      </pc:sldChg>
    </pc:docChg>
  </pc:docChgLst>
  <pc:docChgLst>
    <pc:chgData name="Bryan Figueroa Hernandez" userId="S::bfigue05@calpoly.edu::5cc7c27f-485b-4fee-82a5-5be4e3f332e4" providerId="AD" clId="Web-{23C46514-6C18-AF60-CF54-6CA8659B4929}"/>
    <pc:docChg chg="sldOrd">
      <pc:chgData name="Bryan Figueroa Hernandez" userId="S::bfigue05@calpoly.edu::5cc7c27f-485b-4fee-82a5-5be4e3f332e4" providerId="AD" clId="Web-{23C46514-6C18-AF60-CF54-6CA8659B4929}" dt="2026-04-01T07:35:43.290" v="1"/>
      <pc:docMkLst>
        <pc:docMk/>
      </pc:docMkLst>
      <pc:sldChg chg="ord">
        <pc:chgData name="Bryan Figueroa Hernandez" userId="S::bfigue05@calpoly.edu::5cc7c27f-485b-4fee-82a5-5be4e3f332e4" providerId="AD" clId="Web-{23C46514-6C18-AF60-CF54-6CA8659B4929}" dt="2026-04-01T07:35:43.290" v="1"/>
        <pc:sldMkLst>
          <pc:docMk/>
          <pc:sldMk cId="694676505" sldId="461"/>
        </pc:sldMkLst>
      </pc:sldChg>
      <pc:sldChg chg="ord">
        <pc:chgData name="Bryan Figueroa Hernandez" userId="S::bfigue05@calpoly.edu::5cc7c27f-485b-4fee-82a5-5be4e3f332e4" providerId="AD" clId="Web-{23C46514-6C18-AF60-CF54-6CA8659B4929}" dt="2026-04-01T07:33:41.445" v="0"/>
        <pc:sldMkLst>
          <pc:docMk/>
          <pc:sldMk cId="3795771759" sldId="54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cpslo.sharepoint.com/sites/CalPolySpaceSystems/Shared%20Documents/-Liquid%20Project/Test%20Engineering/Testing%20Data/PumpFlows/CF_2_BP2/TestMatrix_CF_2_BP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https://cpslo.sharepoint.com/sites/CalPolySpaceSystems/Shared%20Documents/-Liquid%20Project/Test%20Engineering/Testing%20Data/PumpFlows/CF_2_BP2/TestMatrix_CF_2_BP2.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5" Type="http://schemas.openxmlformats.org/officeDocument/2006/relationships/chartUserShapes" Target="../drawings/drawing1.xml"/><Relationship Id="rId4" Type="http://schemas.openxmlformats.org/officeDocument/2006/relationships/package" Target="../embeddings/Microsoft_Excel_Worksheet_206_294BE7C5.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4.xml"/><Relationship Id="rId1" Type="http://schemas.microsoft.com/office/2011/relationships/chartStyle" Target="style4.xml"/><Relationship Id="rId5" Type="http://schemas.openxmlformats.org/officeDocument/2006/relationships/chartUserShapes" Target="../drawings/drawing2.xml"/><Relationship Id="rId4" Type="http://schemas.openxmlformats.org/officeDocument/2006/relationships/oleObject" Target="https://cpslo-my.sharepoint.com/personal/ewilki06_calpoly_edu/Documents/Liquids%20Wind%20Analysi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spPr>
            <a:ln w="25400" cap="rnd">
              <a:noFill/>
              <a:round/>
            </a:ln>
            <a:effectLst/>
          </c:spPr>
          <c:marker>
            <c:symbol val="circle"/>
            <c:size val="5"/>
            <c:spPr>
              <a:solidFill>
                <a:schemeClr val="accent1"/>
              </a:solidFill>
              <a:ln w="9525">
                <a:solidFill>
                  <a:schemeClr val="accent1"/>
                </a:solidFill>
              </a:ln>
              <a:effectLst/>
            </c:spPr>
          </c:marker>
          <c:xVal>
            <c:numRef>
              <c:f>'30k RPM'!$O$2:$O$19</c:f>
              <c:numCache>
                <c:formatCode>0.00</c:formatCode>
                <c:ptCount val="18"/>
                <c:pt idx="0">
                  <c:v>0</c:v>
                </c:pt>
                <c:pt idx="1">
                  <c:v>0.52834400000000004</c:v>
                </c:pt>
                <c:pt idx="2">
                  <c:v>1.0698966000000001</c:v>
                </c:pt>
                <c:pt idx="3">
                  <c:v>1.6114492</c:v>
                </c:pt>
                <c:pt idx="4">
                  <c:v>2.4567996000000005</c:v>
                </c:pt>
                <c:pt idx="5">
                  <c:v>2.9323092000000002</c:v>
                </c:pt>
                <c:pt idx="6">
                  <c:v>3.2096898000000005</c:v>
                </c:pt>
                <c:pt idx="7">
                  <c:v>3.4210273999999998</c:v>
                </c:pt>
                <c:pt idx="8">
                  <c:v>3.7776596000000002</c:v>
                </c:pt>
                <c:pt idx="9">
                  <c:v>4.1475004000000002</c:v>
                </c:pt>
                <c:pt idx="10">
                  <c:v>4.3588380000000004</c:v>
                </c:pt>
                <c:pt idx="11">
                  <c:v>4.6230100000000007</c:v>
                </c:pt>
                <c:pt idx="12">
                  <c:v>4.8871820000000001</c:v>
                </c:pt>
                <c:pt idx="13">
                  <c:v>5.8646184000000003</c:v>
                </c:pt>
                <c:pt idx="14">
                  <c:v>6.2080420000000007</c:v>
                </c:pt>
                <c:pt idx="15">
                  <c:v>6.3665452000000009</c:v>
                </c:pt>
                <c:pt idx="16">
                  <c:v>7.1194354000000004</c:v>
                </c:pt>
                <c:pt idx="17">
                  <c:v>7.3043557999999997</c:v>
                </c:pt>
              </c:numCache>
            </c:numRef>
          </c:xVal>
          <c:yVal>
            <c:numRef>
              <c:f>'30k RPM'!$F$2:$F$19</c:f>
              <c:numCache>
                <c:formatCode>General</c:formatCode>
                <c:ptCount val="18"/>
                <c:pt idx="0">
                  <c:v>177</c:v>
                </c:pt>
                <c:pt idx="1">
                  <c:v>169</c:v>
                </c:pt>
                <c:pt idx="2">
                  <c:v>166</c:v>
                </c:pt>
                <c:pt idx="3">
                  <c:v>164</c:v>
                </c:pt>
                <c:pt idx="4">
                  <c:v>168</c:v>
                </c:pt>
                <c:pt idx="5">
                  <c:v>172</c:v>
                </c:pt>
                <c:pt idx="6">
                  <c:v>172</c:v>
                </c:pt>
                <c:pt idx="7">
                  <c:v>180</c:v>
                </c:pt>
                <c:pt idx="8">
                  <c:v>175</c:v>
                </c:pt>
                <c:pt idx="9">
                  <c:v>179</c:v>
                </c:pt>
                <c:pt idx="10">
                  <c:v>172</c:v>
                </c:pt>
                <c:pt idx="11">
                  <c:v>175</c:v>
                </c:pt>
                <c:pt idx="12">
                  <c:v>177</c:v>
                </c:pt>
                <c:pt idx="13">
                  <c:v>173</c:v>
                </c:pt>
                <c:pt idx="14">
                  <c:v>170</c:v>
                </c:pt>
                <c:pt idx="15">
                  <c:v>177</c:v>
                </c:pt>
                <c:pt idx="16">
                  <c:v>163</c:v>
                </c:pt>
                <c:pt idx="17">
                  <c:v>85</c:v>
                </c:pt>
              </c:numCache>
            </c:numRef>
          </c:yVal>
          <c:smooth val="0"/>
          <c:extLst>
            <c:ext xmlns:c16="http://schemas.microsoft.com/office/drawing/2014/chart" uri="{C3380CC4-5D6E-409C-BE32-E72D297353CC}">
              <c16:uniqueId val="{00000000-4A1D-4D15-90BD-64F31A568780}"/>
            </c:ext>
          </c:extLst>
        </c:ser>
        <c:dLbls>
          <c:showLegendKey val="0"/>
          <c:showVal val="0"/>
          <c:showCatName val="0"/>
          <c:showSerName val="0"/>
          <c:showPercent val="0"/>
          <c:showBubbleSize val="0"/>
        </c:dLbls>
        <c:axId val="279842015"/>
        <c:axId val="279842495"/>
      </c:scatterChart>
      <c:valAx>
        <c:axId val="279842015"/>
        <c:scaling>
          <c:orientation val="minMax"/>
        </c:scaling>
        <c:delete val="0"/>
        <c:axPos val="b"/>
        <c:majorGridlines>
          <c:spPr>
            <a:ln w="9525" cap="flat" cmpd="sng" algn="ctr">
              <a:solidFill>
                <a:schemeClr val="tx1"/>
              </a:solidFill>
              <a:round/>
            </a:ln>
            <a:effectLst/>
          </c:spPr>
        </c:majorGridlines>
        <c:title>
          <c:tx>
            <c:rich>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Flowrate [GPM]</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279842495"/>
        <c:crosses val="autoZero"/>
        <c:crossBetween val="midCat"/>
      </c:valAx>
      <c:valAx>
        <c:axId val="279842495"/>
        <c:scaling>
          <c:orientation val="minMax"/>
          <c:min val="0"/>
        </c:scaling>
        <c:delete val="0"/>
        <c:axPos val="l"/>
        <c:majorGridlines>
          <c:spPr>
            <a:ln w="9525" cap="flat" cmpd="sng" algn="ctr">
              <a:solidFill>
                <a:schemeClr val="tx1"/>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dP [psi]</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279842015"/>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sz="1200" baseline="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scatterChart>
        <c:scatterStyle val="lineMarker"/>
        <c:varyColors val="0"/>
        <c:ser>
          <c:idx val="0"/>
          <c:order val="0"/>
          <c:spPr>
            <a:ln w="25400" cap="rnd">
              <a:noFill/>
              <a:round/>
            </a:ln>
            <a:effectLst/>
          </c:spPr>
          <c:marker>
            <c:symbol val="circle"/>
            <c:size val="5"/>
            <c:spPr>
              <a:solidFill>
                <a:schemeClr val="accent1"/>
              </a:solidFill>
              <a:ln w="9525">
                <a:solidFill>
                  <a:schemeClr val="accent1"/>
                </a:solidFill>
              </a:ln>
              <a:effectLst/>
            </c:spPr>
          </c:marker>
          <c:xVal>
            <c:numRef>
              <c:f>'30k RPM'!$O$3:$O$19</c:f>
              <c:numCache>
                <c:formatCode>0.00</c:formatCode>
                <c:ptCount val="17"/>
                <c:pt idx="0">
                  <c:v>0.52834400000000004</c:v>
                </c:pt>
                <c:pt idx="1">
                  <c:v>1.0698966000000001</c:v>
                </c:pt>
                <c:pt idx="2">
                  <c:v>1.6114492</c:v>
                </c:pt>
                <c:pt idx="3">
                  <c:v>2.4567996000000005</c:v>
                </c:pt>
                <c:pt idx="4">
                  <c:v>2.9323092000000002</c:v>
                </c:pt>
                <c:pt idx="5">
                  <c:v>3.2096898000000005</c:v>
                </c:pt>
                <c:pt idx="6">
                  <c:v>3.4210273999999998</c:v>
                </c:pt>
                <c:pt idx="7">
                  <c:v>3.7776596000000002</c:v>
                </c:pt>
                <c:pt idx="8">
                  <c:v>4.1475004000000002</c:v>
                </c:pt>
                <c:pt idx="9">
                  <c:v>4.3588380000000004</c:v>
                </c:pt>
                <c:pt idx="10">
                  <c:v>4.6230100000000007</c:v>
                </c:pt>
                <c:pt idx="11">
                  <c:v>4.8871820000000001</c:v>
                </c:pt>
                <c:pt idx="12">
                  <c:v>5.8646184000000003</c:v>
                </c:pt>
                <c:pt idx="13">
                  <c:v>6.2080420000000007</c:v>
                </c:pt>
                <c:pt idx="14">
                  <c:v>6.3665452000000009</c:v>
                </c:pt>
                <c:pt idx="15">
                  <c:v>7.1194354000000004</c:v>
                </c:pt>
                <c:pt idx="16">
                  <c:v>7.3043557999999997</c:v>
                </c:pt>
              </c:numCache>
            </c:numRef>
          </c:xVal>
          <c:yVal>
            <c:numRef>
              <c:f>'30k RPM'!$N$3:$N$19</c:f>
              <c:numCache>
                <c:formatCode>0.00%</c:formatCode>
                <c:ptCount val="17"/>
                <c:pt idx="0">
                  <c:v>3.1313562436914091E-2</c:v>
                </c:pt>
                <c:pt idx="1">
                  <c:v>6.0429348402273195E-2</c:v>
                </c:pt>
                <c:pt idx="2">
                  <c:v>8.6723785081545199E-2</c:v>
                </c:pt>
                <c:pt idx="3">
                  <c:v>0.12591485947737538</c:v>
                </c:pt>
                <c:pt idx="4">
                  <c:v>0.14697872673237874</c:v>
                </c:pt>
                <c:pt idx="5">
                  <c:v>0.1561549142384222</c:v>
                </c:pt>
                <c:pt idx="6">
                  <c:v>0.17355725217480042</c:v>
                </c:pt>
                <c:pt idx="7">
                  <c:v>0.1815585901191055</c:v>
                </c:pt>
                <c:pt idx="8">
                  <c:v>0.20032935919794173</c:v>
                </c:pt>
                <c:pt idx="9">
                  <c:v>0.20375494815377121</c:v>
                </c:pt>
                <c:pt idx="10">
                  <c:v>0.21459184935135223</c:v>
                </c:pt>
                <c:pt idx="11">
                  <c:v>0.22823813585284186</c:v>
                </c:pt>
                <c:pt idx="12">
                  <c:v>0.24416235259137714</c:v>
                </c:pt>
                <c:pt idx="13">
                  <c:v>0.25330178503669926</c:v>
                </c:pt>
                <c:pt idx="14">
                  <c:v>0.26831689521618823</c:v>
                </c:pt>
                <c:pt idx="15">
                  <c:v>0.25483933486346905</c:v>
                </c:pt>
                <c:pt idx="16">
                  <c:v>0.11934009985184861</c:v>
                </c:pt>
              </c:numCache>
            </c:numRef>
          </c:yVal>
          <c:smooth val="0"/>
          <c:extLst>
            <c:ext xmlns:c16="http://schemas.microsoft.com/office/drawing/2014/chart" uri="{C3380CC4-5D6E-409C-BE32-E72D297353CC}">
              <c16:uniqueId val="{00000000-4A1D-4D15-90BD-64F31A568780}"/>
            </c:ext>
          </c:extLst>
        </c:ser>
        <c:dLbls>
          <c:showLegendKey val="0"/>
          <c:showVal val="0"/>
          <c:showCatName val="0"/>
          <c:showSerName val="0"/>
          <c:showPercent val="0"/>
          <c:showBubbleSize val="0"/>
        </c:dLbls>
        <c:axId val="279842015"/>
        <c:axId val="279842495"/>
      </c:scatterChart>
      <c:valAx>
        <c:axId val="279842015"/>
        <c:scaling>
          <c:orientation val="minMax"/>
        </c:scaling>
        <c:delete val="0"/>
        <c:axPos val="b"/>
        <c:majorGridlines>
          <c:spPr>
            <a:ln w="9525" cap="flat" cmpd="sng" algn="ctr">
              <a:solidFill>
                <a:schemeClr val="tx1"/>
              </a:solidFill>
              <a:round/>
            </a:ln>
            <a:effectLst/>
          </c:spPr>
        </c:majorGridlines>
        <c:title>
          <c:tx>
            <c:rich>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Flowrate [GPM]</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279842495"/>
        <c:crosses val="autoZero"/>
        <c:crossBetween val="midCat"/>
      </c:valAx>
      <c:valAx>
        <c:axId val="279842495"/>
        <c:scaling>
          <c:orientation val="minMax"/>
          <c:min val="0"/>
        </c:scaling>
        <c:delete val="0"/>
        <c:axPos val="l"/>
        <c:majorGridlines>
          <c:spPr>
            <a:ln w="9525" cap="flat" cmpd="sng" algn="ctr">
              <a:solidFill>
                <a:schemeClr val="tx1"/>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r>
                  <a:rPr lang="en-US"/>
                  <a:t>Efficiency</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279842015"/>
        <c:crosses val="autoZero"/>
        <c:crossBetween val="midCat"/>
      </c:valAx>
      <c:spPr>
        <a:noFill/>
        <a:ln>
          <a:noFill/>
        </a:ln>
        <a:effectLst/>
      </c:spPr>
    </c:plotArea>
    <c:plotVisOnly val="1"/>
    <c:dispBlanksAs val="gap"/>
    <c:showDLblsOverMax val="0"/>
    <c:extLst/>
  </c:chart>
  <c:spPr>
    <a:solidFill>
      <a:schemeClr val="bg1"/>
    </a:solidFill>
    <a:ln>
      <a:noFill/>
    </a:ln>
    <a:effectLst/>
  </c:spPr>
  <c:txPr>
    <a:bodyPr/>
    <a:lstStyle/>
    <a:p>
      <a:pPr>
        <a:defRPr sz="1200" baseline="0">
          <a:solidFill>
            <a:schemeClr val="tx1"/>
          </a:solidFill>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r>
              <a:rPr lang="en-US" sz="2000" b="1"/>
              <a:t>Drag</a:t>
            </a:r>
            <a:r>
              <a:rPr lang="en-US" sz="2000" b="1" baseline="0"/>
              <a:t> Coefficient vs Mach Comparison</a:t>
            </a:r>
            <a:endParaRPr lang="en-US" sz="2000" b="1"/>
          </a:p>
        </c:rich>
      </c:tx>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390452922349987"/>
          <c:y val="0.11405611961199412"/>
          <c:w val="0.83277106909425413"/>
          <c:h val="0.69616992540911771"/>
        </c:manualLayout>
      </c:layout>
      <c:scatterChart>
        <c:scatterStyle val="lineMarker"/>
        <c:varyColors val="0"/>
        <c:ser>
          <c:idx val="1"/>
          <c:order val="0"/>
          <c:tx>
            <c:v>OpenRocket</c:v>
          </c:tx>
          <c:spPr>
            <a:ln w="25400" cap="rnd">
              <a:noFill/>
              <a:round/>
            </a:ln>
            <a:effectLst/>
          </c:spPr>
          <c:marker>
            <c:symbol val="circle"/>
            <c:size val="5"/>
            <c:spPr>
              <a:solidFill>
                <a:schemeClr val="accent1"/>
              </a:solidFill>
              <a:ln w="9525">
                <a:solidFill>
                  <a:schemeClr val="accent1"/>
                </a:solidFill>
              </a:ln>
              <a:effectLst/>
            </c:spPr>
          </c:marker>
          <c:xVal>
            <c:numRef>
              <c:f>'Cd vs Mach'!$B$17:$B$279</c:f>
              <c:numCache>
                <c:formatCode>General</c:formatCode>
                <c:ptCount val="263"/>
                <c:pt idx="0">
                  <c:v>6.0000000000000001E-3</c:v>
                </c:pt>
                <c:pt idx="1">
                  <c:v>7.0000000000000001E-3</c:v>
                </c:pt>
                <c:pt idx="2">
                  <c:v>8.0000000000000002E-3</c:v>
                </c:pt>
                <c:pt idx="3">
                  <c:v>8.9999999999999993E-3</c:v>
                </c:pt>
                <c:pt idx="4">
                  <c:v>0.01</c:v>
                </c:pt>
                <c:pt idx="5">
                  <c:v>1.0999999999999999E-2</c:v>
                </c:pt>
                <c:pt idx="6">
                  <c:v>1.2E-2</c:v>
                </c:pt>
                <c:pt idx="7">
                  <c:v>1.2999999999999999E-2</c:v>
                </c:pt>
                <c:pt idx="8">
                  <c:v>1.4E-2</c:v>
                </c:pt>
                <c:pt idx="9">
                  <c:v>1.4999999999999999E-2</c:v>
                </c:pt>
                <c:pt idx="10">
                  <c:v>1.6E-2</c:v>
                </c:pt>
                <c:pt idx="11">
                  <c:v>1.7000000000000001E-2</c:v>
                </c:pt>
                <c:pt idx="12">
                  <c:v>1.7999999999999999E-2</c:v>
                </c:pt>
                <c:pt idx="13">
                  <c:v>1.9E-2</c:v>
                </c:pt>
                <c:pt idx="14">
                  <c:v>0.02</c:v>
                </c:pt>
                <c:pt idx="15">
                  <c:v>2.1000000000000001E-2</c:v>
                </c:pt>
                <c:pt idx="16">
                  <c:v>2.1999999999999999E-2</c:v>
                </c:pt>
                <c:pt idx="17">
                  <c:v>2.3E-2</c:v>
                </c:pt>
                <c:pt idx="18">
                  <c:v>2.4E-2</c:v>
                </c:pt>
                <c:pt idx="19">
                  <c:v>2.5000000000000001E-2</c:v>
                </c:pt>
                <c:pt idx="20">
                  <c:v>2.5999999999999999E-2</c:v>
                </c:pt>
                <c:pt idx="21">
                  <c:v>2.7E-2</c:v>
                </c:pt>
                <c:pt idx="22">
                  <c:v>2.8000000000000001E-2</c:v>
                </c:pt>
                <c:pt idx="23">
                  <c:v>2.9000000000000001E-2</c:v>
                </c:pt>
                <c:pt idx="24">
                  <c:v>0.03</c:v>
                </c:pt>
                <c:pt idx="25">
                  <c:v>3.1E-2</c:v>
                </c:pt>
                <c:pt idx="26">
                  <c:v>3.2000000000000001E-2</c:v>
                </c:pt>
                <c:pt idx="27">
                  <c:v>3.3000000000000002E-2</c:v>
                </c:pt>
                <c:pt idx="28">
                  <c:v>3.4000000000000002E-2</c:v>
                </c:pt>
                <c:pt idx="29">
                  <c:v>3.5000000000000003E-2</c:v>
                </c:pt>
                <c:pt idx="30">
                  <c:v>3.5999999999999997E-2</c:v>
                </c:pt>
                <c:pt idx="31">
                  <c:v>3.6999999999999998E-2</c:v>
                </c:pt>
                <c:pt idx="32">
                  <c:v>3.7999999999999999E-2</c:v>
                </c:pt>
                <c:pt idx="33">
                  <c:v>3.9E-2</c:v>
                </c:pt>
                <c:pt idx="34">
                  <c:v>0.04</c:v>
                </c:pt>
                <c:pt idx="35">
                  <c:v>4.1000000000000002E-2</c:v>
                </c:pt>
                <c:pt idx="36">
                  <c:v>4.2000000000000003E-2</c:v>
                </c:pt>
                <c:pt idx="37">
                  <c:v>4.2999999999999997E-2</c:v>
                </c:pt>
                <c:pt idx="38">
                  <c:v>4.3999999999999997E-2</c:v>
                </c:pt>
                <c:pt idx="39">
                  <c:v>4.4999999999999998E-2</c:v>
                </c:pt>
                <c:pt idx="40">
                  <c:v>4.5999999999999999E-2</c:v>
                </c:pt>
                <c:pt idx="41">
                  <c:v>4.7E-2</c:v>
                </c:pt>
                <c:pt idx="42">
                  <c:v>4.8000000000000001E-2</c:v>
                </c:pt>
                <c:pt idx="43">
                  <c:v>4.9000000000000002E-2</c:v>
                </c:pt>
                <c:pt idx="44">
                  <c:v>0.05</c:v>
                </c:pt>
                <c:pt idx="45">
                  <c:v>5.0999999999999997E-2</c:v>
                </c:pt>
                <c:pt idx="46">
                  <c:v>5.1999999999999998E-2</c:v>
                </c:pt>
                <c:pt idx="47">
                  <c:v>5.2999999999999999E-2</c:v>
                </c:pt>
                <c:pt idx="48">
                  <c:v>5.3999999999999999E-2</c:v>
                </c:pt>
                <c:pt idx="49">
                  <c:v>5.5E-2</c:v>
                </c:pt>
                <c:pt idx="50">
                  <c:v>5.6000000000000001E-2</c:v>
                </c:pt>
                <c:pt idx="51">
                  <c:v>5.7000000000000002E-2</c:v>
                </c:pt>
                <c:pt idx="52">
                  <c:v>5.8000000000000003E-2</c:v>
                </c:pt>
                <c:pt idx="53">
                  <c:v>5.8999999999999997E-2</c:v>
                </c:pt>
                <c:pt idx="54">
                  <c:v>0.06</c:v>
                </c:pt>
                <c:pt idx="55">
                  <c:v>6.0999999999999999E-2</c:v>
                </c:pt>
                <c:pt idx="56">
                  <c:v>6.2E-2</c:v>
                </c:pt>
                <c:pt idx="57">
                  <c:v>6.3E-2</c:v>
                </c:pt>
                <c:pt idx="58">
                  <c:v>6.4000000000000001E-2</c:v>
                </c:pt>
                <c:pt idx="59">
                  <c:v>6.5000000000000002E-2</c:v>
                </c:pt>
                <c:pt idx="60">
                  <c:v>6.6000000000000003E-2</c:v>
                </c:pt>
                <c:pt idx="61">
                  <c:v>6.7000000000000004E-2</c:v>
                </c:pt>
                <c:pt idx="62">
                  <c:v>6.8000000000000005E-2</c:v>
                </c:pt>
                <c:pt idx="63">
                  <c:v>6.9000000000000006E-2</c:v>
                </c:pt>
                <c:pt idx="64">
                  <c:v>7.0000000000000007E-2</c:v>
                </c:pt>
                <c:pt idx="65">
                  <c:v>7.0999999999999994E-2</c:v>
                </c:pt>
                <c:pt idx="66">
                  <c:v>7.1999999999999995E-2</c:v>
                </c:pt>
                <c:pt idx="67">
                  <c:v>7.2999999999999995E-2</c:v>
                </c:pt>
                <c:pt idx="68">
                  <c:v>7.3999999999999996E-2</c:v>
                </c:pt>
                <c:pt idx="69">
                  <c:v>7.4999999999999997E-2</c:v>
                </c:pt>
                <c:pt idx="70">
                  <c:v>7.5999999999999998E-2</c:v>
                </c:pt>
                <c:pt idx="71">
                  <c:v>7.6999999999999999E-2</c:v>
                </c:pt>
                <c:pt idx="72">
                  <c:v>7.8E-2</c:v>
                </c:pt>
                <c:pt idx="73">
                  <c:v>7.9000000000000001E-2</c:v>
                </c:pt>
                <c:pt idx="74">
                  <c:v>0.08</c:v>
                </c:pt>
                <c:pt idx="75">
                  <c:v>8.1000000000000003E-2</c:v>
                </c:pt>
                <c:pt idx="76">
                  <c:v>8.2000000000000003E-2</c:v>
                </c:pt>
                <c:pt idx="77">
                  <c:v>8.3000000000000004E-2</c:v>
                </c:pt>
                <c:pt idx="78">
                  <c:v>8.4000000000000005E-2</c:v>
                </c:pt>
                <c:pt idx="79">
                  <c:v>8.5000000000000006E-2</c:v>
                </c:pt>
                <c:pt idx="80">
                  <c:v>8.5999999999999993E-2</c:v>
                </c:pt>
                <c:pt idx="81">
                  <c:v>8.6999999999999994E-2</c:v>
                </c:pt>
                <c:pt idx="82">
                  <c:v>8.7999999999999995E-2</c:v>
                </c:pt>
                <c:pt idx="83">
                  <c:v>8.8999999999999996E-2</c:v>
                </c:pt>
                <c:pt idx="84">
                  <c:v>9.0999999999999998E-2</c:v>
                </c:pt>
                <c:pt idx="85">
                  <c:v>9.2999999999999999E-2</c:v>
                </c:pt>
                <c:pt idx="86">
                  <c:v>9.6000000000000002E-2</c:v>
                </c:pt>
                <c:pt idx="87">
                  <c:v>0.1</c:v>
                </c:pt>
                <c:pt idx="88">
                  <c:v>0.105</c:v>
                </c:pt>
                <c:pt idx="89">
                  <c:v>0.109</c:v>
                </c:pt>
                <c:pt idx="90">
                  <c:v>0.114</c:v>
                </c:pt>
                <c:pt idx="91">
                  <c:v>0.11799999999999999</c:v>
                </c:pt>
                <c:pt idx="92">
                  <c:v>0.122</c:v>
                </c:pt>
                <c:pt idx="93">
                  <c:v>0.127</c:v>
                </c:pt>
                <c:pt idx="94">
                  <c:v>0.13100000000000001</c:v>
                </c:pt>
                <c:pt idx="95">
                  <c:v>0.13600000000000001</c:v>
                </c:pt>
                <c:pt idx="96">
                  <c:v>0.14000000000000001</c:v>
                </c:pt>
                <c:pt idx="97">
                  <c:v>0.14499999999999999</c:v>
                </c:pt>
                <c:pt idx="98">
                  <c:v>0.14899999999999999</c:v>
                </c:pt>
                <c:pt idx="99">
                  <c:v>0.153</c:v>
                </c:pt>
                <c:pt idx="100">
                  <c:v>0.158</c:v>
                </c:pt>
                <c:pt idx="101">
                  <c:v>0.16200000000000001</c:v>
                </c:pt>
                <c:pt idx="102">
                  <c:v>0.16700000000000001</c:v>
                </c:pt>
                <c:pt idx="103">
                  <c:v>0.17100000000000001</c:v>
                </c:pt>
                <c:pt idx="104">
                  <c:v>0.17499999999999999</c:v>
                </c:pt>
                <c:pt idx="105">
                  <c:v>0.18</c:v>
                </c:pt>
                <c:pt idx="106">
                  <c:v>0.184</c:v>
                </c:pt>
                <c:pt idx="107">
                  <c:v>0.189</c:v>
                </c:pt>
                <c:pt idx="108">
                  <c:v>0.193</c:v>
                </c:pt>
                <c:pt idx="109">
                  <c:v>0.19800000000000001</c:v>
                </c:pt>
                <c:pt idx="110">
                  <c:v>0.20300000000000001</c:v>
                </c:pt>
                <c:pt idx="111">
                  <c:v>0.20699999999999999</c:v>
                </c:pt>
                <c:pt idx="112">
                  <c:v>0.21199999999999999</c:v>
                </c:pt>
                <c:pt idx="113">
                  <c:v>0.216</c:v>
                </c:pt>
                <c:pt idx="114">
                  <c:v>0.221</c:v>
                </c:pt>
                <c:pt idx="115">
                  <c:v>0.22500000000000001</c:v>
                </c:pt>
                <c:pt idx="116">
                  <c:v>0.23</c:v>
                </c:pt>
                <c:pt idx="117">
                  <c:v>0.23400000000000001</c:v>
                </c:pt>
                <c:pt idx="118">
                  <c:v>0.23899999999999999</c:v>
                </c:pt>
                <c:pt idx="119">
                  <c:v>0.24299999999999999</c:v>
                </c:pt>
                <c:pt idx="120">
                  <c:v>0.248</c:v>
                </c:pt>
                <c:pt idx="121">
                  <c:v>0.252</c:v>
                </c:pt>
                <c:pt idx="122">
                  <c:v>0.25600000000000001</c:v>
                </c:pt>
                <c:pt idx="123">
                  <c:v>0.26100000000000001</c:v>
                </c:pt>
                <c:pt idx="124">
                  <c:v>0.26500000000000001</c:v>
                </c:pt>
                <c:pt idx="125">
                  <c:v>0.27</c:v>
                </c:pt>
                <c:pt idx="126">
                  <c:v>0.27400000000000002</c:v>
                </c:pt>
                <c:pt idx="127">
                  <c:v>0.27800000000000002</c:v>
                </c:pt>
                <c:pt idx="128">
                  <c:v>0.28299999999999997</c:v>
                </c:pt>
                <c:pt idx="129">
                  <c:v>0.28699999999999998</c:v>
                </c:pt>
                <c:pt idx="130">
                  <c:v>0.29199999999999998</c:v>
                </c:pt>
                <c:pt idx="131">
                  <c:v>0.29599999999999999</c:v>
                </c:pt>
                <c:pt idx="132">
                  <c:v>0.30099999999999999</c:v>
                </c:pt>
                <c:pt idx="133">
                  <c:v>0.30499999999999999</c:v>
                </c:pt>
                <c:pt idx="134">
                  <c:v>0.309</c:v>
                </c:pt>
                <c:pt idx="135">
                  <c:v>0.314</c:v>
                </c:pt>
                <c:pt idx="136">
                  <c:v>0.318</c:v>
                </c:pt>
                <c:pt idx="137">
                  <c:v>0.32300000000000001</c:v>
                </c:pt>
                <c:pt idx="138">
                  <c:v>0.32700000000000001</c:v>
                </c:pt>
                <c:pt idx="139">
                  <c:v>0.33200000000000002</c:v>
                </c:pt>
                <c:pt idx="140">
                  <c:v>0.33600000000000002</c:v>
                </c:pt>
                <c:pt idx="141">
                  <c:v>0.34</c:v>
                </c:pt>
                <c:pt idx="142">
                  <c:v>0.34499999999999997</c:v>
                </c:pt>
                <c:pt idx="143">
                  <c:v>0.34899999999999998</c:v>
                </c:pt>
                <c:pt idx="144">
                  <c:v>0.35299999999999998</c:v>
                </c:pt>
                <c:pt idx="145">
                  <c:v>0.35799999999999998</c:v>
                </c:pt>
                <c:pt idx="146">
                  <c:v>0.36199999999999999</c:v>
                </c:pt>
                <c:pt idx="147">
                  <c:v>0.36599999999999999</c:v>
                </c:pt>
                <c:pt idx="148">
                  <c:v>0.371</c:v>
                </c:pt>
                <c:pt idx="149">
                  <c:v>0.375</c:v>
                </c:pt>
                <c:pt idx="150">
                  <c:v>0.379</c:v>
                </c:pt>
                <c:pt idx="151">
                  <c:v>0.38300000000000001</c:v>
                </c:pt>
                <c:pt idx="152">
                  <c:v>0.38800000000000001</c:v>
                </c:pt>
                <c:pt idx="153">
                  <c:v>0.39200000000000002</c:v>
                </c:pt>
                <c:pt idx="154">
                  <c:v>0.39600000000000002</c:v>
                </c:pt>
                <c:pt idx="155">
                  <c:v>0.40100000000000002</c:v>
                </c:pt>
                <c:pt idx="156">
                  <c:v>0.40500000000000003</c:v>
                </c:pt>
                <c:pt idx="157">
                  <c:v>0.40899999999999997</c:v>
                </c:pt>
                <c:pt idx="158">
                  <c:v>0.41399999999999998</c:v>
                </c:pt>
                <c:pt idx="159">
                  <c:v>0.41799999999999998</c:v>
                </c:pt>
                <c:pt idx="160">
                  <c:v>0.42199999999999999</c:v>
                </c:pt>
                <c:pt idx="161">
                  <c:v>0.42599999999999999</c:v>
                </c:pt>
                <c:pt idx="162">
                  <c:v>0.43</c:v>
                </c:pt>
                <c:pt idx="163">
                  <c:v>0.435</c:v>
                </c:pt>
                <c:pt idx="164">
                  <c:v>0.439</c:v>
                </c:pt>
                <c:pt idx="165">
                  <c:v>0.443</c:v>
                </c:pt>
                <c:pt idx="166">
                  <c:v>0.44700000000000001</c:v>
                </c:pt>
                <c:pt idx="167">
                  <c:v>0.45200000000000001</c:v>
                </c:pt>
                <c:pt idx="168">
                  <c:v>0.45600000000000002</c:v>
                </c:pt>
                <c:pt idx="169">
                  <c:v>0.46</c:v>
                </c:pt>
                <c:pt idx="170">
                  <c:v>0.46400000000000002</c:v>
                </c:pt>
                <c:pt idx="171">
                  <c:v>0.46800000000000003</c:v>
                </c:pt>
                <c:pt idx="172">
                  <c:v>0.47299999999999998</c:v>
                </c:pt>
                <c:pt idx="173">
                  <c:v>0.47699999999999998</c:v>
                </c:pt>
                <c:pt idx="174">
                  <c:v>0.48099999999999998</c:v>
                </c:pt>
                <c:pt idx="175">
                  <c:v>0.48499999999999999</c:v>
                </c:pt>
                <c:pt idx="176">
                  <c:v>0.48899999999999999</c:v>
                </c:pt>
                <c:pt idx="177">
                  <c:v>0.49299999999999999</c:v>
                </c:pt>
                <c:pt idx="178">
                  <c:v>0.497</c:v>
                </c:pt>
                <c:pt idx="179">
                  <c:v>0.502</c:v>
                </c:pt>
                <c:pt idx="180">
                  <c:v>0.50600000000000001</c:v>
                </c:pt>
                <c:pt idx="181">
                  <c:v>0.51</c:v>
                </c:pt>
                <c:pt idx="182">
                  <c:v>0.51400000000000001</c:v>
                </c:pt>
                <c:pt idx="183">
                  <c:v>0.51800000000000002</c:v>
                </c:pt>
                <c:pt idx="184">
                  <c:v>0.52200000000000002</c:v>
                </c:pt>
                <c:pt idx="185">
                  <c:v>0.52600000000000002</c:v>
                </c:pt>
                <c:pt idx="186">
                  <c:v>0.53</c:v>
                </c:pt>
                <c:pt idx="187">
                  <c:v>0.53400000000000003</c:v>
                </c:pt>
                <c:pt idx="188">
                  <c:v>0.53800000000000003</c:v>
                </c:pt>
                <c:pt idx="189">
                  <c:v>0.54200000000000004</c:v>
                </c:pt>
                <c:pt idx="190">
                  <c:v>0.54600000000000004</c:v>
                </c:pt>
                <c:pt idx="191">
                  <c:v>0.55000000000000004</c:v>
                </c:pt>
                <c:pt idx="192">
                  <c:v>0.55400000000000005</c:v>
                </c:pt>
                <c:pt idx="193">
                  <c:v>0.55800000000000005</c:v>
                </c:pt>
                <c:pt idx="194">
                  <c:v>0.56200000000000006</c:v>
                </c:pt>
                <c:pt idx="195">
                  <c:v>0.56599999999999995</c:v>
                </c:pt>
                <c:pt idx="196">
                  <c:v>0.56999999999999995</c:v>
                </c:pt>
                <c:pt idx="197">
                  <c:v>0.57399999999999995</c:v>
                </c:pt>
                <c:pt idx="198">
                  <c:v>0.57799999999999996</c:v>
                </c:pt>
                <c:pt idx="199">
                  <c:v>0.58199999999999996</c:v>
                </c:pt>
                <c:pt idx="200">
                  <c:v>0.58599999999999997</c:v>
                </c:pt>
                <c:pt idx="201">
                  <c:v>0.58899999999999997</c:v>
                </c:pt>
                <c:pt idx="202">
                  <c:v>0.59299999999999997</c:v>
                </c:pt>
                <c:pt idx="203">
                  <c:v>0.59699999999999998</c:v>
                </c:pt>
                <c:pt idx="204">
                  <c:v>0.60099999999999998</c:v>
                </c:pt>
                <c:pt idx="205">
                  <c:v>0.60499999999999998</c:v>
                </c:pt>
                <c:pt idx="206">
                  <c:v>0.60899999999999999</c:v>
                </c:pt>
                <c:pt idx="207">
                  <c:v>0.61199999999999999</c:v>
                </c:pt>
                <c:pt idx="208">
                  <c:v>0.61599999999999999</c:v>
                </c:pt>
                <c:pt idx="209">
                  <c:v>0.62</c:v>
                </c:pt>
                <c:pt idx="210">
                  <c:v>0.623</c:v>
                </c:pt>
                <c:pt idx="211">
                  <c:v>0.627</c:v>
                </c:pt>
                <c:pt idx="212">
                  <c:v>0.63100000000000001</c:v>
                </c:pt>
                <c:pt idx="213">
                  <c:v>0.63400000000000001</c:v>
                </c:pt>
                <c:pt idx="214">
                  <c:v>0.63800000000000001</c:v>
                </c:pt>
                <c:pt idx="215">
                  <c:v>0.64200000000000002</c:v>
                </c:pt>
                <c:pt idx="216">
                  <c:v>0.64500000000000002</c:v>
                </c:pt>
                <c:pt idx="217">
                  <c:v>0.64900000000000002</c:v>
                </c:pt>
                <c:pt idx="218">
                  <c:v>0.65200000000000002</c:v>
                </c:pt>
                <c:pt idx="219">
                  <c:v>0.65600000000000003</c:v>
                </c:pt>
                <c:pt idx="220">
                  <c:v>0.65900000000000003</c:v>
                </c:pt>
                <c:pt idx="221">
                  <c:v>0.66300000000000003</c:v>
                </c:pt>
                <c:pt idx="222">
                  <c:v>0.66600000000000004</c:v>
                </c:pt>
                <c:pt idx="223">
                  <c:v>0.67</c:v>
                </c:pt>
                <c:pt idx="224">
                  <c:v>0.67300000000000004</c:v>
                </c:pt>
                <c:pt idx="225">
                  <c:v>0.67600000000000005</c:v>
                </c:pt>
                <c:pt idx="226">
                  <c:v>0.68</c:v>
                </c:pt>
                <c:pt idx="227">
                  <c:v>0.68300000000000005</c:v>
                </c:pt>
                <c:pt idx="228">
                  <c:v>0.68600000000000005</c:v>
                </c:pt>
                <c:pt idx="229">
                  <c:v>0.68899999999999995</c:v>
                </c:pt>
                <c:pt idx="230">
                  <c:v>0.69199999999999995</c:v>
                </c:pt>
                <c:pt idx="231">
                  <c:v>0.69599999999999995</c:v>
                </c:pt>
                <c:pt idx="232">
                  <c:v>0.69899999999999995</c:v>
                </c:pt>
                <c:pt idx="233">
                  <c:v>0.70199999999999996</c:v>
                </c:pt>
                <c:pt idx="234">
                  <c:v>0.70499999999999996</c:v>
                </c:pt>
                <c:pt idx="235">
                  <c:v>0.70799999999999996</c:v>
                </c:pt>
                <c:pt idx="236">
                  <c:v>0.71099999999999997</c:v>
                </c:pt>
                <c:pt idx="237">
                  <c:v>0.71399999999999997</c:v>
                </c:pt>
                <c:pt idx="238">
                  <c:v>0.71699999999999997</c:v>
                </c:pt>
                <c:pt idx="239">
                  <c:v>0.72</c:v>
                </c:pt>
                <c:pt idx="240">
                  <c:v>0.72199999999999998</c:v>
                </c:pt>
                <c:pt idx="241">
                  <c:v>0.72499999999999998</c:v>
                </c:pt>
                <c:pt idx="242">
                  <c:v>0.72799999999999998</c:v>
                </c:pt>
                <c:pt idx="243">
                  <c:v>0.73099999999999998</c:v>
                </c:pt>
                <c:pt idx="244">
                  <c:v>0.73399999999999999</c:v>
                </c:pt>
                <c:pt idx="245">
                  <c:v>0.73599999999999999</c:v>
                </c:pt>
                <c:pt idx="246">
                  <c:v>0.73899999999999999</c:v>
                </c:pt>
                <c:pt idx="247">
                  <c:v>0.74199999999999999</c:v>
                </c:pt>
                <c:pt idx="248">
                  <c:v>0.74399999999999999</c:v>
                </c:pt>
                <c:pt idx="249">
                  <c:v>0.747</c:v>
                </c:pt>
                <c:pt idx="250">
                  <c:v>0.749</c:v>
                </c:pt>
                <c:pt idx="251">
                  <c:v>0.752</c:v>
                </c:pt>
                <c:pt idx="252">
                  <c:v>0.754</c:v>
                </c:pt>
                <c:pt idx="253">
                  <c:v>0.75700000000000001</c:v>
                </c:pt>
                <c:pt idx="254">
                  <c:v>0.75900000000000001</c:v>
                </c:pt>
                <c:pt idx="255">
                  <c:v>0.76100000000000001</c:v>
                </c:pt>
                <c:pt idx="256">
                  <c:v>0.76400000000000001</c:v>
                </c:pt>
                <c:pt idx="257">
                  <c:v>0.76600000000000001</c:v>
                </c:pt>
                <c:pt idx="258">
                  <c:v>0.76800000000000002</c:v>
                </c:pt>
                <c:pt idx="259">
                  <c:v>0.77</c:v>
                </c:pt>
                <c:pt idx="260">
                  <c:v>0.77100000000000002</c:v>
                </c:pt>
                <c:pt idx="261">
                  <c:v>0.77200000000000002</c:v>
                </c:pt>
              </c:numCache>
            </c:numRef>
          </c:xVal>
          <c:yVal>
            <c:numRef>
              <c:f>'Cd vs Mach'!$C$17:$C$278</c:f>
              <c:numCache>
                <c:formatCode>General</c:formatCode>
                <c:ptCount val="262"/>
                <c:pt idx="0">
                  <c:v>0.63200000000000001</c:v>
                </c:pt>
                <c:pt idx="1">
                  <c:v>0.62</c:v>
                </c:pt>
                <c:pt idx="2">
                  <c:v>0.60699999999999998</c:v>
                </c:pt>
                <c:pt idx="3">
                  <c:v>0.59399999999999997</c:v>
                </c:pt>
                <c:pt idx="4">
                  <c:v>0.58799999999999997</c:v>
                </c:pt>
                <c:pt idx="5">
                  <c:v>0.57999999999999996</c:v>
                </c:pt>
                <c:pt idx="6">
                  <c:v>0.57599999999999996</c:v>
                </c:pt>
                <c:pt idx="7">
                  <c:v>0.57299999999999995</c:v>
                </c:pt>
                <c:pt idx="8">
                  <c:v>0.56599999999999995</c:v>
                </c:pt>
                <c:pt idx="9">
                  <c:v>0.56399999999999995</c:v>
                </c:pt>
                <c:pt idx="10">
                  <c:v>0.56100000000000005</c:v>
                </c:pt>
                <c:pt idx="11">
                  <c:v>0.55800000000000005</c:v>
                </c:pt>
                <c:pt idx="12">
                  <c:v>0.55400000000000005</c:v>
                </c:pt>
                <c:pt idx="13">
                  <c:v>0.55200000000000005</c:v>
                </c:pt>
                <c:pt idx="14">
                  <c:v>0.55000000000000004</c:v>
                </c:pt>
                <c:pt idx="15">
                  <c:v>0.54800000000000004</c:v>
                </c:pt>
                <c:pt idx="16">
                  <c:v>0.54600000000000004</c:v>
                </c:pt>
                <c:pt idx="17">
                  <c:v>0.54300000000000004</c:v>
                </c:pt>
                <c:pt idx="18">
                  <c:v>0.54100000000000004</c:v>
                </c:pt>
                <c:pt idx="19">
                  <c:v>0.54</c:v>
                </c:pt>
                <c:pt idx="20">
                  <c:v>0.53800000000000003</c:v>
                </c:pt>
                <c:pt idx="21">
                  <c:v>0.53700000000000003</c:v>
                </c:pt>
                <c:pt idx="22">
                  <c:v>0.53500000000000003</c:v>
                </c:pt>
                <c:pt idx="23">
                  <c:v>0.53300000000000003</c:v>
                </c:pt>
                <c:pt idx="24">
                  <c:v>0.53100000000000003</c:v>
                </c:pt>
                <c:pt idx="25">
                  <c:v>0.53</c:v>
                </c:pt>
                <c:pt idx="26">
                  <c:v>0.52900000000000003</c:v>
                </c:pt>
                <c:pt idx="27">
                  <c:v>0.52800000000000002</c:v>
                </c:pt>
                <c:pt idx="28">
                  <c:v>0.52700000000000002</c:v>
                </c:pt>
                <c:pt idx="29">
                  <c:v>0.52600000000000002</c:v>
                </c:pt>
                <c:pt idx="30">
                  <c:v>0.52400000000000002</c:v>
                </c:pt>
                <c:pt idx="31">
                  <c:v>0.52300000000000002</c:v>
                </c:pt>
                <c:pt idx="32">
                  <c:v>0.52200000000000002</c:v>
                </c:pt>
                <c:pt idx="33">
                  <c:v>0.52100000000000002</c:v>
                </c:pt>
                <c:pt idx="34">
                  <c:v>0.52100000000000002</c:v>
                </c:pt>
                <c:pt idx="35">
                  <c:v>0.52</c:v>
                </c:pt>
                <c:pt idx="36">
                  <c:v>0.51900000000000002</c:v>
                </c:pt>
                <c:pt idx="37">
                  <c:v>0.51900000000000002</c:v>
                </c:pt>
                <c:pt idx="38">
                  <c:v>0.51900000000000002</c:v>
                </c:pt>
                <c:pt idx="39">
                  <c:v>0.51900000000000002</c:v>
                </c:pt>
                <c:pt idx="40">
                  <c:v>0.51900000000000002</c:v>
                </c:pt>
                <c:pt idx="41">
                  <c:v>0.51900000000000002</c:v>
                </c:pt>
                <c:pt idx="42">
                  <c:v>0.51900000000000002</c:v>
                </c:pt>
                <c:pt idx="43">
                  <c:v>0.51900000000000002</c:v>
                </c:pt>
                <c:pt idx="44">
                  <c:v>0.51900000000000002</c:v>
                </c:pt>
                <c:pt idx="45">
                  <c:v>0.51900000000000002</c:v>
                </c:pt>
                <c:pt idx="46">
                  <c:v>0.51900000000000002</c:v>
                </c:pt>
                <c:pt idx="47">
                  <c:v>0.51900000000000002</c:v>
                </c:pt>
                <c:pt idx="48">
                  <c:v>0.51900000000000002</c:v>
                </c:pt>
                <c:pt idx="49">
                  <c:v>0.51900000000000002</c:v>
                </c:pt>
                <c:pt idx="50">
                  <c:v>0.51900000000000002</c:v>
                </c:pt>
                <c:pt idx="51">
                  <c:v>0.51900000000000002</c:v>
                </c:pt>
                <c:pt idx="52">
                  <c:v>0.51900000000000002</c:v>
                </c:pt>
                <c:pt idx="53">
                  <c:v>0.51900000000000002</c:v>
                </c:pt>
                <c:pt idx="54">
                  <c:v>0.51900000000000002</c:v>
                </c:pt>
                <c:pt idx="55">
                  <c:v>0.51900000000000002</c:v>
                </c:pt>
                <c:pt idx="56">
                  <c:v>0.51900000000000002</c:v>
                </c:pt>
                <c:pt idx="57">
                  <c:v>0.51900000000000002</c:v>
                </c:pt>
                <c:pt idx="58">
                  <c:v>0.51900000000000002</c:v>
                </c:pt>
                <c:pt idx="59">
                  <c:v>0.51900000000000002</c:v>
                </c:pt>
                <c:pt idx="60">
                  <c:v>0.51900000000000002</c:v>
                </c:pt>
                <c:pt idx="61">
                  <c:v>0.51900000000000002</c:v>
                </c:pt>
                <c:pt idx="62">
                  <c:v>0.51900000000000002</c:v>
                </c:pt>
                <c:pt idx="63">
                  <c:v>0.51900000000000002</c:v>
                </c:pt>
                <c:pt idx="64">
                  <c:v>0.51900000000000002</c:v>
                </c:pt>
                <c:pt idx="65">
                  <c:v>0.51900000000000002</c:v>
                </c:pt>
                <c:pt idx="66">
                  <c:v>0.51900000000000002</c:v>
                </c:pt>
                <c:pt idx="67">
                  <c:v>0.51900000000000002</c:v>
                </c:pt>
                <c:pt idx="68">
                  <c:v>0.51900000000000002</c:v>
                </c:pt>
                <c:pt idx="69">
                  <c:v>0.51900000000000002</c:v>
                </c:pt>
                <c:pt idx="70">
                  <c:v>0.51900000000000002</c:v>
                </c:pt>
                <c:pt idx="71">
                  <c:v>0.51900000000000002</c:v>
                </c:pt>
                <c:pt idx="72">
                  <c:v>0.51900000000000002</c:v>
                </c:pt>
                <c:pt idx="73">
                  <c:v>0.51900000000000002</c:v>
                </c:pt>
                <c:pt idx="74">
                  <c:v>0.51900000000000002</c:v>
                </c:pt>
                <c:pt idx="75">
                  <c:v>0.51900000000000002</c:v>
                </c:pt>
                <c:pt idx="76">
                  <c:v>0.51900000000000002</c:v>
                </c:pt>
                <c:pt idx="77">
                  <c:v>0.51900000000000002</c:v>
                </c:pt>
                <c:pt idx="78">
                  <c:v>0.51900000000000002</c:v>
                </c:pt>
                <c:pt idx="79">
                  <c:v>0.51900000000000002</c:v>
                </c:pt>
                <c:pt idx="80">
                  <c:v>0.51900000000000002</c:v>
                </c:pt>
                <c:pt idx="81">
                  <c:v>0.52</c:v>
                </c:pt>
                <c:pt idx="82">
                  <c:v>0.52</c:v>
                </c:pt>
                <c:pt idx="83">
                  <c:v>0.52</c:v>
                </c:pt>
                <c:pt idx="84">
                  <c:v>0.52</c:v>
                </c:pt>
                <c:pt idx="85">
                  <c:v>0.52</c:v>
                </c:pt>
                <c:pt idx="86">
                  <c:v>0.52</c:v>
                </c:pt>
                <c:pt idx="87">
                  <c:v>0.52</c:v>
                </c:pt>
                <c:pt idx="88">
                  <c:v>0.52</c:v>
                </c:pt>
                <c:pt idx="89">
                  <c:v>0.52</c:v>
                </c:pt>
                <c:pt idx="90">
                  <c:v>0.52</c:v>
                </c:pt>
                <c:pt idx="91">
                  <c:v>0.52</c:v>
                </c:pt>
                <c:pt idx="92">
                  <c:v>0.52</c:v>
                </c:pt>
                <c:pt idx="93">
                  <c:v>0.52100000000000002</c:v>
                </c:pt>
                <c:pt idx="94">
                  <c:v>0.52100000000000002</c:v>
                </c:pt>
                <c:pt idx="95">
                  <c:v>0.52100000000000002</c:v>
                </c:pt>
                <c:pt idx="96">
                  <c:v>0.52100000000000002</c:v>
                </c:pt>
                <c:pt idx="97">
                  <c:v>0.52100000000000002</c:v>
                </c:pt>
                <c:pt idx="98">
                  <c:v>0.52100000000000002</c:v>
                </c:pt>
                <c:pt idx="99">
                  <c:v>0.52100000000000002</c:v>
                </c:pt>
                <c:pt idx="100">
                  <c:v>0.52200000000000002</c:v>
                </c:pt>
                <c:pt idx="101">
                  <c:v>0.52200000000000002</c:v>
                </c:pt>
                <c:pt idx="102">
                  <c:v>0.52200000000000002</c:v>
                </c:pt>
                <c:pt idx="103">
                  <c:v>0.52200000000000002</c:v>
                </c:pt>
                <c:pt idx="104">
                  <c:v>0.52200000000000002</c:v>
                </c:pt>
                <c:pt idx="105">
                  <c:v>0.52300000000000002</c:v>
                </c:pt>
                <c:pt idx="106">
                  <c:v>0.52300000000000002</c:v>
                </c:pt>
                <c:pt idx="107">
                  <c:v>0.52300000000000002</c:v>
                </c:pt>
                <c:pt idx="108">
                  <c:v>0.52300000000000002</c:v>
                </c:pt>
                <c:pt idx="109">
                  <c:v>0.52300000000000002</c:v>
                </c:pt>
                <c:pt idx="110">
                  <c:v>0.52400000000000002</c:v>
                </c:pt>
                <c:pt idx="111">
                  <c:v>0.52400000000000002</c:v>
                </c:pt>
                <c:pt idx="112">
                  <c:v>0.52400000000000002</c:v>
                </c:pt>
                <c:pt idx="113">
                  <c:v>0.52400000000000002</c:v>
                </c:pt>
                <c:pt idx="114">
                  <c:v>0.52500000000000002</c:v>
                </c:pt>
                <c:pt idx="115">
                  <c:v>0.52500000000000002</c:v>
                </c:pt>
                <c:pt idx="116">
                  <c:v>0.52500000000000002</c:v>
                </c:pt>
                <c:pt idx="117">
                  <c:v>0.52500000000000002</c:v>
                </c:pt>
                <c:pt idx="118">
                  <c:v>0.52600000000000002</c:v>
                </c:pt>
                <c:pt idx="119">
                  <c:v>0.52600000000000002</c:v>
                </c:pt>
                <c:pt idx="120">
                  <c:v>0.52600000000000002</c:v>
                </c:pt>
                <c:pt idx="121">
                  <c:v>0.52600000000000002</c:v>
                </c:pt>
                <c:pt idx="122">
                  <c:v>0.52700000000000002</c:v>
                </c:pt>
                <c:pt idx="123">
                  <c:v>0.52700000000000002</c:v>
                </c:pt>
                <c:pt idx="124">
                  <c:v>0.52700000000000002</c:v>
                </c:pt>
                <c:pt idx="125">
                  <c:v>0.52700000000000002</c:v>
                </c:pt>
                <c:pt idx="126">
                  <c:v>0.52800000000000002</c:v>
                </c:pt>
                <c:pt idx="127">
                  <c:v>0.52800000000000002</c:v>
                </c:pt>
                <c:pt idx="128">
                  <c:v>0.52800000000000002</c:v>
                </c:pt>
                <c:pt idx="129">
                  <c:v>0.52900000000000003</c:v>
                </c:pt>
                <c:pt idx="130">
                  <c:v>0.52900000000000003</c:v>
                </c:pt>
                <c:pt idx="131">
                  <c:v>0.52900000000000003</c:v>
                </c:pt>
                <c:pt idx="132">
                  <c:v>0.53</c:v>
                </c:pt>
                <c:pt idx="133">
                  <c:v>0.53</c:v>
                </c:pt>
                <c:pt idx="134">
                  <c:v>0.53</c:v>
                </c:pt>
                <c:pt idx="135">
                  <c:v>0.53100000000000003</c:v>
                </c:pt>
                <c:pt idx="136">
                  <c:v>0.53100000000000003</c:v>
                </c:pt>
                <c:pt idx="137">
                  <c:v>0.53100000000000003</c:v>
                </c:pt>
                <c:pt idx="138">
                  <c:v>0.53200000000000003</c:v>
                </c:pt>
                <c:pt idx="139">
                  <c:v>0.53200000000000003</c:v>
                </c:pt>
                <c:pt idx="140">
                  <c:v>0.53300000000000003</c:v>
                </c:pt>
                <c:pt idx="141">
                  <c:v>0.53300000000000003</c:v>
                </c:pt>
                <c:pt idx="142">
                  <c:v>0.53300000000000003</c:v>
                </c:pt>
                <c:pt idx="143">
                  <c:v>0.53400000000000003</c:v>
                </c:pt>
                <c:pt idx="144">
                  <c:v>0.53400000000000003</c:v>
                </c:pt>
                <c:pt idx="145">
                  <c:v>0.53500000000000003</c:v>
                </c:pt>
                <c:pt idx="146">
                  <c:v>0.53500000000000003</c:v>
                </c:pt>
                <c:pt idx="147">
                  <c:v>0.53500000000000003</c:v>
                </c:pt>
                <c:pt idx="148">
                  <c:v>0.53600000000000003</c:v>
                </c:pt>
                <c:pt idx="149">
                  <c:v>0.53600000000000003</c:v>
                </c:pt>
                <c:pt idx="150">
                  <c:v>0.53700000000000003</c:v>
                </c:pt>
                <c:pt idx="151">
                  <c:v>0.53700000000000003</c:v>
                </c:pt>
                <c:pt idx="152">
                  <c:v>0.53800000000000003</c:v>
                </c:pt>
                <c:pt idx="153">
                  <c:v>0.53800000000000003</c:v>
                </c:pt>
                <c:pt idx="154">
                  <c:v>0.53900000000000003</c:v>
                </c:pt>
                <c:pt idx="155">
                  <c:v>0.53900000000000003</c:v>
                </c:pt>
                <c:pt idx="156">
                  <c:v>0.54</c:v>
                </c:pt>
                <c:pt idx="157">
                  <c:v>0.54</c:v>
                </c:pt>
                <c:pt idx="158">
                  <c:v>0.54100000000000004</c:v>
                </c:pt>
                <c:pt idx="159">
                  <c:v>0.54100000000000004</c:v>
                </c:pt>
                <c:pt idx="160">
                  <c:v>0.54200000000000004</c:v>
                </c:pt>
                <c:pt idx="161">
                  <c:v>0.54200000000000004</c:v>
                </c:pt>
                <c:pt idx="162">
                  <c:v>0.54300000000000004</c:v>
                </c:pt>
                <c:pt idx="163">
                  <c:v>0.54300000000000004</c:v>
                </c:pt>
                <c:pt idx="164">
                  <c:v>0.54400000000000004</c:v>
                </c:pt>
                <c:pt idx="165">
                  <c:v>0.54400000000000004</c:v>
                </c:pt>
                <c:pt idx="166">
                  <c:v>0.54500000000000004</c:v>
                </c:pt>
                <c:pt idx="167">
                  <c:v>0.54500000000000004</c:v>
                </c:pt>
                <c:pt idx="168">
                  <c:v>0.54600000000000004</c:v>
                </c:pt>
                <c:pt idx="169">
                  <c:v>0.54600000000000004</c:v>
                </c:pt>
                <c:pt idx="170">
                  <c:v>0.54700000000000004</c:v>
                </c:pt>
                <c:pt idx="171">
                  <c:v>0.54800000000000004</c:v>
                </c:pt>
                <c:pt idx="172">
                  <c:v>0.54800000000000004</c:v>
                </c:pt>
                <c:pt idx="173">
                  <c:v>0.54900000000000004</c:v>
                </c:pt>
                <c:pt idx="174">
                  <c:v>0.55000000000000004</c:v>
                </c:pt>
                <c:pt idx="175">
                  <c:v>0.55000000000000004</c:v>
                </c:pt>
                <c:pt idx="176">
                  <c:v>0.55100000000000005</c:v>
                </c:pt>
                <c:pt idx="177">
                  <c:v>0.55100000000000005</c:v>
                </c:pt>
                <c:pt idx="178">
                  <c:v>0.55200000000000005</c:v>
                </c:pt>
                <c:pt idx="179">
                  <c:v>0.55300000000000005</c:v>
                </c:pt>
                <c:pt idx="180">
                  <c:v>0.55300000000000005</c:v>
                </c:pt>
                <c:pt idx="181">
                  <c:v>0.55400000000000005</c:v>
                </c:pt>
                <c:pt idx="182">
                  <c:v>0.55500000000000005</c:v>
                </c:pt>
                <c:pt idx="183">
                  <c:v>0.55600000000000005</c:v>
                </c:pt>
                <c:pt idx="184">
                  <c:v>0.55600000000000005</c:v>
                </c:pt>
                <c:pt idx="185">
                  <c:v>0.55700000000000005</c:v>
                </c:pt>
                <c:pt idx="186">
                  <c:v>0.55800000000000005</c:v>
                </c:pt>
                <c:pt idx="187">
                  <c:v>0.55900000000000005</c:v>
                </c:pt>
                <c:pt idx="188">
                  <c:v>0.55900000000000005</c:v>
                </c:pt>
                <c:pt idx="189">
                  <c:v>0.56000000000000005</c:v>
                </c:pt>
                <c:pt idx="190">
                  <c:v>0.56100000000000005</c:v>
                </c:pt>
                <c:pt idx="191">
                  <c:v>0.56200000000000006</c:v>
                </c:pt>
                <c:pt idx="192">
                  <c:v>0.56200000000000006</c:v>
                </c:pt>
                <c:pt idx="193">
                  <c:v>0.56299999999999994</c:v>
                </c:pt>
                <c:pt idx="194">
                  <c:v>0.56399999999999995</c:v>
                </c:pt>
                <c:pt idx="195">
                  <c:v>0.56499999999999995</c:v>
                </c:pt>
                <c:pt idx="196">
                  <c:v>0.56599999999999995</c:v>
                </c:pt>
                <c:pt idx="197">
                  <c:v>0.56699999999999995</c:v>
                </c:pt>
                <c:pt idx="198">
                  <c:v>0.56799999999999995</c:v>
                </c:pt>
                <c:pt idx="199">
                  <c:v>0.56899999999999995</c:v>
                </c:pt>
                <c:pt idx="200">
                  <c:v>0.56899999999999995</c:v>
                </c:pt>
                <c:pt idx="201">
                  <c:v>0.56999999999999995</c:v>
                </c:pt>
                <c:pt idx="202">
                  <c:v>0.57099999999999995</c:v>
                </c:pt>
                <c:pt idx="203">
                  <c:v>0.57199999999999995</c:v>
                </c:pt>
                <c:pt idx="204">
                  <c:v>0.57299999999999995</c:v>
                </c:pt>
                <c:pt idx="205">
                  <c:v>0.57399999999999995</c:v>
                </c:pt>
                <c:pt idx="206">
                  <c:v>0.57499999999999996</c:v>
                </c:pt>
                <c:pt idx="207">
                  <c:v>0.57599999999999996</c:v>
                </c:pt>
                <c:pt idx="208">
                  <c:v>0.57699999999999996</c:v>
                </c:pt>
                <c:pt idx="209">
                  <c:v>0.57799999999999996</c:v>
                </c:pt>
                <c:pt idx="210">
                  <c:v>0.57899999999999996</c:v>
                </c:pt>
                <c:pt idx="211">
                  <c:v>0.57999999999999996</c:v>
                </c:pt>
                <c:pt idx="212">
                  <c:v>0.58099999999999996</c:v>
                </c:pt>
                <c:pt idx="213">
                  <c:v>0.58299999999999996</c:v>
                </c:pt>
                <c:pt idx="214">
                  <c:v>0.58399999999999996</c:v>
                </c:pt>
                <c:pt idx="215">
                  <c:v>0.58499999999999996</c:v>
                </c:pt>
                <c:pt idx="216">
                  <c:v>0.58599999999999997</c:v>
                </c:pt>
                <c:pt idx="217">
                  <c:v>0.58699999999999997</c:v>
                </c:pt>
                <c:pt idx="218">
                  <c:v>0.58799999999999997</c:v>
                </c:pt>
                <c:pt idx="219">
                  <c:v>0.58899999999999997</c:v>
                </c:pt>
                <c:pt idx="220">
                  <c:v>0.59</c:v>
                </c:pt>
                <c:pt idx="221">
                  <c:v>0.59199999999999997</c:v>
                </c:pt>
                <c:pt idx="222">
                  <c:v>0.59299999999999997</c:v>
                </c:pt>
                <c:pt idx="223">
                  <c:v>0.59399999999999997</c:v>
                </c:pt>
                <c:pt idx="224">
                  <c:v>0.59499999999999997</c:v>
                </c:pt>
                <c:pt idx="225">
                  <c:v>0.59699999999999998</c:v>
                </c:pt>
                <c:pt idx="226">
                  <c:v>0.59799999999999998</c:v>
                </c:pt>
                <c:pt idx="227">
                  <c:v>0.59899999999999998</c:v>
                </c:pt>
                <c:pt idx="228">
                  <c:v>0.6</c:v>
                </c:pt>
                <c:pt idx="229">
                  <c:v>0.60099999999999998</c:v>
                </c:pt>
                <c:pt idx="230">
                  <c:v>0.60299999999999998</c:v>
                </c:pt>
                <c:pt idx="231">
                  <c:v>0.60399999999999998</c:v>
                </c:pt>
                <c:pt idx="232">
                  <c:v>0.60499999999999998</c:v>
                </c:pt>
                <c:pt idx="233">
                  <c:v>0.60599999999999998</c:v>
                </c:pt>
                <c:pt idx="234">
                  <c:v>0.60799999999999998</c:v>
                </c:pt>
                <c:pt idx="235">
                  <c:v>0.60899999999999999</c:v>
                </c:pt>
                <c:pt idx="236">
                  <c:v>0.61099999999999999</c:v>
                </c:pt>
                <c:pt idx="237">
                  <c:v>0.61199999999999999</c:v>
                </c:pt>
                <c:pt idx="238">
                  <c:v>0.61299999999999999</c:v>
                </c:pt>
                <c:pt idx="239">
                  <c:v>0.61499999999999999</c:v>
                </c:pt>
                <c:pt idx="240">
                  <c:v>0.61599999999999999</c:v>
                </c:pt>
                <c:pt idx="241">
                  <c:v>0.61699999999999999</c:v>
                </c:pt>
                <c:pt idx="242">
                  <c:v>0.61899999999999999</c:v>
                </c:pt>
                <c:pt idx="243">
                  <c:v>0.62</c:v>
                </c:pt>
                <c:pt idx="244">
                  <c:v>0.621</c:v>
                </c:pt>
                <c:pt idx="245">
                  <c:v>0.623</c:v>
                </c:pt>
                <c:pt idx="246">
                  <c:v>0.624</c:v>
                </c:pt>
                <c:pt idx="247">
                  <c:v>0.625</c:v>
                </c:pt>
                <c:pt idx="248">
                  <c:v>0.627</c:v>
                </c:pt>
                <c:pt idx="249">
                  <c:v>0.628</c:v>
                </c:pt>
                <c:pt idx="250">
                  <c:v>0.629</c:v>
                </c:pt>
                <c:pt idx="251">
                  <c:v>0.63100000000000001</c:v>
                </c:pt>
                <c:pt idx="252">
                  <c:v>0.63200000000000001</c:v>
                </c:pt>
                <c:pt idx="253">
                  <c:v>0.63300000000000001</c:v>
                </c:pt>
                <c:pt idx="254">
                  <c:v>0.63500000000000001</c:v>
                </c:pt>
                <c:pt idx="255">
                  <c:v>0.63600000000000001</c:v>
                </c:pt>
                <c:pt idx="256">
                  <c:v>0.63800000000000001</c:v>
                </c:pt>
                <c:pt idx="257">
                  <c:v>0.63900000000000001</c:v>
                </c:pt>
                <c:pt idx="258">
                  <c:v>0.64100000000000001</c:v>
                </c:pt>
                <c:pt idx="259">
                  <c:v>0.64200000000000002</c:v>
                </c:pt>
                <c:pt idx="260">
                  <c:v>0.64300000000000002</c:v>
                </c:pt>
                <c:pt idx="261">
                  <c:v>0.64300000000000002</c:v>
                </c:pt>
              </c:numCache>
            </c:numRef>
          </c:yVal>
          <c:smooth val="0"/>
          <c:extLst>
            <c:ext xmlns:c16="http://schemas.microsoft.com/office/drawing/2014/chart" uri="{C3380CC4-5D6E-409C-BE32-E72D297353CC}">
              <c16:uniqueId val="{00000000-460C-4C56-9112-2E8EA910D183}"/>
            </c:ext>
          </c:extLst>
        </c:ser>
        <c:ser>
          <c:idx val="2"/>
          <c:order val="1"/>
          <c:tx>
            <c:v>RASAERO</c:v>
          </c:tx>
          <c:spPr>
            <a:ln w="25400" cap="rnd">
              <a:noFill/>
              <a:round/>
            </a:ln>
            <a:effectLst/>
          </c:spPr>
          <c:marker>
            <c:symbol val="circle"/>
            <c:size val="5"/>
            <c:spPr>
              <a:solidFill>
                <a:schemeClr val="accent3"/>
              </a:solidFill>
              <a:ln w="9525">
                <a:solidFill>
                  <a:schemeClr val="accent3"/>
                </a:solidFill>
              </a:ln>
              <a:effectLst/>
            </c:spPr>
          </c:marker>
          <c:xVal>
            <c:numRef>
              <c:f>'Cd vs Mach'!$E$17:$E$96</c:f>
              <c:numCache>
                <c:formatCode>General</c:formatCode>
                <c:ptCount val="80"/>
                <c:pt idx="0">
                  <c:v>0.01</c:v>
                </c:pt>
                <c:pt idx="1">
                  <c:v>0.02</c:v>
                </c:pt>
                <c:pt idx="2">
                  <c:v>0.03</c:v>
                </c:pt>
                <c:pt idx="3">
                  <c:v>0.04</c:v>
                </c:pt>
                <c:pt idx="4">
                  <c:v>0.05</c:v>
                </c:pt>
                <c:pt idx="5">
                  <c:v>0.06</c:v>
                </c:pt>
                <c:pt idx="6">
                  <c:v>7.0000000000000007E-2</c:v>
                </c:pt>
                <c:pt idx="7">
                  <c:v>0.08</c:v>
                </c:pt>
                <c:pt idx="8">
                  <c:v>0.09</c:v>
                </c:pt>
                <c:pt idx="9">
                  <c:v>0.1</c:v>
                </c:pt>
                <c:pt idx="10">
                  <c:v>0.11</c:v>
                </c:pt>
                <c:pt idx="11">
                  <c:v>0.12</c:v>
                </c:pt>
                <c:pt idx="12">
                  <c:v>0.13</c:v>
                </c:pt>
                <c:pt idx="13">
                  <c:v>0.14000000000000001</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0.28000000000000003</c:v>
                </c:pt>
                <c:pt idx="28">
                  <c:v>0.28999999999999998</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0.55000000000000004</c:v>
                </c:pt>
                <c:pt idx="55">
                  <c:v>0.56000000000000005</c:v>
                </c:pt>
                <c:pt idx="56">
                  <c:v>0.56999999999999995</c:v>
                </c:pt>
                <c:pt idx="57">
                  <c:v>0.57999999999999996</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numCache>
            </c:numRef>
          </c:xVal>
          <c:yVal>
            <c:numRef>
              <c:f>'Cd vs Mach'!$F$17:$F$96</c:f>
              <c:numCache>
                <c:formatCode>General</c:formatCode>
                <c:ptCount val="80"/>
                <c:pt idx="0">
                  <c:v>0.53629777818743996</c:v>
                </c:pt>
                <c:pt idx="1">
                  <c:v>0.53615333052551095</c:v>
                </c:pt>
                <c:pt idx="2">
                  <c:v>0.53600925913735298</c:v>
                </c:pt>
                <c:pt idx="3">
                  <c:v>0.53586556226024895</c:v>
                </c:pt>
                <c:pt idx="4">
                  <c:v>0.53572223814337006</c:v>
                </c:pt>
                <c:pt idx="5">
                  <c:v>0.53557928504767105</c:v>
                </c:pt>
                <c:pt idx="6">
                  <c:v>0.53543670124578502</c:v>
                </c:pt>
                <c:pt idx="7">
                  <c:v>0.53529448502192201</c:v>
                </c:pt>
                <c:pt idx="8">
                  <c:v>0.53515263467176899</c:v>
                </c:pt>
                <c:pt idx="9">
                  <c:v>0.53501114850238696</c:v>
                </c:pt>
                <c:pt idx="10">
                  <c:v>0.53487002483211599</c:v>
                </c:pt>
                <c:pt idx="11">
                  <c:v>0.53349355475080595</c:v>
                </c:pt>
                <c:pt idx="12">
                  <c:v>0.53166858061558397</c:v>
                </c:pt>
                <c:pt idx="13">
                  <c:v>0.52984394798464995</c:v>
                </c:pt>
                <c:pt idx="14">
                  <c:v>0.52801967123701099</c:v>
                </c:pt>
                <c:pt idx="15">
                  <c:v>0.52619576476247198</c:v>
                </c:pt>
                <c:pt idx="16">
                  <c:v>0.52437221092848496</c:v>
                </c:pt>
                <c:pt idx="17">
                  <c:v>0.52254899211311401</c:v>
                </c:pt>
                <c:pt idx="18">
                  <c:v>0.52072613875453599</c:v>
                </c:pt>
                <c:pt idx="19">
                  <c:v>0.51890360121871204</c:v>
                </c:pt>
                <c:pt idx="20">
                  <c:v>0.51708144199764905</c:v>
                </c:pt>
                <c:pt idx="21">
                  <c:v>0.515259611477908</c:v>
                </c:pt>
                <c:pt idx="22">
                  <c:v>0.51343812412233503</c:v>
                </c:pt>
                <c:pt idx="23">
                  <c:v>0.51161699440385699</c:v>
                </c:pt>
                <c:pt idx="24">
                  <c:v>0.50979620477234</c:v>
                </c:pt>
                <c:pt idx="25">
                  <c:v>0.50819828735698502</c:v>
                </c:pt>
                <c:pt idx="26">
                  <c:v>0.50659322727202505</c:v>
                </c:pt>
                <c:pt idx="27">
                  <c:v>0.50498108707946199</c:v>
                </c:pt>
                <c:pt idx="28">
                  <c:v>0.50336181723525397</c:v>
                </c:pt>
                <c:pt idx="29">
                  <c:v>0.501735400238005</c:v>
                </c:pt>
                <c:pt idx="30">
                  <c:v>0.500101898678463</c:v>
                </c:pt>
                <c:pt idx="31">
                  <c:v>0.49846123100804401</c:v>
                </c:pt>
                <c:pt idx="32">
                  <c:v>0.49681344381973802</c:v>
                </c:pt>
                <c:pt idx="33">
                  <c:v>0.49515855168274697</c:v>
                </c:pt>
                <c:pt idx="34">
                  <c:v>0.49349653714240399</c:v>
                </c:pt>
                <c:pt idx="35">
                  <c:v>0.49182736673663202</c:v>
                </c:pt>
                <c:pt idx="36">
                  <c:v>0.49015108709503502</c:v>
                </c:pt>
                <c:pt idx="37">
                  <c:v>0.48846764875701099</c:v>
                </c:pt>
                <c:pt idx="38">
                  <c:v>0.48677709837001898</c:v>
                </c:pt>
                <c:pt idx="39">
                  <c:v>0.485079386491168</c:v>
                </c:pt>
                <c:pt idx="40">
                  <c:v>0.48337455978548399</c:v>
                </c:pt>
                <c:pt idx="41">
                  <c:v>0.48166255281096498</c:v>
                </c:pt>
                <c:pt idx="42">
                  <c:v>0.47994346029950402</c:v>
                </c:pt>
                <c:pt idx="43">
                  <c:v>0.47821718479317499</c:v>
                </c:pt>
                <c:pt idx="44">
                  <c:v>0.47648378900781302</c:v>
                </c:pt>
                <c:pt idx="45">
                  <c:v>0.47474323956846798</c:v>
                </c:pt>
                <c:pt idx="46">
                  <c:v>0.472995519125051</c:v>
                </c:pt>
                <c:pt idx="47">
                  <c:v>0.47124069041837602</c:v>
                </c:pt>
                <c:pt idx="48">
                  <c:v>0.46947872009827402</c:v>
                </c:pt>
                <c:pt idx="49">
                  <c:v>0.46770957482270897</c:v>
                </c:pt>
                <c:pt idx="50">
                  <c:v>0.465933285323817</c:v>
                </c:pt>
                <c:pt idx="51">
                  <c:v>0.46414983429214601</c:v>
                </c:pt>
                <c:pt idx="52">
                  <c:v>0.46235923645923699</c:v>
                </c:pt>
                <c:pt idx="53">
                  <c:v>0.46056149054796902</c:v>
                </c:pt>
                <c:pt idx="54">
                  <c:v>0.45875654723944298</c:v>
                </c:pt>
                <c:pt idx="55">
                  <c:v>0.45694450137126302</c:v>
                </c:pt>
                <c:pt idx="56">
                  <c:v>0.45512528762342802</c:v>
                </c:pt>
                <c:pt idx="57">
                  <c:v>0.45329890474967299</c:v>
                </c:pt>
                <c:pt idx="58">
                  <c:v>0.453032200486503</c:v>
                </c:pt>
                <c:pt idx="59">
                  <c:v>0.45300975209858602</c:v>
                </c:pt>
                <c:pt idx="60">
                  <c:v>0.45317354649439201</c:v>
                </c:pt>
                <c:pt idx="61">
                  <c:v>0.45333095166416199</c:v>
                </c:pt>
                <c:pt idx="62">
                  <c:v>0.45348864529140598</c:v>
                </c:pt>
                <c:pt idx="63">
                  <c:v>0.45364664219087503</c:v>
                </c:pt>
                <c:pt idx="64">
                  <c:v>0.45380490913493898</c:v>
                </c:pt>
                <c:pt idx="65">
                  <c:v>0.453963476969243</c:v>
                </c:pt>
                <c:pt idx="66">
                  <c:v>0.45412231248041401</c:v>
                </c:pt>
                <c:pt idx="67">
                  <c:v>0.45428144652823699</c:v>
                </c:pt>
                <c:pt idx="68">
                  <c:v>0.45444084591336997</c:v>
                </c:pt>
                <c:pt idx="69">
                  <c:v>0.45460052549299401</c:v>
                </c:pt>
                <c:pt idx="70">
                  <c:v>0.45476050013117097</c:v>
                </c:pt>
                <c:pt idx="71">
                  <c:v>0.45492073664920002</c:v>
                </c:pt>
                <c:pt idx="72">
                  <c:v>0.45508124992474602</c:v>
                </c:pt>
                <c:pt idx="73">
                  <c:v>0.45524205484219599</c:v>
                </c:pt>
                <c:pt idx="74">
                  <c:v>0.45540311824301699</c:v>
                </c:pt>
                <c:pt idx="75">
                  <c:v>0.45556445502488602</c:v>
                </c:pt>
                <c:pt idx="76">
                  <c:v>0.45572608009204801</c:v>
                </c:pt>
                <c:pt idx="77">
                  <c:v>0.45588796030568102</c:v>
                </c:pt>
                <c:pt idx="78">
                  <c:v>0.45605012659954203</c:v>
                </c:pt>
                <c:pt idx="79">
                  <c:v>0.45621254584769999</c:v>
                </c:pt>
              </c:numCache>
            </c:numRef>
          </c:yVal>
          <c:smooth val="0"/>
          <c:extLst>
            <c:ext xmlns:c16="http://schemas.microsoft.com/office/drawing/2014/chart" uri="{C3380CC4-5D6E-409C-BE32-E72D297353CC}">
              <c16:uniqueId val="{00000001-460C-4C56-9112-2E8EA910D183}"/>
            </c:ext>
          </c:extLst>
        </c:ser>
        <c:ser>
          <c:idx val="0"/>
          <c:order val="2"/>
          <c:tx>
            <c:strRef>
              <c:f>'Cd vs Mach'!$H$1</c:f>
              <c:strCache>
                <c:ptCount val="1"/>
                <c:pt idx="0">
                  <c:v>Drag Coeff [No mount]</c:v>
                </c:pt>
              </c:strCache>
            </c:strRef>
          </c:tx>
          <c:spPr>
            <a:ln w="38100" cap="rnd">
              <a:noFill/>
              <a:round/>
            </a:ln>
            <a:effectLst/>
          </c:spPr>
          <c:marker>
            <c:symbol val="circle"/>
            <c:size val="7"/>
            <c:spPr>
              <a:solidFill>
                <a:schemeClr val="accent2"/>
              </a:solidFill>
              <a:ln w="9525">
                <a:solidFill>
                  <a:schemeClr val="accent2"/>
                </a:solidFill>
              </a:ln>
              <a:effectLst/>
            </c:spPr>
          </c:marker>
          <c:xVal>
            <c:numRef>
              <c:f>'Cd vs Mach'!$F$2:$F$12</c:f>
              <c:numCache>
                <c:formatCode>0.00</c:formatCode>
                <c:ptCount val="11"/>
                <c:pt idx="0">
                  <c:v>5.0000000000000001E-3</c:v>
                </c:pt>
                <c:pt idx="1">
                  <c:v>0.05</c:v>
                </c:pt>
                <c:pt idx="2">
                  <c:v>0.1</c:v>
                </c:pt>
                <c:pt idx="3">
                  <c:v>0.2</c:v>
                </c:pt>
                <c:pt idx="4">
                  <c:v>0.3</c:v>
                </c:pt>
                <c:pt idx="5">
                  <c:v>0.4</c:v>
                </c:pt>
                <c:pt idx="6">
                  <c:v>0.5</c:v>
                </c:pt>
                <c:pt idx="7">
                  <c:v>0.6</c:v>
                </c:pt>
                <c:pt idx="8">
                  <c:v>0.7</c:v>
                </c:pt>
                <c:pt idx="9">
                  <c:v>0.77</c:v>
                </c:pt>
                <c:pt idx="10">
                  <c:v>0.8</c:v>
                </c:pt>
              </c:numCache>
            </c:numRef>
          </c:xVal>
          <c:yVal>
            <c:numRef>
              <c:f>'Cd vs Mach'!$H$2:$H$12</c:f>
              <c:numCache>
                <c:formatCode>0.00</c:formatCode>
                <c:ptCount val="11"/>
                <c:pt idx="0">
                  <c:v>0.70282681150057102</c:v>
                </c:pt>
                <c:pt idx="1">
                  <c:v>0.55613733444979696</c:v>
                </c:pt>
                <c:pt idx="2">
                  <c:v>0.52364592202257798</c:v>
                </c:pt>
                <c:pt idx="3">
                  <c:v>0.50201233801614997</c:v>
                </c:pt>
                <c:pt idx="4">
                  <c:v>0.49512827940797199</c:v>
                </c:pt>
                <c:pt idx="5">
                  <c:v>0.49692781693576898</c:v>
                </c:pt>
                <c:pt idx="6">
                  <c:v>0.50635897535457497</c:v>
                </c:pt>
                <c:pt idx="7">
                  <c:v>0.49860033680311</c:v>
                </c:pt>
                <c:pt idx="8">
                  <c:v>0.483704621375671</c:v>
                </c:pt>
                <c:pt idx="9">
                  <c:v>0.48514067861555699</c:v>
                </c:pt>
                <c:pt idx="10">
                  <c:v>0.494143662067553</c:v>
                </c:pt>
              </c:numCache>
            </c:numRef>
          </c:yVal>
          <c:smooth val="0"/>
          <c:extLst>
            <c:ext xmlns:c16="http://schemas.microsoft.com/office/drawing/2014/chart" uri="{C3380CC4-5D6E-409C-BE32-E72D297353CC}">
              <c16:uniqueId val="{00000002-460C-4C56-9112-2E8EA910D183}"/>
            </c:ext>
          </c:extLst>
        </c:ser>
        <c:dLbls>
          <c:showLegendKey val="0"/>
          <c:showVal val="0"/>
          <c:showCatName val="0"/>
          <c:showSerName val="0"/>
          <c:showPercent val="0"/>
          <c:showBubbleSize val="0"/>
        </c:dLbls>
        <c:axId val="475232736"/>
        <c:axId val="342745696"/>
      </c:scatterChart>
      <c:valAx>
        <c:axId val="47523273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sz="1800"/>
                  <a:t>Mach Number</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42745696"/>
        <c:crosses val="autoZero"/>
        <c:crossBetween val="midCat"/>
      </c:valAx>
      <c:valAx>
        <c:axId val="342745696"/>
        <c:scaling>
          <c:orientation val="minMax"/>
          <c:max val="0.9"/>
          <c:min val="0.3000000000000000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US" sz="1800"/>
                  <a:t>Drag Coefficient [C</a:t>
                </a:r>
                <a:r>
                  <a:rPr lang="en-US" sz="1800" baseline="-25000"/>
                  <a:t>D</a:t>
                </a:r>
                <a:r>
                  <a:rPr lang="en-US" sz="1800"/>
                  <a:t>]</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5232736"/>
        <c:crosses val="autoZero"/>
        <c:crossBetween val="midCat"/>
      </c:valAx>
      <c:spPr>
        <a:solidFill>
          <a:srgbClr val="FFFFFF"/>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userShapes r:id="rId5"/>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en-US" sz="1800" b="1"/>
              <a:t>Apogee(ft)</a:t>
            </a:r>
            <a:r>
              <a:rPr lang="en-US" sz="1800" b="1" baseline="0"/>
              <a:t> vs Wind Speed(mph)</a:t>
            </a:r>
            <a:endParaRPr lang="en-US" sz="1800" b="1"/>
          </a:p>
        </c:rich>
      </c:tx>
      <c:layout>
        <c:manualLayout>
          <c:xMode val="edge"/>
          <c:yMode val="edge"/>
          <c:x val="0.34903163901419088"/>
          <c:y val="3.0376092176425635E-2"/>
        </c:manualLayout>
      </c:layout>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38100" cap="rnd">
              <a:noFill/>
              <a:round/>
            </a:ln>
            <a:effectLst/>
          </c:spPr>
          <c:marker>
            <c:symbol val="circle"/>
            <c:size val="10"/>
            <c:spPr>
              <a:solidFill>
                <a:schemeClr val="accent1"/>
              </a:solidFill>
              <a:ln w="9525">
                <a:solidFill>
                  <a:schemeClr val="accent1"/>
                </a:solidFill>
              </a:ln>
              <a:effectLst/>
            </c:spPr>
          </c:marker>
          <c:xVal>
            <c:numRef>
              <c:f>Sheet1!$B$60:$S$60</c:f>
              <c:numCache>
                <c:formatCode>General</c:formatCode>
                <c:ptCount val="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numCache>
            </c:numRef>
          </c:xVal>
          <c:yVal>
            <c:numRef>
              <c:f>Sheet1!$B$61:$S$61</c:f>
              <c:numCache>
                <c:formatCode>General</c:formatCode>
                <c:ptCount val="18"/>
                <c:pt idx="0">
                  <c:v>12873</c:v>
                </c:pt>
                <c:pt idx="1">
                  <c:v>12867</c:v>
                </c:pt>
                <c:pt idx="2">
                  <c:v>12851</c:v>
                </c:pt>
                <c:pt idx="3">
                  <c:v>12826</c:v>
                </c:pt>
                <c:pt idx="4">
                  <c:v>12792</c:v>
                </c:pt>
                <c:pt idx="5">
                  <c:v>12750</c:v>
                </c:pt>
                <c:pt idx="6">
                  <c:v>12700</c:v>
                </c:pt>
                <c:pt idx="7">
                  <c:v>12643</c:v>
                </c:pt>
                <c:pt idx="8">
                  <c:v>12582</c:v>
                </c:pt>
                <c:pt idx="9">
                  <c:v>12516</c:v>
                </c:pt>
                <c:pt idx="10">
                  <c:v>12446</c:v>
                </c:pt>
                <c:pt idx="11">
                  <c:v>12375</c:v>
                </c:pt>
                <c:pt idx="12">
                  <c:v>12302</c:v>
                </c:pt>
                <c:pt idx="13">
                  <c:v>12229</c:v>
                </c:pt>
                <c:pt idx="14">
                  <c:v>12157</c:v>
                </c:pt>
                <c:pt idx="15">
                  <c:v>12085</c:v>
                </c:pt>
                <c:pt idx="16">
                  <c:v>12017</c:v>
                </c:pt>
                <c:pt idx="17">
                  <c:v>11952</c:v>
                </c:pt>
              </c:numCache>
            </c:numRef>
          </c:yVal>
          <c:smooth val="0"/>
          <c:extLst>
            <c:ext xmlns:c16="http://schemas.microsoft.com/office/drawing/2014/chart" uri="{C3380CC4-5D6E-409C-BE32-E72D297353CC}">
              <c16:uniqueId val="{00000000-4875-4525-BB43-7B895E8B55BE}"/>
            </c:ext>
          </c:extLst>
        </c:ser>
        <c:ser>
          <c:idx val="1"/>
          <c:order val="1"/>
          <c:tx>
            <c:v>Matlab</c:v>
          </c:tx>
          <c:spPr>
            <a:ln w="25400" cap="rnd">
              <a:noFill/>
              <a:round/>
            </a:ln>
            <a:effectLst/>
          </c:spPr>
          <c:marker>
            <c:symbol val="circle"/>
            <c:size val="10"/>
            <c:spPr>
              <a:solidFill>
                <a:schemeClr val="accent2"/>
              </a:solidFill>
              <a:ln w="9525">
                <a:solidFill>
                  <a:schemeClr val="accent2"/>
                </a:solidFill>
              </a:ln>
              <a:effectLst/>
            </c:spPr>
          </c:marker>
          <c:trendline>
            <c:spPr>
              <a:ln w="19050" cap="rnd">
                <a:solidFill>
                  <a:schemeClr val="accent2"/>
                </a:solidFill>
                <a:prstDash val="sysDot"/>
              </a:ln>
              <a:effectLst/>
            </c:spPr>
            <c:trendlineType val="log"/>
            <c:dispRSqr val="0"/>
            <c:dispEq val="0"/>
          </c:trendline>
          <c:xVal>
            <c:numRef>
              <c:f>Sheet1!$B$60:$S$60</c:f>
              <c:numCache>
                <c:formatCode>General</c:formatCode>
                <c:ptCount val="1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numCache>
            </c:numRef>
          </c:xVal>
          <c:yVal>
            <c:numRef>
              <c:f>Sheet1!$B$62:$S$62</c:f>
              <c:numCache>
                <c:formatCode>General</c:formatCode>
                <c:ptCount val="18"/>
                <c:pt idx="0">
                  <c:v>12619</c:v>
                </c:pt>
                <c:pt idx="1">
                  <c:v>12613</c:v>
                </c:pt>
                <c:pt idx="2">
                  <c:v>12593</c:v>
                </c:pt>
                <c:pt idx="3">
                  <c:v>12556</c:v>
                </c:pt>
                <c:pt idx="4">
                  <c:v>12504</c:v>
                </c:pt>
                <c:pt idx="5">
                  <c:v>12438</c:v>
                </c:pt>
                <c:pt idx="6">
                  <c:v>12359</c:v>
                </c:pt>
                <c:pt idx="7">
                  <c:v>12269</c:v>
                </c:pt>
                <c:pt idx="8">
                  <c:v>12166</c:v>
                </c:pt>
                <c:pt idx="9">
                  <c:v>12053</c:v>
                </c:pt>
                <c:pt idx="10">
                  <c:v>11930</c:v>
                </c:pt>
                <c:pt idx="11">
                  <c:v>11798</c:v>
                </c:pt>
                <c:pt idx="12">
                  <c:v>11657</c:v>
                </c:pt>
                <c:pt idx="13">
                  <c:v>11509</c:v>
                </c:pt>
                <c:pt idx="14">
                  <c:v>11354</c:v>
                </c:pt>
                <c:pt idx="15">
                  <c:v>11192</c:v>
                </c:pt>
                <c:pt idx="16">
                  <c:v>11025</c:v>
                </c:pt>
                <c:pt idx="17">
                  <c:v>10851</c:v>
                </c:pt>
              </c:numCache>
            </c:numRef>
          </c:yVal>
          <c:smooth val="0"/>
          <c:extLst>
            <c:ext xmlns:c16="http://schemas.microsoft.com/office/drawing/2014/chart" uri="{C3380CC4-5D6E-409C-BE32-E72D297353CC}">
              <c16:uniqueId val="{00000002-4875-4525-BB43-7B895E8B55BE}"/>
            </c:ext>
          </c:extLst>
        </c:ser>
        <c:dLbls>
          <c:showLegendKey val="0"/>
          <c:showVal val="0"/>
          <c:showCatName val="0"/>
          <c:showSerName val="0"/>
          <c:showPercent val="0"/>
          <c:showBubbleSize val="0"/>
        </c:dLbls>
        <c:axId val="281778272"/>
        <c:axId val="808848976"/>
      </c:scatterChart>
      <c:valAx>
        <c:axId val="2817782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sz="1600" b="1" i="0" u="none" strike="noStrike" kern="1200" baseline="0">
                    <a:solidFill>
                      <a:sysClr val="windowText" lastClr="000000">
                        <a:lumMod val="65000"/>
                        <a:lumOff val="35000"/>
                      </a:sysClr>
                    </a:solidFill>
                  </a:rPr>
                  <a:t>Wind Speed [mph]</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08848976"/>
        <c:crosses val="autoZero"/>
        <c:crossBetween val="midCat"/>
      </c:valAx>
      <c:valAx>
        <c:axId val="8088489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sz="1600" b="1"/>
                  <a:t>Apogee</a:t>
                </a:r>
                <a:r>
                  <a:rPr lang="en-US" sz="1600" b="1" baseline="0"/>
                  <a:t> [ft]</a:t>
                </a:r>
                <a:endParaRPr lang="en-US" sz="1600" b="1"/>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81778272"/>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solidFill>
    <a:ln>
      <a:noFill/>
    </a:ln>
    <a:effectLst/>
  </c:spPr>
  <c:txPr>
    <a:bodyPr/>
    <a:lstStyle/>
    <a:p>
      <a:pPr>
        <a:defRPr/>
      </a:pPr>
      <a:endParaRPr lang="en-US"/>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omments/modernComment_1A3_5837D4BD.xml><?xml version="1.0" encoding="utf-8"?>
<p188:cmLst xmlns:a="http://schemas.openxmlformats.org/drawingml/2006/main" xmlns:r="http://schemas.openxmlformats.org/officeDocument/2006/relationships" xmlns:p188="http://schemas.microsoft.com/office/powerpoint/2018/8/main">
  <p188:cm id="{0405174B-A927-4F87-A951-56790A5A0A00}" authorId="{ADBE0FB5-5363-46AE-2864-5CFF7BEC7C92}" status="resolved" created="2025-11-03T08:22:59.115" complete="100000">
    <ac:deMkLst xmlns:ac="http://schemas.microsoft.com/office/drawing/2013/main/command">
      <pc:docMk xmlns:pc="http://schemas.microsoft.com/office/powerpoint/2013/main/command"/>
      <pc:sldMk xmlns:pc="http://schemas.microsoft.com/office/powerpoint/2013/main/command" cId="1480053949" sldId="419"/>
      <ac:picMk id="6" creationId="{382F8E1D-6335-4231-3504-1D17AEF31CC4}"/>
    </ac:deMkLst>
    <p188:replyLst>
      <p188:reply id="{F97C158A-297C-4C8F-A401-B55C8F4373AA}" authorId="{ADBE0FB5-5363-46AE-2864-5CFF7BEC7C92}" created="2025-11-04T03:37:15.973">
        <p188:txBody>
          <a:bodyPr/>
          <a:lstStyle/>
          <a:p>
            <a:r>
              <a:rPr lang="en-US"/>
              <a:t>talk to arjan</a:t>
            </a:r>
          </a:p>
        </p188:txBody>
      </p188:reply>
    </p188:replyLst>
    <p188:txBody>
      <a:bodyPr/>
      <a:lstStyle/>
      <a:p>
        <a:r>
          <a:rPr lang="en-US"/>
          <a:t>need to be updated?</a:t>
        </a:r>
      </a:p>
    </p188:txBody>
  </p188:cm>
</p188:cmLst>
</file>

<file path=ppt/comments/modernComment_1A4_D720166A.xml><?xml version="1.0" encoding="utf-8"?>
<p188:cmLst xmlns:a="http://schemas.openxmlformats.org/drawingml/2006/main" xmlns:r="http://schemas.openxmlformats.org/officeDocument/2006/relationships" xmlns:p188="http://schemas.microsoft.com/office/powerpoint/2018/8/main">
  <p188:cm id="{ADDD9812-DA3A-4FD2-A95B-E809F7EA3A66}" authorId="{ADBE0FB5-5363-46AE-2864-5CFF7BEC7C92}" created="2025-11-07T01:24:58.793">
    <pc:sldMkLst xmlns:pc="http://schemas.microsoft.com/office/powerpoint/2013/main/command">
      <pc:docMk/>
      <pc:sldMk cId="3609204330" sldId="420"/>
    </pc:sldMkLst>
    <p188:txBody>
      <a:bodyPr/>
      <a:lstStyle/>
      <a:p>
        <a:r>
          <a:rPr lang="en-US"/>
          <a:t>keep in propulsion or keep in aerodynamics? both currently exist</a:t>
        </a:r>
      </a:p>
    </p188:txBody>
  </p188:cm>
</p188:cmLst>
</file>

<file path=ppt/comments/modernComment_1A7_73BC8D8A.xml><?xml version="1.0" encoding="utf-8"?>
<p188:cmLst xmlns:a="http://schemas.openxmlformats.org/drawingml/2006/main" xmlns:r="http://schemas.openxmlformats.org/officeDocument/2006/relationships" xmlns:p188="http://schemas.microsoft.com/office/powerpoint/2018/8/main">
  <p188:cm id="{FA734B47-FA78-4123-9186-ED56EFDAFAB5}" authorId="{41CD9461-4812-1D10-0BBA-E68222941669}" status="resolved" created="2025-11-06T04:30:21.729" complete="100000">
    <pc:sldMkLst xmlns:pc="http://schemas.microsoft.com/office/powerpoint/2013/main/command">
      <pc:docMk/>
      <pc:sldMk cId="1941736842" sldId="423"/>
    </pc:sldMkLst>
    <p188:txBody>
      <a:bodyPr/>
      <a:lstStyle/>
      <a:p>
        <a:r>
          <a:rPr lang="en-US"/>
          <a:t>Brandon Presenting</a:t>
        </a:r>
      </a:p>
    </p188:txBody>
  </p188:cm>
</p188:cmLst>
</file>

<file path=ppt/comments/modernComment_1B2_61DA371A.xml><?xml version="1.0" encoding="utf-8"?>
<p188:cmLst xmlns:a="http://schemas.openxmlformats.org/drawingml/2006/main" xmlns:r="http://schemas.openxmlformats.org/officeDocument/2006/relationships" xmlns:p188="http://schemas.microsoft.com/office/powerpoint/2018/8/main">
  <p188:cm id="{7AAAE48E-7BCD-4F3E-B84A-B3A63BD18F91}" authorId="{EFB807E0-CB45-B64A-2328-831B8DFC25B8}" status="resolved" created="2024-11-16T10:27:50.818" complete="100000">
    <ac:deMkLst xmlns:ac="http://schemas.microsoft.com/office/drawing/2013/main/command">
      <pc:docMk xmlns:pc="http://schemas.microsoft.com/office/powerpoint/2013/main/command"/>
      <pc:sldMk xmlns:pc="http://schemas.microsoft.com/office/powerpoint/2013/main/command" cId="156373211" sldId="365"/>
      <ac:graphicFrameMk id="8" creationId="{AD76CEB7-ECBB-1B5A-1A40-6AD7A2D7D83F}"/>
    </ac:deMkLst>
    <p188:replyLst>
      <p188:reply id="{DD077524-C601-468E-A80E-1A95970B4AA8}" authorId="{1EB33F17-957E-B4D8-CAA4-050AB487468B}" created="2024-11-16T10:28:18.244">
        <p188:txBody>
          <a:bodyPr/>
          <a:lstStyle/>
          <a:p>
            <a:r>
              <a:rPr lang="en-US"/>
              <a:t>lmaoo my bad, i just stole a template from other slides</a:t>
            </a:r>
          </a:p>
        </p188:txBody>
      </p188:reply>
    </p188:replyLst>
    <p188:txBody>
      <a:bodyPr/>
      <a:lstStyle/>
      <a:p>
        <a:r>
          <a:rPr lang="en-US"/>
          <a:t>You gave me a hard attack with those peregrine numbers lol</a:t>
        </a:r>
      </a:p>
    </p188:txBody>
  </p188:cm>
</p188:cmLst>
</file>

<file path=ppt/comments/modernComment_1BE_8B19740F.xml><?xml version="1.0" encoding="utf-8"?>
<p188:cmLst xmlns:a="http://schemas.openxmlformats.org/drawingml/2006/main" xmlns:r="http://schemas.openxmlformats.org/officeDocument/2006/relationships" xmlns:p188="http://schemas.microsoft.com/office/powerpoint/2018/8/main">
  <p188:cm id="{3E2B76CC-36F6-46FD-9D6B-CB5EE6F0F12A}" authorId="{41CD9461-4812-1D10-0BBA-E68222941669}" status="resolved" created="2025-11-06T04:30:14.150" complete="100000">
    <pc:sldMkLst xmlns:pc="http://schemas.microsoft.com/office/powerpoint/2013/main/command">
      <pc:docMk/>
      <pc:sldMk cId="2333701135" sldId="446"/>
    </pc:sldMkLst>
    <p188:txBody>
      <a:bodyPr/>
      <a:lstStyle/>
      <a:p>
        <a:r>
          <a:rPr lang="en-US"/>
          <a:t>Brandon Presenting</a:t>
        </a:r>
      </a:p>
    </p188:txBody>
  </p188:cm>
</p188:cmLst>
</file>

<file path=ppt/comments/modernComment_1BF_F2D5BD87.xml><?xml version="1.0" encoding="utf-8"?>
<p188:cmLst xmlns:a="http://schemas.openxmlformats.org/drawingml/2006/main" xmlns:r="http://schemas.openxmlformats.org/officeDocument/2006/relationships" xmlns:p188="http://schemas.microsoft.com/office/powerpoint/2018/8/main">
  <p188:cm id="{A12DDB30-6978-4B3B-B973-F2EB53285BFC}" authorId="{ADBE0FB5-5363-46AE-2864-5CFF7BEC7C92}" status="resolved" created="2026-01-08T06:05:40.522" complete="100000">
    <pc:sldMkLst xmlns:pc="http://schemas.microsoft.com/office/powerpoint/2013/main/command">
      <pc:docMk/>
      <pc:sldMk cId="4195150761" sldId="447"/>
    </pc:sldMkLst>
    <p188:txBody>
      <a:bodyPr/>
      <a:lstStyle/>
      <a:p>
        <a:r>
          <a:rPr lang="en-US"/>
          <a:t>consider getting rid of --&gt; putting in top level?</a:t>
        </a:r>
      </a:p>
    </p188:txBody>
  </p188:cm>
</p188:cmLst>
</file>

<file path=ppt/comments/modernComment_1CA_5F977AA4.xml><?xml version="1.0" encoding="utf-8"?>
<p188:cmLst xmlns:a="http://schemas.openxmlformats.org/drawingml/2006/main" xmlns:r="http://schemas.openxmlformats.org/officeDocument/2006/relationships" xmlns:p188="http://schemas.microsoft.com/office/powerpoint/2018/8/main">
  <p188:cm id="{19CA3B3D-0B34-45DF-A3EE-52DB750B7365}" authorId="{CF429D76-0DBF-14F1-34BB-9059ED08F700}" created="2024-11-16T13:36:21.825">
    <ac:deMkLst xmlns:ac="http://schemas.microsoft.com/office/drawing/2013/main/command">
      <pc:docMk xmlns:pc="http://schemas.microsoft.com/office/powerpoint/2013/main/command"/>
      <pc:sldMk xmlns:pc="http://schemas.microsoft.com/office/powerpoint/2013/main/command" cId="1603762852" sldId="458"/>
      <ac:spMk id="10" creationId="{3A5856F2-10E6-C306-4DF8-2EB62FBC15DC}"/>
    </ac:deMkLst>
    <p188:txBody>
      <a:bodyPr/>
      <a:lstStyle/>
      <a:p>
        <a:r>
          <a:rPr lang="en-US"/>
          <a:t>note the new pic :()</a:t>
        </a:r>
      </a:p>
    </p188:txBody>
  </p188:cm>
</p188:cmLst>
</file>

<file path=ppt/comments/modernComment_1CD_2967EC19.xml><?xml version="1.0" encoding="utf-8"?>
<p188:cmLst xmlns:a="http://schemas.openxmlformats.org/drawingml/2006/main" xmlns:r="http://schemas.openxmlformats.org/officeDocument/2006/relationships" xmlns:p188="http://schemas.microsoft.com/office/powerpoint/2018/8/main">
  <p188:cm id="{161062BB-D50F-4349-9361-A9B3616330E6}" authorId="{DCC499F5-1A41-2E36-8198-5F486690C7A1}" created="2026-02-04T02:37:11.912">
    <ac:txMkLst xmlns:ac="http://schemas.microsoft.com/office/drawing/2013/main/command">
      <pc:docMk xmlns:pc="http://schemas.microsoft.com/office/powerpoint/2013/main/command"/>
      <pc:sldMk xmlns:pc="http://schemas.microsoft.com/office/powerpoint/2013/main/command" cId="694676505" sldId="461"/>
      <ac:graphicFrameMk id="2" creationId="{54DD669E-105E-0E2A-6917-2CB50E90EE81}"/>
      <ac:tblMk/>
      <ac:tcMk rowId="38326024" colId="2483966670"/>
      <ac:txMk cp="0" len="11">
        <ac:context len="12" hash="3317201597"/>
      </ac:txMk>
    </ac:txMkLst>
    <p188:pos x="8710568" y="3138880"/>
    <p188:txBody>
      <a:bodyPr/>
      <a:lstStyle/>
      <a:p>
        <a:r>
          <a:rPr lang="en-US"/>
          <a:t>link broken</a:t>
        </a:r>
      </a:p>
    </p188:txBody>
  </p188:cm>
</p188:cmLst>
</file>

<file path=ppt/comments/modernComment_1E1_EB5215B1.xml><?xml version="1.0" encoding="utf-8"?>
<p188:cmLst xmlns:a="http://schemas.openxmlformats.org/drawingml/2006/main" xmlns:r="http://schemas.openxmlformats.org/officeDocument/2006/relationships" xmlns:p188="http://schemas.microsoft.com/office/powerpoint/2018/8/main">
  <p188:cm id="{D3BFCD4C-EE31-4132-A192-59BE1A37B55A}" authorId="{B685C06E-258F-3D96-522B-2EF331BF47F4}" status="resolved" created="2025-11-07T03:04:13.760">
    <ac:deMkLst xmlns:ac="http://schemas.microsoft.com/office/drawing/2013/main/command">
      <pc:docMk xmlns:pc="http://schemas.microsoft.com/office/powerpoint/2013/main/command"/>
      <pc:sldMk xmlns:pc="http://schemas.microsoft.com/office/powerpoint/2013/main/command" cId="1577716253" sldId="463"/>
      <ac:graphicFrameMk id="2" creationId="{810AF52F-FAB0-835B-4836-EEA918FBD41B}"/>
    </ac:deMkLst>
    <p188:replyLst>
      <p188:reply id="{64DA73FA-37A5-47C5-91D1-18F1BFAFAC0A}" authorId="{B685C06E-258F-3D96-522B-2EF331BF47F4}" created="2025-11-07T03:04:27.183">
        <p188:txBody>
          <a:bodyPr/>
          <a:lstStyle/>
          <a:p>
            <a:r>
              <a:rPr lang="en-US"/>
              <a:t>Use SDS numbers as required</a:t>
            </a:r>
          </a:p>
        </p188:txBody>
      </p188:reply>
    </p188:replyLst>
    <p188:txBody>
      <a:bodyPr/>
      <a:lstStyle/>
      <a:p>
        <a:r>
          <a:rPr lang="en-US"/>
          <a:t>Add estimated costs for items</a:t>
        </a:r>
      </a:p>
    </p188:txBody>
  </p188:cm>
</p188:cmLst>
</file>

<file path=ppt/comments/modernComment_12D_C1E8239A.xml><?xml version="1.0" encoding="utf-8"?>
<p188:cmLst xmlns:a="http://schemas.openxmlformats.org/drawingml/2006/main" xmlns:r="http://schemas.openxmlformats.org/officeDocument/2006/relationships" xmlns:p188="http://schemas.microsoft.com/office/powerpoint/2018/8/main">
  <p188:cm id="{2DAFD68C-8C50-465A-B28F-03E6CA694704}" authorId="{B685C06E-258F-3D96-522B-2EF331BF47F4}" status="resolved" created="2025-11-07T03:07:42.902" complete="100000">
    <ac:deMkLst xmlns:ac="http://schemas.microsoft.com/office/drawing/2013/main/command">
      <pc:docMk xmlns:pc="http://schemas.microsoft.com/office/powerpoint/2013/main/command"/>
      <pc:sldMk xmlns:pc="http://schemas.microsoft.com/office/powerpoint/2013/main/command" cId="3253216154" sldId="301"/>
      <ac:spMk id="3" creationId="{41D01802-58E4-3EA8-8F19-FA314EDA67C0}"/>
    </ac:deMkLst>
    <p188:replyLst>
      <p188:reply id="{05E1DD12-63DD-4733-9B99-324335F2D01B}" authorId="{B9C3B5DE-EA07-014F-AE73-199304C25B8D}" created="2025-11-07T22:25:47.537">
        <p188:txBody>
          <a:bodyPr/>
          <a:lstStyle/>
          <a:p>
            <a:r>
              <a:rPr lang="en-US"/>
              <a:t>please please please please make the fonts smaller</a:t>
            </a:r>
          </a:p>
        </p188:txBody>
      </p188:reply>
    </p188:replyLst>
    <p188:txBody>
      <a:bodyPr/>
      <a:lstStyle/>
      <a:p>
        <a:r>
          <a:rPr lang="en-US"/>
          <a:t>Some of these labels down here are capitalized, others are not btw</a:t>
        </a:r>
      </a:p>
    </p188:txBody>
  </p188:cm>
</p188:cmLst>
</file>

<file path=ppt/comments/modernComment_12F_61F04474.xml><?xml version="1.0" encoding="utf-8"?>
<p188:cmLst xmlns:a="http://schemas.openxmlformats.org/drawingml/2006/main" xmlns:r="http://schemas.openxmlformats.org/officeDocument/2006/relationships" xmlns:p188="http://schemas.microsoft.com/office/powerpoint/2018/8/main">
  <p188:cm id="{6F9CD357-85F6-4AB7-9BDA-92BB63D28E88}" authorId="{B9C3B5DE-EA07-014F-AE73-199304C25B8D}" created="2025-11-07T22:28:15.428">
    <pc:sldMkLst xmlns:pc="http://schemas.microsoft.com/office/powerpoint/2013/main/command">
      <pc:docMk/>
      <pc:sldMk cId="1643136116" sldId="303"/>
    </pc:sldMkLst>
    <p188:txBody>
      <a:bodyPr/>
      <a:lstStyle/>
      <a:p>
        <a:r>
          <a:rPr lang="en-US"/>
          <a:t>Sig figs</a:t>
        </a:r>
      </a:p>
    </p188:txBody>
  </p188:cm>
</p188:cmLst>
</file>

<file path=ppt/comments/modernComment_18E_B1F233D7.xml><?xml version="1.0" encoding="utf-8"?>
<p188:cmLst xmlns:a="http://schemas.openxmlformats.org/drawingml/2006/main" xmlns:r="http://schemas.openxmlformats.org/officeDocument/2006/relationships" xmlns:p188="http://schemas.microsoft.com/office/powerpoint/2018/8/main">
  <p188:cm id="{D78F7CA4-4AE4-4CD9-897E-08B9BCB1A95D}" authorId="{B685C06E-258F-3D96-522B-2EF331BF47F4}" status="resolved" created="2025-11-07T03:01:38.726" complete="100000">
    <ac:deMkLst xmlns:ac="http://schemas.microsoft.com/office/drawing/2013/main/command">
      <pc:docMk xmlns:pc="http://schemas.microsoft.com/office/powerpoint/2013/main/command"/>
      <pc:sldMk xmlns:pc="http://schemas.microsoft.com/office/powerpoint/2013/main/command" cId="2985440215" sldId="398"/>
      <ac:picMk id="6" creationId="{B01BBF5A-8F2F-FCF5-0D51-0DBC43F4F847}"/>
    </ac:deMkLst>
    <p188:txBody>
      <a:bodyPr/>
      <a:lstStyle/>
      <a:p>
        <a:r>
          <a:rPr lang="en-US"/>
          <a:t>Remove BB and update</a:t>
        </a:r>
      </a:p>
    </p188:txBody>
    <p188:extLst>
      <p:ext xmlns:p="http://schemas.openxmlformats.org/presentationml/2006/main" uri="{57CB4572-C831-44C2-8A1C-0ADB6CCDFE69}">
        <p223:reactions xmlns:p223="http://schemas.microsoft.com/office/powerpoint/2022/03/main">
          <p223:rxn type="👍">
            <p223:instance time="2025-11-08T00:54:58.770" authorId="{B685C06E-258F-3D96-522B-2EF331BF47F4}"/>
          </p223:rxn>
        </p223:reactions>
      </p:ext>
    </p188:extLst>
  </p188:cm>
</p188:cmLst>
</file>

<file path=ppt/comments/modernComment_18F_E94D2E9.xml><?xml version="1.0" encoding="utf-8"?>
<p188:cmLst xmlns:a="http://schemas.openxmlformats.org/drawingml/2006/main" xmlns:r="http://schemas.openxmlformats.org/officeDocument/2006/relationships" xmlns:p188="http://schemas.microsoft.com/office/powerpoint/2018/8/main">
  <p188:cm id="{AB9E20AF-CC55-4662-A7B9-1A5767F19237}" authorId="{B685C06E-258F-3D96-522B-2EF331BF47F4}" status="resolved" created="2025-11-07T03:03:51.819" complete="100000">
    <ac:deMkLst xmlns:ac="http://schemas.microsoft.com/office/drawing/2013/main/command">
      <pc:docMk xmlns:pc="http://schemas.microsoft.com/office/powerpoint/2013/main/command"/>
      <pc:sldMk xmlns:pc="http://schemas.microsoft.com/office/powerpoint/2013/main/command" cId="244634345" sldId="399"/>
      <ac:spMk id="2" creationId="{F6741240-6CE6-7396-B2CC-26548AE8C393}"/>
    </ac:deMkLst>
    <p188:txBody>
      <a:bodyPr/>
      <a:lstStyle/>
      <a:p>
        <a:r>
          <a:rPr lang="en-US"/>
          <a:t>Update</a:t>
        </a:r>
      </a:p>
    </p188:txBody>
  </p188:cm>
</p188:cmLst>
</file>

<file path=ppt/comments/modernComment_19C_CF9A74D9.xml><?xml version="1.0" encoding="utf-8"?>
<p188:cmLst xmlns:a="http://schemas.openxmlformats.org/drawingml/2006/main" xmlns:r="http://schemas.openxmlformats.org/officeDocument/2006/relationships" xmlns:p188="http://schemas.microsoft.com/office/powerpoint/2018/8/main">
  <p188:cm id="{2831D8CC-8378-4974-B749-246170CF5B6A}" authorId="{B685C06E-258F-3D96-522B-2EF331BF47F4}" created="2025-11-07T02:50:45.302">
    <pc:sldMkLst xmlns:pc="http://schemas.microsoft.com/office/powerpoint/2013/main/command">
      <pc:docMk/>
      <pc:sldMk cId="3483006169" sldId="412"/>
    </pc:sldMkLst>
    <p188:txBody>
      <a:bodyPr/>
      <a:lstStyle/>
      <a:p>
        <a:r>
          <a:rPr lang="en-US"/>
          <a:t>Can you change the formatting of the equations so that it’s more legible</a:t>
        </a:r>
      </a:p>
    </p188:txBody>
  </p188:cm>
  <p188:cm id="{5950EAB8-46FB-4C46-92ED-01550C9E6B76}" authorId="{DCC499F5-1A41-2E36-8198-5F486690C7A1}" created="2026-02-04T02:01:03.763">
    <pc:sldMkLst xmlns:pc="http://schemas.microsoft.com/office/powerpoint/2013/main/command">
      <pc:docMk/>
      <pc:sldMk cId="3483006169" sldId="412"/>
    </pc:sldMkLst>
    <p188:txBody>
      <a:bodyPr/>
      <a:lstStyle/>
      <a:p>
        <a:r>
          <a:rPr lang="en-US"/>
          <a:t>In general, it may be better to format all structural results into a safety margin (not to be confused with safety factor) table to very quickly and clearly communicate areas of concern vs areas with lots of margin</a:t>
        </a:r>
      </a:p>
    </p188:txBody>
  </p188:cm>
</p188:cmLst>
</file>

<file path=ppt/comments/modernComment_19E_41CFC87E.xml><?xml version="1.0" encoding="utf-8"?>
<p188:cmLst xmlns:a="http://schemas.openxmlformats.org/drawingml/2006/main" xmlns:r="http://schemas.openxmlformats.org/officeDocument/2006/relationships" xmlns:p188="http://schemas.microsoft.com/office/powerpoint/2018/8/main">
  <p188:cm id="{9C53121F-6D3F-415E-88B3-A07CCEA4C953}" authorId="{ADBE0FB5-5363-46AE-2864-5CFF7BEC7C92}" created="2026-01-08T06:03:49.334">
    <pc:sldMkLst xmlns:pc="http://schemas.microsoft.com/office/powerpoint/2013/main/command">
      <pc:docMk/>
      <pc:sldMk cId="1104136318" sldId="414"/>
    </pc:sldMkLst>
    <p188:txBody>
      <a:bodyPr/>
      <a:lstStyle/>
      <a:p>
        <a:r>
          <a:rPr lang="en-US"/>
          <a:t>Update CAD</a:t>
        </a:r>
      </a:p>
    </p188:txBody>
  </p188:cm>
</p188:cmLst>
</file>

<file path=ppt/comments/modernComment_21E_E23EE16F.xml><?xml version="1.0" encoding="utf-8"?>
<p188:cmLst xmlns:a="http://schemas.openxmlformats.org/drawingml/2006/main" xmlns:r="http://schemas.openxmlformats.org/officeDocument/2006/relationships" xmlns:p188="http://schemas.microsoft.com/office/powerpoint/2018/8/main">
  <p188:cm id="{AB6CB28F-3786-40A4-8348-4FD704C6EDB3}" authorId="{3DF190F2-9B66-377F-B7E0-4ACE95964A70}" created="2025-10-25T18:47:33.441">
    <pc:sldMkLst xmlns:pc="http://schemas.microsoft.com/office/powerpoint/2013/main/command">
      <pc:docMk/>
      <pc:sldMk cId="1151716731" sldId="406"/>
    </pc:sldMkLst>
    <p188:txBody>
      <a:bodyPr/>
      <a:lstStyle/>
      <a:p>
        <a:r>
          <a:rPr lang="en-US"/>
          <a:t>Matt is giving us sizing of the tank for ox</a:t>
        </a:r>
      </a:p>
    </p188:txBody>
  </p188:cm>
  <p188:cm id="{721BAF60-274E-45F8-997E-176F297BB023}" authorId="{DCC499F5-1A41-2E36-8198-5F486690C7A1}" created="2026-02-04T02:06:53.921">
    <pc:sldMkLst xmlns:pc="http://schemas.microsoft.com/office/powerpoint/2013/main/command">
      <pc:docMk/>
      <pc:sldMk cId="3795771759" sldId="542"/>
    </pc:sldMkLst>
    <p188:txBody>
      <a:bodyPr/>
      <a:lstStyle/>
      <a:p>
        <a:r>
          <a:rPr lang="en-US"/>
          <a:t>Why is the check valve so overkill? seems like a lot of extra weight to launch with</a:t>
        </a:r>
      </a:p>
    </p188:txBody>
  </p188:cm>
</p188:cmLst>
</file>

<file path=ppt/comments/modernComment_103_77ADCD51.xml><?xml version="1.0" encoding="utf-8"?>
<p188:cmLst xmlns:a="http://schemas.openxmlformats.org/drawingml/2006/main" xmlns:r="http://schemas.openxmlformats.org/officeDocument/2006/relationships" xmlns:p188="http://schemas.microsoft.com/office/powerpoint/2018/8/main">
  <p188:cm id="{00FEB524-12C1-4AB6-BA05-0EA350D1240B}" authorId="{ADBE0FB5-5363-46AE-2864-5CFF7BEC7C92}" created="2025-11-07T00:36:17.991">
    <pc:sldMkLst xmlns:pc="http://schemas.microsoft.com/office/powerpoint/2013/main/command">
      <pc:docMk/>
      <pc:sldMk cId="2007878993" sldId="259"/>
    </pc:sldMkLst>
    <p188:txBody>
      <a:bodyPr/>
      <a:lstStyle/>
      <a:p>
        <a:r>
          <a:rPr lang="en-US"/>
          <a:t>Figure numbers per section:
Overview 0._
Fluids - Pump: 1._
Fluids - Tank/Bulkheads: 2._
Fluids - Injector: 3._
Fluids - Prop: 4._
GSE: 5._
Aerodynamics: 6._
Structures: 7._
Recovery: 8._
Avionics: 9._
Testing: 10._
Budget: 11._</a:t>
        </a:r>
      </a:p>
    </p188:txBody>
  </p188:cm>
</p188:cmLst>
</file>

<file path=ppt/comments/modernComment_159_1C2E6C9B.xml><?xml version="1.0" encoding="utf-8"?>
<p188:cmLst xmlns:a="http://schemas.openxmlformats.org/drawingml/2006/main" xmlns:r="http://schemas.openxmlformats.org/officeDocument/2006/relationships" xmlns:p188="http://schemas.microsoft.com/office/powerpoint/2018/8/main">
  <p188:cm id="{5FAB0131-6107-44B5-938D-396B58A5A518}" authorId="{CF429D76-0DBF-14F1-34BB-9059ED08F700}" created="2024-11-16T13:36:21.825">
    <ac:deMkLst xmlns:ac="http://schemas.microsoft.com/office/drawing/2013/main/command">
      <pc:docMk xmlns:pc="http://schemas.microsoft.com/office/powerpoint/2013/main/command"/>
      <pc:sldMk xmlns:pc="http://schemas.microsoft.com/office/powerpoint/2013/main/command" cId="472804507" sldId="345"/>
      <ac:spMk id="10" creationId="{3A53A265-FF8A-1872-36E8-2BFD03397FDA}"/>
    </ac:deMkLst>
    <p188:txBody>
      <a:bodyPr/>
      <a:lstStyle/>
      <a:p>
        <a:r>
          <a:rPr lang="en-US"/>
          <a:t>note the new pic :()</a:t>
        </a:r>
      </a:p>
    </p188:txBody>
  </p188:cm>
</p188:cmLst>
</file>

<file path=ppt/comments/modernComment_187_B267FA19.xml><?xml version="1.0" encoding="utf-8"?>
<p188:cmLst xmlns:a="http://schemas.openxmlformats.org/drawingml/2006/main" xmlns:r="http://schemas.openxmlformats.org/officeDocument/2006/relationships" xmlns:p188="http://schemas.microsoft.com/office/powerpoint/2018/8/main">
  <p188:cm id="{78AD6C2E-AEC6-4607-87B9-13FA66D10E60}" authorId="{B685C06E-258F-3D96-522B-2EF331BF47F4}" status="resolved" created="2025-11-07T03:02:05.472" complete="100000">
    <pc:sldMkLst xmlns:pc="http://schemas.microsoft.com/office/powerpoint/2013/main/command">
      <pc:docMk/>
      <pc:sldMk cId="2993158681" sldId="391"/>
    </pc:sldMkLst>
    <p188:replyLst>
      <p188:reply id="{19FF7DF9-98A5-4D9D-A326-FDB103822E58}" authorId="{B685C06E-258F-3D96-522B-2EF331BF47F4}" created="2025-11-08T01:08:19.109">
        <p188:txBody>
          <a:bodyPr/>
          <a:lstStyle/>
          <a:p>
            <a:r>
              <a:rPr lang="en-US"/>
              <a:t>nah</a:t>
            </a:r>
          </a:p>
        </p188:txBody>
      </p188:reply>
    </p188:replyLst>
    <p188:txBody>
      <a:bodyPr/>
      <a:lstStyle/>
      <a:p>
        <a:r>
          <a:rPr lang="en-US"/>
          <a:t>Add a picture or smth here
</a:t>
        </a:r>
      </a:p>
    </p188:txBody>
  </p188:cm>
</p188:cmLst>
</file>

<file path=ppt/comments/modernComment_193_D5DB25EC.xml><?xml version="1.0" encoding="utf-8"?>
<p188:cmLst xmlns:a="http://schemas.openxmlformats.org/drawingml/2006/main" xmlns:r="http://schemas.openxmlformats.org/officeDocument/2006/relationships" xmlns:p188="http://schemas.microsoft.com/office/powerpoint/2018/8/main">
  <p188:cm id="{375BF055-FB59-406A-B0B7-CA455C1E679B}" authorId="{B685C06E-258F-3D96-522B-2EF331BF47F4}" created="2025-11-07T02:50:54.203">
    <pc:sldMkLst xmlns:pc="http://schemas.microsoft.com/office/powerpoint/2013/main/command">
      <pc:docMk/>
      <pc:sldMk cId="3587909100" sldId="403"/>
    </pc:sldMkLst>
    <p188:txBody>
      <a:bodyPr/>
      <a:lstStyle/>
      <a:p>
        <a:r>
          <a:rPr lang="en-US"/>
          <a:t>Can you change the formatting of the equations so that it’s more legible</a:t>
        </a:r>
      </a:p>
    </p188:txBody>
  </p188:cm>
</p188:cmLst>
</file>

<file path=ppt/comments/modernComment_194_25722753.xml><?xml version="1.0" encoding="utf-8"?>
<p188:cmLst xmlns:a="http://schemas.openxmlformats.org/drawingml/2006/main" xmlns:r="http://schemas.openxmlformats.org/officeDocument/2006/relationships" xmlns:p188="http://schemas.microsoft.com/office/powerpoint/2018/8/main">
  <p188:cm id="{F36C9417-7F97-4372-B4FA-F627A73030D6}" authorId="{A5EE9762-B04A-ACA7-D08A-625112A523FD}" created="2025-11-08T08:13:10.254">
    <ac:txMkLst xmlns:ac="http://schemas.microsoft.com/office/drawing/2013/main/command">
      <pc:docMk xmlns:pc="http://schemas.microsoft.com/office/powerpoint/2013/main/command"/>
      <pc:sldMk xmlns:pc="http://schemas.microsoft.com/office/powerpoint/2013/main/command" cId="628238163" sldId="404"/>
      <ac:spMk id="5" creationId="{05096909-A0EF-6CC1-C528-633F0DA485C8}"/>
      <ac:txMk cp="0" len="9">
        <ac:context len="10" hash="434723040"/>
      </ac:txMk>
    </ac:txMkLst>
    <p188:pos x="2865120" y="233680"/>
    <p188:txBody>
      <a:bodyPr/>
      <a:lstStyle/>
      <a:p>
        <a:r>
          <a:rPr lang="en-US"/>
          <a:t>https://www.mcmaster.com/9464k554/https://www.mcmaster.com/9464k554/​</a:t>
        </a:r>
      </a:p>
    </p188:txBody>
  </p188:cm>
</p188:cmLst>
</file>

<file path=ppt/comments/modernComment_195_9B71CE6D.xml><?xml version="1.0" encoding="utf-8"?>
<p188:cmLst xmlns:a="http://schemas.openxmlformats.org/drawingml/2006/main" xmlns:r="http://schemas.openxmlformats.org/officeDocument/2006/relationships" xmlns:p188="http://schemas.microsoft.com/office/powerpoint/2018/8/main">
  <p188:cm id="{8822D208-0126-43D1-9330-EC39713AE08D}" authorId="{AC8B5AC5-7988-C296-928E-AA294E5E9992}" created="2025-10-25T18:41:24.436">
    <ac:deMkLst xmlns:ac="http://schemas.microsoft.com/office/drawing/2013/main/command">
      <pc:docMk xmlns:pc="http://schemas.microsoft.com/office/powerpoint/2013/main/command"/>
      <pc:sldMk xmlns:pc="http://schemas.microsoft.com/office/powerpoint/2013/main/command" cId="2607926893" sldId="405"/>
      <ac:picMk id="7" creationId="{0A87FF65-6EC2-65AE-C995-B8BC500B8176}"/>
    </ac:deMkLst>
    <p188:txBody>
      <a:bodyPr/>
      <a:lstStyle/>
      <a:p>
        <a:r>
          <a:rPr lang="en-US"/>
          <a:t>change to full assembly, maybe change transparency on tanks</a:t>
        </a:r>
      </a:p>
    </p188:txBody>
  </p188:cm>
  <p188:cm id="{B202246F-87D4-4040-BCC5-020E105E672C}" authorId="{3DF190F2-9B66-377F-B7E0-4ACE95964A70}" created="2025-10-25T18:56:21.258">
    <pc:sldMkLst xmlns:pc="http://schemas.microsoft.com/office/powerpoint/2013/main/command">
      <pc:docMk/>
      <pc:sldMk cId="2607926893" sldId="405"/>
    </pc:sldMkLst>
    <p188:txBody>
      <a:bodyPr/>
      <a:lstStyle/>
      <a:p>
        <a:r>
          <a:rPr lang="en-US"/>
          <a:t>Maybe and drawing </a:t>
        </a:r>
      </a:p>
    </p188:txBody>
  </p188:cm>
  <p188:cm id="{A3ED8B69-2E00-463C-AFD8-C94410950A8B}" authorId="{AC8B5AC5-7988-C296-928E-AA294E5E9992}" created="2025-11-01T17:42:15.751">
    <pc:sldMkLst xmlns:pc="http://schemas.microsoft.com/office/powerpoint/2013/main/command">
      <pc:docMk/>
      <pc:sldMk cId="2607926893" sldId="405"/>
    </pc:sldMkLst>
    <p188:txBody>
      <a:bodyPr/>
      <a:lstStyle/>
      <a:p>
        <a:r>
          <a:rPr lang="en-US"/>
          <a:t>I think this CAD is wrong</a:t>
        </a:r>
      </a:p>
    </p188:txBody>
  </p188:cm>
  <p188:cm id="{7EBC2CD3-2D72-4900-B065-F08C81B66A6E}" authorId="{ADBE0FB5-5363-46AE-2864-5CFF7BEC7C92}" created="2025-11-03T20:17:23.087">
    <ac:deMkLst xmlns:ac="http://schemas.microsoft.com/office/drawing/2013/main/command">
      <pc:docMk xmlns:pc="http://schemas.microsoft.com/office/powerpoint/2013/main/command"/>
      <pc:sldMk xmlns:pc="http://schemas.microsoft.com/office/powerpoint/2013/main/command" cId="2607926893" sldId="405"/>
      <ac:picMk id="9" creationId="{089F24CB-FF9D-DE6B-9AD4-41AD97BF2BAC}"/>
    </ac:deMkLst>
    <p188:txBody>
      <a:bodyPr/>
      <a:lstStyle/>
      <a:p>
        <a:r>
          <a:rPr lang="en-US"/>
          <a:t>describe load + contraints, ensure numbers visible on slides</a:t>
        </a:r>
      </a:p>
    </p188:txBody>
  </p188:cm>
  <p188:cm id="{DE7876D4-41C6-42A6-B6B7-07712C8B74F8}" authorId="{DCC499F5-1A41-2E36-8198-5F486690C7A1}" created="2026-02-04T01:54:24.396">
    <pc:sldMkLst xmlns:pc="http://schemas.microsoft.com/office/powerpoint/2013/main/command">
      <pc:docMk/>
      <pc:sldMk cId="2607926893" sldId="405"/>
    </pc:sldMkLst>
    <p188:txBody>
      <a:bodyPr/>
      <a:lstStyle/>
      <a:p>
        <a:r>
          <a:rPr lang="en-US"/>
          <a:t>Change FEA scale so red is your ultimate, and orange is your yield. Helps show quickly how overbuilt the bulkhead is. More inline with industry standards</a:t>
        </a:r>
      </a:p>
    </p188:txBody>
  </p188:cm>
  <p188:cm id="{736962CB-F9AE-45AE-8CF4-0F0383B6816A}" authorId="{DCC499F5-1A41-2E36-8198-5F486690C7A1}" created="2026-02-04T01:57:55.745">
    <pc:sldMkLst xmlns:pc="http://schemas.microsoft.com/office/powerpoint/2013/main/command">
      <pc:docMk/>
      <pc:sldMk cId="2607926893" sldId="405"/>
    </pc:sldMkLst>
    <p188:txBody>
      <a:bodyPr/>
      <a:lstStyle/>
      <a:p>
        <a:r>
          <a:rPr lang="en-US"/>
          <a:t>A large part of the load case is the combined loading of not just pressure, but also accelerating several pounds of prop to like +3g</a:t>
        </a:r>
      </a:p>
    </p188:txBody>
  </p188:cm>
</p188:cmLst>
</file>

<file path=ppt/comments/modernComment_196_44A5CD7B.xml><?xml version="1.0" encoding="utf-8"?>
<p188:cmLst xmlns:a="http://schemas.openxmlformats.org/drawingml/2006/main" xmlns:r="http://schemas.openxmlformats.org/officeDocument/2006/relationships" xmlns:p188="http://schemas.microsoft.com/office/powerpoint/2018/8/main">
  <p188:cm id="{AE639483-52B5-4558-9227-D8BC88167B35}" authorId="{3DF190F2-9B66-377F-B7E0-4ACE95964A70}" created="2025-10-25T18:47:33.441">
    <pc:sldMkLst xmlns:pc="http://schemas.microsoft.com/office/powerpoint/2013/main/command">
      <pc:docMk/>
      <pc:sldMk cId="1151716731" sldId="406"/>
    </pc:sldMkLst>
    <p188:txBody>
      <a:bodyPr/>
      <a:lstStyle/>
      <a:p>
        <a:r>
          <a:rPr lang="en-US"/>
          <a:t>Matt is giving us sizing of the tank for ox</a:t>
        </a:r>
      </a:p>
    </p188:txBody>
  </p188:cm>
  <p188:cm id="{D341A917-F896-4257-A368-42975A257B3F}" authorId="{DCC499F5-1A41-2E36-8198-5F486690C7A1}" created="2026-02-04T02:02:56.514">
    <pc:sldMkLst xmlns:pc="http://schemas.microsoft.com/office/powerpoint/2013/main/command">
      <pc:docMk/>
      <pc:sldMk cId="1151716731" sldId="406"/>
    </pc:sldMkLst>
    <p188:txBody>
      <a:bodyPr/>
      <a:lstStyle/>
      <a:p>
        <a:r>
          <a:rPr lang="en-US"/>
          <a:t>margin of safety table would be good for something like this, where it seems like the tank yield is below the 2x safety factor that all other components have been using</a:t>
        </a:r>
      </a:p>
    </p188:txBody>
  </p188:cm>
</p188:cmLst>
</file>

<file path=ppt/comments/modernComment_198_17432CD4.xml><?xml version="1.0" encoding="utf-8"?>
<p188:cmLst xmlns:a="http://schemas.openxmlformats.org/drawingml/2006/main" xmlns:r="http://schemas.openxmlformats.org/officeDocument/2006/relationships" xmlns:p188="http://schemas.microsoft.com/office/powerpoint/2018/8/main">
  <p188:cm id="{C0AD5201-232D-452F-92DC-0952224A0E10}" authorId="{AC8B5AC5-7988-C296-928E-AA294E5E9992}" created="2025-10-25T18:41:24.436">
    <ac:deMkLst xmlns:ac="http://schemas.microsoft.com/office/drawing/2013/main/command">
      <pc:docMk xmlns:pc="http://schemas.microsoft.com/office/powerpoint/2013/main/command"/>
      <pc:sldMk xmlns:pc="http://schemas.microsoft.com/office/powerpoint/2013/main/command" cId="2607926893" sldId="405"/>
      <ac:picMk id="7" creationId="{0A87FF65-6EC2-65AE-C995-B8BC500B8176}"/>
    </ac:deMkLst>
    <p188:txBody>
      <a:bodyPr/>
      <a:lstStyle/>
      <a:p>
        <a:r>
          <a:rPr lang="en-US"/>
          <a:t>change to full assembly, maybe change transparency on tanks</a:t>
        </a:r>
      </a:p>
    </p188:txBody>
  </p188:cm>
  <p188:cm id="{89E60C8C-497F-4CBE-BF50-D1E45E1FED08}" authorId="{3DF190F2-9B66-377F-B7E0-4ACE95964A70}" created="2025-10-25T18:56:21.258">
    <pc:sldMkLst xmlns:pc="http://schemas.microsoft.com/office/powerpoint/2013/main/command">
      <pc:docMk/>
      <pc:sldMk cId="2607926893" sldId="405"/>
    </pc:sldMkLst>
    <p188:replyLst>
      <p188:reply id="{A77EDD12-12CE-421F-BD8C-4B3F06EF02B9}" authorId="{B9C3B5DE-EA07-014F-AE73-199304C25B8D}" created="2025-11-07T22:33:03.542">
        <p188:txBody>
          <a:bodyPr/>
          <a:lstStyle/>
          <a:p>
            <a:r>
              <a:rPr lang="en-US"/>
              <a:t>too much going on here. either make the pictures smaller or take one out</a:t>
            </a:r>
          </a:p>
        </p188:txBody>
      </p188:reply>
    </p188:replyLst>
    <p188:txBody>
      <a:bodyPr/>
      <a:lstStyle/>
      <a:p>
        <a:r>
          <a:rPr lang="en-US"/>
          <a:t>Maybe and drawing </a:t>
        </a:r>
      </a:p>
    </p188:txBody>
  </p188:cm>
  <p188:cm id="{CD3E480C-5355-4D44-9305-36BB3284CE5B}" authorId="{AC8B5AC5-7988-C296-928E-AA294E5E9992}" created="2025-11-01T17:42:15.751">
    <pc:sldMkLst xmlns:pc="http://schemas.microsoft.com/office/powerpoint/2013/main/command">
      <pc:docMk/>
      <pc:sldMk cId="2607926893" sldId="405"/>
    </pc:sldMkLst>
    <p188:txBody>
      <a:bodyPr/>
      <a:lstStyle/>
      <a:p>
        <a:r>
          <a:rPr lang="en-US"/>
          <a:t>I think this CAD is wrong</a:t>
        </a:r>
      </a:p>
    </p188:txBody>
  </p188:cm>
  <p188:cm id="{EDD5DE24-0841-46EE-B94A-2B80F3ADD8F1}" authorId="{DCC499F5-1A41-2E36-8198-5F486690C7A1}" created="2026-02-04T01:56:04.383">
    <pc:sldMkLst xmlns:pc="http://schemas.microsoft.com/office/powerpoint/2013/main/command">
      <pc:docMk/>
      <pc:sldMk cId="390278356" sldId="408"/>
    </pc:sldMkLst>
    <p188:txBody>
      <a:bodyPr/>
      <a:lstStyle/>
      <a:p>
        <a:r>
          <a:rPr lang="en-US"/>
          <a:t>This may not be your worst loadcase based on how the vehicle is filled. If it is not procedurally clear that the N2 is loaded before the N2O, then that changes things</a:t>
        </a:r>
      </a:p>
    </p188:txBody>
  </p188:cm>
</p188:cmLst>
</file>

<file path=ppt/comments/modernComment_199_2D2640A4.xml><?xml version="1.0" encoding="utf-8"?>
<p188:cmLst xmlns:a="http://schemas.openxmlformats.org/drawingml/2006/main" xmlns:r="http://schemas.openxmlformats.org/officeDocument/2006/relationships" xmlns:p188="http://schemas.microsoft.com/office/powerpoint/2018/8/main">
  <p188:cm id="{E5DABE99-D722-4097-AE14-16390C40BD96}" authorId="{AC8B5AC5-7988-C296-928E-AA294E5E9992}" created="2025-10-25T18:41:24.436">
    <ac:deMkLst xmlns:ac="http://schemas.microsoft.com/office/drawing/2013/main/command">
      <pc:docMk xmlns:pc="http://schemas.microsoft.com/office/powerpoint/2013/main/command"/>
      <pc:sldMk xmlns:pc="http://schemas.microsoft.com/office/powerpoint/2013/main/command" cId="2607926893" sldId="405"/>
      <ac:picMk id="7" creationId="{0A87FF65-6EC2-65AE-C995-B8BC500B8176}"/>
    </ac:deMkLst>
    <p188:txBody>
      <a:bodyPr/>
      <a:lstStyle/>
      <a:p>
        <a:r>
          <a:rPr lang="en-US"/>
          <a:t>change to full assembly, maybe change transparency on tanks</a:t>
        </a:r>
      </a:p>
    </p188:txBody>
  </p188:cm>
  <p188:cm id="{3D217106-7461-42EC-8CE7-2C70CCA0C687}" authorId="{3DF190F2-9B66-377F-B7E0-4ACE95964A70}" created="2025-10-25T18:56:21.258">
    <pc:sldMkLst xmlns:pc="http://schemas.microsoft.com/office/powerpoint/2013/main/command">
      <pc:docMk/>
      <pc:sldMk cId="2607926893" sldId="405"/>
    </pc:sldMkLst>
    <p188:txBody>
      <a:bodyPr/>
      <a:lstStyle/>
      <a:p>
        <a:r>
          <a:rPr lang="en-US"/>
          <a:t>Maybe and drawing </a:t>
        </a:r>
      </a:p>
    </p188:txBody>
  </p188:cm>
  <p188:cm id="{2A8FD9CF-38CB-47ED-AC2C-C5F0E862A50A}" authorId="{AC8B5AC5-7988-C296-928E-AA294E5E9992}" created="2025-11-01T17:42:15.751">
    <pc:sldMkLst xmlns:pc="http://schemas.microsoft.com/office/powerpoint/2013/main/command">
      <pc:docMk/>
      <pc:sldMk cId="2607926893" sldId="405"/>
    </pc:sldMkLst>
    <p188:txBody>
      <a:bodyPr/>
      <a:lstStyle/>
      <a:p>
        <a:r>
          <a:rPr lang="en-US"/>
          <a:t>I think this CAD is wrong</a:t>
        </a:r>
      </a:p>
    </p188:txBody>
  </p188:cm>
</p188:cmLst>
</file>

<file path=ppt/comments/modernComment_225_45AA20C8.xml><?xml version="1.0" encoding="utf-8"?>
<p188:cmLst xmlns:a="http://schemas.openxmlformats.org/drawingml/2006/main" xmlns:r="http://schemas.openxmlformats.org/officeDocument/2006/relationships" xmlns:p188="http://schemas.microsoft.com/office/powerpoint/2018/8/main">
  <p188:cm id="{04875CAC-D41A-4A6D-B17E-41FD2417BF02}" authorId="{ADBE0FB5-5363-46AE-2864-5CFF7BEC7C92}" created="2025-11-07T00:36:17.991">
    <pc:sldMkLst xmlns:pc="http://schemas.microsoft.com/office/powerpoint/2013/main/command">
      <pc:docMk/>
      <pc:sldMk cId="2007878993" sldId="259"/>
    </pc:sldMkLst>
    <p188:txBody>
      <a:bodyPr/>
      <a:lstStyle/>
      <a:p>
        <a:r>
          <a:rPr lang="en-US"/>
          <a:t>Figure numbers per section:
Overview 0._
Fluids - Pump: 1._
Fluids - Tank/Bulkheads: 2._
Fluids - Injector: 3._
Fluids - Prop: 4._
GSE: 5._
Aerodynamics: 6._
Structures: 7._
Recovery: 8._
Avionics: 9._
Testing: 10._
Budget: 11._</a:t>
        </a:r>
      </a:p>
    </p188:txBody>
  </p188:cm>
</p188:cmLst>
</file>

<file path=ppt/comments/modernComment_227_1626F096.xml><?xml version="1.0" encoding="utf-8"?>
<p188:cmLst xmlns:a="http://schemas.openxmlformats.org/drawingml/2006/main" xmlns:r="http://schemas.openxmlformats.org/officeDocument/2006/relationships" xmlns:p188="http://schemas.microsoft.com/office/powerpoint/2018/8/main">
  <p188:cm id="{075B4BC9-075C-4EA4-8CA2-8FD5E7D5FC77}" authorId="{B685C06E-258F-3D96-522B-2EF331BF47F4}" status="resolved" created="2025-11-07T03:03:01.696">
    <ac:deMkLst xmlns:ac="http://schemas.microsoft.com/office/drawing/2013/main/command">
      <pc:docMk xmlns:pc="http://schemas.microsoft.com/office/powerpoint/2013/main/command"/>
      <pc:sldMk xmlns:pc="http://schemas.microsoft.com/office/powerpoint/2013/main/command" cId="2806940623" sldId="397"/>
      <ac:grpSpMk id="11" creationId="{313F7EDE-09BB-1865-523B-847E10BD31E9}"/>
    </ac:deMkLst>
    <p188:replyLst>
      <p188:reply id="{B1EAC56D-02E4-41C6-800A-B61A96474301}" authorId="{B685C06E-258F-3D96-522B-2EF331BF47F4}" created="2025-11-07T03:03:07.535">
        <p188:txBody>
          <a:bodyPr/>
          <a:lstStyle/>
          <a:p>
            <a:r>
              <a:rPr lang="en-US"/>
              <a:t>Justify further</a:t>
            </a:r>
          </a:p>
        </p188:txBody>
      </p188:reply>
    </p188:replyLst>
    <p188:txBody>
      <a:bodyPr/>
      <a:lstStyle/>
      <a:p>
        <a:r>
          <a:rPr lang="en-US"/>
          <a:t>Sure we need to epoxy? What about a jam nut?</a:t>
        </a:r>
      </a:p>
    </p188:txBody>
  </p188:cm>
</p188:cmLst>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CB20BA-9DD9-D944-89B5-7154FF35A799}" type="doc">
      <dgm:prSet loTypeId="urn:microsoft.com/office/officeart/2005/8/layout/hierarchy6" loCatId="" qsTypeId="urn:microsoft.com/office/officeart/2005/8/quickstyle/simple1" qsCatId="simple" csTypeId="urn:microsoft.com/office/officeart/2005/8/colors/accent2_1" csCatId="accent2" phldr="1"/>
      <dgm:spPr/>
      <dgm:t>
        <a:bodyPr/>
        <a:lstStyle/>
        <a:p>
          <a:endParaRPr lang="en-US"/>
        </a:p>
      </dgm:t>
    </dgm:pt>
    <dgm:pt modelId="{547A8FA0-F1DB-EC49-A27C-DB9C9FA1EE3B}">
      <dgm:prSet phldrT="[Text]" phldr="1"/>
      <dgm:spPr/>
      <dgm:t>
        <a:bodyPr/>
        <a:lstStyle/>
        <a:p>
          <a:endParaRPr lang="en-US"/>
        </a:p>
      </dgm:t>
    </dgm:pt>
    <dgm:pt modelId="{D19E8173-761C-EB46-98AA-9B6B6DD891C9}" type="parTrans" cxnId="{5C7DAB57-83FA-3143-BFA4-B895FEEF3CEE}">
      <dgm:prSet/>
      <dgm:spPr/>
      <dgm:t>
        <a:bodyPr/>
        <a:lstStyle/>
        <a:p>
          <a:endParaRPr lang="en-US"/>
        </a:p>
      </dgm:t>
    </dgm:pt>
    <dgm:pt modelId="{5C2507FD-0D56-4342-92C0-4AD002176A79}" type="sibTrans" cxnId="{5C7DAB57-83FA-3143-BFA4-B895FEEF3CEE}">
      <dgm:prSet/>
      <dgm:spPr/>
      <dgm:t>
        <a:bodyPr/>
        <a:lstStyle/>
        <a:p>
          <a:endParaRPr lang="en-US"/>
        </a:p>
      </dgm:t>
    </dgm:pt>
    <dgm:pt modelId="{B454B05A-8BBA-DC4F-A856-659508D754E4}">
      <dgm:prSet phldrT="[Text]" phldr="1"/>
      <dgm:spPr/>
      <dgm:t>
        <a:bodyPr/>
        <a:lstStyle/>
        <a:p>
          <a:endParaRPr lang="en-US"/>
        </a:p>
      </dgm:t>
    </dgm:pt>
    <dgm:pt modelId="{E7D0EEBD-B851-9340-ADE0-35F90CCF3385}" type="parTrans" cxnId="{5BD4ABC8-0806-7D4B-A128-2BF08893035F}">
      <dgm:prSet/>
      <dgm:spPr/>
      <dgm:t>
        <a:bodyPr/>
        <a:lstStyle/>
        <a:p>
          <a:endParaRPr lang="en-US"/>
        </a:p>
      </dgm:t>
    </dgm:pt>
    <dgm:pt modelId="{5073DBEF-0725-E943-BB41-5226B0FA3F5C}" type="sibTrans" cxnId="{5BD4ABC8-0806-7D4B-A128-2BF08893035F}">
      <dgm:prSet/>
      <dgm:spPr/>
      <dgm:t>
        <a:bodyPr/>
        <a:lstStyle/>
        <a:p>
          <a:endParaRPr lang="en-US"/>
        </a:p>
      </dgm:t>
    </dgm:pt>
    <dgm:pt modelId="{D8E773E8-857D-8D4B-A260-65EE628E190D}">
      <dgm:prSet phldrT="[Text]" phldr="1"/>
      <dgm:spPr/>
      <dgm:t>
        <a:bodyPr/>
        <a:lstStyle/>
        <a:p>
          <a:endParaRPr lang="en-US"/>
        </a:p>
      </dgm:t>
    </dgm:pt>
    <dgm:pt modelId="{2E9A3E15-1AB9-604B-8033-4E3F8BD4F47A}" type="parTrans" cxnId="{D8938ECF-07A2-F948-B2AE-4EFC94807FA1}">
      <dgm:prSet/>
      <dgm:spPr/>
      <dgm:t>
        <a:bodyPr/>
        <a:lstStyle/>
        <a:p>
          <a:endParaRPr lang="en-US"/>
        </a:p>
      </dgm:t>
    </dgm:pt>
    <dgm:pt modelId="{D32DB5D3-A730-A147-9331-1D874CA57E85}" type="sibTrans" cxnId="{D8938ECF-07A2-F948-B2AE-4EFC94807FA1}">
      <dgm:prSet/>
      <dgm:spPr/>
      <dgm:t>
        <a:bodyPr/>
        <a:lstStyle/>
        <a:p>
          <a:endParaRPr lang="en-US"/>
        </a:p>
      </dgm:t>
    </dgm:pt>
    <dgm:pt modelId="{033373FE-81E6-E649-81BE-69EA5B2D44A0}">
      <dgm:prSet phldrT="[Text]" phldr="1"/>
      <dgm:spPr/>
      <dgm:t>
        <a:bodyPr/>
        <a:lstStyle/>
        <a:p>
          <a:endParaRPr lang="en-US"/>
        </a:p>
      </dgm:t>
    </dgm:pt>
    <dgm:pt modelId="{2D822FD0-E156-B445-BE6D-0EB52E8FFCAA}" type="parTrans" cxnId="{CF6B464A-47F3-4944-B08A-B5BBA3F90337}">
      <dgm:prSet/>
      <dgm:spPr/>
      <dgm:t>
        <a:bodyPr/>
        <a:lstStyle/>
        <a:p>
          <a:endParaRPr lang="en-US"/>
        </a:p>
      </dgm:t>
    </dgm:pt>
    <dgm:pt modelId="{9985F4C4-0787-9E49-851A-E99343096C9C}" type="sibTrans" cxnId="{CF6B464A-47F3-4944-B08A-B5BBA3F90337}">
      <dgm:prSet/>
      <dgm:spPr/>
      <dgm:t>
        <a:bodyPr/>
        <a:lstStyle/>
        <a:p>
          <a:endParaRPr lang="en-US"/>
        </a:p>
      </dgm:t>
    </dgm:pt>
    <dgm:pt modelId="{1E0FDB90-0180-524A-ABB4-84E094362A96}">
      <dgm:prSet phldrT="[Text]" phldr="1"/>
      <dgm:spPr/>
      <dgm:t>
        <a:bodyPr/>
        <a:lstStyle/>
        <a:p>
          <a:endParaRPr lang="en-US"/>
        </a:p>
      </dgm:t>
    </dgm:pt>
    <dgm:pt modelId="{7C5EBF78-6BE4-0E42-B6C2-59D259B752EE}" type="parTrans" cxnId="{551E64BC-9CFB-2044-8FF9-ADC22CFB95FB}">
      <dgm:prSet/>
      <dgm:spPr/>
      <dgm:t>
        <a:bodyPr/>
        <a:lstStyle/>
        <a:p>
          <a:endParaRPr lang="en-US"/>
        </a:p>
      </dgm:t>
    </dgm:pt>
    <dgm:pt modelId="{6EB0F8D3-0B20-3447-9B48-124D2B1009C1}" type="sibTrans" cxnId="{551E64BC-9CFB-2044-8FF9-ADC22CFB95FB}">
      <dgm:prSet/>
      <dgm:spPr/>
      <dgm:t>
        <a:bodyPr/>
        <a:lstStyle/>
        <a:p>
          <a:endParaRPr lang="en-US"/>
        </a:p>
      </dgm:t>
    </dgm:pt>
    <dgm:pt modelId="{32CAEC65-4B6E-7544-B9DC-ED6BC3604D1F}">
      <dgm:prSet phldrT="[Text]" phldr="1"/>
      <dgm:spPr/>
      <dgm:t>
        <a:bodyPr/>
        <a:lstStyle/>
        <a:p>
          <a:endParaRPr lang="en-US"/>
        </a:p>
      </dgm:t>
    </dgm:pt>
    <dgm:pt modelId="{A42FA765-EEE9-8A42-89D3-290D2D614BC3}" type="parTrans" cxnId="{EB46A4F6-B297-F14D-A388-E61A9A512413}">
      <dgm:prSet/>
      <dgm:spPr/>
      <dgm:t>
        <a:bodyPr/>
        <a:lstStyle/>
        <a:p>
          <a:endParaRPr lang="en-US"/>
        </a:p>
      </dgm:t>
    </dgm:pt>
    <dgm:pt modelId="{93AE2571-FF34-0747-B832-3582E961BCC6}" type="sibTrans" cxnId="{EB46A4F6-B297-F14D-A388-E61A9A512413}">
      <dgm:prSet/>
      <dgm:spPr/>
      <dgm:t>
        <a:bodyPr/>
        <a:lstStyle/>
        <a:p>
          <a:endParaRPr lang="en-US"/>
        </a:p>
      </dgm:t>
    </dgm:pt>
    <dgm:pt modelId="{07C6ABE4-D9E0-7F4F-87C2-77B538B97EA6}">
      <dgm:prSet phldrT="[Text]" phldr="1"/>
      <dgm:spPr>
        <a:effectLst>
          <a:outerShdw blurRad="50800" dist="38100" dir="2700000" algn="tl" rotWithShape="0">
            <a:prstClr val="black">
              <a:alpha val="40000"/>
            </a:prstClr>
          </a:outerShdw>
        </a:effectLst>
      </dgm:spPr>
      <dgm:t>
        <a:bodyPr/>
        <a:lstStyle/>
        <a:p>
          <a:endParaRPr lang="en-US"/>
        </a:p>
      </dgm:t>
    </dgm:pt>
    <dgm:pt modelId="{6CCBB489-E539-3F4A-B6C0-12E59BF07364}" type="parTrans" cxnId="{40D925A7-F33B-0249-8694-DEC45CD63778}">
      <dgm:prSet/>
      <dgm:spPr/>
      <dgm:t>
        <a:bodyPr/>
        <a:lstStyle/>
        <a:p>
          <a:endParaRPr lang="en-US"/>
        </a:p>
      </dgm:t>
    </dgm:pt>
    <dgm:pt modelId="{18417F9C-0638-2942-A534-3CEDABE06F0A}" type="sibTrans" cxnId="{40D925A7-F33B-0249-8694-DEC45CD63778}">
      <dgm:prSet/>
      <dgm:spPr/>
      <dgm:t>
        <a:bodyPr/>
        <a:lstStyle/>
        <a:p>
          <a:endParaRPr lang="en-US"/>
        </a:p>
      </dgm:t>
    </dgm:pt>
    <dgm:pt modelId="{E83DE95F-0F05-2544-A439-83D2F57E5A76}">
      <dgm:prSet phldrT="[Text]" phldr="1"/>
      <dgm:spPr>
        <a:effectLst>
          <a:outerShdw blurRad="50800" dist="38100" dir="2700000" algn="tl" rotWithShape="0">
            <a:prstClr val="black">
              <a:alpha val="40000"/>
            </a:prstClr>
          </a:outerShdw>
        </a:effectLst>
      </dgm:spPr>
      <dgm:t>
        <a:bodyPr/>
        <a:lstStyle/>
        <a:p>
          <a:endParaRPr lang="en-US"/>
        </a:p>
      </dgm:t>
    </dgm:pt>
    <dgm:pt modelId="{77A0B712-A4C7-E94E-8A59-72556F465D6D}" type="parTrans" cxnId="{3DB9AFC4-A8CC-C14E-A979-B4157B299BAF}">
      <dgm:prSet/>
      <dgm:spPr/>
      <dgm:t>
        <a:bodyPr/>
        <a:lstStyle/>
        <a:p>
          <a:endParaRPr lang="en-US"/>
        </a:p>
      </dgm:t>
    </dgm:pt>
    <dgm:pt modelId="{3B08E847-3458-744A-945F-27A89FDA7890}" type="sibTrans" cxnId="{3DB9AFC4-A8CC-C14E-A979-B4157B299BAF}">
      <dgm:prSet/>
      <dgm:spPr/>
      <dgm:t>
        <a:bodyPr/>
        <a:lstStyle/>
        <a:p>
          <a:endParaRPr lang="en-US"/>
        </a:p>
      </dgm:t>
    </dgm:pt>
    <dgm:pt modelId="{E62B5D0E-25BA-5946-81EA-7A582882FF8B}">
      <dgm:prSet phldrT="[Text]" phldr="1"/>
      <dgm:spPr>
        <a:effectLst>
          <a:outerShdw blurRad="50800" dist="38100" dir="2700000" algn="tl" rotWithShape="0">
            <a:prstClr val="black">
              <a:alpha val="40000"/>
            </a:prstClr>
          </a:outerShdw>
        </a:effectLst>
      </dgm:spPr>
      <dgm:t>
        <a:bodyPr/>
        <a:lstStyle/>
        <a:p>
          <a:endParaRPr lang="en-US"/>
        </a:p>
      </dgm:t>
    </dgm:pt>
    <dgm:pt modelId="{124F3CB0-700F-054F-8938-064E8EFDE7C7}" type="parTrans" cxnId="{DF54AC66-A724-3F47-9D5F-B24B33435D1F}">
      <dgm:prSet/>
      <dgm:spPr/>
      <dgm:t>
        <a:bodyPr/>
        <a:lstStyle/>
        <a:p>
          <a:endParaRPr lang="en-US"/>
        </a:p>
      </dgm:t>
    </dgm:pt>
    <dgm:pt modelId="{B1BB2CCC-0CFF-6A48-8C39-66C84FAC31F6}" type="sibTrans" cxnId="{DF54AC66-A724-3F47-9D5F-B24B33435D1F}">
      <dgm:prSet/>
      <dgm:spPr/>
      <dgm:t>
        <a:bodyPr/>
        <a:lstStyle/>
        <a:p>
          <a:endParaRPr lang="en-US"/>
        </a:p>
      </dgm:t>
    </dgm:pt>
    <dgm:pt modelId="{524C71C5-51EB-3C4A-B71E-198065C77BFF}" type="pres">
      <dgm:prSet presAssocID="{A4CB20BA-9DD9-D944-89B5-7154FF35A799}" presName="mainComposite" presStyleCnt="0">
        <dgm:presLayoutVars>
          <dgm:chPref val="1"/>
          <dgm:dir/>
          <dgm:animOne val="branch"/>
          <dgm:animLvl val="lvl"/>
          <dgm:resizeHandles val="exact"/>
        </dgm:presLayoutVars>
      </dgm:prSet>
      <dgm:spPr/>
    </dgm:pt>
    <dgm:pt modelId="{4F4F376B-AC5A-FE42-9AFF-653E2599D540}" type="pres">
      <dgm:prSet presAssocID="{A4CB20BA-9DD9-D944-89B5-7154FF35A799}" presName="hierFlow" presStyleCnt="0"/>
      <dgm:spPr/>
    </dgm:pt>
    <dgm:pt modelId="{587BCE4D-2E17-6444-8E0C-86697A0DECE2}" type="pres">
      <dgm:prSet presAssocID="{A4CB20BA-9DD9-D944-89B5-7154FF35A799}" presName="firstBuf" presStyleCnt="0"/>
      <dgm:spPr/>
    </dgm:pt>
    <dgm:pt modelId="{963F76D7-541D-E049-84FB-CD0429D13D62}" type="pres">
      <dgm:prSet presAssocID="{A4CB20BA-9DD9-D944-89B5-7154FF35A799}" presName="hierChild1" presStyleCnt="0">
        <dgm:presLayoutVars>
          <dgm:chPref val="1"/>
          <dgm:animOne val="branch"/>
          <dgm:animLvl val="lvl"/>
        </dgm:presLayoutVars>
      </dgm:prSet>
      <dgm:spPr/>
    </dgm:pt>
    <dgm:pt modelId="{5F065F09-A628-0D42-BBD6-BA7A55DE2BE1}" type="pres">
      <dgm:prSet presAssocID="{547A8FA0-F1DB-EC49-A27C-DB9C9FA1EE3B}" presName="Name14" presStyleCnt="0"/>
      <dgm:spPr/>
    </dgm:pt>
    <dgm:pt modelId="{A5822EC5-059B-BC4C-99CB-519B44108A59}" type="pres">
      <dgm:prSet presAssocID="{547A8FA0-F1DB-EC49-A27C-DB9C9FA1EE3B}" presName="level1Shape" presStyleLbl="node0" presStyleIdx="0" presStyleCnt="1">
        <dgm:presLayoutVars>
          <dgm:chPref val="3"/>
        </dgm:presLayoutVars>
      </dgm:prSet>
      <dgm:spPr/>
    </dgm:pt>
    <dgm:pt modelId="{72045779-A20E-2D4D-875F-2241C26DB84C}" type="pres">
      <dgm:prSet presAssocID="{547A8FA0-F1DB-EC49-A27C-DB9C9FA1EE3B}" presName="hierChild2" presStyleCnt="0"/>
      <dgm:spPr/>
    </dgm:pt>
    <dgm:pt modelId="{9AEB745C-234A-A140-A58B-97D041EB93C5}" type="pres">
      <dgm:prSet presAssocID="{E7D0EEBD-B851-9340-ADE0-35F90CCF3385}" presName="Name19" presStyleLbl="parChTrans1D2" presStyleIdx="0" presStyleCnt="2"/>
      <dgm:spPr/>
    </dgm:pt>
    <dgm:pt modelId="{D006F6A2-1BF8-0043-B74C-4D60E3F55A58}" type="pres">
      <dgm:prSet presAssocID="{B454B05A-8BBA-DC4F-A856-659508D754E4}" presName="Name21" presStyleCnt="0"/>
      <dgm:spPr/>
    </dgm:pt>
    <dgm:pt modelId="{B5833E12-2E9E-364F-887C-3540FB57D1D5}" type="pres">
      <dgm:prSet presAssocID="{B454B05A-8BBA-DC4F-A856-659508D754E4}" presName="level2Shape" presStyleLbl="node2" presStyleIdx="0" presStyleCnt="2"/>
      <dgm:spPr/>
    </dgm:pt>
    <dgm:pt modelId="{E26D28DF-C09C-DE42-9309-6E1E6E9FC764}" type="pres">
      <dgm:prSet presAssocID="{B454B05A-8BBA-DC4F-A856-659508D754E4}" presName="hierChild3" presStyleCnt="0"/>
      <dgm:spPr/>
    </dgm:pt>
    <dgm:pt modelId="{87004C8F-BFCB-884E-BE1D-34799B445CBF}" type="pres">
      <dgm:prSet presAssocID="{2E9A3E15-1AB9-604B-8033-4E3F8BD4F47A}" presName="Name19" presStyleLbl="parChTrans1D3" presStyleIdx="0" presStyleCnt="3"/>
      <dgm:spPr/>
    </dgm:pt>
    <dgm:pt modelId="{7963635C-EED4-5646-8350-278A889329BD}" type="pres">
      <dgm:prSet presAssocID="{D8E773E8-857D-8D4B-A260-65EE628E190D}" presName="Name21" presStyleCnt="0"/>
      <dgm:spPr/>
    </dgm:pt>
    <dgm:pt modelId="{C6C80428-F21A-7B4C-9028-DE9803175538}" type="pres">
      <dgm:prSet presAssocID="{D8E773E8-857D-8D4B-A260-65EE628E190D}" presName="level2Shape" presStyleLbl="node3" presStyleIdx="0" presStyleCnt="3"/>
      <dgm:spPr/>
    </dgm:pt>
    <dgm:pt modelId="{58871D8D-02D5-6D4B-B510-A61F7181EF25}" type="pres">
      <dgm:prSet presAssocID="{D8E773E8-857D-8D4B-A260-65EE628E190D}" presName="hierChild3" presStyleCnt="0"/>
      <dgm:spPr/>
    </dgm:pt>
    <dgm:pt modelId="{E26CF011-DC80-9144-BAA3-528B19E52B68}" type="pres">
      <dgm:prSet presAssocID="{2D822FD0-E156-B445-BE6D-0EB52E8FFCAA}" presName="Name19" presStyleLbl="parChTrans1D3" presStyleIdx="1" presStyleCnt="3"/>
      <dgm:spPr/>
    </dgm:pt>
    <dgm:pt modelId="{B712E02B-E427-4A47-81F6-0C077FCC337F}" type="pres">
      <dgm:prSet presAssocID="{033373FE-81E6-E649-81BE-69EA5B2D44A0}" presName="Name21" presStyleCnt="0"/>
      <dgm:spPr/>
    </dgm:pt>
    <dgm:pt modelId="{9892D0C1-954D-EE44-ACB6-6AF14F37C5BF}" type="pres">
      <dgm:prSet presAssocID="{033373FE-81E6-E649-81BE-69EA5B2D44A0}" presName="level2Shape" presStyleLbl="node3" presStyleIdx="1" presStyleCnt="3"/>
      <dgm:spPr/>
    </dgm:pt>
    <dgm:pt modelId="{CFDE77A5-49F9-4047-8185-9401F52F8316}" type="pres">
      <dgm:prSet presAssocID="{033373FE-81E6-E649-81BE-69EA5B2D44A0}" presName="hierChild3" presStyleCnt="0"/>
      <dgm:spPr/>
    </dgm:pt>
    <dgm:pt modelId="{10EC6125-FD7D-D44D-8518-77ED18472FEF}" type="pres">
      <dgm:prSet presAssocID="{7C5EBF78-6BE4-0E42-B6C2-59D259B752EE}" presName="Name19" presStyleLbl="parChTrans1D2" presStyleIdx="1" presStyleCnt="2"/>
      <dgm:spPr/>
    </dgm:pt>
    <dgm:pt modelId="{D4C090C3-7E30-3647-8D69-B7DD09D78F09}" type="pres">
      <dgm:prSet presAssocID="{1E0FDB90-0180-524A-ABB4-84E094362A96}" presName="Name21" presStyleCnt="0"/>
      <dgm:spPr/>
    </dgm:pt>
    <dgm:pt modelId="{A56EA56A-E92D-B640-A9A5-7C35C291CC20}" type="pres">
      <dgm:prSet presAssocID="{1E0FDB90-0180-524A-ABB4-84E094362A96}" presName="level2Shape" presStyleLbl="node2" presStyleIdx="1" presStyleCnt="2"/>
      <dgm:spPr/>
    </dgm:pt>
    <dgm:pt modelId="{7210A7D6-184E-F445-984B-A21B4F60EC86}" type="pres">
      <dgm:prSet presAssocID="{1E0FDB90-0180-524A-ABB4-84E094362A96}" presName="hierChild3" presStyleCnt="0"/>
      <dgm:spPr/>
    </dgm:pt>
    <dgm:pt modelId="{C14BE7D8-5FD1-484D-9667-FF888445B3A4}" type="pres">
      <dgm:prSet presAssocID="{A42FA765-EEE9-8A42-89D3-290D2D614BC3}" presName="Name19" presStyleLbl="parChTrans1D3" presStyleIdx="2" presStyleCnt="3"/>
      <dgm:spPr/>
    </dgm:pt>
    <dgm:pt modelId="{C2737E70-99E5-E14C-A1C8-C93004E5317C}" type="pres">
      <dgm:prSet presAssocID="{32CAEC65-4B6E-7544-B9DC-ED6BC3604D1F}" presName="Name21" presStyleCnt="0"/>
      <dgm:spPr/>
    </dgm:pt>
    <dgm:pt modelId="{7A326580-3FCB-A043-AA49-94100B202CAE}" type="pres">
      <dgm:prSet presAssocID="{32CAEC65-4B6E-7544-B9DC-ED6BC3604D1F}" presName="level2Shape" presStyleLbl="node3" presStyleIdx="2" presStyleCnt="3"/>
      <dgm:spPr/>
    </dgm:pt>
    <dgm:pt modelId="{5D5FE3E7-FBDE-A840-8021-9CB0B4F9EEE1}" type="pres">
      <dgm:prSet presAssocID="{32CAEC65-4B6E-7544-B9DC-ED6BC3604D1F}" presName="hierChild3" presStyleCnt="0"/>
      <dgm:spPr/>
    </dgm:pt>
    <dgm:pt modelId="{957A58CC-FEAF-A64D-90E6-F9E2CC3B8AD2}" type="pres">
      <dgm:prSet presAssocID="{A4CB20BA-9DD9-D944-89B5-7154FF35A799}" presName="bgShapesFlow" presStyleCnt="0"/>
      <dgm:spPr/>
    </dgm:pt>
    <dgm:pt modelId="{7832EC1F-2093-424C-BE23-EF982FA47694}" type="pres">
      <dgm:prSet presAssocID="{07C6ABE4-D9E0-7F4F-87C2-77B538B97EA6}" presName="rectComp" presStyleCnt="0"/>
      <dgm:spPr/>
    </dgm:pt>
    <dgm:pt modelId="{792FB1A9-32ED-E042-92AB-D8D6F00D3880}" type="pres">
      <dgm:prSet presAssocID="{07C6ABE4-D9E0-7F4F-87C2-77B538B97EA6}" presName="bgRect" presStyleLbl="bgShp" presStyleIdx="0" presStyleCnt="3"/>
      <dgm:spPr/>
    </dgm:pt>
    <dgm:pt modelId="{D6AD495C-4028-AD45-8D0A-3F5DD7024708}" type="pres">
      <dgm:prSet presAssocID="{07C6ABE4-D9E0-7F4F-87C2-77B538B97EA6}" presName="bgRectTx" presStyleLbl="bgShp" presStyleIdx="0" presStyleCnt="3">
        <dgm:presLayoutVars>
          <dgm:bulletEnabled val="1"/>
        </dgm:presLayoutVars>
      </dgm:prSet>
      <dgm:spPr/>
    </dgm:pt>
    <dgm:pt modelId="{DB10CEA9-F124-4A41-963D-EFCEB3A2AB8E}" type="pres">
      <dgm:prSet presAssocID="{07C6ABE4-D9E0-7F4F-87C2-77B538B97EA6}" presName="spComp" presStyleCnt="0"/>
      <dgm:spPr/>
    </dgm:pt>
    <dgm:pt modelId="{F6C76639-4DB5-5647-9407-BACCD8608A24}" type="pres">
      <dgm:prSet presAssocID="{07C6ABE4-D9E0-7F4F-87C2-77B538B97EA6}" presName="vSp" presStyleCnt="0"/>
      <dgm:spPr/>
    </dgm:pt>
    <dgm:pt modelId="{59AEB522-74FC-584F-AB8D-C31A091482D7}" type="pres">
      <dgm:prSet presAssocID="{E83DE95F-0F05-2544-A439-83D2F57E5A76}" presName="rectComp" presStyleCnt="0"/>
      <dgm:spPr/>
    </dgm:pt>
    <dgm:pt modelId="{522296D3-4DAD-5143-86AA-59251D075B91}" type="pres">
      <dgm:prSet presAssocID="{E83DE95F-0F05-2544-A439-83D2F57E5A76}" presName="bgRect" presStyleLbl="bgShp" presStyleIdx="1" presStyleCnt="3"/>
      <dgm:spPr/>
    </dgm:pt>
    <dgm:pt modelId="{60FDFFBA-777E-7442-B4E6-64A6DD98EE25}" type="pres">
      <dgm:prSet presAssocID="{E83DE95F-0F05-2544-A439-83D2F57E5A76}" presName="bgRectTx" presStyleLbl="bgShp" presStyleIdx="1" presStyleCnt="3">
        <dgm:presLayoutVars>
          <dgm:bulletEnabled val="1"/>
        </dgm:presLayoutVars>
      </dgm:prSet>
      <dgm:spPr/>
    </dgm:pt>
    <dgm:pt modelId="{54618ADA-6204-EE4C-B685-1CD26B954D04}" type="pres">
      <dgm:prSet presAssocID="{E83DE95F-0F05-2544-A439-83D2F57E5A76}" presName="spComp" presStyleCnt="0"/>
      <dgm:spPr/>
    </dgm:pt>
    <dgm:pt modelId="{E06999C3-6DFF-4341-8E01-28A44394420B}" type="pres">
      <dgm:prSet presAssocID="{E83DE95F-0F05-2544-A439-83D2F57E5A76}" presName="vSp" presStyleCnt="0"/>
      <dgm:spPr/>
    </dgm:pt>
    <dgm:pt modelId="{C11FC736-729E-2F44-9CFE-147303A3E267}" type="pres">
      <dgm:prSet presAssocID="{E62B5D0E-25BA-5946-81EA-7A582882FF8B}" presName="rectComp" presStyleCnt="0"/>
      <dgm:spPr/>
    </dgm:pt>
    <dgm:pt modelId="{C7433C4C-C693-A548-9EB7-47A174D57262}" type="pres">
      <dgm:prSet presAssocID="{E62B5D0E-25BA-5946-81EA-7A582882FF8B}" presName="bgRect" presStyleLbl="bgShp" presStyleIdx="2" presStyleCnt="3"/>
      <dgm:spPr/>
    </dgm:pt>
    <dgm:pt modelId="{854D81A8-EF0C-424E-B724-67491042C6F7}" type="pres">
      <dgm:prSet presAssocID="{E62B5D0E-25BA-5946-81EA-7A582882FF8B}" presName="bgRectTx" presStyleLbl="bgShp" presStyleIdx="2" presStyleCnt="3">
        <dgm:presLayoutVars>
          <dgm:bulletEnabled val="1"/>
        </dgm:presLayoutVars>
      </dgm:prSet>
      <dgm:spPr/>
    </dgm:pt>
  </dgm:ptLst>
  <dgm:cxnLst>
    <dgm:cxn modelId="{E7A65508-AEA5-7C45-AD84-B72C1C76839D}" type="presOf" srcId="{B454B05A-8BBA-DC4F-A856-659508D754E4}" destId="{B5833E12-2E9E-364F-887C-3540FB57D1D5}" srcOrd="0" destOrd="0" presId="urn:microsoft.com/office/officeart/2005/8/layout/hierarchy6"/>
    <dgm:cxn modelId="{6173DF1B-A89C-B34C-8355-065F888454B5}" type="presOf" srcId="{D8E773E8-857D-8D4B-A260-65EE628E190D}" destId="{C6C80428-F21A-7B4C-9028-DE9803175538}" srcOrd="0" destOrd="0" presId="urn:microsoft.com/office/officeart/2005/8/layout/hierarchy6"/>
    <dgm:cxn modelId="{5FBEE63B-AD8E-AD42-9B1F-838FB692A45A}" type="presOf" srcId="{A4CB20BA-9DD9-D944-89B5-7154FF35A799}" destId="{524C71C5-51EB-3C4A-B71E-198065C77BFF}" srcOrd="0" destOrd="0" presId="urn:microsoft.com/office/officeart/2005/8/layout/hierarchy6"/>
    <dgm:cxn modelId="{7FE8575C-03B6-9149-93AF-8EB5A11C9240}" type="presOf" srcId="{7C5EBF78-6BE4-0E42-B6C2-59D259B752EE}" destId="{10EC6125-FD7D-D44D-8518-77ED18472FEF}" srcOrd="0" destOrd="0" presId="urn:microsoft.com/office/officeart/2005/8/layout/hierarchy6"/>
    <dgm:cxn modelId="{B8E6DE5D-63CC-E349-B3D4-9887147E1D84}" type="presOf" srcId="{2D822FD0-E156-B445-BE6D-0EB52E8FFCAA}" destId="{E26CF011-DC80-9144-BAA3-528B19E52B68}" srcOrd="0" destOrd="0" presId="urn:microsoft.com/office/officeart/2005/8/layout/hierarchy6"/>
    <dgm:cxn modelId="{828EA55E-54B3-094A-9E6A-BE2C7DF04AAC}" type="presOf" srcId="{32CAEC65-4B6E-7544-B9DC-ED6BC3604D1F}" destId="{7A326580-3FCB-A043-AA49-94100B202CAE}" srcOrd="0" destOrd="0" presId="urn:microsoft.com/office/officeart/2005/8/layout/hierarchy6"/>
    <dgm:cxn modelId="{EFC86560-C33B-9B4F-A140-766BC5E77583}" type="presOf" srcId="{07C6ABE4-D9E0-7F4F-87C2-77B538B97EA6}" destId="{792FB1A9-32ED-E042-92AB-D8D6F00D3880}" srcOrd="0" destOrd="0" presId="urn:microsoft.com/office/officeart/2005/8/layout/hierarchy6"/>
    <dgm:cxn modelId="{E7592643-872C-CC47-AA94-6C25C49AEA34}" type="presOf" srcId="{E62B5D0E-25BA-5946-81EA-7A582882FF8B}" destId="{C7433C4C-C693-A548-9EB7-47A174D57262}" srcOrd="0" destOrd="0" presId="urn:microsoft.com/office/officeart/2005/8/layout/hierarchy6"/>
    <dgm:cxn modelId="{DF54AC66-A724-3F47-9D5F-B24B33435D1F}" srcId="{A4CB20BA-9DD9-D944-89B5-7154FF35A799}" destId="{E62B5D0E-25BA-5946-81EA-7A582882FF8B}" srcOrd="3" destOrd="0" parTransId="{124F3CB0-700F-054F-8938-064E8EFDE7C7}" sibTransId="{B1BB2CCC-0CFF-6A48-8C39-66C84FAC31F6}"/>
    <dgm:cxn modelId="{75D94A47-961B-C842-B439-96634F21C83B}" type="presOf" srcId="{1E0FDB90-0180-524A-ABB4-84E094362A96}" destId="{A56EA56A-E92D-B640-A9A5-7C35C291CC20}" srcOrd="0" destOrd="0" presId="urn:microsoft.com/office/officeart/2005/8/layout/hierarchy6"/>
    <dgm:cxn modelId="{CF6B464A-47F3-4944-B08A-B5BBA3F90337}" srcId="{B454B05A-8BBA-DC4F-A856-659508D754E4}" destId="{033373FE-81E6-E649-81BE-69EA5B2D44A0}" srcOrd="1" destOrd="0" parTransId="{2D822FD0-E156-B445-BE6D-0EB52E8FFCAA}" sibTransId="{9985F4C4-0787-9E49-851A-E99343096C9C}"/>
    <dgm:cxn modelId="{38CCEC4D-F4D9-F34A-8479-30560178728A}" type="presOf" srcId="{547A8FA0-F1DB-EC49-A27C-DB9C9FA1EE3B}" destId="{A5822EC5-059B-BC4C-99CB-519B44108A59}" srcOrd="0" destOrd="0" presId="urn:microsoft.com/office/officeart/2005/8/layout/hierarchy6"/>
    <dgm:cxn modelId="{5C7DAB57-83FA-3143-BFA4-B895FEEF3CEE}" srcId="{A4CB20BA-9DD9-D944-89B5-7154FF35A799}" destId="{547A8FA0-F1DB-EC49-A27C-DB9C9FA1EE3B}" srcOrd="0" destOrd="0" parTransId="{D19E8173-761C-EB46-98AA-9B6B6DD891C9}" sibTransId="{5C2507FD-0D56-4342-92C0-4AD002176A79}"/>
    <dgm:cxn modelId="{59A22A92-FBE0-8448-9602-4C12B6436144}" type="presOf" srcId="{E83DE95F-0F05-2544-A439-83D2F57E5A76}" destId="{60FDFFBA-777E-7442-B4E6-64A6DD98EE25}" srcOrd="1" destOrd="0" presId="urn:microsoft.com/office/officeart/2005/8/layout/hierarchy6"/>
    <dgm:cxn modelId="{3EB1D3A0-B35D-0F44-94BA-0D10B686B117}" type="presOf" srcId="{E62B5D0E-25BA-5946-81EA-7A582882FF8B}" destId="{854D81A8-EF0C-424E-B724-67491042C6F7}" srcOrd="1" destOrd="0" presId="urn:microsoft.com/office/officeart/2005/8/layout/hierarchy6"/>
    <dgm:cxn modelId="{D057E6A3-36F3-414A-B1CD-15653C721B74}" type="presOf" srcId="{2E9A3E15-1AB9-604B-8033-4E3F8BD4F47A}" destId="{87004C8F-BFCB-884E-BE1D-34799B445CBF}" srcOrd="0" destOrd="0" presId="urn:microsoft.com/office/officeart/2005/8/layout/hierarchy6"/>
    <dgm:cxn modelId="{40D925A7-F33B-0249-8694-DEC45CD63778}" srcId="{A4CB20BA-9DD9-D944-89B5-7154FF35A799}" destId="{07C6ABE4-D9E0-7F4F-87C2-77B538B97EA6}" srcOrd="1" destOrd="0" parTransId="{6CCBB489-E539-3F4A-B6C0-12E59BF07364}" sibTransId="{18417F9C-0638-2942-A534-3CEDABE06F0A}"/>
    <dgm:cxn modelId="{E5274DAF-56FE-164B-B249-2408AC2CE8CA}" type="presOf" srcId="{E83DE95F-0F05-2544-A439-83D2F57E5A76}" destId="{522296D3-4DAD-5143-86AA-59251D075B91}" srcOrd="0" destOrd="0" presId="urn:microsoft.com/office/officeart/2005/8/layout/hierarchy6"/>
    <dgm:cxn modelId="{4E816AB0-C334-7840-91B9-F6F10C9099AC}" type="presOf" srcId="{A42FA765-EEE9-8A42-89D3-290D2D614BC3}" destId="{C14BE7D8-5FD1-484D-9667-FF888445B3A4}" srcOrd="0" destOrd="0" presId="urn:microsoft.com/office/officeart/2005/8/layout/hierarchy6"/>
    <dgm:cxn modelId="{DCC102B5-1A66-4244-821F-0D5921F0AB79}" type="presOf" srcId="{E7D0EEBD-B851-9340-ADE0-35F90CCF3385}" destId="{9AEB745C-234A-A140-A58B-97D041EB93C5}" srcOrd="0" destOrd="0" presId="urn:microsoft.com/office/officeart/2005/8/layout/hierarchy6"/>
    <dgm:cxn modelId="{551E64BC-9CFB-2044-8FF9-ADC22CFB95FB}" srcId="{547A8FA0-F1DB-EC49-A27C-DB9C9FA1EE3B}" destId="{1E0FDB90-0180-524A-ABB4-84E094362A96}" srcOrd="1" destOrd="0" parTransId="{7C5EBF78-6BE4-0E42-B6C2-59D259B752EE}" sibTransId="{6EB0F8D3-0B20-3447-9B48-124D2B1009C1}"/>
    <dgm:cxn modelId="{3DB9AFC4-A8CC-C14E-A979-B4157B299BAF}" srcId="{A4CB20BA-9DD9-D944-89B5-7154FF35A799}" destId="{E83DE95F-0F05-2544-A439-83D2F57E5A76}" srcOrd="2" destOrd="0" parTransId="{77A0B712-A4C7-E94E-8A59-72556F465D6D}" sibTransId="{3B08E847-3458-744A-945F-27A89FDA7890}"/>
    <dgm:cxn modelId="{5BD4ABC8-0806-7D4B-A128-2BF08893035F}" srcId="{547A8FA0-F1DB-EC49-A27C-DB9C9FA1EE3B}" destId="{B454B05A-8BBA-DC4F-A856-659508D754E4}" srcOrd="0" destOrd="0" parTransId="{E7D0EEBD-B851-9340-ADE0-35F90CCF3385}" sibTransId="{5073DBEF-0725-E943-BB41-5226B0FA3F5C}"/>
    <dgm:cxn modelId="{D8938ECF-07A2-F948-B2AE-4EFC94807FA1}" srcId="{B454B05A-8BBA-DC4F-A856-659508D754E4}" destId="{D8E773E8-857D-8D4B-A260-65EE628E190D}" srcOrd="0" destOrd="0" parTransId="{2E9A3E15-1AB9-604B-8033-4E3F8BD4F47A}" sibTransId="{D32DB5D3-A730-A147-9331-1D874CA57E85}"/>
    <dgm:cxn modelId="{8D7799E4-DD46-8B47-AB78-89F63FCAD5E9}" type="presOf" srcId="{07C6ABE4-D9E0-7F4F-87C2-77B538B97EA6}" destId="{D6AD495C-4028-AD45-8D0A-3F5DD7024708}" srcOrd="1" destOrd="0" presId="urn:microsoft.com/office/officeart/2005/8/layout/hierarchy6"/>
    <dgm:cxn modelId="{EB46A4F6-B297-F14D-A388-E61A9A512413}" srcId="{1E0FDB90-0180-524A-ABB4-84E094362A96}" destId="{32CAEC65-4B6E-7544-B9DC-ED6BC3604D1F}" srcOrd="0" destOrd="0" parTransId="{A42FA765-EEE9-8A42-89D3-290D2D614BC3}" sibTransId="{93AE2571-FF34-0747-B832-3582E961BCC6}"/>
    <dgm:cxn modelId="{EC01F5FF-4651-A84D-80F7-78DE675CAECC}" type="presOf" srcId="{033373FE-81E6-E649-81BE-69EA5B2D44A0}" destId="{9892D0C1-954D-EE44-ACB6-6AF14F37C5BF}" srcOrd="0" destOrd="0" presId="urn:microsoft.com/office/officeart/2005/8/layout/hierarchy6"/>
    <dgm:cxn modelId="{F4F2B294-B6F6-6746-B27F-7480A70828EE}" type="presParOf" srcId="{524C71C5-51EB-3C4A-B71E-198065C77BFF}" destId="{4F4F376B-AC5A-FE42-9AFF-653E2599D540}" srcOrd="0" destOrd="0" presId="urn:microsoft.com/office/officeart/2005/8/layout/hierarchy6"/>
    <dgm:cxn modelId="{FD65B384-8EC0-0B4E-B326-763216722475}" type="presParOf" srcId="{4F4F376B-AC5A-FE42-9AFF-653E2599D540}" destId="{587BCE4D-2E17-6444-8E0C-86697A0DECE2}" srcOrd="0" destOrd="0" presId="urn:microsoft.com/office/officeart/2005/8/layout/hierarchy6"/>
    <dgm:cxn modelId="{52ED0D67-281E-AA40-86F8-DCE60BABB013}" type="presParOf" srcId="{4F4F376B-AC5A-FE42-9AFF-653E2599D540}" destId="{963F76D7-541D-E049-84FB-CD0429D13D62}" srcOrd="1" destOrd="0" presId="urn:microsoft.com/office/officeart/2005/8/layout/hierarchy6"/>
    <dgm:cxn modelId="{65106948-9B3A-A74E-9E0F-3C7EF8F0811A}" type="presParOf" srcId="{963F76D7-541D-E049-84FB-CD0429D13D62}" destId="{5F065F09-A628-0D42-BBD6-BA7A55DE2BE1}" srcOrd="0" destOrd="0" presId="urn:microsoft.com/office/officeart/2005/8/layout/hierarchy6"/>
    <dgm:cxn modelId="{74F1A315-9C21-AD42-A6DF-CEBA0B59CDE6}" type="presParOf" srcId="{5F065F09-A628-0D42-BBD6-BA7A55DE2BE1}" destId="{A5822EC5-059B-BC4C-99CB-519B44108A59}" srcOrd="0" destOrd="0" presId="urn:microsoft.com/office/officeart/2005/8/layout/hierarchy6"/>
    <dgm:cxn modelId="{BB4BE263-4E84-9C42-98DB-C3D9A6BCEEA8}" type="presParOf" srcId="{5F065F09-A628-0D42-BBD6-BA7A55DE2BE1}" destId="{72045779-A20E-2D4D-875F-2241C26DB84C}" srcOrd="1" destOrd="0" presId="urn:microsoft.com/office/officeart/2005/8/layout/hierarchy6"/>
    <dgm:cxn modelId="{F405C748-0A96-DB45-9879-C9CC8FC5A74B}" type="presParOf" srcId="{72045779-A20E-2D4D-875F-2241C26DB84C}" destId="{9AEB745C-234A-A140-A58B-97D041EB93C5}" srcOrd="0" destOrd="0" presId="urn:microsoft.com/office/officeart/2005/8/layout/hierarchy6"/>
    <dgm:cxn modelId="{9199CEAD-1B1B-7541-8F99-7C2BDE8993FC}" type="presParOf" srcId="{72045779-A20E-2D4D-875F-2241C26DB84C}" destId="{D006F6A2-1BF8-0043-B74C-4D60E3F55A58}" srcOrd="1" destOrd="0" presId="urn:microsoft.com/office/officeart/2005/8/layout/hierarchy6"/>
    <dgm:cxn modelId="{10EB8A81-2692-304E-9443-336C00692E6D}" type="presParOf" srcId="{D006F6A2-1BF8-0043-B74C-4D60E3F55A58}" destId="{B5833E12-2E9E-364F-887C-3540FB57D1D5}" srcOrd="0" destOrd="0" presId="urn:microsoft.com/office/officeart/2005/8/layout/hierarchy6"/>
    <dgm:cxn modelId="{733AFFB4-ABF2-6D44-80AF-1FE693461708}" type="presParOf" srcId="{D006F6A2-1BF8-0043-B74C-4D60E3F55A58}" destId="{E26D28DF-C09C-DE42-9309-6E1E6E9FC764}" srcOrd="1" destOrd="0" presId="urn:microsoft.com/office/officeart/2005/8/layout/hierarchy6"/>
    <dgm:cxn modelId="{E0BE1772-D8BF-7C43-9641-E4ADDCED5EB8}" type="presParOf" srcId="{E26D28DF-C09C-DE42-9309-6E1E6E9FC764}" destId="{87004C8F-BFCB-884E-BE1D-34799B445CBF}" srcOrd="0" destOrd="0" presId="urn:microsoft.com/office/officeart/2005/8/layout/hierarchy6"/>
    <dgm:cxn modelId="{ED716F83-153D-2C41-A4D6-2EBA6E67BA50}" type="presParOf" srcId="{E26D28DF-C09C-DE42-9309-6E1E6E9FC764}" destId="{7963635C-EED4-5646-8350-278A889329BD}" srcOrd="1" destOrd="0" presId="urn:microsoft.com/office/officeart/2005/8/layout/hierarchy6"/>
    <dgm:cxn modelId="{E6FED0DC-4DAF-9746-8323-0B8DA3353F61}" type="presParOf" srcId="{7963635C-EED4-5646-8350-278A889329BD}" destId="{C6C80428-F21A-7B4C-9028-DE9803175538}" srcOrd="0" destOrd="0" presId="urn:microsoft.com/office/officeart/2005/8/layout/hierarchy6"/>
    <dgm:cxn modelId="{DDBA5941-2469-E048-98AF-BD9F9E16603A}" type="presParOf" srcId="{7963635C-EED4-5646-8350-278A889329BD}" destId="{58871D8D-02D5-6D4B-B510-A61F7181EF25}" srcOrd="1" destOrd="0" presId="urn:microsoft.com/office/officeart/2005/8/layout/hierarchy6"/>
    <dgm:cxn modelId="{ACAF908D-329D-4941-86DA-66E3CAA03FD6}" type="presParOf" srcId="{E26D28DF-C09C-DE42-9309-6E1E6E9FC764}" destId="{E26CF011-DC80-9144-BAA3-528B19E52B68}" srcOrd="2" destOrd="0" presId="urn:microsoft.com/office/officeart/2005/8/layout/hierarchy6"/>
    <dgm:cxn modelId="{45BF61D4-7A0F-0246-93FB-0C540A9B493D}" type="presParOf" srcId="{E26D28DF-C09C-DE42-9309-6E1E6E9FC764}" destId="{B712E02B-E427-4A47-81F6-0C077FCC337F}" srcOrd="3" destOrd="0" presId="urn:microsoft.com/office/officeart/2005/8/layout/hierarchy6"/>
    <dgm:cxn modelId="{BFE39796-58EA-2940-B3D4-C1823C85131C}" type="presParOf" srcId="{B712E02B-E427-4A47-81F6-0C077FCC337F}" destId="{9892D0C1-954D-EE44-ACB6-6AF14F37C5BF}" srcOrd="0" destOrd="0" presId="urn:microsoft.com/office/officeart/2005/8/layout/hierarchy6"/>
    <dgm:cxn modelId="{C9A0856C-21B4-C34A-AB76-A54857928E81}" type="presParOf" srcId="{B712E02B-E427-4A47-81F6-0C077FCC337F}" destId="{CFDE77A5-49F9-4047-8185-9401F52F8316}" srcOrd="1" destOrd="0" presId="urn:microsoft.com/office/officeart/2005/8/layout/hierarchy6"/>
    <dgm:cxn modelId="{0DED1DD1-8B7C-1140-B4C3-439CFEA6AF25}" type="presParOf" srcId="{72045779-A20E-2D4D-875F-2241C26DB84C}" destId="{10EC6125-FD7D-D44D-8518-77ED18472FEF}" srcOrd="2" destOrd="0" presId="urn:microsoft.com/office/officeart/2005/8/layout/hierarchy6"/>
    <dgm:cxn modelId="{09808C22-F4D4-954C-92A3-E5D81534414B}" type="presParOf" srcId="{72045779-A20E-2D4D-875F-2241C26DB84C}" destId="{D4C090C3-7E30-3647-8D69-B7DD09D78F09}" srcOrd="3" destOrd="0" presId="urn:microsoft.com/office/officeart/2005/8/layout/hierarchy6"/>
    <dgm:cxn modelId="{2FC432EC-4AF9-774B-A2EA-D2ADF4AD0648}" type="presParOf" srcId="{D4C090C3-7E30-3647-8D69-B7DD09D78F09}" destId="{A56EA56A-E92D-B640-A9A5-7C35C291CC20}" srcOrd="0" destOrd="0" presId="urn:microsoft.com/office/officeart/2005/8/layout/hierarchy6"/>
    <dgm:cxn modelId="{59C50827-C80E-FD49-AA6A-6221C22ECE45}" type="presParOf" srcId="{D4C090C3-7E30-3647-8D69-B7DD09D78F09}" destId="{7210A7D6-184E-F445-984B-A21B4F60EC86}" srcOrd="1" destOrd="0" presId="urn:microsoft.com/office/officeart/2005/8/layout/hierarchy6"/>
    <dgm:cxn modelId="{0583655A-8021-8D49-951F-AC405A5EB352}" type="presParOf" srcId="{7210A7D6-184E-F445-984B-A21B4F60EC86}" destId="{C14BE7D8-5FD1-484D-9667-FF888445B3A4}" srcOrd="0" destOrd="0" presId="urn:microsoft.com/office/officeart/2005/8/layout/hierarchy6"/>
    <dgm:cxn modelId="{E541765F-9DA6-704F-8EAD-0CB0F7BAA8E1}" type="presParOf" srcId="{7210A7D6-184E-F445-984B-A21B4F60EC86}" destId="{C2737E70-99E5-E14C-A1C8-C93004E5317C}" srcOrd="1" destOrd="0" presId="urn:microsoft.com/office/officeart/2005/8/layout/hierarchy6"/>
    <dgm:cxn modelId="{240DAD81-A772-CF45-9B43-10016BA722B5}" type="presParOf" srcId="{C2737E70-99E5-E14C-A1C8-C93004E5317C}" destId="{7A326580-3FCB-A043-AA49-94100B202CAE}" srcOrd="0" destOrd="0" presId="urn:microsoft.com/office/officeart/2005/8/layout/hierarchy6"/>
    <dgm:cxn modelId="{5E5687EB-058B-8046-9A09-B5E198854BBB}" type="presParOf" srcId="{C2737E70-99E5-E14C-A1C8-C93004E5317C}" destId="{5D5FE3E7-FBDE-A840-8021-9CB0B4F9EEE1}" srcOrd="1" destOrd="0" presId="urn:microsoft.com/office/officeart/2005/8/layout/hierarchy6"/>
    <dgm:cxn modelId="{F6CE418E-A44F-914F-8068-BC76BF2B8D40}" type="presParOf" srcId="{524C71C5-51EB-3C4A-B71E-198065C77BFF}" destId="{957A58CC-FEAF-A64D-90E6-F9E2CC3B8AD2}" srcOrd="1" destOrd="0" presId="urn:microsoft.com/office/officeart/2005/8/layout/hierarchy6"/>
    <dgm:cxn modelId="{E6F2C75C-CC8F-7048-B23D-BBA9E02E689A}" type="presParOf" srcId="{957A58CC-FEAF-A64D-90E6-F9E2CC3B8AD2}" destId="{7832EC1F-2093-424C-BE23-EF982FA47694}" srcOrd="0" destOrd="0" presId="urn:microsoft.com/office/officeart/2005/8/layout/hierarchy6"/>
    <dgm:cxn modelId="{6D5B9BFD-0B14-C44B-A46A-CB2D62D6DBFF}" type="presParOf" srcId="{7832EC1F-2093-424C-BE23-EF982FA47694}" destId="{792FB1A9-32ED-E042-92AB-D8D6F00D3880}" srcOrd="0" destOrd="0" presId="urn:microsoft.com/office/officeart/2005/8/layout/hierarchy6"/>
    <dgm:cxn modelId="{30BA9744-F59B-B34F-A883-F69F7A891038}" type="presParOf" srcId="{7832EC1F-2093-424C-BE23-EF982FA47694}" destId="{D6AD495C-4028-AD45-8D0A-3F5DD7024708}" srcOrd="1" destOrd="0" presId="urn:microsoft.com/office/officeart/2005/8/layout/hierarchy6"/>
    <dgm:cxn modelId="{3124E865-F0DC-3C40-B061-BCBD3AF6301D}" type="presParOf" srcId="{957A58CC-FEAF-A64D-90E6-F9E2CC3B8AD2}" destId="{DB10CEA9-F124-4A41-963D-EFCEB3A2AB8E}" srcOrd="1" destOrd="0" presId="urn:microsoft.com/office/officeart/2005/8/layout/hierarchy6"/>
    <dgm:cxn modelId="{2843EA33-4001-8D4C-BCCA-AA0AECA80CAE}" type="presParOf" srcId="{DB10CEA9-F124-4A41-963D-EFCEB3A2AB8E}" destId="{F6C76639-4DB5-5647-9407-BACCD8608A24}" srcOrd="0" destOrd="0" presId="urn:microsoft.com/office/officeart/2005/8/layout/hierarchy6"/>
    <dgm:cxn modelId="{08222DDE-B1D8-DA44-BCF2-2F45B7520956}" type="presParOf" srcId="{957A58CC-FEAF-A64D-90E6-F9E2CC3B8AD2}" destId="{59AEB522-74FC-584F-AB8D-C31A091482D7}" srcOrd="2" destOrd="0" presId="urn:microsoft.com/office/officeart/2005/8/layout/hierarchy6"/>
    <dgm:cxn modelId="{6876F543-BBB6-7445-8363-0CBBE26CE926}" type="presParOf" srcId="{59AEB522-74FC-584F-AB8D-C31A091482D7}" destId="{522296D3-4DAD-5143-86AA-59251D075B91}" srcOrd="0" destOrd="0" presId="urn:microsoft.com/office/officeart/2005/8/layout/hierarchy6"/>
    <dgm:cxn modelId="{BCC394CF-17F2-1446-830D-95DD03540E4B}" type="presParOf" srcId="{59AEB522-74FC-584F-AB8D-C31A091482D7}" destId="{60FDFFBA-777E-7442-B4E6-64A6DD98EE25}" srcOrd="1" destOrd="0" presId="urn:microsoft.com/office/officeart/2005/8/layout/hierarchy6"/>
    <dgm:cxn modelId="{2B08904C-0259-BA4B-82D2-6C27B7D04D74}" type="presParOf" srcId="{957A58CC-FEAF-A64D-90E6-F9E2CC3B8AD2}" destId="{54618ADA-6204-EE4C-B685-1CD26B954D04}" srcOrd="3" destOrd="0" presId="urn:microsoft.com/office/officeart/2005/8/layout/hierarchy6"/>
    <dgm:cxn modelId="{75457190-D4C2-2E42-86B3-7AD24099E472}" type="presParOf" srcId="{54618ADA-6204-EE4C-B685-1CD26B954D04}" destId="{E06999C3-6DFF-4341-8E01-28A44394420B}" srcOrd="0" destOrd="0" presId="urn:microsoft.com/office/officeart/2005/8/layout/hierarchy6"/>
    <dgm:cxn modelId="{90420AFE-EFFA-DB42-8D07-DC9169BA4D37}" type="presParOf" srcId="{957A58CC-FEAF-A64D-90E6-F9E2CC3B8AD2}" destId="{C11FC736-729E-2F44-9CFE-147303A3E267}" srcOrd="4" destOrd="0" presId="urn:microsoft.com/office/officeart/2005/8/layout/hierarchy6"/>
    <dgm:cxn modelId="{FCE8B600-132C-6947-9ED4-06CFA3C58BE4}" type="presParOf" srcId="{C11FC736-729E-2F44-9CFE-147303A3E267}" destId="{C7433C4C-C693-A548-9EB7-47A174D57262}" srcOrd="0" destOrd="0" presId="urn:microsoft.com/office/officeart/2005/8/layout/hierarchy6"/>
    <dgm:cxn modelId="{A65A6D84-6451-0A40-9F03-7D9325CA5AC7}" type="presParOf" srcId="{C11FC736-729E-2F44-9CFE-147303A3E267}" destId="{854D81A8-EF0C-424E-B724-67491042C6F7}"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433C4C-C693-A548-9EB7-47A174D57262}">
      <dsp:nvSpPr>
        <dsp:cNvPr id="0" name=""/>
        <dsp:cNvSpPr/>
      </dsp:nvSpPr>
      <dsp:spPr>
        <a:xfrm>
          <a:off x="0" y="2880183"/>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2880183"/>
        <a:ext cx="2454389" cy="1233978"/>
      </dsp:txXfrm>
    </dsp:sp>
    <dsp:sp modelId="{522296D3-4DAD-5143-86AA-59251D075B91}">
      <dsp:nvSpPr>
        <dsp:cNvPr id="0" name=""/>
        <dsp:cNvSpPr/>
      </dsp:nvSpPr>
      <dsp:spPr>
        <a:xfrm>
          <a:off x="0" y="1440341"/>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1440341"/>
        <a:ext cx="2454389" cy="1233978"/>
      </dsp:txXfrm>
    </dsp:sp>
    <dsp:sp modelId="{792FB1A9-32ED-E042-92AB-D8D6F00D3880}">
      <dsp:nvSpPr>
        <dsp:cNvPr id="0" name=""/>
        <dsp:cNvSpPr/>
      </dsp:nvSpPr>
      <dsp:spPr>
        <a:xfrm>
          <a:off x="0" y="499"/>
          <a:ext cx="8181298" cy="1233978"/>
        </a:xfrm>
        <a:prstGeom prst="roundRect">
          <a:avLst>
            <a:gd name="adj" fmla="val 10000"/>
          </a:avLst>
        </a:prstGeom>
        <a:solidFill>
          <a:schemeClr val="accent2">
            <a:tint val="40000"/>
            <a:hueOff val="0"/>
            <a:satOff val="0"/>
            <a:lumOff val="0"/>
            <a:alphaOff val="0"/>
          </a:scheme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dsp:style>
      <dsp:txBody>
        <a:bodyPr spcFirstLastPara="0" vert="horz" wrap="square" lIns="305816" tIns="305816" rIns="305816" bIns="305816" numCol="1" spcCol="1270" anchor="ctr" anchorCtr="0">
          <a:noAutofit/>
        </a:bodyPr>
        <a:lstStyle/>
        <a:p>
          <a:pPr marL="0" lvl="0" indent="0" algn="ctr" defTabSz="1911350">
            <a:lnSpc>
              <a:spcPct val="90000"/>
            </a:lnSpc>
            <a:spcBef>
              <a:spcPct val="0"/>
            </a:spcBef>
            <a:spcAft>
              <a:spcPct val="35000"/>
            </a:spcAft>
            <a:buNone/>
          </a:pPr>
          <a:endParaRPr lang="en-US" sz="4300" kern="1200"/>
        </a:p>
      </dsp:txBody>
      <dsp:txXfrm>
        <a:off x="0" y="499"/>
        <a:ext cx="2454389" cy="1233978"/>
      </dsp:txXfrm>
    </dsp:sp>
    <dsp:sp modelId="{A5822EC5-059B-BC4C-99CB-519B44108A59}">
      <dsp:nvSpPr>
        <dsp:cNvPr id="0" name=""/>
        <dsp:cNvSpPr/>
      </dsp:nvSpPr>
      <dsp:spPr>
        <a:xfrm>
          <a:off x="4965834" y="103431"/>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4995982" y="133579"/>
        <a:ext cx="1483684" cy="969024"/>
      </dsp:txXfrm>
    </dsp:sp>
    <dsp:sp modelId="{9AEB745C-234A-A140-A58B-97D041EB93C5}">
      <dsp:nvSpPr>
        <dsp:cNvPr id="0" name=""/>
        <dsp:cNvSpPr/>
      </dsp:nvSpPr>
      <dsp:spPr>
        <a:xfrm>
          <a:off x="4232443" y="1132751"/>
          <a:ext cx="1505380" cy="411728"/>
        </a:xfrm>
        <a:custGeom>
          <a:avLst/>
          <a:gdLst/>
          <a:ahLst/>
          <a:cxnLst/>
          <a:rect l="0" t="0" r="0" b="0"/>
          <a:pathLst>
            <a:path>
              <a:moveTo>
                <a:pt x="1505380" y="0"/>
              </a:moveTo>
              <a:lnTo>
                <a:pt x="1505380" y="205864"/>
              </a:lnTo>
              <a:lnTo>
                <a:pt x="0" y="205864"/>
              </a:lnTo>
              <a:lnTo>
                <a:pt x="0" y="4117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833E12-2E9E-364F-887C-3540FB57D1D5}">
      <dsp:nvSpPr>
        <dsp:cNvPr id="0" name=""/>
        <dsp:cNvSpPr/>
      </dsp:nvSpPr>
      <dsp:spPr>
        <a:xfrm>
          <a:off x="3460453" y="1544479"/>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3490601" y="1574627"/>
        <a:ext cx="1483684" cy="969024"/>
      </dsp:txXfrm>
    </dsp:sp>
    <dsp:sp modelId="{87004C8F-BFCB-884E-BE1D-34799B445CBF}">
      <dsp:nvSpPr>
        <dsp:cNvPr id="0" name=""/>
        <dsp:cNvSpPr/>
      </dsp:nvSpPr>
      <dsp:spPr>
        <a:xfrm>
          <a:off x="3228856" y="2573799"/>
          <a:ext cx="1003587" cy="411728"/>
        </a:xfrm>
        <a:custGeom>
          <a:avLst/>
          <a:gdLst/>
          <a:ahLst/>
          <a:cxnLst/>
          <a:rect l="0" t="0" r="0" b="0"/>
          <a:pathLst>
            <a:path>
              <a:moveTo>
                <a:pt x="1003587" y="0"/>
              </a:moveTo>
              <a:lnTo>
                <a:pt x="1003587" y="205864"/>
              </a:lnTo>
              <a:lnTo>
                <a:pt x="0" y="205864"/>
              </a:lnTo>
              <a:lnTo>
                <a:pt x="0"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C80428-F21A-7B4C-9028-DE9803175538}">
      <dsp:nvSpPr>
        <dsp:cNvPr id="0" name=""/>
        <dsp:cNvSpPr/>
      </dsp:nvSpPr>
      <dsp:spPr>
        <a:xfrm>
          <a:off x="2456866"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2487014" y="3015676"/>
        <a:ext cx="1483684" cy="969024"/>
      </dsp:txXfrm>
    </dsp:sp>
    <dsp:sp modelId="{E26CF011-DC80-9144-BAA3-528B19E52B68}">
      <dsp:nvSpPr>
        <dsp:cNvPr id="0" name=""/>
        <dsp:cNvSpPr/>
      </dsp:nvSpPr>
      <dsp:spPr>
        <a:xfrm>
          <a:off x="4232443" y="2573799"/>
          <a:ext cx="1003587" cy="411728"/>
        </a:xfrm>
        <a:custGeom>
          <a:avLst/>
          <a:gdLst/>
          <a:ahLst/>
          <a:cxnLst/>
          <a:rect l="0" t="0" r="0" b="0"/>
          <a:pathLst>
            <a:path>
              <a:moveTo>
                <a:pt x="0" y="0"/>
              </a:moveTo>
              <a:lnTo>
                <a:pt x="0" y="205864"/>
              </a:lnTo>
              <a:lnTo>
                <a:pt x="1003587" y="205864"/>
              </a:lnTo>
              <a:lnTo>
                <a:pt x="1003587"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92D0C1-954D-EE44-ACB6-6AF14F37C5BF}">
      <dsp:nvSpPr>
        <dsp:cNvPr id="0" name=""/>
        <dsp:cNvSpPr/>
      </dsp:nvSpPr>
      <dsp:spPr>
        <a:xfrm>
          <a:off x="4464040"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4494188" y="3015676"/>
        <a:ext cx="1483684" cy="969024"/>
      </dsp:txXfrm>
    </dsp:sp>
    <dsp:sp modelId="{10EC6125-FD7D-D44D-8518-77ED18472FEF}">
      <dsp:nvSpPr>
        <dsp:cNvPr id="0" name=""/>
        <dsp:cNvSpPr/>
      </dsp:nvSpPr>
      <dsp:spPr>
        <a:xfrm>
          <a:off x="5737824" y="1132751"/>
          <a:ext cx="1505380" cy="411728"/>
        </a:xfrm>
        <a:custGeom>
          <a:avLst/>
          <a:gdLst/>
          <a:ahLst/>
          <a:cxnLst/>
          <a:rect l="0" t="0" r="0" b="0"/>
          <a:pathLst>
            <a:path>
              <a:moveTo>
                <a:pt x="0" y="0"/>
              </a:moveTo>
              <a:lnTo>
                <a:pt x="0" y="205864"/>
              </a:lnTo>
              <a:lnTo>
                <a:pt x="1505380" y="205864"/>
              </a:lnTo>
              <a:lnTo>
                <a:pt x="1505380" y="411728"/>
              </a:lnTo>
            </a:path>
          </a:pathLst>
        </a:custGeom>
        <a:noFill/>
        <a:ln w="12700" cap="flat" cmpd="sng" algn="ctr">
          <a:solidFill>
            <a:schemeClr val="accent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56EA56A-E92D-B640-A9A5-7C35C291CC20}">
      <dsp:nvSpPr>
        <dsp:cNvPr id="0" name=""/>
        <dsp:cNvSpPr/>
      </dsp:nvSpPr>
      <dsp:spPr>
        <a:xfrm>
          <a:off x="6471214" y="1544479"/>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6501362" y="1574627"/>
        <a:ext cx="1483684" cy="969024"/>
      </dsp:txXfrm>
    </dsp:sp>
    <dsp:sp modelId="{C14BE7D8-5FD1-484D-9667-FF888445B3A4}">
      <dsp:nvSpPr>
        <dsp:cNvPr id="0" name=""/>
        <dsp:cNvSpPr/>
      </dsp:nvSpPr>
      <dsp:spPr>
        <a:xfrm>
          <a:off x="7197485" y="2573799"/>
          <a:ext cx="91440" cy="411728"/>
        </a:xfrm>
        <a:custGeom>
          <a:avLst/>
          <a:gdLst/>
          <a:ahLst/>
          <a:cxnLst/>
          <a:rect l="0" t="0" r="0" b="0"/>
          <a:pathLst>
            <a:path>
              <a:moveTo>
                <a:pt x="45720" y="0"/>
              </a:moveTo>
              <a:lnTo>
                <a:pt x="45720" y="411728"/>
              </a:lnTo>
            </a:path>
          </a:pathLst>
        </a:custGeom>
        <a:no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326580-3FCB-A043-AA49-94100B202CAE}">
      <dsp:nvSpPr>
        <dsp:cNvPr id="0" name=""/>
        <dsp:cNvSpPr/>
      </dsp:nvSpPr>
      <dsp:spPr>
        <a:xfrm>
          <a:off x="6471214" y="2985528"/>
          <a:ext cx="1543980" cy="1029320"/>
        </a:xfrm>
        <a:prstGeom prst="roundRect">
          <a:avLst>
            <a:gd name="adj" fmla="val 10000"/>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endParaRPr lang="en-US" sz="4000" kern="1200"/>
        </a:p>
      </dsp:txBody>
      <dsp:txXfrm>
        <a:off x="6501362" y="3015676"/>
        <a:ext cx="1483684" cy="96902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0.60891</cdr:x>
      <cdr:y>0.39185</cdr:y>
    </cdr:from>
    <cdr:to>
      <cdr:x>0.91068</cdr:x>
      <cdr:y>0.50607</cdr:y>
    </cdr:to>
    <cdr:sp macro="" textlink="">
      <cdr:nvSpPr>
        <cdr:cNvPr id="2" name="TextBox 1">
          <a:extLst xmlns:a="http://schemas.openxmlformats.org/drawingml/2006/main">
            <a:ext uri="{FF2B5EF4-FFF2-40B4-BE49-F238E27FC236}">
              <a16:creationId xmlns:a16="http://schemas.microsoft.com/office/drawing/2014/main" id="{862D3E63-5780-5045-25F4-35416F6B6FFA}"/>
            </a:ext>
          </a:extLst>
        </cdr:cNvPr>
        <cdr:cNvSpPr txBox="1"/>
      </cdr:nvSpPr>
      <cdr:spPr>
        <a:xfrm xmlns:a="http://schemas.openxmlformats.org/drawingml/2006/main" rot="21252450">
          <a:off x="5544386" y="1952007"/>
          <a:ext cx="2747750" cy="568997"/>
        </a:xfrm>
        <a:prstGeom xmlns:a="http://schemas.openxmlformats.org/drawingml/2006/main" prst="rect">
          <a:avLst/>
        </a:prstGeom>
        <a:noFill xmlns:a="http://schemas.openxmlformats.org/drawingml/2006/main"/>
      </cdr:spPr>
      <cdr:txBody>
        <a:bodyPr xmlns:a="http://schemas.openxmlformats.org/drawingml/2006/main" vertOverflow="clip" wrap="square" rtlCol="0"/>
        <a:lstStyle xmlns:a="http://schemas.openxmlformats.org/drawingml/2006/main"/>
        <a:p xmlns:a="http://schemas.openxmlformats.org/drawingml/2006/main">
          <a:r>
            <a:rPr lang="en-US" sz="2000" b="1" kern="1200" dirty="0">
              <a:solidFill>
                <a:schemeClr val="accent1"/>
              </a:solidFill>
            </a:rPr>
            <a:t>Open Rocket</a:t>
          </a:r>
        </a:p>
      </cdr:txBody>
    </cdr:sp>
  </cdr:relSizeAnchor>
  <cdr:relSizeAnchor xmlns:cdr="http://schemas.openxmlformats.org/drawingml/2006/chartDrawing">
    <cdr:from>
      <cdr:x>0.74919</cdr:x>
      <cdr:y>0.5</cdr:y>
    </cdr:from>
    <cdr:to>
      <cdr:x>0.87925</cdr:x>
      <cdr:y>0.61233</cdr:y>
    </cdr:to>
    <cdr:sp macro="" textlink="">
      <cdr:nvSpPr>
        <cdr:cNvPr id="3" name="TextBox 1">
          <a:extLst xmlns:a="http://schemas.openxmlformats.org/drawingml/2006/main">
            <a:ext uri="{FF2B5EF4-FFF2-40B4-BE49-F238E27FC236}">
              <a16:creationId xmlns:a16="http://schemas.microsoft.com/office/drawing/2014/main" id="{FBEBCC2E-6204-262F-29FE-56D38D6D9E40}"/>
            </a:ext>
          </a:extLst>
        </cdr:cNvPr>
        <cdr:cNvSpPr txBox="1"/>
      </cdr:nvSpPr>
      <cdr:spPr>
        <a:xfrm xmlns:a="http://schemas.openxmlformats.org/drawingml/2006/main">
          <a:off x="6821736" y="2490787"/>
          <a:ext cx="1184254" cy="559580"/>
        </a:xfrm>
        <a:prstGeom xmlns:a="http://schemas.openxmlformats.org/drawingml/2006/main" prst="rect">
          <a:avLst/>
        </a:prstGeom>
        <a:noFill xmlns:a="http://schemas.openxmlformats.org/drawingml/2006/main"/>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2000" b="1" kern="1200" dirty="0">
              <a:solidFill>
                <a:schemeClr val="accent2"/>
              </a:solidFill>
            </a:rPr>
            <a:t>CFD</a:t>
          </a:r>
        </a:p>
      </cdr:txBody>
    </cdr:sp>
  </cdr:relSizeAnchor>
  <cdr:relSizeAnchor xmlns:cdr="http://schemas.openxmlformats.org/drawingml/2006/chartDrawing">
    <cdr:from>
      <cdr:x>0.6533</cdr:x>
      <cdr:y>0.6363</cdr:y>
    </cdr:from>
    <cdr:to>
      <cdr:x>0.83887</cdr:x>
      <cdr:y>0.74863</cdr:y>
    </cdr:to>
    <cdr:sp macro="" textlink="">
      <cdr:nvSpPr>
        <cdr:cNvPr id="4" name="TextBox 1">
          <a:extLst xmlns:a="http://schemas.openxmlformats.org/drawingml/2006/main">
            <a:ext uri="{FF2B5EF4-FFF2-40B4-BE49-F238E27FC236}">
              <a16:creationId xmlns:a16="http://schemas.microsoft.com/office/drawing/2014/main" id="{7142932C-9761-BB77-7300-864FE4F4AF71}"/>
            </a:ext>
          </a:extLst>
        </cdr:cNvPr>
        <cdr:cNvSpPr txBox="1"/>
      </cdr:nvSpPr>
      <cdr:spPr>
        <a:xfrm xmlns:a="http://schemas.openxmlformats.org/drawingml/2006/main">
          <a:off x="5948590" y="3169798"/>
          <a:ext cx="1689698" cy="559581"/>
        </a:xfrm>
        <a:prstGeom xmlns:a="http://schemas.openxmlformats.org/drawingml/2006/main" prst="rect">
          <a:avLst/>
        </a:prstGeom>
        <a:noFill xmlns:a="http://schemas.openxmlformats.org/drawingml/2006/main"/>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2000" b="1" kern="1200" dirty="0">
              <a:solidFill>
                <a:schemeClr val="accent3"/>
              </a:solidFill>
            </a:rPr>
            <a:t>RAS AERO</a:t>
          </a:r>
        </a:p>
      </cdr:txBody>
    </cdr:sp>
  </cdr:relSizeAnchor>
</c:userShapes>
</file>

<file path=ppt/drawings/drawing2.xml><?xml version="1.0" encoding="utf-8"?>
<c:userShapes xmlns:c="http://schemas.openxmlformats.org/drawingml/2006/chart">
  <cdr:relSizeAnchor xmlns:cdr="http://schemas.openxmlformats.org/drawingml/2006/chartDrawing">
    <cdr:from>
      <cdr:x>0.4708</cdr:x>
      <cdr:y>0.20337</cdr:y>
    </cdr:from>
    <cdr:to>
      <cdr:x>0.75109</cdr:x>
      <cdr:y>0.30928</cdr:y>
    </cdr:to>
    <cdr:sp macro="" textlink="">
      <cdr:nvSpPr>
        <cdr:cNvPr id="2" name="TextBox 1">
          <a:extLst xmlns:a="http://schemas.openxmlformats.org/drawingml/2006/main">
            <a:ext uri="{FF2B5EF4-FFF2-40B4-BE49-F238E27FC236}">
              <a16:creationId xmlns:a16="http://schemas.microsoft.com/office/drawing/2014/main" id="{189D1550-C7F5-C4EB-2F23-C91AEEC3A6E1}"/>
            </a:ext>
          </a:extLst>
        </cdr:cNvPr>
        <cdr:cNvSpPr txBox="1"/>
      </cdr:nvSpPr>
      <cdr:spPr>
        <a:xfrm xmlns:a="http://schemas.openxmlformats.org/drawingml/2006/main" rot="663136">
          <a:off x="2943859" y="658497"/>
          <a:ext cx="1752600" cy="34290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400" b="1" kern="1200" dirty="0">
              <a:solidFill>
                <a:schemeClr val="accent1"/>
              </a:solidFill>
            </a:rPr>
            <a:t>Open</a:t>
          </a:r>
          <a:r>
            <a:rPr lang="en-US" sz="1400" b="1" kern="1200" baseline="0" dirty="0">
              <a:solidFill>
                <a:schemeClr val="accent1"/>
              </a:solidFill>
            </a:rPr>
            <a:t> Rocket </a:t>
          </a:r>
          <a:endParaRPr lang="en-US" sz="1400" b="1" kern="1200" dirty="0">
            <a:solidFill>
              <a:schemeClr val="accent1"/>
            </a:solidFill>
          </a:endParaRPr>
        </a:p>
      </cdr:txBody>
    </cdr:sp>
  </cdr:relSizeAnchor>
  <cdr:relSizeAnchor xmlns:cdr="http://schemas.openxmlformats.org/drawingml/2006/chartDrawing">
    <cdr:from>
      <cdr:x>0.57289</cdr:x>
      <cdr:y>0.38401</cdr:y>
    </cdr:from>
    <cdr:to>
      <cdr:x>0.69872</cdr:x>
      <cdr:y>0.48372</cdr:y>
    </cdr:to>
    <cdr:sp macro="" textlink="">
      <cdr:nvSpPr>
        <cdr:cNvPr id="3" name="TextBox 1">
          <a:extLst xmlns:a="http://schemas.openxmlformats.org/drawingml/2006/main">
            <a:ext uri="{FF2B5EF4-FFF2-40B4-BE49-F238E27FC236}">
              <a16:creationId xmlns:a16="http://schemas.microsoft.com/office/drawing/2014/main" id="{7B6DB15E-5A9E-245C-7F9F-8DC914BD2E0F}"/>
            </a:ext>
          </a:extLst>
        </cdr:cNvPr>
        <cdr:cNvSpPr txBox="1"/>
      </cdr:nvSpPr>
      <cdr:spPr>
        <a:xfrm xmlns:a="http://schemas.openxmlformats.org/drawingml/2006/main" rot="1192872">
          <a:off x="4734625" y="1670282"/>
          <a:ext cx="1039919" cy="433696"/>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400" b="1" kern="1200" dirty="0">
              <a:solidFill>
                <a:schemeClr val="accent2"/>
              </a:solidFill>
            </a:rPr>
            <a:t>MATLAB</a:t>
          </a:r>
          <a:r>
            <a:rPr lang="en-US" sz="1400" b="1" kern="1200" dirty="0">
              <a:solidFill>
                <a:schemeClr val="accent1"/>
              </a:solidFill>
            </a:rPr>
            <a:t> </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2B377-E820-46CA-9BA3-BC97D6DDBBF4}"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26B15-B115-4FE7-9FF2-7287B02728E4}" type="slidenum">
              <a:rPr lang="en-US" smtClean="0"/>
              <a:t>‹#›</a:t>
            </a:fld>
            <a:endParaRPr lang="en-US"/>
          </a:p>
        </p:txBody>
      </p:sp>
    </p:spTree>
    <p:extLst>
      <p:ext uri="{BB962C8B-B14F-4D97-AF65-F5344CB8AC3E}">
        <p14:creationId xmlns:p14="http://schemas.microsoft.com/office/powerpoint/2010/main" val="444938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Jasmine</a:t>
            </a:r>
          </a:p>
        </p:txBody>
      </p:sp>
      <p:sp>
        <p:nvSpPr>
          <p:cNvPr id="4" name="Slide Number Placeholder 3"/>
          <p:cNvSpPr>
            <a:spLocks noGrp="1"/>
          </p:cNvSpPr>
          <p:nvPr>
            <p:ph type="sldNum" sz="quarter" idx="5"/>
          </p:nvPr>
        </p:nvSpPr>
        <p:spPr/>
        <p:txBody>
          <a:bodyPr/>
          <a:lstStyle/>
          <a:p>
            <a:fld id="{9BB26B15-B115-4FE7-9FF2-7287B02728E4}" type="slidenum">
              <a:rPr lang="en-US" smtClean="0"/>
              <a:t>1</a:t>
            </a:fld>
            <a:endParaRPr lang="en-US"/>
          </a:p>
        </p:txBody>
      </p:sp>
    </p:spTree>
    <p:extLst>
      <p:ext uri="{BB962C8B-B14F-4D97-AF65-F5344CB8AC3E}">
        <p14:creationId xmlns:p14="http://schemas.microsoft.com/office/powerpoint/2010/main" val="27717896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Jasmine</a:t>
            </a:r>
          </a:p>
        </p:txBody>
      </p:sp>
      <p:sp>
        <p:nvSpPr>
          <p:cNvPr id="4" name="Slide Number Placeholder 3"/>
          <p:cNvSpPr>
            <a:spLocks noGrp="1"/>
          </p:cNvSpPr>
          <p:nvPr>
            <p:ph type="sldNum" sz="quarter" idx="5"/>
          </p:nvPr>
        </p:nvSpPr>
        <p:spPr/>
        <p:txBody>
          <a:bodyPr/>
          <a:lstStyle/>
          <a:p>
            <a:fld id="{9BB26B15-B115-4FE7-9FF2-7287B02728E4}" type="slidenum">
              <a:rPr lang="en-US" smtClean="0"/>
              <a:t>2</a:t>
            </a:fld>
            <a:endParaRPr lang="en-US"/>
          </a:p>
        </p:txBody>
      </p:sp>
    </p:spTree>
    <p:extLst>
      <p:ext uri="{BB962C8B-B14F-4D97-AF65-F5344CB8AC3E}">
        <p14:creationId xmlns:p14="http://schemas.microsoft.com/office/powerpoint/2010/main" val="29954943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Jasmine</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3</a:t>
            </a:fld>
            <a:endParaRPr lang="en-US"/>
          </a:p>
        </p:txBody>
      </p:sp>
    </p:spTree>
    <p:extLst>
      <p:ext uri="{BB962C8B-B14F-4D97-AF65-F5344CB8AC3E}">
        <p14:creationId xmlns:p14="http://schemas.microsoft.com/office/powerpoint/2010/main" val="3794287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Brandon</a:t>
            </a:r>
          </a:p>
        </p:txBody>
      </p:sp>
      <p:sp>
        <p:nvSpPr>
          <p:cNvPr id="4" name="Slide Number Placeholder 3"/>
          <p:cNvSpPr>
            <a:spLocks noGrp="1"/>
          </p:cNvSpPr>
          <p:nvPr>
            <p:ph type="sldNum" sz="quarter" idx="5"/>
          </p:nvPr>
        </p:nvSpPr>
        <p:spPr/>
        <p:txBody>
          <a:bodyPr/>
          <a:lstStyle/>
          <a:p>
            <a:fld id="{9BB26B15-B115-4FE7-9FF2-7287B02728E4}" type="slidenum">
              <a:rPr lang="en-US" smtClean="0"/>
              <a:t>4</a:t>
            </a:fld>
            <a:endParaRPr lang="en-US"/>
          </a:p>
        </p:txBody>
      </p:sp>
    </p:spTree>
    <p:extLst>
      <p:ext uri="{BB962C8B-B14F-4D97-AF65-F5344CB8AC3E}">
        <p14:creationId xmlns:p14="http://schemas.microsoft.com/office/powerpoint/2010/main" val="2045451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Brandon</a:t>
            </a:r>
          </a:p>
        </p:txBody>
      </p:sp>
      <p:sp>
        <p:nvSpPr>
          <p:cNvPr id="4" name="Slide Number Placeholder 3"/>
          <p:cNvSpPr>
            <a:spLocks noGrp="1"/>
          </p:cNvSpPr>
          <p:nvPr>
            <p:ph type="sldNum" sz="quarter" idx="5"/>
          </p:nvPr>
        </p:nvSpPr>
        <p:spPr/>
        <p:txBody>
          <a:bodyPr/>
          <a:lstStyle/>
          <a:p>
            <a:fld id="{9BB26B15-B115-4FE7-9FF2-7287B02728E4}" type="slidenum">
              <a:rPr lang="en-US" smtClean="0"/>
              <a:t>5</a:t>
            </a:fld>
            <a:endParaRPr lang="en-US"/>
          </a:p>
        </p:txBody>
      </p:sp>
    </p:spTree>
    <p:extLst>
      <p:ext uri="{BB962C8B-B14F-4D97-AF65-F5344CB8AC3E}">
        <p14:creationId xmlns:p14="http://schemas.microsoft.com/office/powerpoint/2010/main" val="2800450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Jasmine – Yang not here</a:t>
            </a:r>
          </a:p>
          <a:p>
            <a:endParaRPr lang="en-US"/>
          </a:p>
          <a:p>
            <a:r>
              <a:rPr lang="en-US"/>
              <a:t>Launch: t = 0s</a:t>
            </a:r>
          </a:p>
          <a:p>
            <a:r>
              <a:rPr lang="en-US"/>
              <a:t>Burnout/Sep : t=6.95s</a:t>
            </a:r>
          </a:p>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7</a:t>
            </a:fld>
            <a:endParaRPr lang="en-US"/>
          </a:p>
        </p:txBody>
      </p:sp>
    </p:spTree>
    <p:extLst>
      <p:ext uri="{BB962C8B-B14F-4D97-AF65-F5344CB8AC3E}">
        <p14:creationId xmlns:p14="http://schemas.microsoft.com/office/powerpoint/2010/main" val="3452962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Jasmine </a:t>
            </a:r>
          </a:p>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8</a:t>
            </a:fld>
            <a:endParaRPr lang="en-US"/>
          </a:p>
        </p:txBody>
      </p:sp>
    </p:spTree>
    <p:extLst>
      <p:ext uri="{BB962C8B-B14F-4D97-AF65-F5344CB8AC3E}">
        <p14:creationId xmlns:p14="http://schemas.microsoft.com/office/powerpoint/2010/main" val="779864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CBC7B-B19F-FDE2-4A49-2F24718A5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35792-71AB-3258-24A8-09F20D9D6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88202-071A-D19F-DD85-8D23D047E0EC}"/>
              </a:ext>
            </a:extLst>
          </p:cNvPr>
          <p:cNvSpPr>
            <a:spLocks noGrp="1"/>
          </p:cNvSpPr>
          <p:nvPr>
            <p:ph type="body" idx="1"/>
          </p:nvPr>
        </p:nvSpPr>
        <p:spPr/>
        <p:txBody>
          <a:bodyPr/>
          <a:lstStyle/>
          <a:p>
            <a:r>
              <a:rPr lang="en-US"/>
              <a:t>Jasmine </a:t>
            </a:r>
          </a:p>
          <a:p>
            <a:endParaRPr lang="en-US"/>
          </a:p>
        </p:txBody>
      </p:sp>
      <p:sp>
        <p:nvSpPr>
          <p:cNvPr id="4" name="Slide Number Placeholder 3">
            <a:extLst>
              <a:ext uri="{FF2B5EF4-FFF2-40B4-BE49-F238E27FC236}">
                <a16:creationId xmlns:a16="http://schemas.microsoft.com/office/drawing/2014/main" id="{3E315B54-2833-C8E9-0A3A-B92FCFCB04A5}"/>
              </a:ext>
            </a:extLst>
          </p:cNvPr>
          <p:cNvSpPr>
            <a:spLocks noGrp="1"/>
          </p:cNvSpPr>
          <p:nvPr>
            <p:ph type="sldNum" sz="quarter" idx="5"/>
          </p:nvPr>
        </p:nvSpPr>
        <p:spPr/>
        <p:txBody>
          <a:bodyPr/>
          <a:lstStyle/>
          <a:p>
            <a:fld id="{9BB26B15-B115-4FE7-9FF2-7287B02728E4}" type="slidenum">
              <a:rPr lang="en-US" smtClean="0"/>
              <a:t>9</a:t>
            </a:fld>
            <a:endParaRPr lang="en-US"/>
          </a:p>
        </p:txBody>
      </p:sp>
    </p:spTree>
    <p:extLst>
      <p:ext uri="{BB962C8B-B14F-4D97-AF65-F5344CB8AC3E}">
        <p14:creationId xmlns:p14="http://schemas.microsoft.com/office/powerpoint/2010/main" val="2169824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43B7D-F802-93F8-BE84-CBCA63047E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61F1F-2F67-F3A5-BDCC-85860328B2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B6BBDF-B202-1493-548F-D0E90CB25E46}"/>
              </a:ext>
            </a:extLst>
          </p:cNvPr>
          <p:cNvSpPr>
            <a:spLocks noGrp="1"/>
          </p:cNvSpPr>
          <p:nvPr>
            <p:ph type="body" idx="1"/>
          </p:nvPr>
        </p:nvSpPr>
        <p:spPr/>
        <p:txBody>
          <a:bodyPr/>
          <a:lstStyle/>
          <a:p>
            <a:r>
              <a:rPr lang="en-US"/>
              <a:t>Jasmine </a:t>
            </a:r>
          </a:p>
          <a:p>
            <a:endParaRPr lang="en-US"/>
          </a:p>
        </p:txBody>
      </p:sp>
      <p:sp>
        <p:nvSpPr>
          <p:cNvPr id="4" name="Slide Number Placeholder 3">
            <a:extLst>
              <a:ext uri="{FF2B5EF4-FFF2-40B4-BE49-F238E27FC236}">
                <a16:creationId xmlns:a16="http://schemas.microsoft.com/office/drawing/2014/main" id="{4A9ED9F9-BEFB-65BB-5DBD-4280CA12AB8F}"/>
              </a:ext>
            </a:extLst>
          </p:cNvPr>
          <p:cNvSpPr>
            <a:spLocks noGrp="1"/>
          </p:cNvSpPr>
          <p:nvPr>
            <p:ph type="sldNum" sz="quarter" idx="5"/>
          </p:nvPr>
        </p:nvSpPr>
        <p:spPr/>
        <p:txBody>
          <a:bodyPr/>
          <a:lstStyle/>
          <a:p>
            <a:fld id="{9BB26B15-B115-4FE7-9FF2-7287B02728E4}" type="slidenum">
              <a:rPr lang="en-US" smtClean="0"/>
              <a:t>10</a:t>
            </a:fld>
            <a:endParaRPr lang="en-US"/>
          </a:p>
        </p:txBody>
      </p:sp>
    </p:spTree>
    <p:extLst>
      <p:ext uri="{BB962C8B-B14F-4D97-AF65-F5344CB8AC3E}">
        <p14:creationId xmlns:p14="http://schemas.microsoft.com/office/powerpoint/2010/main" val="2233854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Arjan</a:t>
            </a:r>
          </a:p>
        </p:txBody>
      </p:sp>
      <p:sp>
        <p:nvSpPr>
          <p:cNvPr id="4" name="Slide Number Placeholder 3"/>
          <p:cNvSpPr>
            <a:spLocks noGrp="1"/>
          </p:cNvSpPr>
          <p:nvPr>
            <p:ph type="sldNum" sz="quarter" idx="5"/>
          </p:nvPr>
        </p:nvSpPr>
        <p:spPr/>
        <p:txBody>
          <a:bodyPr/>
          <a:lstStyle/>
          <a:p>
            <a:fld id="{9BB26B15-B115-4FE7-9FF2-7287B02728E4}" type="slidenum">
              <a:rPr lang="en-US" smtClean="0"/>
              <a:t>11</a:t>
            </a:fld>
            <a:endParaRPr lang="en-US"/>
          </a:p>
        </p:txBody>
      </p:sp>
    </p:spTree>
    <p:extLst>
      <p:ext uri="{BB962C8B-B14F-4D97-AF65-F5344CB8AC3E}">
        <p14:creationId xmlns:p14="http://schemas.microsoft.com/office/powerpoint/2010/main" val="13116604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Matt</a:t>
            </a:r>
          </a:p>
        </p:txBody>
      </p:sp>
      <p:sp>
        <p:nvSpPr>
          <p:cNvPr id="4" name="Slide Number Placeholder 3"/>
          <p:cNvSpPr>
            <a:spLocks noGrp="1"/>
          </p:cNvSpPr>
          <p:nvPr>
            <p:ph type="sldNum" sz="quarter" idx="5"/>
          </p:nvPr>
        </p:nvSpPr>
        <p:spPr/>
        <p:txBody>
          <a:bodyPr/>
          <a:lstStyle/>
          <a:p>
            <a:fld id="{9BB26B15-B115-4FE7-9FF2-7287B02728E4}" type="slidenum">
              <a:rPr lang="en-US" smtClean="0"/>
              <a:t>12</a:t>
            </a:fld>
            <a:endParaRPr lang="en-US"/>
          </a:p>
        </p:txBody>
      </p:sp>
    </p:spTree>
    <p:extLst>
      <p:ext uri="{BB962C8B-B14F-4D97-AF65-F5344CB8AC3E}">
        <p14:creationId xmlns:p14="http://schemas.microsoft.com/office/powerpoint/2010/main" val="4072932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Tate</a:t>
            </a:r>
          </a:p>
        </p:txBody>
      </p:sp>
      <p:sp>
        <p:nvSpPr>
          <p:cNvPr id="4" name="Slide Number Placeholder 3"/>
          <p:cNvSpPr>
            <a:spLocks noGrp="1"/>
          </p:cNvSpPr>
          <p:nvPr>
            <p:ph type="sldNum" sz="quarter" idx="5"/>
          </p:nvPr>
        </p:nvSpPr>
        <p:spPr/>
        <p:txBody>
          <a:bodyPr/>
          <a:lstStyle/>
          <a:p>
            <a:fld id="{9BB26B15-B115-4FE7-9FF2-7287B02728E4}" type="slidenum">
              <a:rPr lang="en-US" smtClean="0"/>
              <a:t>13</a:t>
            </a:fld>
            <a:endParaRPr lang="en-US"/>
          </a:p>
        </p:txBody>
      </p:sp>
    </p:spTree>
    <p:extLst>
      <p:ext uri="{BB962C8B-B14F-4D97-AF65-F5344CB8AC3E}">
        <p14:creationId xmlns:p14="http://schemas.microsoft.com/office/powerpoint/2010/main" val="615568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Tate</a:t>
            </a:r>
          </a:p>
        </p:txBody>
      </p:sp>
      <p:sp>
        <p:nvSpPr>
          <p:cNvPr id="4" name="Slide Number Placeholder 3"/>
          <p:cNvSpPr>
            <a:spLocks noGrp="1"/>
          </p:cNvSpPr>
          <p:nvPr>
            <p:ph type="sldNum" sz="quarter" idx="5"/>
          </p:nvPr>
        </p:nvSpPr>
        <p:spPr/>
        <p:txBody>
          <a:bodyPr/>
          <a:lstStyle/>
          <a:p>
            <a:fld id="{9BB26B15-B115-4FE7-9FF2-7287B02728E4}" type="slidenum">
              <a:rPr lang="en-US" smtClean="0"/>
              <a:t>14</a:t>
            </a:fld>
            <a:endParaRPr lang="en-US"/>
          </a:p>
        </p:txBody>
      </p:sp>
    </p:spTree>
    <p:extLst>
      <p:ext uri="{BB962C8B-B14F-4D97-AF65-F5344CB8AC3E}">
        <p14:creationId xmlns:p14="http://schemas.microsoft.com/office/powerpoint/2010/main" val="3248236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Tate</a:t>
            </a:r>
          </a:p>
        </p:txBody>
      </p:sp>
      <p:sp>
        <p:nvSpPr>
          <p:cNvPr id="4" name="Slide Number Placeholder 3"/>
          <p:cNvSpPr>
            <a:spLocks noGrp="1"/>
          </p:cNvSpPr>
          <p:nvPr>
            <p:ph type="sldNum" sz="quarter" idx="5"/>
          </p:nvPr>
        </p:nvSpPr>
        <p:spPr/>
        <p:txBody>
          <a:bodyPr/>
          <a:lstStyle/>
          <a:p>
            <a:fld id="{9BB26B15-B115-4FE7-9FF2-7287B02728E4}" type="slidenum">
              <a:rPr lang="en-US" smtClean="0"/>
              <a:t>15</a:t>
            </a:fld>
            <a:endParaRPr lang="en-US"/>
          </a:p>
        </p:txBody>
      </p:sp>
    </p:spTree>
    <p:extLst>
      <p:ext uri="{BB962C8B-B14F-4D97-AF65-F5344CB8AC3E}">
        <p14:creationId xmlns:p14="http://schemas.microsoft.com/office/powerpoint/2010/main" val="19233745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Tate</a:t>
            </a:r>
          </a:p>
        </p:txBody>
      </p:sp>
      <p:sp>
        <p:nvSpPr>
          <p:cNvPr id="4" name="Slide Number Placeholder 3"/>
          <p:cNvSpPr>
            <a:spLocks noGrp="1"/>
          </p:cNvSpPr>
          <p:nvPr>
            <p:ph type="sldNum" sz="quarter" idx="5"/>
          </p:nvPr>
        </p:nvSpPr>
        <p:spPr/>
        <p:txBody>
          <a:bodyPr/>
          <a:lstStyle/>
          <a:p>
            <a:fld id="{9BB26B15-B115-4FE7-9FF2-7287B02728E4}" type="slidenum">
              <a:rPr lang="en-US" smtClean="0"/>
              <a:t>16</a:t>
            </a:fld>
            <a:endParaRPr lang="en-US"/>
          </a:p>
        </p:txBody>
      </p:sp>
    </p:spTree>
    <p:extLst>
      <p:ext uri="{BB962C8B-B14F-4D97-AF65-F5344CB8AC3E}">
        <p14:creationId xmlns:p14="http://schemas.microsoft.com/office/powerpoint/2010/main" val="39729156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E24AF-4FE9-C326-F949-1B7386C26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7F5AF-5CDD-CC72-F5FF-C6FAB20E03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DE2304-FFD3-1495-6871-644D1B9BBB4D}"/>
              </a:ext>
            </a:extLst>
          </p:cNvPr>
          <p:cNvSpPr>
            <a:spLocks noGrp="1"/>
          </p:cNvSpPr>
          <p:nvPr>
            <p:ph type="body" idx="1"/>
          </p:nvPr>
        </p:nvSpPr>
        <p:spPr/>
        <p:txBody>
          <a:bodyPr/>
          <a:lstStyle/>
          <a:p>
            <a:r>
              <a:rPr lang="en-US">
                <a:latin typeface="Calibri"/>
                <a:ea typeface="Calibri"/>
                <a:cs typeface="Calibri"/>
              </a:rPr>
              <a:t>Tate</a:t>
            </a:r>
          </a:p>
        </p:txBody>
      </p:sp>
      <p:sp>
        <p:nvSpPr>
          <p:cNvPr id="4" name="Slide Number Placeholder 3">
            <a:extLst>
              <a:ext uri="{FF2B5EF4-FFF2-40B4-BE49-F238E27FC236}">
                <a16:creationId xmlns:a16="http://schemas.microsoft.com/office/drawing/2014/main" id="{70ED4AC0-D3B3-0C09-46B5-E7BD6806D38F}"/>
              </a:ext>
            </a:extLst>
          </p:cNvPr>
          <p:cNvSpPr>
            <a:spLocks noGrp="1"/>
          </p:cNvSpPr>
          <p:nvPr>
            <p:ph type="sldNum" sz="quarter" idx="5"/>
          </p:nvPr>
        </p:nvSpPr>
        <p:spPr/>
        <p:txBody>
          <a:bodyPr/>
          <a:lstStyle/>
          <a:p>
            <a:fld id="{9BB26B15-B115-4FE7-9FF2-7287B02728E4}" type="slidenum">
              <a:rPr lang="en-US" smtClean="0"/>
              <a:t>17</a:t>
            </a:fld>
            <a:endParaRPr lang="en-US"/>
          </a:p>
        </p:txBody>
      </p:sp>
    </p:spTree>
    <p:extLst>
      <p:ext uri="{BB962C8B-B14F-4D97-AF65-F5344CB8AC3E}">
        <p14:creationId xmlns:p14="http://schemas.microsoft.com/office/powerpoint/2010/main" val="841714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Tony</a:t>
            </a:r>
          </a:p>
        </p:txBody>
      </p:sp>
      <p:sp>
        <p:nvSpPr>
          <p:cNvPr id="4" name="Slide Number Placeholder 3"/>
          <p:cNvSpPr>
            <a:spLocks noGrp="1"/>
          </p:cNvSpPr>
          <p:nvPr>
            <p:ph type="sldNum" sz="quarter" idx="5"/>
          </p:nvPr>
        </p:nvSpPr>
        <p:spPr/>
        <p:txBody>
          <a:bodyPr/>
          <a:lstStyle/>
          <a:p>
            <a:fld id="{9BB26B15-B115-4FE7-9FF2-7287B02728E4}" type="slidenum">
              <a:rPr lang="en-US" smtClean="0"/>
              <a:t>18</a:t>
            </a:fld>
            <a:endParaRPr lang="en-US"/>
          </a:p>
        </p:txBody>
      </p:sp>
    </p:spTree>
    <p:extLst>
      <p:ext uri="{BB962C8B-B14F-4D97-AF65-F5344CB8AC3E}">
        <p14:creationId xmlns:p14="http://schemas.microsoft.com/office/powerpoint/2010/main" val="40635956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7585C-C52E-5DED-E465-8808BA172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BF310-280F-5539-CFA1-FF06B92CB4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CF840B-B294-A3EC-6FCB-FE8E4B78683A}"/>
              </a:ext>
            </a:extLst>
          </p:cNvPr>
          <p:cNvSpPr>
            <a:spLocks noGrp="1"/>
          </p:cNvSpPr>
          <p:nvPr>
            <p:ph type="body" idx="1"/>
          </p:nvPr>
        </p:nvSpPr>
        <p:spPr/>
        <p:txBody>
          <a:bodyPr/>
          <a:lstStyle/>
          <a:p>
            <a:r>
              <a:rPr lang="en-US">
                <a:latin typeface="Calibri"/>
                <a:ea typeface="Calibri"/>
                <a:cs typeface="Calibri"/>
              </a:rPr>
              <a:t>Tony</a:t>
            </a:r>
          </a:p>
        </p:txBody>
      </p:sp>
      <p:sp>
        <p:nvSpPr>
          <p:cNvPr id="4" name="Slide Number Placeholder 3">
            <a:extLst>
              <a:ext uri="{FF2B5EF4-FFF2-40B4-BE49-F238E27FC236}">
                <a16:creationId xmlns:a16="http://schemas.microsoft.com/office/drawing/2014/main" id="{7034921E-786C-41FF-DB1D-69C8139F040D}"/>
              </a:ext>
            </a:extLst>
          </p:cNvPr>
          <p:cNvSpPr>
            <a:spLocks noGrp="1"/>
          </p:cNvSpPr>
          <p:nvPr>
            <p:ph type="sldNum" sz="quarter" idx="5"/>
          </p:nvPr>
        </p:nvSpPr>
        <p:spPr/>
        <p:txBody>
          <a:bodyPr/>
          <a:lstStyle/>
          <a:p>
            <a:fld id="{9BB26B15-B115-4FE7-9FF2-7287B02728E4}" type="slidenum">
              <a:rPr lang="en-US" smtClean="0"/>
              <a:t>19</a:t>
            </a:fld>
            <a:endParaRPr lang="en-US"/>
          </a:p>
        </p:txBody>
      </p:sp>
    </p:spTree>
    <p:extLst>
      <p:ext uri="{BB962C8B-B14F-4D97-AF65-F5344CB8AC3E}">
        <p14:creationId xmlns:p14="http://schemas.microsoft.com/office/powerpoint/2010/main" val="290062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Tate</a:t>
            </a:r>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20</a:t>
            </a:fld>
            <a:endParaRPr lang="en-US"/>
          </a:p>
        </p:txBody>
      </p:sp>
    </p:spTree>
    <p:extLst>
      <p:ext uri="{BB962C8B-B14F-4D97-AF65-F5344CB8AC3E}">
        <p14:creationId xmlns:p14="http://schemas.microsoft.com/office/powerpoint/2010/main" val="3245467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Tate</a:t>
            </a:r>
          </a:p>
        </p:txBody>
      </p:sp>
      <p:sp>
        <p:nvSpPr>
          <p:cNvPr id="4" name="Slide Number Placeholder 3"/>
          <p:cNvSpPr>
            <a:spLocks noGrp="1"/>
          </p:cNvSpPr>
          <p:nvPr>
            <p:ph type="sldNum" sz="quarter" idx="5"/>
          </p:nvPr>
        </p:nvSpPr>
        <p:spPr/>
        <p:txBody>
          <a:bodyPr/>
          <a:lstStyle/>
          <a:p>
            <a:fld id="{9BB26B15-B115-4FE7-9FF2-7287B02728E4}" type="slidenum">
              <a:rPr lang="en-US" smtClean="0"/>
              <a:t>21</a:t>
            </a:fld>
            <a:endParaRPr lang="en-US"/>
          </a:p>
        </p:txBody>
      </p:sp>
    </p:spTree>
    <p:extLst>
      <p:ext uri="{BB962C8B-B14F-4D97-AF65-F5344CB8AC3E}">
        <p14:creationId xmlns:p14="http://schemas.microsoft.com/office/powerpoint/2010/main" val="1335358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603D1-12D4-F53A-075B-BC138E611F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F8BAC-D53C-3E48-3280-8B07B4607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A94A50-3233-92B8-A2C9-BEA50E838444}"/>
              </a:ext>
            </a:extLst>
          </p:cNvPr>
          <p:cNvSpPr>
            <a:spLocks noGrp="1"/>
          </p:cNvSpPr>
          <p:nvPr>
            <p:ph type="body" idx="1"/>
          </p:nvPr>
        </p:nvSpPr>
        <p:spPr/>
        <p:txBody>
          <a:bodyPr/>
          <a:lstStyle/>
          <a:p>
            <a:r>
              <a:rPr lang="en-US"/>
              <a:t>Tate</a:t>
            </a:r>
          </a:p>
        </p:txBody>
      </p:sp>
      <p:sp>
        <p:nvSpPr>
          <p:cNvPr id="4" name="Slide Number Placeholder 3">
            <a:extLst>
              <a:ext uri="{FF2B5EF4-FFF2-40B4-BE49-F238E27FC236}">
                <a16:creationId xmlns:a16="http://schemas.microsoft.com/office/drawing/2014/main" id="{2A4B55C5-3366-C712-80D5-7274950C0237}"/>
              </a:ext>
            </a:extLst>
          </p:cNvPr>
          <p:cNvSpPr>
            <a:spLocks noGrp="1"/>
          </p:cNvSpPr>
          <p:nvPr>
            <p:ph type="sldNum" sz="quarter" idx="5"/>
          </p:nvPr>
        </p:nvSpPr>
        <p:spPr/>
        <p:txBody>
          <a:bodyPr/>
          <a:lstStyle/>
          <a:p>
            <a:fld id="{9BB26B15-B115-4FE7-9FF2-7287B02728E4}" type="slidenum">
              <a:rPr lang="en-US" smtClean="0"/>
              <a:t>22</a:t>
            </a:fld>
            <a:endParaRPr lang="en-US"/>
          </a:p>
        </p:txBody>
      </p:sp>
    </p:spTree>
    <p:extLst>
      <p:ext uri="{BB962C8B-B14F-4D97-AF65-F5344CB8AC3E}">
        <p14:creationId xmlns:p14="http://schemas.microsoft.com/office/powerpoint/2010/main" val="22346065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Devin, Sloan,</a:t>
            </a:r>
            <a:r>
              <a:rPr lang="en-US"/>
              <a:t> Noah, Gustavo, Joshua</a:t>
            </a:r>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23</a:t>
            </a:fld>
            <a:endParaRPr lang="en-US"/>
          </a:p>
        </p:txBody>
      </p:sp>
    </p:spTree>
    <p:extLst>
      <p:ext uri="{BB962C8B-B14F-4D97-AF65-F5344CB8AC3E}">
        <p14:creationId xmlns:p14="http://schemas.microsoft.com/office/powerpoint/2010/main" val="30236673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Devin, Sloan, Noah, Gustavo, Joshua</a:t>
            </a:r>
          </a:p>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25</a:t>
            </a:fld>
            <a:endParaRPr lang="en-US"/>
          </a:p>
        </p:txBody>
      </p:sp>
    </p:spTree>
    <p:extLst>
      <p:ext uri="{BB962C8B-B14F-4D97-AF65-F5344CB8AC3E}">
        <p14:creationId xmlns:p14="http://schemas.microsoft.com/office/powerpoint/2010/main" val="32113608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Devin, Sloan, Noah, Gustavo, Joshua</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26</a:t>
            </a:fld>
            <a:endParaRPr lang="en-US"/>
          </a:p>
        </p:txBody>
      </p:sp>
    </p:spTree>
    <p:extLst>
      <p:ext uri="{BB962C8B-B14F-4D97-AF65-F5344CB8AC3E}">
        <p14:creationId xmlns:p14="http://schemas.microsoft.com/office/powerpoint/2010/main" val="21379274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Devin, Sloan, Noah, Gustavo, Joshua</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27</a:t>
            </a:fld>
            <a:endParaRPr lang="en-US"/>
          </a:p>
        </p:txBody>
      </p:sp>
    </p:spTree>
    <p:extLst>
      <p:ext uri="{BB962C8B-B14F-4D97-AF65-F5344CB8AC3E}">
        <p14:creationId xmlns:p14="http://schemas.microsoft.com/office/powerpoint/2010/main" val="13487876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Devin, Sloan, Noah, Gustavo, Joshua</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28</a:t>
            </a:fld>
            <a:endParaRPr lang="en-US"/>
          </a:p>
        </p:txBody>
      </p:sp>
    </p:spTree>
    <p:extLst>
      <p:ext uri="{BB962C8B-B14F-4D97-AF65-F5344CB8AC3E}">
        <p14:creationId xmlns:p14="http://schemas.microsoft.com/office/powerpoint/2010/main" val="11030686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Devin, Sloan, Noah, Gustavo, Joshua</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29</a:t>
            </a:fld>
            <a:endParaRPr lang="en-US"/>
          </a:p>
        </p:txBody>
      </p:sp>
    </p:spTree>
    <p:extLst>
      <p:ext uri="{BB962C8B-B14F-4D97-AF65-F5344CB8AC3E}">
        <p14:creationId xmlns:p14="http://schemas.microsoft.com/office/powerpoint/2010/main" val="42751271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Devin, Sloan, Noah, Gustavo, Joshua</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30</a:t>
            </a:fld>
            <a:endParaRPr lang="en-US"/>
          </a:p>
        </p:txBody>
      </p:sp>
    </p:spTree>
    <p:extLst>
      <p:ext uri="{BB962C8B-B14F-4D97-AF65-F5344CB8AC3E}">
        <p14:creationId xmlns:p14="http://schemas.microsoft.com/office/powerpoint/2010/main" val="26915673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Devin, Sloan, Noah, Gustavo, Joshua</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32</a:t>
            </a:fld>
            <a:endParaRPr lang="en-US"/>
          </a:p>
        </p:txBody>
      </p:sp>
    </p:spTree>
    <p:extLst>
      <p:ext uri="{BB962C8B-B14F-4D97-AF65-F5344CB8AC3E}">
        <p14:creationId xmlns:p14="http://schemas.microsoft.com/office/powerpoint/2010/main" val="22464240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Devin, Sloan, Noah, Gustavo, Joshua</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33</a:t>
            </a:fld>
            <a:endParaRPr lang="en-US"/>
          </a:p>
        </p:txBody>
      </p:sp>
    </p:spTree>
    <p:extLst>
      <p:ext uri="{BB962C8B-B14F-4D97-AF65-F5344CB8AC3E}">
        <p14:creationId xmlns:p14="http://schemas.microsoft.com/office/powerpoint/2010/main" val="3612364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399DE-45EF-CB38-79A8-EDD4216F4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4964C6-F34E-6E52-99E1-EFFB99B22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489932-6384-D4F6-ECCE-9D90761D7960}"/>
              </a:ext>
            </a:extLst>
          </p:cNvPr>
          <p:cNvSpPr>
            <a:spLocks noGrp="1"/>
          </p:cNvSpPr>
          <p:nvPr>
            <p:ph type="body" idx="1"/>
          </p:nvPr>
        </p:nvSpPr>
        <p:spPr/>
        <p:txBody>
          <a:bodyPr/>
          <a:lstStyle/>
          <a:p>
            <a:r>
              <a:rPr lang="en-US"/>
              <a:t>Devin, Sloan, Noah, Gustavo, Joshua</a:t>
            </a:r>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AC270F8D-9A45-E106-B8DC-00A2B03189DF}"/>
              </a:ext>
            </a:extLst>
          </p:cNvPr>
          <p:cNvSpPr>
            <a:spLocks noGrp="1"/>
          </p:cNvSpPr>
          <p:nvPr>
            <p:ph type="sldNum" sz="quarter" idx="5"/>
          </p:nvPr>
        </p:nvSpPr>
        <p:spPr/>
        <p:txBody>
          <a:bodyPr/>
          <a:lstStyle/>
          <a:p>
            <a:fld id="{9BB26B15-B115-4FE7-9FF2-7287B02728E4}" type="slidenum">
              <a:rPr lang="en-US" smtClean="0"/>
              <a:t>34</a:t>
            </a:fld>
            <a:endParaRPr lang="en-US"/>
          </a:p>
        </p:txBody>
      </p:sp>
    </p:spTree>
    <p:extLst>
      <p:ext uri="{BB962C8B-B14F-4D97-AF65-F5344CB8AC3E}">
        <p14:creationId xmlns:p14="http://schemas.microsoft.com/office/powerpoint/2010/main" val="2767963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32EC2-94E4-E559-F1F3-ABFDF7A3DC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8FDFD-5ADB-C860-C820-7B0162CCC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42EF34-4B7F-3437-0C57-C8B7ECB50DAD}"/>
              </a:ext>
            </a:extLst>
          </p:cNvPr>
          <p:cNvSpPr>
            <a:spLocks noGrp="1"/>
          </p:cNvSpPr>
          <p:nvPr>
            <p:ph type="body" idx="1"/>
          </p:nvPr>
        </p:nvSpPr>
        <p:spPr/>
        <p:txBody>
          <a:bodyPr/>
          <a:lstStyle/>
          <a:p>
            <a:r>
              <a:rPr lang="en-US"/>
              <a:t>Tate</a:t>
            </a:r>
          </a:p>
        </p:txBody>
      </p:sp>
      <p:sp>
        <p:nvSpPr>
          <p:cNvPr id="4" name="Slide Number Placeholder 3">
            <a:extLst>
              <a:ext uri="{FF2B5EF4-FFF2-40B4-BE49-F238E27FC236}">
                <a16:creationId xmlns:a16="http://schemas.microsoft.com/office/drawing/2014/main" id="{560C52EA-564A-7FB4-4574-E2391267BA78}"/>
              </a:ext>
            </a:extLst>
          </p:cNvPr>
          <p:cNvSpPr>
            <a:spLocks noGrp="1"/>
          </p:cNvSpPr>
          <p:nvPr>
            <p:ph type="sldNum" sz="quarter" idx="5"/>
          </p:nvPr>
        </p:nvSpPr>
        <p:spPr/>
        <p:txBody>
          <a:bodyPr/>
          <a:lstStyle/>
          <a:p>
            <a:fld id="{9BB26B15-B115-4FE7-9FF2-7287B02728E4}" type="slidenum">
              <a:rPr lang="en-US" smtClean="0"/>
              <a:t>37</a:t>
            </a:fld>
            <a:endParaRPr lang="en-US"/>
          </a:p>
        </p:txBody>
      </p:sp>
    </p:spTree>
    <p:extLst>
      <p:ext uri="{BB962C8B-B14F-4D97-AF65-F5344CB8AC3E}">
        <p14:creationId xmlns:p14="http://schemas.microsoft.com/office/powerpoint/2010/main" val="25576655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1B919-75DA-7B2D-E71A-B457500F9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F004A-5337-8CE1-3B6C-65CBCE9250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52D75-2B45-A0B0-453C-F8C91D764F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59D0DD-E106-6F7F-21D8-4E3B99E91BA7}"/>
              </a:ext>
            </a:extLst>
          </p:cNvPr>
          <p:cNvSpPr>
            <a:spLocks noGrp="1"/>
          </p:cNvSpPr>
          <p:nvPr>
            <p:ph type="sldNum" sz="quarter" idx="5"/>
          </p:nvPr>
        </p:nvSpPr>
        <p:spPr/>
        <p:txBody>
          <a:bodyPr/>
          <a:lstStyle/>
          <a:p>
            <a:fld id="{9BB26B15-B115-4FE7-9FF2-7287B02728E4}" type="slidenum">
              <a:rPr lang="en-US" smtClean="0"/>
              <a:t>42</a:t>
            </a:fld>
            <a:endParaRPr lang="en-US"/>
          </a:p>
        </p:txBody>
      </p:sp>
    </p:spTree>
    <p:extLst>
      <p:ext uri="{BB962C8B-B14F-4D97-AF65-F5344CB8AC3E}">
        <p14:creationId xmlns:p14="http://schemas.microsoft.com/office/powerpoint/2010/main" val="28764784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Brandon</a:t>
            </a:r>
          </a:p>
        </p:txBody>
      </p:sp>
      <p:sp>
        <p:nvSpPr>
          <p:cNvPr id="4" name="Slide Number Placeholder 3"/>
          <p:cNvSpPr>
            <a:spLocks noGrp="1"/>
          </p:cNvSpPr>
          <p:nvPr>
            <p:ph type="sldNum" sz="quarter" idx="5"/>
          </p:nvPr>
        </p:nvSpPr>
        <p:spPr/>
        <p:txBody>
          <a:bodyPr/>
          <a:lstStyle/>
          <a:p>
            <a:fld id="{9BB26B15-B115-4FE7-9FF2-7287B02728E4}" type="slidenum">
              <a:rPr lang="en-US" smtClean="0"/>
              <a:t>44</a:t>
            </a:fld>
            <a:endParaRPr lang="en-US"/>
          </a:p>
        </p:txBody>
      </p:sp>
    </p:spTree>
    <p:extLst>
      <p:ext uri="{BB962C8B-B14F-4D97-AF65-F5344CB8AC3E}">
        <p14:creationId xmlns:p14="http://schemas.microsoft.com/office/powerpoint/2010/main" val="22894767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Brandon</a:t>
            </a:r>
          </a:p>
        </p:txBody>
      </p:sp>
      <p:sp>
        <p:nvSpPr>
          <p:cNvPr id="4" name="Slide Number Placeholder 3"/>
          <p:cNvSpPr>
            <a:spLocks noGrp="1"/>
          </p:cNvSpPr>
          <p:nvPr>
            <p:ph type="sldNum" sz="quarter" idx="5"/>
          </p:nvPr>
        </p:nvSpPr>
        <p:spPr/>
        <p:txBody>
          <a:bodyPr/>
          <a:lstStyle/>
          <a:p>
            <a:fld id="{9BB26B15-B115-4FE7-9FF2-7287B02728E4}" type="slidenum">
              <a:rPr lang="en-US" smtClean="0"/>
              <a:t>45</a:t>
            </a:fld>
            <a:endParaRPr lang="en-US"/>
          </a:p>
        </p:txBody>
      </p:sp>
    </p:spTree>
    <p:extLst>
      <p:ext uri="{BB962C8B-B14F-4D97-AF65-F5344CB8AC3E}">
        <p14:creationId xmlns:p14="http://schemas.microsoft.com/office/powerpoint/2010/main" val="19263694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Brandon</a:t>
            </a:r>
          </a:p>
        </p:txBody>
      </p:sp>
      <p:sp>
        <p:nvSpPr>
          <p:cNvPr id="4" name="Slide Number Placeholder 3"/>
          <p:cNvSpPr>
            <a:spLocks noGrp="1"/>
          </p:cNvSpPr>
          <p:nvPr>
            <p:ph type="sldNum" sz="quarter" idx="5"/>
          </p:nvPr>
        </p:nvSpPr>
        <p:spPr/>
        <p:txBody>
          <a:bodyPr/>
          <a:lstStyle/>
          <a:p>
            <a:fld id="{9BB26B15-B115-4FE7-9FF2-7287B02728E4}" type="slidenum">
              <a:rPr lang="en-US" smtClean="0"/>
              <a:t>46</a:t>
            </a:fld>
            <a:endParaRPr lang="en-US"/>
          </a:p>
        </p:txBody>
      </p:sp>
    </p:spTree>
    <p:extLst>
      <p:ext uri="{BB962C8B-B14F-4D97-AF65-F5344CB8AC3E}">
        <p14:creationId xmlns:p14="http://schemas.microsoft.com/office/powerpoint/2010/main" val="40211098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Arjan</a:t>
            </a:r>
          </a:p>
        </p:txBody>
      </p:sp>
      <p:sp>
        <p:nvSpPr>
          <p:cNvPr id="4" name="Slide Number Placeholder 3"/>
          <p:cNvSpPr>
            <a:spLocks noGrp="1"/>
          </p:cNvSpPr>
          <p:nvPr>
            <p:ph type="sldNum" sz="quarter" idx="5"/>
          </p:nvPr>
        </p:nvSpPr>
        <p:spPr/>
        <p:txBody>
          <a:bodyPr/>
          <a:lstStyle/>
          <a:p>
            <a:fld id="{9BB26B15-B115-4FE7-9FF2-7287B02728E4}" type="slidenum">
              <a:rPr lang="en-US" smtClean="0"/>
              <a:t>47</a:t>
            </a:fld>
            <a:endParaRPr lang="en-US"/>
          </a:p>
        </p:txBody>
      </p:sp>
    </p:spTree>
    <p:extLst>
      <p:ext uri="{BB962C8B-B14F-4D97-AF65-F5344CB8AC3E}">
        <p14:creationId xmlns:p14="http://schemas.microsoft.com/office/powerpoint/2010/main" val="25679607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2D52F-2766-8AFD-E034-7557FD1E7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2E58E-C83C-B761-7D3D-E936E6957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B0F6F-6104-89A5-2503-F491112595BD}"/>
              </a:ext>
            </a:extLst>
          </p:cNvPr>
          <p:cNvSpPr>
            <a:spLocks noGrp="1"/>
          </p:cNvSpPr>
          <p:nvPr>
            <p:ph type="body" idx="1"/>
          </p:nvPr>
        </p:nvSpPr>
        <p:spPr/>
        <p:txBody>
          <a:bodyPr/>
          <a:lstStyle/>
          <a:p>
            <a:r>
              <a:rPr lang="en-US"/>
              <a:t>Tate</a:t>
            </a:r>
          </a:p>
        </p:txBody>
      </p:sp>
      <p:sp>
        <p:nvSpPr>
          <p:cNvPr id="4" name="Slide Number Placeholder 3">
            <a:extLst>
              <a:ext uri="{FF2B5EF4-FFF2-40B4-BE49-F238E27FC236}">
                <a16:creationId xmlns:a16="http://schemas.microsoft.com/office/drawing/2014/main" id="{2FDEAA0B-90B7-A5E5-8F90-E972AECF23C3}"/>
              </a:ext>
            </a:extLst>
          </p:cNvPr>
          <p:cNvSpPr>
            <a:spLocks noGrp="1"/>
          </p:cNvSpPr>
          <p:nvPr>
            <p:ph type="sldNum" sz="quarter" idx="5"/>
          </p:nvPr>
        </p:nvSpPr>
        <p:spPr/>
        <p:txBody>
          <a:bodyPr/>
          <a:lstStyle/>
          <a:p>
            <a:fld id="{9BB26B15-B115-4FE7-9FF2-7287B02728E4}" type="slidenum">
              <a:rPr lang="en-US" smtClean="0"/>
              <a:t>51</a:t>
            </a:fld>
            <a:endParaRPr lang="en-US"/>
          </a:p>
        </p:txBody>
      </p:sp>
    </p:spTree>
    <p:extLst>
      <p:ext uri="{BB962C8B-B14F-4D97-AF65-F5344CB8AC3E}">
        <p14:creationId xmlns:p14="http://schemas.microsoft.com/office/powerpoint/2010/main" val="19244573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52</a:t>
            </a:fld>
            <a:endParaRPr lang="en-US"/>
          </a:p>
        </p:txBody>
      </p:sp>
    </p:spTree>
    <p:extLst>
      <p:ext uri="{BB962C8B-B14F-4D97-AF65-F5344CB8AC3E}">
        <p14:creationId xmlns:p14="http://schemas.microsoft.com/office/powerpoint/2010/main" val="26841089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DE04C-91BD-3157-DFC3-A17D11A7B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FDAB81-0AA9-3E5F-F22F-93D5864BA3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22D241-6D62-F878-F8D5-9C61851063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96C7580-02F3-1433-6A93-CD1306BEF91C}"/>
              </a:ext>
            </a:extLst>
          </p:cNvPr>
          <p:cNvSpPr>
            <a:spLocks noGrp="1"/>
          </p:cNvSpPr>
          <p:nvPr>
            <p:ph type="sldNum" sz="quarter" idx="5"/>
          </p:nvPr>
        </p:nvSpPr>
        <p:spPr/>
        <p:txBody>
          <a:bodyPr/>
          <a:lstStyle/>
          <a:p>
            <a:fld id="{9BB26B15-B115-4FE7-9FF2-7287B02728E4}" type="slidenum">
              <a:rPr lang="en-US" smtClean="0"/>
              <a:t>57</a:t>
            </a:fld>
            <a:endParaRPr lang="en-US"/>
          </a:p>
        </p:txBody>
      </p:sp>
    </p:spTree>
    <p:extLst>
      <p:ext uri="{BB962C8B-B14F-4D97-AF65-F5344CB8AC3E}">
        <p14:creationId xmlns:p14="http://schemas.microsoft.com/office/powerpoint/2010/main" val="13812900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26059-2BE6-F1A4-E4DD-3E754627C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48B71-2C47-8248-7436-393F37C70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75493-4EE9-AE8C-13A9-B20F0DAC047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560C17-FE9C-09FF-84DE-2DF9D8164737}"/>
              </a:ext>
            </a:extLst>
          </p:cNvPr>
          <p:cNvSpPr>
            <a:spLocks noGrp="1"/>
          </p:cNvSpPr>
          <p:nvPr>
            <p:ph type="sldNum" sz="quarter" idx="5"/>
          </p:nvPr>
        </p:nvSpPr>
        <p:spPr/>
        <p:txBody>
          <a:bodyPr/>
          <a:lstStyle/>
          <a:p>
            <a:fld id="{9BB26B15-B115-4FE7-9FF2-7287B02728E4}" type="slidenum">
              <a:rPr lang="en-US" smtClean="0"/>
              <a:t>58</a:t>
            </a:fld>
            <a:endParaRPr lang="en-US"/>
          </a:p>
        </p:txBody>
      </p:sp>
    </p:spTree>
    <p:extLst>
      <p:ext uri="{BB962C8B-B14F-4D97-AF65-F5344CB8AC3E}">
        <p14:creationId xmlns:p14="http://schemas.microsoft.com/office/powerpoint/2010/main" val="206765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379BF-38C5-7B55-AE7E-FACCBFD99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8BB3C5-AA28-DE12-C908-76C7205CB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FB32A-D83A-DD26-9783-5BFD859F0291}"/>
              </a:ext>
            </a:extLst>
          </p:cNvPr>
          <p:cNvSpPr>
            <a:spLocks noGrp="1"/>
          </p:cNvSpPr>
          <p:nvPr>
            <p:ph type="body" idx="1"/>
          </p:nvPr>
        </p:nvSpPr>
        <p:spPr/>
        <p:txBody>
          <a:bodyPr/>
          <a:lstStyle/>
          <a:p>
            <a:r>
              <a:rPr lang="en-US"/>
              <a:t>Jasmine</a:t>
            </a:r>
          </a:p>
        </p:txBody>
      </p:sp>
      <p:sp>
        <p:nvSpPr>
          <p:cNvPr id="4" name="Slide Number Placeholder 3">
            <a:extLst>
              <a:ext uri="{FF2B5EF4-FFF2-40B4-BE49-F238E27FC236}">
                <a16:creationId xmlns:a16="http://schemas.microsoft.com/office/drawing/2014/main" id="{510A2924-B959-3E57-F84E-5F05DB54C495}"/>
              </a:ext>
            </a:extLst>
          </p:cNvPr>
          <p:cNvSpPr>
            <a:spLocks noGrp="1"/>
          </p:cNvSpPr>
          <p:nvPr>
            <p:ph type="sldNum" sz="quarter" idx="5"/>
          </p:nvPr>
        </p:nvSpPr>
        <p:spPr/>
        <p:txBody>
          <a:bodyPr/>
          <a:lstStyle/>
          <a:p>
            <a:fld id="{9BB26B15-B115-4FE7-9FF2-7287B02728E4}" type="slidenum">
              <a:rPr lang="en-US" smtClean="0"/>
              <a:t>59</a:t>
            </a:fld>
            <a:endParaRPr lang="en-US"/>
          </a:p>
        </p:txBody>
      </p:sp>
    </p:spTree>
    <p:extLst>
      <p:ext uri="{BB962C8B-B14F-4D97-AF65-F5344CB8AC3E}">
        <p14:creationId xmlns:p14="http://schemas.microsoft.com/office/powerpoint/2010/main" val="36442465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70</a:t>
            </a:fld>
            <a:endParaRPr lang="en-US"/>
          </a:p>
        </p:txBody>
      </p:sp>
    </p:spTree>
    <p:extLst>
      <p:ext uri="{BB962C8B-B14F-4D97-AF65-F5344CB8AC3E}">
        <p14:creationId xmlns:p14="http://schemas.microsoft.com/office/powerpoint/2010/main" val="38537689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74</a:t>
            </a:fld>
            <a:endParaRPr lang="en-US"/>
          </a:p>
        </p:txBody>
      </p:sp>
    </p:spTree>
    <p:extLst>
      <p:ext uri="{BB962C8B-B14F-4D97-AF65-F5344CB8AC3E}">
        <p14:creationId xmlns:p14="http://schemas.microsoft.com/office/powerpoint/2010/main" val="11672186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75</a:t>
            </a:fld>
            <a:endParaRPr lang="en-US"/>
          </a:p>
        </p:txBody>
      </p:sp>
    </p:spTree>
    <p:extLst>
      <p:ext uri="{BB962C8B-B14F-4D97-AF65-F5344CB8AC3E}">
        <p14:creationId xmlns:p14="http://schemas.microsoft.com/office/powerpoint/2010/main" val="558002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6C48B-29E7-54D4-58F4-8806DDC76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4B6A2-AC7D-4221-75D0-5FB9D2290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5E490A-3540-5529-170B-FAB78A8CF4D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50E6825-FC4E-546A-3006-CFFDE69C4F32}"/>
              </a:ext>
            </a:extLst>
          </p:cNvPr>
          <p:cNvSpPr>
            <a:spLocks noGrp="1"/>
          </p:cNvSpPr>
          <p:nvPr>
            <p:ph type="sldNum" sz="quarter" idx="5"/>
          </p:nvPr>
        </p:nvSpPr>
        <p:spPr/>
        <p:txBody>
          <a:bodyPr/>
          <a:lstStyle/>
          <a:p>
            <a:fld id="{9BB26B15-B115-4FE7-9FF2-7287B02728E4}" type="slidenum">
              <a:rPr lang="en-US" smtClean="0"/>
              <a:t>78</a:t>
            </a:fld>
            <a:endParaRPr lang="en-US"/>
          </a:p>
        </p:txBody>
      </p:sp>
    </p:spTree>
    <p:extLst>
      <p:ext uri="{BB962C8B-B14F-4D97-AF65-F5344CB8AC3E}">
        <p14:creationId xmlns:p14="http://schemas.microsoft.com/office/powerpoint/2010/main" val="15638727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79</a:t>
            </a:fld>
            <a:endParaRPr lang="en-US"/>
          </a:p>
        </p:txBody>
      </p:sp>
    </p:spTree>
    <p:extLst>
      <p:ext uri="{BB962C8B-B14F-4D97-AF65-F5344CB8AC3E}">
        <p14:creationId xmlns:p14="http://schemas.microsoft.com/office/powerpoint/2010/main" val="22202664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89</a:t>
            </a:fld>
            <a:endParaRPr lang="en-US"/>
          </a:p>
        </p:txBody>
      </p:sp>
    </p:spTree>
    <p:extLst>
      <p:ext uri="{BB962C8B-B14F-4D97-AF65-F5344CB8AC3E}">
        <p14:creationId xmlns:p14="http://schemas.microsoft.com/office/powerpoint/2010/main" val="17681234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0E46C-A791-1BBB-D739-87A06B74A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2BBC42-74A5-46BA-C96A-7E93FE7C1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2D514-146E-C006-A59B-B5BA0D1CB2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A7FCCDB-8621-08C0-05D0-093DE59C4490}"/>
              </a:ext>
            </a:extLst>
          </p:cNvPr>
          <p:cNvSpPr>
            <a:spLocks noGrp="1"/>
          </p:cNvSpPr>
          <p:nvPr>
            <p:ph type="sldNum" sz="quarter" idx="5"/>
          </p:nvPr>
        </p:nvSpPr>
        <p:spPr/>
        <p:txBody>
          <a:bodyPr/>
          <a:lstStyle/>
          <a:p>
            <a:fld id="{9BB26B15-B115-4FE7-9FF2-7287B02728E4}" type="slidenum">
              <a:rPr lang="en-US" smtClean="0"/>
              <a:t>104</a:t>
            </a:fld>
            <a:endParaRPr lang="en-US"/>
          </a:p>
        </p:txBody>
      </p:sp>
    </p:spTree>
    <p:extLst>
      <p:ext uri="{BB962C8B-B14F-4D97-AF65-F5344CB8AC3E}">
        <p14:creationId xmlns:p14="http://schemas.microsoft.com/office/powerpoint/2010/main" val="17287983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Cameron</a:t>
            </a:r>
          </a:p>
        </p:txBody>
      </p:sp>
      <p:sp>
        <p:nvSpPr>
          <p:cNvPr id="4" name="Slide Number Placeholder 3"/>
          <p:cNvSpPr>
            <a:spLocks noGrp="1"/>
          </p:cNvSpPr>
          <p:nvPr>
            <p:ph type="sldNum" sz="quarter" idx="5"/>
          </p:nvPr>
        </p:nvSpPr>
        <p:spPr/>
        <p:txBody>
          <a:bodyPr/>
          <a:lstStyle/>
          <a:p>
            <a:fld id="{9BB26B15-B115-4FE7-9FF2-7287B02728E4}" type="slidenum">
              <a:rPr lang="en-US" smtClean="0"/>
              <a:t>105</a:t>
            </a:fld>
            <a:endParaRPr lang="en-US"/>
          </a:p>
        </p:txBody>
      </p:sp>
    </p:spTree>
    <p:extLst>
      <p:ext uri="{BB962C8B-B14F-4D97-AF65-F5344CB8AC3E}">
        <p14:creationId xmlns:p14="http://schemas.microsoft.com/office/powerpoint/2010/main" val="41031344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Cameron</a:t>
            </a:r>
          </a:p>
        </p:txBody>
      </p:sp>
      <p:sp>
        <p:nvSpPr>
          <p:cNvPr id="4" name="Slide Number Placeholder 3"/>
          <p:cNvSpPr>
            <a:spLocks noGrp="1"/>
          </p:cNvSpPr>
          <p:nvPr>
            <p:ph type="sldNum" sz="quarter" idx="5"/>
          </p:nvPr>
        </p:nvSpPr>
        <p:spPr/>
        <p:txBody>
          <a:bodyPr/>
          <a:lstStyle/>
          <a:p>
            <a:fld id="{9BB26B15-B115-4FE7-9FF2-7287B02728E4}" type="slidenum">
              <a:rPr lang="en-US" smtClean="0"/>
              <a:t>106</a:t>
            </a:fld>
            <a:endParaRPr lang="en-US"/>
          </a:p>
        </p:txBody>
      </p:sp>
    </p:spTree>
    <p:extLst>
      <p:ext uri="{BB962C8B-B14F-4D97-AF65-F5344CB8AC3E}">
        <p14:creationId xmlns:p14="http://schemas.microsoft.com/office/powerpoint/2010/main" val="11482655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Cameron</a:t>
            </a:r>
          </a:p>
        </p:txBody>
      </p:sp>
      <p:sp>
        <p:nvSpPr>
          <p:cNvPr id="4" name="Slide Number Placeholder 3"/>
          <p:cNvSpPr>
            <a:spLocks noGrp="1"/>
          </p:cNvSpPr>
          <p:nvPr>
            <p:ph type="sldNum" sz="quarter" idx="5"/>
          </p:nvPr>
        </p:nvSpPr>
        <p:spPr/>
        <p:txBody>
          <a:bodyPr/>
          <a:lstStyle/>
          <a:p>
            <a:fld id="{9BB26B15-B115-4FE7-9FF2-7287B02728E4}" type="slidenum">
              <a:rPr lang="en-US" smtClean="0"/>
              <a:t>107</a:t>
            </a:fld>
            <a:endParaRPr lang="en-US"/>
          </a:p>
        </p:txBody>
      </p:sp>
    </p:spTree>
    <p:extLst>
      <p:ext uri="{BB962C8B-B14F-4D97-AF65-F5344CB8AC3E}">
        <p14:creationId xmlns:p14="http://schemas.microsoft.com/office/powerpoint/2010/main" val="34204031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BE24B-F772-E06C-96E0-6CF305E17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DC612-CC69-7313-94D9-870E2C5E9C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74FF69-7D4E-3BC7-313C-30990CF0FF31}"/>
              </a:ext>
            </a:extLst>
          </p:cNvPr>
          <p:cNvSpPr>
            <a:spLocks noGrp="1"/>
          </p:cNvSpPr>
          <p:nvPr>
            <p:ph type="body" idx="1"/>
          </p:nvPr>
        </p:nvSpPr>
        <p:spPr/>
        <p:txBody>
          <a:bodyPr/>
          <a:lstStyle/>
          <a:p>
            <a:r>
              <a:rPr lang="en-US">
                <a:latin typeface="Calibri"/>
                <a:ea typeface="Calibri"/>
                <a:cs typeface="Calibri"/>
              </a:rPr>
              <a:t>Cameron</a:t>
            </a:r>
          </a:p>
        </p:txBody>
      </p:sp>
      <p:sp>
        <p:nvSpPr>
          <p:cNvPr id="4" name="Slide Number Placeholder 3">
            <a:extLst>
              <a:ext uri="{FF2B5EF4-FFF2-40B4-BE49-F238E27FC236}">
                <a16:creationId xmlns:a16="http://schemas.microsoft.com/office/drawing/2014/main" id="{E4E4ACC9-CA7F-7DD0-C3D3-451C5DCA80AB}"/>
              </a:ext>
            </a:extLst>
          </p:cNvPr>
          <p:cNvSpPr>
            <a:spLocks noGrp="1"/>
          </p:cNvSpPr>
          <p:nvPr>
            <p:ph type="sldNum" sz="quarter" idx="5"/>
          </p:nvPr>
        </p:nvSpPr>
        <p:spPr/>
        <p:txBody>
          <a:bodyPr/>
          <a:lstStyle/>
          <a:p>
            <a:fld id="{9BB26B15-B115-4FE7-9FF2-7287B02728E4}" type="slidenum">
              <a:rPr lang="en-US" smtClean="0"/>
              <a:t>108</a:t>
            </a:fld>
            <a:endParaRPr lang="en-US"/>
          </a:p>
        </p:txBody>
      </p:sp>
    </p:spTree>
    <p:extLst>
      <p:ext uri="{BB962C8B-B14F-4D97-AF65-F5344CB8AC3E}">
        <p14:creationId xmlns:p14="http://schemas.microsoft.com/office/powerpoint/2010/main" val="16769520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Brian</a:t>
            </a:r>
          </a:p>
        </p:txBody>
      </p:sp>
      <p:sp>
        <p:nvSpPr>
          <p:cNvPr id="4" name="Slide Number Placeholder 3"/>
          <p:cNvSpPr>
            <a:spLocks noGrp="1"/>
          </p:cNvSpPr>
          <p:nvPr>
            <p:ph type="sldNum" sz="quarter" idx="5"/>
          </p:nvPr>
        </p:nvSpPr>
        <p:spPr/>
        <p:txBody>
          <a:bodyPr/>
          <a:lstStyle/>
          <a:p>
            <a:fld id="{9BB26B15-B115-4FE7-9FF2-7287B02728E4}" type="slidenum">
              <a:rPr lang="en-US" smtClean="0"/>
              <a:t>110</a:t>
            </a:fld>
            <a:endParaRPr lang="en-US"/>
          </a:p>
        </p:txBody>
      </p:sp>
    </p:spTree>
    <p:extLst>
      <p:ext uri="{BB962C8B-B14F-4D97-AF65-F5344CB8AC3E}">
        <p14:creationId xmlns:p14="http://schemas.microsoft.com/office/powerpoint/2010/main" val="162481280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Brian</a:t>
            </a:r>
          </a:p>
        </p:txBody>
      </p:sp>
      <p:sp>
        <p:nvSpPr>
          <p:cNvPr id="4" name="Slide Number Placeholder 3"/>
          <p:cNvSpPr>
            <a:spLocks noGrp="1"/>
          </p:cNvSpPr>
          <p:nvPr>
            <p:ph type="sldNum" sz="quarter" idx="5"/>
          </p:nvPr>
        </p:nvSpPr>
        <p:spPr/>
        <p:txBody>
          <a:bodyPr/>
          <a:lstStyle/>
          <a:p>
            <a:fld id="{9BB26B15-B115-4FE7-9FF2-7287B02728E4}" type="slidenum">
              <a:rPr lang="en-US" smtClean="0"/>
              <a:t>112</a:t>
            </a:fld>
            <a:endParaRPr lang="en-US"/>
          </a:p>
        </p:txBody>
      </p:sp>
    </p:spTree>
    <p:extLst>
      <p:ext uri="{BB962C8B-B14F-4D97-AF65-F5344CB8AC3E}">
        <p14:creationId xmlns:p14="http://schemas.microsoft.com/office/powerpoint/2010/main" val="42115500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Calibri"/>
              <a:buChar char="-"/>
            </a:pPr>
            <a:r>
              <a:rPr lang="en-US">
                <a:ea typeface="Calibri"/>
                <a:cs typeface="Calibri"/>
              </a:rPr>
              <a:t>CPSS TOM </a:t>
            </a:r>
          </a:p>
          <a:p>
            <a:pPr marL="171450" indent="-171450">
              <a:buFont typeface="Calibri"/>
              <a:buChar char="-"/>
            </a:pPr>
            <a:r>
              <a:rPr lang="en-US">
                <a:ea typeface="Calibri"/>
                <a:cs typeface="Calibri"/>
              </a:rPr>
              <a:t>Blue Ravens used on Goose</a:t>
            </a:r>
          </a:p>
          <a:p>
            <a:pPr marL="171450" indent="-171450">
              <a:buFont typeface="Calibri"/>
              <a:buChar char="-"/>
            </a:pPr>
            <a:r>
              <a:rPr lang="en-US">
                <a:ea typeface="Calibri"/>
                <a:cs typeface="Calibri"/>
              </a:rPr>
              <a:t>Battery used last year, need to </a:t>
            </a:r>
            <a:r>
              <a:rPr lang="en-US"/>
              <a:t>check if it meets this year's power </a:t>
            </a:r>
            <a:endParaRPr lang="en-US">
              <a:ea typeface="Calibri"/>
              <a:cs typeface="Calibri"/>
            </a:endParaRPr>
          </a:p>
          <a:p>
            <a:pPr marL="171450" indent="-171450">
              <a:buFont typeface="Calibri"/>
              <a:buChar char="-"/>
            </a:pPr>
            <a:r>
              <a:rPr lang="en-US">
                <a:ea typeface="Calibri"/>
                <a:cs typeface="Calibri"/>
              </a:rPr>
              <a:t>CPSS Flight Recorder being able to log inter-process communication is made possible by the software stack we've chosen (</a:t>
            </a:r>
            <a:r>
              <a:rPr lang="en-US" err="1">
                <a:ea typeface="Calibri"/>
                <a:cs typeface="Calibri"/>
              </a:rPr>
              <a:t>Zenoh</a:t>
            </a:r>
            <a:r>
              <a:rPr lang="en-US">
                <a:ea typeface="Calibri"/>
                <a:cs typeface="Calibri"/>
              </a:rPr>
              <a:t>)</a:t>
            </a:r>
          </a:p>
          <a:p>
            <a:pPr marL="171450" indent="-171450">
              <a:buFont typeface="Calibri"/>
              <a:buChar char="-"/>
            </a:pPr>
            <a:r>
              <a:rPr lang="en-US">
                <a:ea typeface="Calibri"/>
                <a:cs typeface="Calibri"/>
              </a:rPr>
              <a:t>Thermal Management solution will be included to shuttle heat from TOM to the bulkhead. Design currently in progress, not sure if we have CAD</a:t>
            </a:r>
          </a:p>
        </p:txBody>
      </p:sp>
      <p:sp>
        <p:nvSpPr>
          <p:cNvPr id="4" name="Slide Number Placeholder 3"/>
          <p:cNvSpPr>
            <a:spLocks noGrp="1"/>
          </p:cNvSpPr>
          <p:nvPr>
            <p:ph type="sldNum" sz="quarter" idx="5"/>
          </p:nvPr>
        </p:nvSpPr>
        <p:spPr/>
        <p:txBody>
          <a:bodyPr/>
          <a:lstStyle/>
          <a:p>
            <a:fld id="{0C1DFBA0-4DD0-4009-97C9-30B42C682BE7}" type="slidenum">
              <a:t>113</a:t>
            </a:fld>
            <a:endParaRPr lang="en-US"/>
          </a:p>
        </p:txBody>
      </p:sp>
    </p:spTree>
    <p:extLst>
      <p:ext uri="{BB962C8B-B14F-4D97-AF65-F5344CB8AC3E}">
        <p14:creationId xmlns:p14="http://schemas.microsoft.com/office/powerpoint/2010/main" val="33118893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Brian</a:t>
            </a:r>
          </a:p>
        </p:txBody>
      </p:sp>
      <p:sp>
        <p:nvSpPr>
          <p:cNvPr id="4" name="Slide Number Placeholder 3"/>
          <p:cNvSpPr>
            <a:spLocks noGrp="1"/>
          </p:cNvSpPr>
          <p:nvPr>
            <p:ph type="sldNum" sz="quarter" idx="5"/>
          </p:nvPr>
        </p:nvSpPr>
        <p:spPr/>
        <p:txBody>
          <a:bodyPr/>
          <a:lstStyle/>
          <a:p>
            <a:fld id="{9BB26B15-B115-4FE7-9FF2-7287B02728E4}" type="slidenum">
              <a:rPr lang="en-US" smtClean="0"/>
              <a:t>114</a:t>
            </a:fld>
            <a:endParaRPr lang="en-US"/>
          </a:p>
        </p:txBody>
      </p:sp>
    </p:spTree>
    <p:extLst>
      <p:ext uri="{BB962C8B-B14F-4D97-AF65-F5344CB8AC3E}">
        <p14:creationId xmlns:p14="http://schemas.microsoft.com/office/powerpoint/2010/main" val="26247779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ea typeface="Calibri"/>
                <a:cs typeface="Calibri"/>
              </a:rPr>
              <a:t>What constitutes each test as succesful, road map, </a:t>
            </a:r>
          </a:p>
        </p:txBody>
      </p:sp>
      <p:sp>
        <p:nvSpPr>
          <p:cNvPr id="4" name="Slide Number Placeholder 3"/>
          <p:cNvSpPr>
            <a:spLocks noGrp="1"/>
          </p:cNvSpPr>
          <p:nvPr>
            <p:ph type="sldNum" sz="quarter" idx="5"/>
          </p:nvPr>
        </p:nvSpPr>
        <p:spPr/>
        <p:txBody>
          <a:bodyPr/>
          <a:lstStyle/>
          <a:p>
            <a:fld id="{9BB26B15-B115-4FE7-9FF2-7287B02728E4}" type="slidenum">
              <a:rPr lang="en-US" smtClean="0"/>
              <a:t>120</a:t>
            </a:fld>
            <a:endParaRPr lang="en-US"/>
          </a:p>
        </p:txBody>
      </p:sp>
    </p:spTree>
    <p:extLst>
      <p:ext uri="{BB962C8B-B14F-4D97-AF65-F5344CB8AC3E}">
        <p14:creationId xmlns:p14="http://schemas.microsoft.com/office/powerpoint/2010/main" val="15438965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127</a:t>
            </a:fld>
            <a:endParaRPr lang="en-US"/>
          </a:p>
        </p:txBody>
      </p:sp>
    </p:spTree>
    <p:extLst>
      <p:ext uri="{BB962C8B-B14F-4D97-AF65-F5344CB8AC3E}">
        <p14:creationId xmlns:p14="http://schemas.microsoft.com/office/powerpoint/2010/main" val="10444628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B26B15-B115-4FE7-9FF2-7287B02728E4}" type="slidenum">
              <a:rPr lang="en-US" smtClean="0"/>
              <a:t>129</a:t>
            </a:fld>
            <a:endParaRPr lang="en-US"/>
          </a:p>
        </p:txBody>
      </p:sp>
    </p:spTree>
    <p:extLst>
      <p:ext uri="{BB962C8B-B14F-4D97-AF65-F5344CB8AC3E}">
        <p14:creationId xmlns:p14="http://schemas.microsoft.com/office/powerpoint/2010/main" val="38204797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Jasmine </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9BB26B15-B115-4FE7-9FF2-7287B02728E4}" type="slidenum">
              <a:rPr lang="en-US" smtClean="0"/>
              <a:t>131</a:t>
            </a:fld>
            <a:endParaRPr lang="en-US"/>
          </a:p>
        </p:txBody>
      </p:sp>
    </p:spTree>
    <p:extLst>
      <p:ext uri="{BB962C8B-B14F-4D97-AF65-F5344CB8AC3E}">
        <p14:creationId xmlns:p14="http://schemas.microsoft.com/office/powerpoint/2010/main" val="3824402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PSS 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CF6426-A338-EF4F-AD41-195229AE7A29}"/>
              </a:ext>
            </a:extLst>
          </p:cNvPr>
          <p:cNvSpPr/>
          <p:nvPr userDrawn="1"/>
        </p:nvSpPr>
        <p:spPr>
          <a:xfrm>
            <a:off x="9423918" y="111968"/>
            <a:ext cx="2768083" cy="599927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3870095-E196-7646-9F04-CD4BE1D325C9}"/>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4310" t="67464" r="48405" b="25155"/>
          <a:stretch/>
        </p:blipFill>
        <p:spPr>
          <a:xfrm>
            <a:off x="0" y="197231"/>
            <a:ext cx="3734037" cy="2473556"/>
          </a:xfrm>
          <a:prstGeom prst="rect">
            <a:avLst/>
          </a:prstGeom>
        </p:spPr>
      </p:pic>
      <p:sp>
        <p:nvSpPr>
          <p:cNvPr id="12" name="Rectangle 11">
            <a:extLst>
              <a:ext uri="{FF2B5EF4-FFF2-40B4-BE49-F238E27FC236}">
                <a16:creationId xmlns:a16="http://schemas.microsoft.com/office/drawing/2014/main" id="{6B2E4F1C-BC00-7043-9ECB-D12C6377D4EA}"/>
              </a:ext>
              <a:ext uri="{C183D7F6-B498-43B3-948B-1728B52AA6E4}">
                <adec:decorative xmlns:adec="http://schemas.microsoft.com/office/drawing/2017/decorative" val="1"/>
              </a:ext>
            </a:extLst>
          </p:cNvPr>
          <p:cNvSpPr/>
          <p:nvPr userDrawn="1"/>
        </p:nvSpPr>
        <p:spPr>
          <a:xfrm>
            <a:off x="-19050" y="6111242"/>
            <a:ext cx="12211050" cy="7634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sp>
        <p:nvSpPr>
          <p:cNvPr id="16" name="Text Placeholder 1">
            <a:extLst>
              <a:ext uri="{FF2B5EF4-FFF2-40B4-BE49-F238E27FC236}">
                <a16:creationId xmlns:a16="http://schemas.microsoft.com/office/drawing/2014/main" id="{CF383971-5B93-4F4F-BE50-345940E02FBE}"/>
              </a:ext>
            </a:extLst>
          </p:cNvPr>
          <p:cNvSpPr>
            <a:spLocks noGrp="1"/>
          </p:cNvSpPr>
          <p:nvPr>
            <p:ph type="body" sz="quarter" idx="11" hasCustomPrompt="1"/>
          </p:nvPr>
        </p:nvSpPr>
        <p:spPr>
          <a:xfrm>
            <a:off x="1155324" y="3789503"/>
            <a:ext cx="4612283" cy="342329"/>
          </a:xfrm>
          <a:no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pic>
        <p:nvPicPr>
          <p:cNvPr id="8" name="Picture 7" descr="A black background with white text&#10;&#10;Description automatically generated">
            <a:extLst>
              <a:ext uri="{FF2B5EF4-FFF2-40B4-BE49-F238E27FC236}">
                <a16:creationId xmlns:a16="http://schemas.microsoft.com/office/drawing/2014/main" id="{F676F84F-D2A7-285B-DE95-C24B6288C16C}"/>
              </a:ext>
            </a:extLst>
          </p:cNvPr>
          <p:cNvPicPr>
            <a:picLocks noChangeAspect="1"/>
          </p:cNvPicPr>
          <p:nvPr userDrawn="1"/>
        </p:nvPicPr>
        <p:blipFill>
          <a:blip r:embed="rId3"/>
          <a:stretch>
            <a:fillRect/>
          </a:stretch>
        </p:blipFill>
        <p:spPr>
          <a:xfrm>
            <a:off x="673211" y="5682065"/>
            <a:ext cx="2933826" cy="1650278"/>
          </a:xfrm>
          <a:prstGeom prst="rect">
            <a:avLst/>
          </a:prstGeom>
        </p:spPr>
      </p:pic>
      <p:pic>
        <p:nvPicPr>
          <p:cNvPr id="7" name="Picture 6">
            <a:extLst>
              <a:ext uri="{FF2B5EF4-FFF2-40B4-BE49-F238E27FC236}">
                <a16:creationId xmlns:a16="http://schemas.microsoft.com/office/drawing/2014/main" id="{725A8725-F4AA-D694-6668-85C81FA9A0E6}"/>
              </a:ext>
            </a:extLst>
          </p:cNvPr>
          <p:cNvPicPr>
            <a:picLocks noChangeAspect="1"/>
          </p:cNvPicPr>
          <p:nvPr userDrawn="1"/>
        </p:nvPicPr>
        <p:blipFill rotWithShape="1">
          <a:blip r:embed="rId4"/>
          <a:srcRect l="29967" t="7630" r="33872" b="-174"/>
          <a:stretch/>
        </p:blipFill>
        <p:spPr>
          <a:xfrm>
            <a:off x="9550918" y="197231"/>
            <a:ext cx="2510860" cy="5915285"/>
          </a:xfrm>
          <a:prstGeom prst="rect">
            <a:avLst/>
          </a:prstGeom>
          <a:ln w="0">
            <a:solidFill>
              <a:schemeClr val="tx1"/>
            </a:solidFill>
          </a:ln>
        </p:spPr>
      </p:pic>
      <p:sp>
        <p:nvSpPr>
          <p:cNvPr id="3" name="Title 1">
            <a:extLst>
              <a:ext uri="{FF2B5EF4-FFF2-40B4-BE49-F238E27FC236}">
                <a16:creationId xmlns:a16="http://schemas.microsoft.com/office/drawing/2014/main" id="{DF2501E8-5BC5-9809-BF5F-F16E520A7487}"/>
              </a:ext>
            </a:extLst>
          </p:cNvPr>
          <p:cNvSpPr>
            <a:spLocks noGrp="1"/>
          </p:cNvSpPr>
          <p:nvPr>
            <p:ph type="title" hasCustomPrompt="1"/>
          </p:nvPr>
        </p:nvSpPr>
        <p:spPr>
          <a:xfrm>
            <a:off x="1155325" y="1936493"/>
            <a:ext cx="8268594" cy="1791189"/>
          </a:xfrm>
          <a:noFill/>
          <a:effectLst/>
        </p:spPr>
        <p:txBody>
          <a:bodyPr>
            <a:noAutofit/>
          </a:bodyPr>
          <a:lstStyle>
            <a:lvl1pPr algn="l">
              <a:lnSpc>
                <a:spcPts val="12000"/>
              </a:lnSpc>
              <a:defRPr sz="11600">
                <a:solidFill>
                  <a:schemeClr val="tx1"/>
                </a:solidFill>
                <a:latin typeface="Munistic" panose="02000500000000000000" pitchFamily="2" charset="0"/>
                <a:ea typeface="Munistic" panose="02000500000000000000" pitchFamily="2" charset="0"/>
                <a:cs typeface="Calibri" panose="020F0502020204030204" pitchFamily="34" charset="0"/>
              </a:defRPr>
            </a:lvl1pPr>
          </a:lstStyle>
          <a:p>
            <a:r>
              <a:rPr lang="en-US"/>
              <a:t>TITLE</a:t>
            </a:r>
          </a:p>
        </p:txBody>
      </p:sp>
    </p:spTree>
    <p:extLst>
      <p:ext uri="{BB962C8B-B14F-4D97-AF65-F5344CB8AC3E}">
        <p14:creationId xmlns:p14="http://schemas.microsoft.com/office/powerpoint/2010/main" val="1856684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PSS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DD4D18C-A602-01DF-EB9E-A2368BD69E3D}"/>
              </a:ext>
            </a:extLst>
          </p:cNvPr>
          <p:cNvSpPr/>
          <p:nvPr userDrawn="1"/>
        </p:nvSpPr>
        <p:spPr>
          <a:xfrm>
            <a:off x="9423918" y="111968"/>
            <a:ext cx="2768083" cy="5999274"/>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3870095-E196-7646-9F04-CD4BE1D325C9}"/>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4310" t="67464" r="48405" b="25155"/>
          <a:stretch/>
        </p:blipFill>
        <p:spPr>
          <a:xfrm>
            <a:off x="0" y="197231"/>
            <a:ext cx="3734037" cy="2473556"/>
          </a:xfrm>
          <a:prstGeom prst="rect">
            <a:avLst/>
          </a:prstGeom>
        </p:spPr>
      </p:pic>
      <p:sp>
        <p:nvSpPr>
          <p:cNvPr id="12" name="Rectangle 11">
            <a:extLst>
              <a:ext uri="{FF2B5EF4-FFF2-40B4-BE49-F238E27FC236}">
                <a16:creationId xmlns:a16="http://schemas.microsoft.com/office/drawing/2014/main" id="{6B2E4F1C-BC00-7043-9ECB-D12C6377D4EA}"/>
              </a:ext>
              <a:ext uri="{C183D7F6-B498-43B3-948B-1728B52AA6E4}">
                <adec:decorative xmlns:adec="http://schemas.microsoft.com/office/drawing/2017/decorative" val="1"/>
              </a:ext>
            </a:extLst>
          </p:cNvPr>
          <p:cNvSpPr/>
          <p:nvPr userDrawn="1"/>
        </p:nvSpPr>
        <p:spPr>
          <a:xfrm>
            <a:off x="-19050" y="6111242"/>
            <a:ext cx="12211050" cy="7634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sp>
        <p:nvSpPr>
          <p:cNvPr id="16" name="Text Placeholder 1">
            <a:extLst>
              <a:ext uri="{FF2B5EF4-FFF2-40B4-BE49-F238E27FC236}">
                <a16:creationId xmlns:a16="http://schemas.microsoft.com/office/drawing/2014/main" id="{CF383971-5B93-4F4F-BE50-345940E02FBE}"/>
              </a:ext>
            </a:extLst>
          </p:cNvPr>
          <p:cNvSpPr>
            <a:spLocks noGrp="1"/>
          </p:cNvSpPr>
          <p:nvPr>
            <p:ph type="body" sz="quarter" idx="11" hasCustomPrompt="1"/>
          </p:nvPr>
        </p:nvSpPr>
        <p:spPr>
          <a:xfrm>
            <a:off x="1155324" y="3789503"/>
            <a:ext cx="4612283" cy="342329"/>
          </a:xfrm>
          <a:no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sp>
        <p:nvSpPr>
          <p:cNvPr id="2" name="Title 1">
            <a:extLst>
              <a:ext uri="{FF2B5EF4-FFF2-40B4-BE49-F238E27FC236}">
                <a16:creationId xmlns:a16="http://schemas.microsoft.com/office/drawing/2014/main" id="{AA1B2EF7-886B-B608-BCC1-C1D136A6F23A}"/>
              </a:ext>
            </a:extLst>
          </p:cNvPr>
          <p:cNvSpPr>
            <a:spLocks noGrp="1"/>
          </p:cNvSpPr>
          <p:nvPr>
            <p:ph type="title" hasCustomPrompt="1"/>
          </p:nvPr>
        </p:nvSpPr>
        <p:spPr>
          <a:xfrm>
            <a:off x="1155325" y="1936493"/>
            <a:ext cx="8268594" cy="1791189"/>
          </a:xfrm>
          <a:noFill/>
          <a:effectLst/>
        </p:spPr>
        <p:txBody>
          <a:bodyPr>
            <a:noAutofit/>
          </a:bodyPr>
          <a:lstStyle>
            <a:lvl1pPr algn="l">
              <a:lnSpc>
                <a:spcPts val="12000"/>
              </a:lnSpc>
              <a:defRPr sz="11600">
                <a:solidFill>
                  <a:schemeClr val="tx1"/>
                </a:solidFill>
                <a:latin typeface="Munistic" panose="02000500000000000000" pitchFamily="2" charset="0"/>
                <a:ea typeface="Munistic" panose="02000500000000000000" pitchFamily="2" charset="0"/>
                <a:cs typeface="Calibri" panose="020F0502020204030204" pitchFamily="34" charset="0"/>
              </a:defRPr>
            </a:lvl1pPr>
          </a:lstStyle>
          <a:p>
            <a:r>
              <a:rPr lang="en-US"/>
              <a:t>TITLE</a:t>
            </a:r>
          </a:p>
        </p:txBody>
      </p:sp>
      <p:pic>
        <p:nvPicPr>
          <p:cNvPr id="8" name="Picture 7" descr="A black background with white text&#10;&#10;Description automatically generated">
            <a:extLst>
              <a:ext uri="{FF2B5EF4-FFF2-40B4-BE49-F238E27FC236}">
                <a16:creationId xmlns:a16="http://schemas.microsoft.com/office/drawing/2014/main" id="{F676F84F-D2A7-285B-DE95-C24B6288C16C}"/>
              </a:ext>
            </a:extLst>
          </p:cNvPr>
          <p:cNvPicPr>
            <a:picLocks noChangeAspect="1"/>
          </p:cNvPicPr>
          <p:nvPr userDrawn="1"/>
        </p:nvPicPr>
        <p:blipFill>
          <a:blip r:embed="rId3"/>
          <a:stretch>
            <a:fillRect/>
          </a:stretch>
        </p:blipFill>
        <p:spPr>
          <a:xfrm>
            <a:off x="673211" y="5682065"/>
            <a:ext cx="2933826" cy="1650278"/>
          </a:xfrm>
          <a:prstGeom prst="rect">
            <a:avLst/>
          </a:prstGeom>
        </p:spPr>
      </p:pic>
      <p:pic>
        <p:nvPicPr>
          <p:cNvPr id="4" name="Picture 3" descr="A rocket launching with smoke and clouds&#10;&#10;Description automatically generated">
            <a:extLst>
              <a:ext uri="{FF2B5EF4-FFF2-40B4-BE49-F238E27FC236}">
                <a16:creationId xmlns:a16="http://schemas.microsoft.com/office/drawing/2014/main" id="{E750C3AB-0179-755E-F739-F078654D6077}"/>
              </a:ext>
            </a:extLst>
          </p:cNvPr>
          <p:cNvPicPr>
            <a:picLocks noChangeAspect="1"/>
          </p:cNvPicPr>
          <p:nvPr userDrawn="1"/>
        </p:nvPicPr>
        <p:blipFill rotWithShape="1">
          <a:blip r:embed="rId4"/>
          <a:srcRect l="23639" t="7076" r="24952" b="10889"/>
          <a:stretch/>
        </p:blipFill>
        <p:spPr>
          <a:xfrm>
            <a:off x="9550918" y="197231"/>
            <a:ext cx="2522894" cy="5914011"/>
          </a:xfrm>
          <a:prstGeom prst="rect">
            <a:avLst/>
          </a:prstGeom>
        </p:spPr>
      </p:pic>
    </p:spTree>
    <p:extLst>
      <p:ext uri="{BB962C8B-B14F-4D97-AF65-F5344CB8AC3E}">
        <p14:creationId xmlns:p14="http://schemas.microsoft.com/office/powerpoint/2010/main" val="614846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Green">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FF4E795-26B7-6D5D-B586-5DD40B596D1F}"/>
              </a:ext>
              <a:ext uri="{C183D7F6-B498-43B3-948B-1728B52AA6E4}">
                <adec:decorative xmlns:adec="http://schemas.microsoft.com/office/drawing/2017/decorative" val="1"/>
              </a:ext>
            </a:extLst>
          </p:cNvPr>
          <p:cNvPicPr>
            <a:picLocks noChangeAspect="1"/>
          </p:cNvPicPr>
          <p:nvPr userDrawn="1"/>
        </p:nvPicPr>
        <p:blipFill rotWithShape="1">
          <a:blip r:embed="rId2">
            <a:alphaModFix amt="45000"/>
          </a:blip>
          <a:srcRect l="45063" t="25956" r="45411" b="58583"/>
          <a:stretch/>
        </p:blipFill>
        <p:spPr>
          <a:xfrm>
            <a:off x="7309797" y="929369"/>
            <a:ext cx="4882203" cy="5181872"/>
          </a:xfrm>
          <a:prstGeom prst="rect">
            <a:avLst/>
          </a:prstGeom>
        </p:spPr>
      </p:pic>
      <p:pic>
        <p:nvPicPr>
          <p:cNvPr id="16" name="Picture 15">
            <a:extLst>
              <a:ext uri="{FF2B5EF4-FFF2-40B4-BE49-F238E27FC236}">
                <a16:creationId xmlns:a16="http://schemas.microsoft.com/office/drawing/2014/main" id="{EFC3FAE2-B9A3-11FC-09B5-B294C3FC6EAF}"/>
              </a:ext>
              <a:ext uri="{C183D7F6-B498-43B3-948B-1728B52AA6E4}">
                <adec:decorative xmlns:adec="http://schemas.microsoft.com/office/drawing/2017/decorative" val="1"/>
              </a:ext>
            </a:extLst>
          </p:cNvPr>
          <p:cNvPicPr>
            <a:picLocks noChangeAspect="1"/>
          </p:cNvPicPr>
          <p:nvPr userDrawn="1"/>
        </p:nvPicPr>
        <p:blipFill rotWithShape="1">
          <a:blip r:embed="rId3">
            <a:alphaModFix amt="45000"/>
          </a:blip>
          <a:srcRect l="44310" t="67464" r="48405" b="25155"/>
          <a:stretch/>
        </p:blipFill>
        <p:spPr>
          <a:xfrm>
            <a:off x="0" y="174604"/>
            <a:ext cx="3734037" cy="2473556"/>
          </a:xfrm>
          <a:prstGeom prst="rect">
            <a:avLst/>
          </a:prstGeom>
        </p:spPr>
      </p:pic>
      <p:sp>
        <p:nvSpPr>
          <p:cNvPr id="11" name="Title 10">
            <a:extLst>
              <a:ext uri="{FF2B5EF4-FFF2-40B4-BE49-F238E27FC236}">
                <a16:creationId xmlns:a16="http://schemas.microsoft.com/office/drawing/2014/main" id="{1CE0D07B-C2E4-C644-90AF-440D283DAB21}"/>
              </a:ext>
            </a:extLst>
          </p:cNvPr>
          <p:cNvSpPr>
            <a:spLocks noGrp="1"/>
          </p:cNvSpPr>
          <p:nvPr>
            <p:ph type="title" hasCustomPrompt="1"/>
          </p:nvPr>
        </p:nvSpPr>
        <p:spPr>
          <a:xfrm>
            <a:off x="672347" y="504496"/>
            <a:ext cx="10712828" cy="1037865"/>
          </a:xfrm>
          <a:solidFill>
            <a:srgbClr val="214734"/>
          </a:solidFill>
          <a:ln>
            <a:noFill/>
          </a:ln>
          <a:effectLst>
            <a:outerShdw blurRad="50800" dist="38100" dir="2700000" algn="tl" rotWithShape="0">
              <a:prstClr val="black">
                <a:alpha val="40000"/>
              </a:prstClr>
            </a:outerShdw>
          </a:effectLst>
        </p:spPr>
        <p:txBody>
          <a:bodyPr>
            <a:noAutofit/>
          </a:bodyPr>
          <a:lstStyle>
            <a:lvl1pPr algn="l">
              <a:defRPr sz="6400" spc="400">
                <a:solidFill>
                  <a:schemeClr val="bg1"/>
                </a:solidFill>
                <a:latin typeface="Munistic" panose="02000500000000000000" pitchFamily="2" charset="0"/>
              </a:defRPr>
            </a:lvl1pPr>
          </a:lstStyle>
          <a:p>
            <a:r>
              <a:rPr lang="en-US"/>
              <a:t>SECTION BREAK</a:t>
            </a:r>
          </a:p>
        </p:txBody>
      </p:sp>
      <p:sp>
        <p:nvSpPr>
          <p:cNvPr id="13" name="Text Placeholder 1">
            <a:extLst>
              <a:ext uri="{FF2B5EF4-FFF2-40B4-BE49-F238E27FC236}">
                <a16:creationId xmlns:a16="http://schemas.microsoft.com/office/drawing/2014/main" id="{59DBFB00-DD14-A147-2672-46D754793ADC}"/>
              </a:ext>
            </a:extLst>
          </p:cNvPr>
          <p:cNvSpPr>
            <a:spLocks noGrp="1"/>
          </p:cNvSpPr>
          <p:nvPr>
            <p:ph type="body" sz="quarter" idx="11" hasCustomPrompt="1"/>
          </p:nvPr>
        </p:nvSpPr>
        <p:spPr>
          <a:xfrm>
            <a:off x="672347" y="1842273"/>
            <a:ext cx="4612283" cy="342329"/>
          </a:xfrm>
          <a:solidFill>
            <a:schemeClr val="bg1"/>
          </a:solidFill>
        </p:spPr>
        <p:txBody>
          <a:bodyPr anchor="ctr">
            <a:noAutofit/>
          </a:bodyPr>
          <a:lstStyle>
            <a:lvl1pPr marL="0" indent="0">
              <a:lnSpc>
                <a:spcPct val="100000"/>
              </a:lnSpc>
              <a:spcBef>
                <a:spcPts val="0"/>
              </a:spcBef>
              <a:buNone/>
              <a:defRPr sz="1867">
                <a:solidFill>
                  <a:srgbClr val="214734"/>
                </a:solidFill>
                <a:latin typeface="+mn-lt"/>
              </a:defRPr>
            </a:lvl1pPr>
          </a:lstStyle>
          <a:p>
            <a:r>
              <a:rPr lang="en-US"/>
              <a:t>SUBHEAD / PRESENTER</a:t>
            </a:r>
          </a:p>
        </p:txBody>
      </p:sp>
      <p:sp>
        <p:nvSpPr>
          <p:cNvPr id="2" name="Rectangle 1">
            <a:extLst>
              <a:ext uri="{FF2B5EF4-FFF2-40B4-BE49-F238E27FC236}">
                <a16:creationId xmlns:a16="http://schemas.microsoft.com/office/drawing/2014/main" id="{6D04C95E-9E81-9163-47B2-E45D6ED58FC5}"/>
              </a:ext>
              <a:ext uri="{C183D7F6-B498-43B3-948B-1728B52AA6E4}">
                <adec:decorative xmlns:adec="http://schemas.microsoft.com/office/drawing/2017/decorative" val="1"/>
              </a:ext>
            </a:extLst>
          </p:cNvPr>
          <p:cNvSpPr/>
          <p:nvPr userDrawn="1"/>
        </p:nvSpPr>
        <p:spPr>
          <a:xfrm>
            <a:off x="0" y="6111241"/>
            <a:ext cx="12192000" cy="79192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highlight>
                <a:srgbClr val="FFFF00"/>
              </a:highlight>
            </a:endParaRPr>
          </a:p>
        </p:txBody>
      </p:sp>
      <p:pic>
        <p:nvPicPr>
          <p:cNvPr id="3" name="Picture 2" descr="A black background with white text&#10;&#10;Description automatically generated">
            <a:extLst>
              <a:ext uri="{FF2B5EF4-FFF2-40B4-BE49-F238E27FC236}">
                <a16:creationId xmlns:a16="http://schemas.microsoft.com/office/drawing/2014/main" id="{833AF3E0-66FD-6F0A-8E65-197BA2386EEF}"/>
              </a:ext>
            </a:extLst>
          </p:cNvPr>
          <p:cNvPicPr>
            <a:picLocks noChangeAspect="1"/>
          </p:cNvPicPr>
          <p:nvPr userDrawn="1"/>
        </p:nvPicPr>
        <p:blipFill>
          <a:blip r:embed="rId4"/>
          <a:stretch>
            <a:fillRect/>
          </a:stretch>
        </p:blipFill>
        <p:spPr>
          <a:xfrm>
            <a:off x="672347" y="5682065"/>
            <a:ext cx="2933826" cy="1650278"/>
          </a:xfrm>
          <a:prstGeom prst="rect">
            <a:avLst/>
          </a:prstGeom>
        </p:spPr>
      </p:pic>
    </p:spTree>
    <p:extLst>
      <p:ext uri="{BB962C8B-B14F-4D97-AF65-F5344CB8AC3E}">
        <p14:creationId xmlns:p14="http://schemas.microsoft.com/office/powerpoint/2010/main" val="3502661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Text">
    <p:spTree>
      <p:nvGrpSpPr>
        <p:cNvPr id="1" name=""/>
        <p:cNvGrpSpPr/>
        <p:nvPr/>
      </p:nvGrpSpPr>
      <p:grpSpPr>
        <a:xfrm>
          <a:off x="0" y="0"/>
          <a:ext cx="0" cy="0"/>
          <a:chOff x="0" y="0"/>
          <a:chExt cx="0" cy="0"/>
        </a:xfrm>
      </p:grpSpPr>
      <p:sp>
        <p:nvSpPr>
          <p:cNvPr id="6" name="Text Placeholder 18">
            <a:extLst>
              <a:ext uri="{FF2B5EF4-FFF2-40B4-BE49-F238E27FC236}">
                <a16:creationId xmlns:a16="http://schemas.microsoft.com/office/drawing/2014/main" id="{0CD4B7BB-C6B1-4047-93CA-4A6BC6CADA85}"/>
              </a:ext>
            </a:extLst>
          </p:cNvPr>
          <p:cNvSpPr>
            <a:spLocks noGrp="1"/>
          </p:cNvSpPr>
          <p:nvPr>
            <p:ph type="body" sz="quarter" idx="15" hasCustomPrompt="1"/>
          </p:nvPr>
        </p:nvSpPr>
        <p:spPr>
          <a:xfrm>
            <a:off x="838199" y="1969476"/>
            <a:ext cx="10515600" cy="4033401"/>
          </a:xfrm>
        </p:spPr>
        <p:txBody>
          <a:bodyPr numCol="2" spcCol="457200">
            <a:noAutofit/>
          </a:bodyPr>
          <a:lstStyle>
            <a:lvl1pPr marL="380990" indent="-259074" algn="l">
              <a:lnSpc>
                <a:spcPct val="100000"/>
              </a:lnSpc>
              <a:spcAft>
                <a:spcPts val="800"/>
              </a:spcAft>
              <a:buFont typeface="Arial" panose="020B0604020202020204" pitchFamily="34" charset="0"/>
              <a:buChar char="•"/>
              <a:defRPr sz="1867"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0"/>
            <a:r>
              <a:rPr lang="en-US"/>
              <a:t>Est sit </a:t>
            </a:r>
            <a:r>
              <a:rPr lang="en-US" err="1"/>
              <a:t>amet</a:t>
            </a:r>
            <a:r>
              <a:rPr lang="en-US"/>
              <a:t> </a:t>
            </a:r>
            <a:r>
              <a:rPr lang="en-US" err="1"/>
              <a:t>facilisis</a:t>
            </a:r>
            <a:r>
              <a:rPr lang="en-US"/>
              <a:t> magna </a:t>
            </a:r>
            <a:r>
              <a:rPr lang="en-US" err="1"/>
              <a:t>etiam</a:t>
            </a:r>
            <a:r>
              <a:rPr lang="en-US"/>
              <a:t> </a:t>
            </a:r>
            <a:r>
              <a:rPr lang="en-US" err="1"/>
              <a:t>tempor</a:t>
            </a:r>
            <a:r>
              <a:rPr lang="en-US"/>
              <a:t> </a:t>
            </a:r>
            <a:r>
              <a:rPr lang="en-US" err="1"/>
              <a:t>orci</a:t>
            </a:r>
            <a:r>
              <a:rPr lang="en-US"/>
              <a:t>.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et </a:t>
            </a:r>
            <a:r>
              <a:rPr lang="en-US" err="1"/>
              <a:t>egestas</a:t>
            </a:r>
            <a:r>
              <a:rPr lang="en-US"/>
              <a:t>. Non </a:t>
            </a:r>
            <a:r>
              <a:rPr lang="en-US" err="1"/>
              <a:t>consectetur</a:t>
            </a:r>
            <a:r>
              <a:rPr lang="en-US"/>
              <a:t>. </a:t>
            </a:r>
          </a:p>
          <a:p>
            <a:pPr lvl="0"/>
            <a:r>
              <a:rPr lang="en-US"/>
              <a:t>Vestibulum </a:t>
            </a:r>
            <a:r>
              <a:rPr lang="en-US" err="1"/>
              <a:t>rhoncus</a:t>
            </a:r>
            <a:r>
              <a:rPr lang="en-US"/>
              <a:t> </a:t>
            </a:r>
            <a:r>
              <a:rPr lang="en-US" err="1"/>
              <a:t>est</a:t>
            </a:r>
            <a:r>
              <a:rPr lang="en-US"/>
              <a:t> </a:t>
            </a:r>
            <a:r>
              <a:rPr lang="en-US" err="1"/>
              <a:t>pellentesque</a:t>
            </a:r>
            <a:r>
              <a:rPr lang="en-US"/>
              <a:t> </a:t>
            </a:r>
            <a:r>
              <a:rPr lang="en-US" err="1"/>
              <a:t>elit</a:t>
            </a:r>
            <a:r>
              <a:rPr lang="en-US"/>
              <a:t> </a:t>
            </a:r>
            <a:r>
              <a:rPr lang="en-US" err="1"/>
              <a:t>ullamcorper</a:t>
            </a:r>
            <a:r>
              <a:rPr lang="en-US"/>
              <a:t> </a:t>
            </a:r>
            <a:r>
              <a:rPr lang="en-US" err="1"/>
              <a:t>dignissim</a:t>
            </a:r>
            <a:r>
              <a:rPr lang="en-US"/>
              <a:t> </a:t>
            </a:r>
            <a:r>
              <a:rPr lang="en-US" err="1"/>
              <a:t>cras</a:t>
            </a:r>
            <a:r>
              <a:rPr lang="en-US"/>
              <a:t>. </a:t>
            </a:r>
            <a:r>
              <a:rPr lang="en-US" err="1"/>
              <a:t>Egestas</a:t>
            </a:r>
            <a:r>
              <a:rPr lang="en-US"/>
              <a:t> </a:t>
            </a:r>
            <a:r>
              <a:rPr lang="en-US" err="1"/>
              <a:t>egestas</a:t>
            </a:r>
            <a:r>
              <a:rPr lang="en-US"/>
              <a:t> </a:t>
            </a:r>
            <a:r>
              <a:rPr lang="en-US" err="1"/>
              <a:t>fringilla</a:t>
            </a:r>
            <a:r>
              <a:rPr lang="en-US"/>
              <a:t> </a:t>
            </a:r>
            <a:r>
              <a:rPr lang="en-US" err="1"/>
              <a:t>phasellus</a:t>
            </a:r>
            <a:r>
              <a:rPr lang="en-US"/>
              <a:t> </a:t>
            </a:r>
            <a:r>
              <a:rPr lang="en-US" err="1"/>
              <a:t>faucibus</a:t>
            </a:r>
            <a:r>
              <a:rPr lang="en-US"/>
              <a:t> </a:t>
            </a:r>
            <a:r>
              <a:rPr lang="en-US" err="1"/>
              <a:t>scelerisque</a:t>
            </a:r>
            <a:r>
              <a:rPr lang="en-US"/>
              <a:t>. Nunc pulvinar </a:t>
            </a:r>
            <a:r>
              <a:rPr lang="en-US" err="1"/>
              <a:t>sapien</a:t>
            </a:r>
            <a:r>
              <a:rPr lang="en-US"/>
              <a:t> et ligula. </a:t>
            </a:r>
          </a:p>
          <a:p>
            <a:pPr lvl="0"/>
            <a:r>
              <a:rPr lang="en-US" err="1"/>
              <a:t>Posuere</a:t>
            </a:r>
            <a:r>
              <a:rPr lang="en-US"/>
              <a:t> </a:t>
            </a:r>
            <a:r>
              <a:rPr lang="en-US" err="1"/>
              <a:t>urna</a:t>
            </a:r>
            <a:r>
              <a:rPr lang="en-US"/>
              <a:t> </a:t>
            </a:r>
            <a:r>
              <a:rPr lang="en-US" err="1"/>
              <a:t>nec</a:t>
            </a:r>
            <a:r>
              <a:rPr lang="en-US"/>
              <a:t> </a:t>
            </a:r>
            <a:r>
              <a:rPr lang="en-US" err="1"/>
              <a:t>tincidunt</a:t>
            </a:r>
            <a:r>
              <a:rPr lang="en-US"/>
              <a:t> </a:t>
            </a:r>
            <a:r>
              <a:rPr lang="en-US" err="1"/>
              <a:t>praesent</a:t>
            </a:r>
            <a:r>
              <a:rPr lang="en-US"/>
              <a:t> semper </a:t>
            </a:r>
            <a:r>
              <a:rPr lang="en-US" err="1"/>
              <a:t>feugiat</a:t>
            </a:r>
            <a:r>
              <a:rPr lang="en-US"/>
              <a:t> </a:t>
            </a:r>
            <a:r>
              <a:rPr lang="en-US" err="1"/>
              <a:t>nibh</a:t>
            </a:r>
            <a:r>
              <a:rPr lang="en-US"/>
              <a:t> sed pulvinar. </a:t>
            </a:r>
            <a:r>
              <a:rPr lang="en-US" err="1"/>
              <a:t>Neque</a:t>
            </a:r>
            <a:r>
              <a:rPr lang="en-US"/>
              <a:t> </a:t>
            </a:r>
            <a:r>
              <a:rPr lang="en-US" err="1"/>
              <a:t>sodales</a:t>
            </a:r>
            <a:r>
              <a:rPr lang="en-US"/>
              <a:t> </a:t>
            </a:r>
            <a:r>
              <a:rPr lang="en-US" err="1"/>
              <a:t>ut</a:t>
            </a:r>
            <a:r>
              <a:rPr lang="en-US"/>
              <a:t> </a:t>
            </a:r>
            <a:r>
              <a:rPr lang="en-US" err="1"/>
              <a:t>etiam</a:t>
            </a:r>
            <a:r>
              <a:rPr lang="en-US"/>
              <a:t> sit </a:t>
            </a:r>
            <a:r>
              <a:rPr lang="en-US" err="1"/>
              <a:t>amet</a:t>
            </a:r>
            <a:r>
              <a:rPr lang="en-US"/>
              <a:t> </a:t>
            </a:r>
            <a:r>
              <a:rPr lang="en-US" err="1"/>
              <a:t>nisl</a:t>
            </a:r>
            <a:r>
              <a:rPr lang="en-US"/>
              <a:t>.</a:t>
            </a:r>
          </a:p>
          <a:p>
            <a:pPr lvl="0"/>
            <a:r>
              <a:rPr lang="en-US" err="1"/>
              <a:t>Nulla</a:t>
            </a:r>
            <a:r>
              <a:rPr lang="en-US"/>
              <a:t> </a:t>
            </a:r>
            <a:r>
              <a:rPr lang="en-US" err="1"/>
              <a:t>pellentesque</a:t>
            </a:r>
            <a:r>
              <a:rPr lang="en-US"/>
              <a:t> </a:t>
            </a:r>
            <a:r>
              <a:rPr lang="en-US" err="1"/>
              <a:t>dignissim</a:t>
            </a:r>
            <a:r>
              <a:rPr lang="en-US"/>
              <a:t> </a:t>
            </a:r>
            <a:r>
              <a:rPr lang="en-US" err="1"/>
              <a:t>enim</a:t>
            </a:r>
            <a:r>
              <a:rPr lang="en-US"/>
              <a:t> sit </a:t>
            </a:r>
            <a:r>
              <a:rPr lang="en-US" err="1"/>
              <a:t>amet</a:t>
            </a:r>
            <a:r>
              <a:rPr lang="en-US"/>
              <a:t> </a:t>
            </a:r>
            <a:r>
              <a:rPr lang="en-US" err="1"/>
              <a:t>venenatis</a:t>
            </a:r>
            <a:r>
              <a:rPr lang="en-US"/>
              <a:t> </a:t>
            </a:r>
            <a:r>
              <a:rPr lang="en-US" err="1"/>
              <a:t>urna</a:t>
            </a:r>
            <a:r>
              <a:rPr lang="en-US"/>
              <a:t> cursus.</a:t>
            </a:r>
          </a:p>
        </p:txBody>
      </p:sp>
      <p:sp>
        <p:nvSpPr>
          <p:cNvPr id="8" name="Footer Placeholder 7">
            <a:extLst>
              <a:ext uri="{FF2B5EF4-FFF2-40B4-BE49-F238E27FC236}">
                <a16:creationId xmlns:a16="http://schemas.microsoft.com/office/drawing/2014/main" id="{2AEA19FC-85B9-A74F-AD5A-59ABB758120F}"/>
              </a:ext>
            </a:extLst>
          </p:cNvPr>
          <p:cNvSpPr>
            <a:spLocks noGrp="1"/>
          </p:cNvSpPr>
          <p:nvPr>
            <p:ph type="ftr" sz="quarter" idx="16"/>
          </p:nvPr>
        </p:nvSpPr>
        <p:spPr/>
        <p:txBody>
          <a:bodyPr/>
          <a:lstStyle/>
          <a:p>
            <a:r>
              <a:rPr lang="en-US"/>
              <a:t>TEMPLATE (WRITE IN ALL CAPS)</a:t>
            </a:r>
          </a:p>
        </p:txBody>
      </p:sp>
      <p:sp>
        <p:nvSpPr>
          <p:cNvPr id="9" name="Slide Number Placeholder 8">
            <a:extLst>
              <a:ext uri="{FF2B5EF4-FFF2-40B4-BE49-F238E27FC236}">
                <a16:creationId xmlns:a16="http://schemas.microsoft.com/office/drawing/2014/main" id="{F6E7EF3A-0A9F-E14C-9FC6-E8477BAFA82F}"/>
              </a:ext>
            </a:extLst>
          </p:cNvPr>
          <p:cNvSpPr>
            <a:spLocks noGrp="1"/>
          </p:cNvSpPr>
          <p:nvPr>
            <p:ph type="sldNum" sz="quarter" idx="17"/>
          </p:nvPr>
        </p:nvSpPr>
        <p:spPr/>
        <p:txBody>
          <a:bodyPr/>
          <a:lstStyle/>
          <a:p>
            <a:r>
              <a:rPr lang="en-US"/>
              <a:t>/   </a:t>
            </a:r>
            <a:fld id="{6C7E6F33-74EE-5541-8108-8353B402F8C1}" type="slidenum">
              <a:rPr lang="en-US" smtClean="0"/>
              <a:pPr/>
              <a:t>‹#›</a:t>
            </a:fld>
            <a:endParaRPr lang="en-US"/>
          </a:p>
        </p:txBody>
      </p:sp>
      <p:sp>
        <p:nvSpPr>
          <p:cNvPr id="3" name="Title 1">
            <a:extLst>
              <a:ext uri="{FF2B5EF4-FFF2-40B4-BE49-F238E27FC236}">
                <a16:creationId xmlns:a16="http://schemas.microsoft.com/office/drawing/2014/main" id="{A6BF5017-BA1C-8F45-BB42-EEE9D748063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85C63B35-1231-8F6B-6C6C-CDF9478F3812}"/>
              </a:ext>
            </a:extLst>
          </p:cNvPr>
          <p:cNvSpPr>
            <a:spLocks noGrp="1"/>
          </p:cNvSpPr>
          <p:nvPr>
            <p:ph type="body" sz="quarter" idx="1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atin typeface="+mn-lt"/>
                <a:ea typeface="Source Sans Pro" panose="020B0503030403020204" pitchFamily="34" charset="0"/>
              </a:defRPr>
            </a:lvl1pPr>
          </a:lstStyle>
          <a:p>
            <a:pPr lvl="0"/>
            <a:r>
              <a:rPr lang="en-US"/>
              <a:t>SUBHEAD TO GO HERE</a:t>
            </a:r>
          </a:p>
        </p:txBody>
      </p:sp>
    </p:spTree>
    <p:extLst>
      <p:ext uri="{BB962C8B-B14F-4D97-AF65-F5344CB8AC3E}">
        <p14:creationId xmlns:p14="http://schemas.microsoft.com/office/powerpoint/2010/main" val="254828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fault Page Subheade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1FE2933-6B02-0144-BF1A-69A51D5C0313}"/>
              </a:ext>
            </a:extLst>
          </p:cNvPr>
          <p:cNvSpPr>
            <a:spLocks noGrp="1"/>
          </p:cNvSpPr>
          <p:nvPr>
            <p:ph type="ftr" sz="quarter" idx="14"/>
          </p:nvPr>
        </p:nvSpPr>
        <p:spPr/>
        <p:txBody>
          <a:bodyPr/>
          <a:lstStyle/>
          <a:p>
            <a:r>
              <a:rPr lang="en-US"/>
              <a:t>TEMPLATE (WRITE IN ALL CAPS)</a:t>
            </a:r>
          </a:p>
        </p:txBody>
      </p:sp>
      <p:sp>
        <p:nvSpPr>
          <p:cNvPr id="6" name="Slide Number Placeholder 5">
            <a:extLst>
              <a:ext uri="{FF2B5EF4-FFF2-40B4-BE49-F238E27FC236}">
                <a16:creationId xmlns:a16="http://schemas.microsoft.com/office/drawing/2014/main" id="{A2D18749-87A2-0341-9D35-5E74E8AB75D5}"/>
              </a:ext>
            </a:extLst>
          </p:cNvPr>
          <p:cNvSpPr>
            <a:spLocks noGrp="1"/>
          </p:cNvSpPr>
          <p:nvPr>
            <p:ph type="sldNum" sz="quarter" idx="15"/>
          </p:nvPr>
        </p:nvSpPr>
        <p:spPr/>
        <p:txBody>
          <a:bodyPr/>
          <a:lstStyle/>
          <a:p>
            <a:r>
              <a:rPr lang="en-US"/>
              <a:t>/   </a:t>
            </a:r>
            <a:fld id="{6C7E6F33-74EE-5541-8108-8353B402F8C1}" type="slidenum">
              <a:rPr lang="en-US" smtClean="0"/>
              <a:pPr/>
              <a:t>‹#›</a:t>
            </a:fld>
            <a:endParaRPr lang="en-US"/>
          </a:p>
        </p:txBody>
      </p:sp>
      <p:sp>
        <p:nvSpPr>
          <p:cNvPr id="3" name="Title 1">
            <a:extLst>
              <a:ext uri="{FF2B5EF4-FFF2-40B4-BE49-F238E27FC236}">
                <a16:creationId xmlns:a16="http://schemas.microsoft.com/office/drawing/2014/main" id="{8741B1D5-6B16-DA0F-FCA2-985C4E559DB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E44BF4C7-D96F-A28B-E74D-1491453DAF83}"/>
              </a:ext>
            </a:extLst>
          </p:cNvPr>
          <p:cNvSpPr>
            <a:spLocks noGrp="1"/>
          </p:cNvSpPr>
          <p:nvPr>
            <p:ph type="body" sz="quarter" idx="1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304232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1 figure">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D943BAF3-7A31-4B45-9099-035BC373E673}"/>
              </a:ext>
            </a:extLst>
          </p:cNvPr>
          <p:cNvSpPr>
            <a:spLocks noGrp="1"/>
          </p:cNvSpPr>
          <p:nvPr>
            <p:ph type="body" sz="quarter" idx="15" hasCustomPrompt="1"/>
          </p:nvPr>
        </p:nvSpPr>
        <p:spPr>
          <a:xfrm>
            <a:off x="411045" y="2282383"/>
            <a:ext cx="6523989" cy="3758909"/>
          </a:xfrm>
          <a:solidFill>
            <a:schemeClr val="bg1"/>
          </a:solidFill>
          <a:effectLst>
            <a:outerShdw blurRad="50800" dist="38100" dir="2700000" algn="tl" rotWithShape="0">
              <a:prstClr val="black">
                <a:alpha val="40000"/>
              </a:prstClr>
            </a:outerShdw>
          </a:effectLst>
        </p:spPr>
        <p:txBody>
          <a:bodyPr>
            <a:noAutofit/>
          </a:bodyPr>
          <a:lstStyle>
            <a:lvl1pPr marL="0" indent="0">
              <a:lnSpc>
                <a:spcPct val="100000"/>
              </a:lnSpc>
              <a:spcAft>
                <a:spcPts val="800"/>
              </a:spcAft>
              <a:buNone/>
              <a:defRPr sz="1867" spc="0" baseline="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Est sit </a:t>
            </a:r>
            <a:r>
              <a:rPr lang="en-US" err="1"/>
              <a:t>amet</a:t>
            </a:r>
            <a:r>
              <a:rPr lang="en-US"/>
              <a:t> </a:t>
            </a:r>
            <a:r>
              <a:rPr lang="en-US" err="1"/>
              <a:t>facilisis</a:t>
            </a:r>
            <a:r>
              <a:rPr lang="en-US"/>
              <a:t> magna </a:t>
            </a:r>
            <a:r>
              <a:rPr lang="en-US" err="1"/>
              <a:t>etiam</a:t>
            </a:r>
            <a:r>
              <a:rPr lang="en-US"/>
              <a:t> </a:t>
            </a:r>
            <a:r>
              <a:rPr lang="en-US" err="1"/>
              <a:t>tempor</a:t>
            </a:r>
            <a:r>
              <a:rPr lang="en-US"/>
              <a:t> </a:t>
            </a:r>
            <a:r>
              <a:rPr lang="en-US" err="1"/>
              <a:t>orci</a:t>
            </a:r>
            <a:r>
              <a:rPr lang="en-US"/>
              <a:t>. </a:t>
            </a:r>
            <a:r>
              <a:rPr lang="en-US" err="1"/>
              <a:t>Vivamus</a:t>
            </a:r>
            <a:r>
              <a:rPr lang="en-US"/>
              <a:t> </a:t>
            </a:r>
            <a:r>
              <a:rPr lang="en-US" err="1"/>
              <a:t>arcu</a:t>
            </a:r>
            <a:r>
              <a:rPr lang="en-US"/>
              <a:t> </a:t>
            </a:r>
            <a:r>
              <a:rPr lang="en-US" err="1"/>
              <a:t>felis</a:t>
            </a:r>
            <a:r>
              <a:rPr lang="en-US"/>
              <a:t> </a:t>
            </a:r>
            <a:r>
              <a:rPr lang="en-US" err="1"/>
              <a:t>bibendum</a:t>
            </a:r>
            <a:r>
              <a:rPr lang="en-US"/>
              <a:t> </a:t>
            </a:r>
            <a:r>
              <a:rPr lang="en-US" err="1"/>
              <a:t>ut</a:t>
            </a:r>
            <a:r>
              <a:rPr lang="en-US"/>
              <a:t> </a:t>
            </a:r>
            <a:r>
              <a:rPr lang="en-US" err="1"/>
              <a:t>tristique</a:t>
            </a:r>
            <a:r>
              <a:rPr lang="en-US"/>
              <a:t> et </a:t>
            </a:r>
            <a:r>
              <a:rPr lang="en-US" err="1"/>
              <a:t>egestas</a:t>
            </a:r>
            <a:r>
              <a:rPr lang="en-US"/>
              <a:t>. Non </a:t>
            </a:r>
            <a:r>
              <a:rPr lang="en-US" err="1"/>
              <a:t>consectetur</a:t>
            </a:r>
            <a:r>
              <a:rPr lang="en-US"/>
              <a:t>. </a:t>
            </a:r>
          </a:p>
          <a:p>
            <a:pPr lvl="0"/>
            <a:r>
              <a:rPr lang="en-US"/>
              <a:t>Vestibulum </a:t>
            </a:r>
            <a:r>
              <a:rPr lang="en-US" err="1"/>
              <a:t>rhoncus</a:t>
            </a:r>
            <a:r>
              <a:rPr lang="en-US"/>
              <a:t> </a:t>
            </a:r>
            <a:r>
              <a:rPr lang="en-US" err="1"/>
              <a:t>est</a:t>
            </a:r>
            <a:r>
              <a:rPr lang="en-US"/>
              <a:t> </a:t>
            </a:r>
            <a:r>
              <a:rPr lang="en-US" err="1"/>
              <a:t>pellentesque</a:t>
            </a:r>
            <a:r>
              <a:rPr lang="en-US"/>
              <a:t> </a:t>
            </a:r>
            <a:r>
              <a:rPr lang="en-US" err="1"/>
              <a:t>elit</a:t>
            </a:r>
            <a:r>
              <a:rPr lang="en-US"/>
              <a:t> </a:t>
            </a:r>
            <a:r>
              <a:rPr lang="en-US" err="1"/>
              <a:t>ullamcorper</a:t>
            </a:r>
            <a:r>
              <a:rPr lang="en-US"/>
              <a:t> </a:t>
            </a:r>
            <a:r>
              <a:rPr lang="en-US" err="1"/>
              <a:t>dignissim</a:t>
            </a:r>
            <a:r>
              <a:rPr lang="en-US"/>
              <a:t> </a:t>
            </a:r>
            <a:r>
              <a:rPr lang="en-US" err="1"/>
              <a:t>cras</a:t>
            </a:r>
            <a:r>
              <a:rPr lang="en-US"/>
              <a:t>. </a:t>
            </a:r>
            <a:r>
              <a:rPr lang="en-US" err="1"/>
              <a:t>Egestas</a:t>
            </a:r>
            <a:r>
              <a:rPr lang="en-US"/>
              <a:t> </a:t>
            </a:r>
            <a:r>
              <a:rPr lang="en-US" err="1"/>
              <a:t>egestas</a:t>
            </a:r>
            <a:r>
              <a:rPr lang="en-US"/>
              <a:t> </a:t>
            </a:r>
            <a:r>
              <a:rPr lang="en-US" err="1"/>
              <a:t>fringilla</a:t>
            </a:r>
            <a:r>
              <a:rPr lang="en-US"/>
              <a:t> </a:t>
            </a:r>
            <a:r>
              <a:rPr lang="en-US" err="1"/>
              <a:t>phasellus</a:t>
            </a:r>
            <a:r>
              <a:rPr lang="en-US"/>
              <a:t> </a:t>
            </a:r>
            <a:r>
              <a:rPr lang="en-US" err="1"/>
              <a:t>faucibus</a:t>
            </a:r>
            <a:r>
              <a:rPr lang="en-US"/>
              <a:t> </a:t>
            </a:r>
            <a:r>
              <a:rPr lang="en-US" err="1"/>
              <a:t>scelerisque</a:t>
            </a:r>
            <a:r>
              <a:rPr lang="en-US"/>
              <a:t>. Nunc pulvinar </a:t>
            </a:r>
            <a:r>
              <a:rPr lang="en-US" err="1"/>
              <a:t>sapien</a:t>
            </a:r>
            <a:r>
              <a:rPr lang="en-US"/>
              <a:t> et ligula. </a:t>
            </a:r>
          </a:p>
        </p:txBody>
      </p:sp>
      <p:sp>
        <p:nvSpPr>
          <p:cNvPr id="22" name="Picture Placeholder 21">
            <a:extLst>
              <a:ext uri="{FF2B5EF4-FFF2-40B4-BE49-F238E27FC236}">
                <a16:creationId xmlns:a16="http://schemas.microsoft.com/office/drawing/2014/main" id="{F99D334D-2533-6E48-9EF8-BE59D29480EF}"/>
              </a:ext>
            </a:extLst>
          </p:cNvPr>
          <p:cNvSpPr>
            <a:spLocks noGrp="1"/>
          </p:cNvSpPr>
          <p:nvPr>
            <p:ph type="pic" sz="quarter" idx="16"/>
          </p:nvPr>
        </p:nvSpPr>
        <p:spPr>
          <a:xfrm>
            <a:off x="7333005" y="1772903"/>
            <a:ext cx="4455584" cy="3854908"/>
          </a:xfrm>
          <a:solidFill>
            <a:schemeClr val="bg1">
              <a:lumMod val="85000"/>
            </a:schemeClr>
          </a:solidFill>
          <a:effectLst>
            <a:outerShdw blurRad="50800" dist="38100" dir="2700000" algn="tl" rotWithShape="0">
              <a:prstClr val="black">
                <a:alpha val="40000"/>
              </a:prstClr>
            </a:outerShdw>
          </a:effectLst>
        </p:spPr>
        <p:txBody>
          <a:bodyPr wrap="none">
            <a:noAutofit/>
          </a:bodyPr>
          <a:lstStyle>
            <a:lvl1pPr>
              <a:defRPr>
                <a:noFill/>
              </a:defRPr>
            </a:lvl1pPr>
          </a:lstStyle>
          <a:p>
            <a:endParaRPr lang="en-US"/>
          </a:p>
        </p:txBody>
      </p:sp>
      <p:sp>
        <p:nvSpPr>
          <p:cNvPr id="9" name="Text Placeholder 8">
            <a:extLst>
              <a:ext uri="{FF2B5EF4-FFF2-40B4-BE49-F238E27FC236}">
                <a16:creationId xmlns:a16="http://schemas.microsoft.com/office/drawing/2014/main" id="{016C8243-B7BC-DC4F-90A7-7EA801AC9FF7}"/>
              </a:ext>
            </a:extLst>
          </p:cNvPr>
          <p:cNvSpPr>
            <a:spLocks noGrp="1"/>
          </p:cNvSpPr>
          <p:nvPr>
            <p:ph type="body" sz="quarter" idx="13" hasCustomPrompt="1"/>
          </p:nvPr>
        </p:nvSpPr>
        <p:spPr>
          <a:xfrm>
            <a:off x="403411" y="1772903"/>
            <a:ext cx="6539257" cy="509480"/>
          </a:xfrm>
          <a:solidFill>
            <a:srgbClr val="214734"/>
          </a:solidFill>
          <a:ln>
            <a:solidFill>
              <a:schemeClr val="tx1"/>
            </a:solidFill>
          </a:ln>
          <a:effectLst>
            <a:outerShdw blurRad="50800" dist="38100" dir="2700000" algn="tl" rotWithShape="0">
              <a:prstClr val="black">
                <a:alpha val="40000"/>
              </a:prstClr>
            </a:outerShdw>
          </a:effectLst>
        </p:spPr>
        <p:txBody>
          <a:bodyPr>
            <a:noAutofit/>
          </a:bodyPr>
          <a:lstStyle>
            <a:lvl1pPr marL="0" indent="0" algn="l">
              <a:lnSpc>
                <a:spcPct val="100000"/>
              </a:lnSpc>
              <a:buNone/>
              <a:defRPr sz="2133" b="1" i="0" spc="67" baseline="0">
                <a:solidFill>
                  <a:schemeClr val="bg1"/>
                </a:solidFill>
                <a:latin typeface="Utopia Std Semibold" panose="02040503060506020204" pitchFamily="18" charset="77"/>
              </a:defRPr>
            </a:lvl1pPr>
          </a:lstStyle>
          <a:p>
            <a:pPr lvl="0"/>
            <a:r>
              <a:rPr lang="en-US"/>
              <a:t>Subhead Goes here</a:t>
            </a:r>
          </a:p>
        </p:txBody>
      </p:sp>
      <p:sp>
        <p:nvSpPr>
          <p:cNvPr id="7" name="Footer Placeholder 6">
            <a:extLst>
              <a:ext uri="{FF2B5EF4-FFF2-40B4-BE49-F238E27FC236}">
                <a16:creationId xmlns:a16="http://schemas.microsoft.com/office/drawing/2014/main" id="{8AC1DF36-2526-8D40-854C-D53DB4595CDC}"/>
              </a:ext>
            </a:extLst>
          </p:cNvPr>
          <p:cNvSpPr>
            <a:spLocks noGrp="1"/>
          </p:cNvSpPr>
          <p:nvPr>
            <p:ph type="ftr" sz="quarter" idx="17"/>
          </p:nvPr>
        </p:nvSpPr>
        <p:spPr/>
        <p:txBody>
          <a:bodyPr/>
          <a:lstStyle/>
          <a:p>
            <a:r>
              <a:rPr lang="en-US"/>
              <a:t>TEMPLATE (WRITE IN ALL CAPS)</a:t>
            </a:r>
          </a:p>
        </p:txBody>
      </p:sp>
      <p:sp>
        <p:nvSpPr>
          <p:cNvPr id="10" name="Slide Number Placeholder 9">
            <a:extLst>
              <a:ext uri="{FF2B5EF4-FFF2-40B4-BE49-F238E27FC236}">
                <a16:creationId xmlns:a16="http://schemas.microsoft.com/office/drawing/2014/main" id="{9D4A67AE-6F12-344F-8718-33C755B55C68}"/>
              </a:ext>
            </a:extLst>
          </p:cNvPr>
          <p:cNvSpPr>
            <a:spLocks noGrp="1"/>
          </p:cNvSpPr>
          <p:nvPr>
            <p:ph type="sldNum" sz="quarter" idx="18"/>
          </p:nvPr>
        </p:nvSpPr>
        <p:spPr/>
        <p:txBody>
          <a:bodyPr/>
          <a:lstStyle/>
          <a:p>
            <a:r>
              <a:rPr lang="en-US"/>
              <a:t>/   </a:t>
            </a:r>
            <a:fld id="{6C7E6F33-74EE-5541-8108-8353B402F8C1}" type="slidenum">
              <a:rPr lang="en-US" smtClean="0"/>
              <a:pPr/>
              <a:t>‹#›</a:t>
            </a:fld>
            <a:endParaRPr lang="en-US"/>
          </a:p>
        </p:txBody>
      </p:sp>
      <p:sp>
        <p:nvSpPr>
          <p:cNvPr id="2" name="TextBox 1">
            <a:extLst>
              <a:ext uri="{FF2B5EF4-FFF2-40B4-BE49-F238E27FC236}">
                <a16:creationId xmlns:a16="http://schemas.microsoft.com/office/drawing/2014/main" id="{861053FA-BAD7-44CE-5D42-39BA17DA6A0B}"/>
              </a:ext>
            </a:extLst>
          </p:cNvPr>
          <p:cNvSpPr txBox="1"/>
          <p:nvPr userDrawn="1"/>
        </p:nvSpPr>
        <p:spPr>
          <a:xfrm>
            <a:off x="8362617" y="5804796"/>
            <a:ext cx="2396359" cy="369332"/>
          </a:xfrm>
          <a:prstGeom prst="rect">
            <a:avLst/>
          </a:prstGeom>
          <a:noFill/>
        </p:spPr>
        <p:txBody>
          <a:bodyPr wrap="square" rtlCol="0">
            <a:spAutoFit/>
          </a:bodyPr>
          <a:lstStyle/>
          <a:p>
            <a:pPr algn="ctr"/>
            <a:r>
              <a:rPr lang="en-US"/>
              <a:t>Figure &lt;#&gt;</a:t>
            </a:r>
          </a:p>
        </p:txBody>
      </p:sp>
      <p:sp>
        <p:nvSpPr>
          <p:cNvPr id="3" name="Title 1">
            <a:extLst>
              <a:ext uri="{FF2B5EF4-FFF2-40B4-BE49-F238E27FC236}">
                <a16:creationId xmlns:a16="http://schemas.microsoft.com/office/drawing/2014/main" id="{8C088181-E434-FDA5-6CFC-CB73488C0460}"/>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9C148A7B-A2D0-E5FD-CB1E-130899249C99}"/>
              </a:ext>
            </a:extLst>
          </p:cNvPr>
          <p:cNvSpPr>
            <a:spLocks noGrp="1"/>
          </p:cNvSpPr>
          <p:nvPr>
            <p:ph type="body" sz="quarter" idx="19"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487078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lend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1FE2933-6B02-0144-BF1A-69A51D5C0313}"/>
              </a:ext>
            </a:extLst>
          </p:cNvPr>
          <p:cNvSpPr>
            <a:spLocks noGrp="1"/>
          </p:cNvSpPr>
          <p:nvPr>
            <p:ph type="ftr" sz="quarter" idx="14"/>
          </p:nvPr>
        </p:nvSpPr>
        <p:spPr/>
        <p:txBody>
          <a:bodyPr/>
          <a:lstStyle/>
          <a:p>
            <a:r>
              <a:rPr lang="en-US"/>
              <a:t>TEMPLATE (WRITE IN ALL CAPS)</a:t>
            </a:r>
          </a:p>
        </p:txBody>
      </p:sp>
      <p:sp>
        <p:nvSpPr>
          <p:cNvPr id="6" name="Slide Number Placeholder 5">
            <a:extLst>
              <a:ext uri="{FF2B5EF4-FFF2-40B4-BE49-F238E27FC236}">
                <a16:creationId xmlns:a16="http://schemas.microsoft.com/office/drawing/2014/main" id="{A2D18749-87A2-0341-9D35-5E74E8AB75D5}"/>
              </a:ext>
            </a:extLst>
          </p:cNvPr>
          <p:cNvSpPr>
            <a:spLocks noGrp="1"/>
          </p:cNvSpPr>
          <p:nvPr>
            <p:ph type="sldNum" sz="quarter" idx="15"/>
          </p:nvPr>
        </p:nvSpPr>
        <p:spPr/>
        <p:txBody>
          <a:bodyPr/>
          <a:lstStyle/>
          <a:p>
            <a:r>
              <a:rPr lang="en-US"/>
              <a:t>/   </a:t>
            </a:r>
            <a:fld id="{6C7E6F33-74EE-5541-8108-8353B402F8C1}" type="slidenum">
              <a:rPr lang="en-US" smtClean="0"/>
              <a:pPr/>
              <a:t>‹#›</a:t>
            </a:fld>
            <a:endParaRPr lang="en-US"/>
          </a:p>
        </p:txBody>
      </p:sp>
      <p:graphicFrame>
        <p:nvGraphicFramePr>
          <p:cNvPr id="4" name="Table 3">
            <a:extLst>
              <a:ext uri="{FF2B5EF4-FFF2-40B4-BE49-F238E27FC236}">
                <a16:creationId xmlns:a16="http://schemas.microsoft.com/office/drawing/2014/main" id="{4A1D46CD-BE0A-0919-CEF5-62328905F6B9}"/>
              </a:ext>
            </a:extLst>
          </p:cNvPr>
          <p:cNvGraphicFramePr>
            <a:graphicFrameLocks noGrp="1"/>
          </p:cNvGraphicFramePr>
          <p:nvPr userDrawn="1">
            <p:extLst>
              <p:ext uri="{D42A27DB-BD31-4B8C-83A1-F6EECF244321}">
                <p14:modId xmlns:p14="http://schemas.microsoft.com/office/powerpoint/2010/main" val="1533347744"/>
              </p:ext>
            </p:extLst>
          </p:nvPr>
        </p:nvGraphicFramePr>
        <p:xfrm>
          <a:off x="531848" y="1447600"/>
          <a:ext cx="11238808" cy="4798464"/>
        </p:xfrm>
        <a:graphic>
          <a:graphicData uri="http://schemas.openxmlformats.org/drawingml/2006/table">
            <a:tbl>
              <a:tblPr firstRow="1" bandRow="1">
                <a:effectLst>
                  <a:outerShdw blurRad="50800" dist="38100" dir="2700000" algn="tl" rotWithShape="0">
                    <a:prstClr val="black">
                      <a:alpha val="40000"/>
                    </a:prstClr>
                  </a:outerShdw>
                </a:effectLst>
                <a:tableStyleId>{FABFCF23-3B69-468F-B69F-88F6DE6A72F2}</a:tableStyleId>
              </a:tblPr>
              <a:tblGrid>
                <a:gridCol w="1605544">
                  <a:extLst>
                    <a:ext uri="{9D8B030D-6E8A-4147-A177-3AD203B41FA5}">
                      <a16:colId xmlns:a16="http://schemas.microsoft.com/office/drawing/2014/main" val="2963902180"/>
                    </a:ext>
                  </a:extLst>
                </a:gridCol>
                <a:gridCol w="1605544">
                  <a:extLst>
                    <a:ext uri="{9D8B030D-6E8A-4147-A177-3AD203B41FA5}">
                      <a16:colId xmlns:a16="http://schemas.microsoft.com/office/drawing/2014/main" val="1259372983"/>
                    </a:ext>
                  </a:extLst>
                </a:gridCol>
                <a:gridCol w="1605544">
                  <a:extLst>
                    <a:ext uri="{9D8B030D-6E8A-4147-A177-3AD203B41FA5}">
                      <a16:colId xmlns:a16="http://schemas.microsoft.com/office/drawing/2014/main" val="1377521332"/>
                    </a:ext>
                  </a:extLst>
                </a:gridCol>
                <a:gridCol w="1605544">
                  <a:extLst>
                    <a:ext uri="{9D8B030D-6E8A-4147-A177-3AD203B41FA5}">
                      <a16:colId xmlns:a16="http://schemas.microsoft.com/office/drawing/2014/main" val="2106119576"/>
                    </a:ext>
                  </a:extLst>
                </a:gridCol>
                <a:gridCol w="1605544">
                  <a:extLst>
                    <a:ext uri="{9D8B030D-6E8A-4147-A177-3AD203B41FA5}">
                      <a16:colId xmlns:a16="http://schemas.microsoft.com/office/drawing/2014/main" val="713845557"/>
                    </a:ext>
                  </a:extLst>
                </a:gridCol>
                <a:gridCol w="1605544">
                  <a:extLst>
                    <a:ext uri="{9D8B030D-6E8A-4147-A177-3AD203B41FA5}">
                      <a16:colId xmlns:a16="http://schemas.microsoft.com/office/drawing/2014/main" val="3549223602"/>
                    </a:ext>
                  </a:extLst>
                </a:gridCol>
                <a:gridCol w="1605544">
                  <a:extLst>
                    <a:ext uri="{9D8B030D-6E8A-4147-A177-3AD203B41FA5}">
                      <a16:colId xmlns:a16="http://schemas.microsoft.com/office/drawing/2014/main" val="3959218983"/>
                    </a:ext>
                  </a:extLst>
                </a:gridCol>
              </a:tblGrid>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5173388"/>
                  </a:ext>
                </a:extLst>
              </a:tr>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6384521"/>
                  </a:ext>
                </a:extLst>
              </a:tr>
              <a:tr h="1599488">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082159"/>
                  </a:ext>
                </a:extLst>
              </a:tr>
            </a:tbl>
          </a:graphicData>
        </a:graphic>
      </p:graphicFrame>
      <p:sp>
        <p:nvSpPr>
          <p:cNvPr id="9" name="Title 1">
            <a:extLst>
              <a:ext uri="{FF2B5EF4-FFF2-40B4-BE49-F238E27FC236}">
                <a16:creationId xmlns:a16="http://schemas.microsoft.com/office/drawing/2014/main" id="{C340446C-FD7E-704D-EA32-739BE84EA7EC}"/>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10" name="Text Placeholder 6">
            <a:extLst>
              <a:ext uri="{FF2B5EF4-FFF2-40B4-BE49-F238E27FC236}">
                <a16:creationId xmlns:a16="http://schemas.microsoft.com/office/drawing/2014/main" id="{98D6584E-967D-B41A-E738-FC8ECB851DE1}"/>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957307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Row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1681961" y="1932036"/>
            <a:ext cx="8851900"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8" name="Text Placeholder 8">
            <a:extLst>
              <a:ext uri="{FF2B5EF4-FFF2-40B4-BE49-F238E27FC236}">
                <a16:creationId xmlns:a16="http://schemas.microsoft.com/office/drawing/2014/main" id="{A1A618D6-EB63-EA43-A21C-B103C35BC517}"/>
              </a:ext>
            </a:extLst>
          </p:cNvPr>
          <p:cNvSpPr>
            <a:spLocks noGrp="1"/>
          </p:cNvSpPr>
          <p:nvPr>
            <p:ph type="body" sz="quarter" idx="14" hasCustomPrompt="1"/>
          </p:nvPr>
        </p:nvSpPr>
        <p:spPr>
          <a:xfrm>
            <a:off x="1681960" y="3390359"/>
            <a:ext cx="8852563"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10" name="Text Placeholder 8">
            <a:extLst>
              <a:ext uri="{FF2B5EF4-FFF2-40B4-BE49-F238E27FC236}">
                <a16:creationId xmlns:a16="http://schemas.microsoft.com/office/drawing/2014/main" id="{E2DDEC8D-78EC-A644-8B8B-9708FEC341A4}"/>
              </a:ext>
            </a:extLst>
          </p:cNvPr>
          <p:cNvSpPr>
            <a:spLocks noGrp="1"/>
          </p:cNvSpPr>
          <p:nvPr>
            <p:ph type="body" sz="quarter" idx="15" hasCustomPrompt="1"/>
          </p:nvPr>
        </p:nvSpPr>
        <p:spPr>
          <a:xfrm>
            <a:off x="1681961" y="4848681"/>
            <a:ext cx="8852563" cy="329032"/>
          </a:xfrm>
          <a:solidFill>
            <a:schemeClr val="tx1"/>
          </a:solidFill>
          <a:effectLst>
            <a:outerShdw blurRad="50800" dist="38100" dir="2700000" algn="tl" rotWithShape="0">
              <a:prstClr val="black">
                <a:alpha val="40000"/>
              </a:prstClr>
            </a:outerShdw>
          </a:effectLst>
        </p:spPr>
        <p:txBody>
          <a:bodyPr>
            <a:noAutofit/>
          </a:bodyPr>
          <a:lstStyle>
            <a:lvl1pPr marL="0" indent="0" algn="l">
              <a:lnSpc>
                <a:spcPts val="1893"/>
              </a:lnSpc>
              <a:buNone/>
              <a:defRPr sz="1600" b="1" i="0" spc="200" baseline="0">
                <a:solidFill>
                  <a:schemeClr val="bg1"/>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1681961" y="2251312"/>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vl5pPr>
              <a:lnSpc>
                <a:spcPct val="100000"/>
              </a:lnSpc>
              <a:spcAft>
                <a:spcPts val="400"/>
              </a:spcAft>
              <a:defRPr spc="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5" name="Text Placeholder 3">
            <a:extLst>
              <a:ext uri="{FF2B5EF4-FFF2-40B4-BE49-F238E27FC236}">
                <a16:creationId xmlns:a16="http://schemas.microsoft.com/office/drawing/2014/main" id="{715E79F7-F96B-B74D-A872-5DD93CD2610D}"/>
              </a:ext>
            </a:extLst>
          </p:cNvPr>
          <p:cNvSpPr>
            <a:spLocks noGrp="1"/>
          </p:cNvSpPr>
          <p:nvPr>
            <p:ph type="body" sz="quarter" idx="17" hasCustomPrompt="1"/>
          </p:nvPr>
        </p:nvSpPr>
        <p:spPr>
          <a:xfrm>
            <a:off x="1681961" y="3709635"/>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6" name="Text Placeholder 3">
            <a:extLst>
              <a:ext uri="{FF2B5EF4-FFF2-40B4-BE49-F238E27FC236}">
                <a16:creationId xmlns:a16="http://schemas.microsoft.com/office/drawing/2014/main" id="{A359F78B-FA29-2044-A54D-9B0DD377B177}"/>
              </a:ext>
            </a:extLst>
          </p:cNvPr>
          <p:cNvSpPr>
            <a:spLocks noGrp="1"/>
          </p:cNvSpPr>
          <p:nvPr>
            <p:ph type="body" sz="quarter" idx="18" hasCustomPrompt="1"/>
          </p:nvPr>
        </p:nvSpPr>
        <p:spPr>
          <a:xfrm>
            <a:off x="1681961" y="5177713"/>
            <a:ext cx="8851900" cy="677576"/>
          </a:xfrm>
          <a:solidFill>
            <a:schemeClr val="bg1"/>
          </a:solidFill>
          <a:effectLst>
            <a:outerShdw blurRad="50800" dist="38100" dir="2700000" algn="tl" rotWithShape="0">
              <a:prstClr val="black">
                <a:alpha val="40000"/>
              </a:prstClr>
            </a:outerShdw>
          </a:effectLst>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7" name="Footer Placeholder 6">
            <a:extLst>
              <a:ext uri="{FF2B5EF4-FFF2-40B4-BE49-F238E27FC236}">
                <a16:creationId xmlns:a16="http://schemas.microsoft.com/office/drawing/2014/main" id="{DA38EC65-2C85-C046-9738-37708E947827}"/>
              </a:ext>
            </a:extLst>
          </p:cNvPr>
          <p:cNvSpPr>
            <a:spLocks noGrp="1"/>
          </p:cNvSpPr>
          <p:nvPr>
            <p:ph type="ftr" sz="quarter" idx="19"/>
          </p:nvPr>
        </p:nvSpPr>
        <p:spPr/>
        <p:txBody>
          <a:bodyPr/>
          <a:lstStyle/>
          <a:p>
            <a:r>
              <a:rPr lang="en-US"/>
              <a:t>TEMPLATE (WRITE IN ALL CAPS)</a:t>
            </a:r>
          </a:p>
        </p:txBody>
      </p:sp>
      <p:sp>
        <p:nvSpPr>
          <p:cNvPr id="9" name="Slide Number Placeholder 8">
            <a:extLst>
              <a:ext uri="{FF2B5EF4-FFF2-40B4-BE49-F238E27FC236}">
                <a16:creationId xmlns:a16="http://schemas.microsoft.com/office/drawing/2014/main" id="{8B5F4566-2799-E844-91E1-99813A0D72D4}"/>
              </a:ext>
            </a:extLst>
          </p:cNvPr>
          <p:cNvSpPr>
            <a:spLocks noGrp="1"/>
          </p:cNvSpPr>
          <p:nvPr>
            <p:ph type="sldNum" sz="quarter" idx="20"/>
          </p:nvPr>
        </p:nvSpPr>
        <p:spPr/>
        <p:txBody>
          <a:bodyPr/>
          <a:lstStyle/>
          <a:p>
            <a:r>
              <a:rPr lang="en-US"/>
              <a:t>/   </a:t>
            </a:r>
            <a:fld id="{6C7E6F33-74EE-5541-8108-8353B402F8C1}" type="slidenum">
              <a:rPr lang="en-US" smtClean="0"/>
              <a:pPr/>
              <a:t>‹#›</a:t>
            </a:fld>
            <a:endParaRPr lang="en-US"/>
          </a:p>
        </p:txBody>
      </p:sp>
      <p:sp>
        <p:nvSpPr>
          <p:cNvPr id="2" name="Title 1">
            <a:extLst>
              <a:ext uri="{FF2B5EF4-FFF2-40B4-BE49-F238E27FC236}">
                <a16:creationId xmlns:a16="http://schemas.microsoft.com/office/drawing/2014/main" id="{CDDF12B1-EE1A-0211-39EE-B5088049CBA3}"/>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84F27BFF-80B9-A405-74E9-B75DF1404F40}"/>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3412792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 Content">
    <p:spTree>
      <p:nvGrpSpPr>
        <p:cNvPr id="1" name=""/>
        <p:cNvGrpSpPr/>
        <p:nvPr/>
      </p:nvGrpSpPr>
      <p:grpSpPr>
        <a:xfrm>
          <a:off x="0" y="0"/>
          <a:ext cx="0" cy="0"/>
          <a:chOff x="0" y="0"/>
          <a:chExt cx="0" cy="0"/>
        </a:xfrm>
      </p:grpSpPr>
      <p:sp>
        <p:nvSpPr>
          <p:cNvPr id="7" name="Footer Placeholder 6">
            <a:extLst>
              <a:ext uri="{FF2B5EF4-FFF2-40B4-BE49-F238E27FC236}">
                <a16:creationId xmlns:a16="http://schemas.microsoft.com/office/drawing/2014/main" id="{DA38EC65-2C85-C046-9738-37708E947827}"/>
              </a:ext>
            </a:extLst>
          </p:cNvPr>
          <p:cNvSpPr>
            <a:spLocks noGrp="1"/>
          </p:cNvSpPr>
          <p:nvPr>
            <p:ph type="ftr" sz="quarter" idx="19"/>
          </p:nvPr>
        </p:nvSpPr>
        <p:spPr/>
        <p:txBody>
          <a:bodyPr/>
          <a:lstStyle/>
          <a:p>
            <a:r>
              <a:rPr lang="en-US"/>
              <a:t>TEMPLATE (WRITE IN ALL CAPS)</a:t>
            </a:r>
          </a:p>
        </p:txBody>
      </p:sp>
      <p:sp>
        <p:nvSpPr>
          <p:cNvPr id="9" name="Slide Number Placeholder 8">
            <a:extLst>
              <a:ext uri="{FF2B5EF4-FFF2-40B4-BE49-F238E27FC236}">
                <a16:creationId xmlns:a16="http://schemas.microsoft.com/office/drawing/2014/main" id="{8B5F4566-2799-E844-91E1-99813A0D72D4}"/>
              </a:ext>
            </a:extLst>
          </p:cNvPr>
          <p:cNvSpPr>
            <a:spLocks noGrp="1"/>
          </p:cNvSpPr>
          <p:nvPr>
            <p:ph type="sldNum" sz="quarter" idx="20"/>
          </p:nvPr>
        </p:nvSpPr>
        <p:spPr/>
        <p:txBody>
          <a:bodyPr/>
          <a:lstStyle/>
          <a:p>
            <a:r>
              <a:rPr lang="en-US"/>
              <a:t>/   </a:t>
            </a:r>
            <a:fld id="{6C7E6F33-74EE-5541-8108-8353B402F8C1}" type="slidenum">
              <a:rPr lang="en-US" smtClean="0"/>
              <a:pPr/>
              <a:t>‹#›</a:t>
            </a:fld>
            <a:endParaRPr lang="en-US"/>
          </a:p>
        </p:txBody>
      </p:sp>
      <p:graphicFrame>
        <p:nvGraphicFramePr>
          <p:cNvPr id="2" name="Table 1">
            <a:extLst>
              <a:ext uri="{FF2B5EF4-FFF2-40B4-BE49-F238E27FC236}">
                <a16:creationId xmlns:a16="http://schemas.microsoft.com/office/drawing/2014/main" id="{FCFD4D33-18A9-0A6E-0AAF-FE7AC6594B91}"/>
              </a:ext>
            </a:extLst>
          </p:cNvPr>
          <p:cNvGraphicFramePr>
            <a:graphicFrameLocks noGrp="1"/>
          </p:cNvGraphicFramePr>
          <p:nvPr userDrawn="1">
            <p:extLst>
              <p:ext uri="{D42A27DB-BD31-4B8C-83A1-F6EECF244321}">
                <p14:modId xmlns:p14="http://schemas.microsoft.com/office/powerpoint/2010/main" val="3498004817"/>
              </p:ext>
            </p:extLst>
          </p:nvPr>
        </p:nvGraphicFramePr>
        <p:xfrm>
          <a:off x="838199" y="1574800"/>
          <a:ext cx="10541000" cy="4450080"/>
        </p:xfrm>
        <a:graphic>
          <a:graphicData uri="http://schemas.openxmlformats.org/drawingml/2006/table">
            <a:tbl>
              <a:tblPr firstRow="1" bandRow="1">
                <a:effectLst>
                  <a:outerShdw blurRad="50800" dist="38100" dir="2700000" algn="tl" rotWithShape="0">
                    <a:prstClr val="black">
                      <a:alpha val="40000"/>
                    </a:prstClr>
                  </a:outerShdw>
                </a:effectLst>
                <a:tableStyleId>{073A0DAA-6AF3-43AB-8588-CEC1D06C72B9}</a:tableStyleId>
              </a:tblPr>
              <a:tblGrid>
                <a:gridCol w="2635250">
                  <a:extLst>
                    <a:ext uri="{9D8B030D-6E8A-4147-A177-3AD203B41FA5}">
                      <a16:colId xmlns:a16="http://schemas.microsoft.com/office/drawing/2014/main" val="1965054100"/>
                    </a:ext>
                  </a:extLst>
                </a:gridCol>
                <a:gridCol w="2635250">
                  <a:extLst>
                    <a:ext uri="{9D8B030D-6E8A-4147-A177-3AD203B41FA5}">
                      <a16:colId xmlns:a16="http://schemas.microsoft.com/office/drawing/2014/main" val="3697149893"/>
                    </a:ext>
                  </a:extLst>
                </a:gridCol>
                <a:gridCol w="2635250">
                  <a:extLst>
                    <a:ext uri="{9D8B030D-6E8A-4147-A177-3AD203B41FA5}">
                      <a16:colId xmlns:a16="http://schemas.microsoft.com/office/drawing/2014/main" val="1595340377"/>
                    </a:ext>
                  </a:extLst>
                </a:gridCol>
                <a:gridCol w="2635250">
                  <a:extLst>
                    <a:ext uri="{9D8B030D-6E8A-4147-A177-3AD203B41FA5}">
                      <a16:colId xmlns:a16="http://schemas.microsoft.com/office/drawing/2014/main" val="331523819"/>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5742807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05258391"/>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5453397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5850486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38788330"/>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04200877"/>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29161054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766833763"/>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4752792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36357736"/>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37135765"/>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009913505"/>
                  </a:ext>
                </a:extLst>
              </a:tr>
            </a:tbl>
          </a:graphicData>
        </a:graphic>
      </p:graphicFrame>
      <p:sp>
        <p:nvSpPr>
          <p:cNvPr id="3" name="Title 1">
            <a:extLst>
              <a:ext uri="{FF2B5EF4-FFF2-40B4-BE49-F238E27FC236}">
                <a16:creationId xmlns:a16="http://schemas.microsoft.com/office/drawing/2014/main" id="{8D0F17E4-3749-A469-1182-4B885E2D800A}"/>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B853CFF4-544C-6735-D25A-8567F8600A7F}"/>
              </a:ext>
            </a:extLst>
          </p:cNvPr>
          <p:cNvSpPr>
            <a:spLocks noGrp="1"/>
          </p:cNvSpPr>
          <p:nvPr>
            <p:ph type="body" sz="quarter" idx="21"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891206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rg Char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1FE2933-6B02-0144-BF1A-69A51D5C0313}"/>
              </a:ext>
            </a:extLst>
          </p:cNvPr>
          <p:cNvSpPr>
            <a:spLocks noGrp="1"/>
          </p:cNvSpPr>
          <p:nvPr>
            <p:ph type="ftr" sz="quarter" idx="14"/>
          </p:nvPr>
        </p:nvSpPr>
        <p:spPr/>
        <p:txBody>
          <a:bodyPr/>
          <a:lstStyle/>
          <a:p>
            <a:r>
              <a:rPr lang="en-US"/>
              <a:t>TEMPLATE (WRITE IN ALL CAPS)</a:t>
            </a:r>
          </a:p>
        </p:txBody>
      </p:sp>
      <p:sp>
        <p:nvSpPr>
          <p:cNvPr id="6" name="Slide Number Placeholder 5">
            <a:extLst>
              <a:ext uri="{FF2B5EF4-FFF2-40B4-BE49-F238E27FC236}">
                <a16:creationId xmlns:a16="http://schemas.microsoft.com/office/drawing/2014/main" id="{A2D18749-87A2-0341-9D35-5E74E8AB75D5}"/>
              </a:ext>
            </a:extLst>
          </p:cNvPr>
          <p:cNvSpPr>
            <a:spLocks noGrp="1"/>
          </p:cNvSpPr>
          <p:nvPr>
            <p:ph type="sldNum" sz="quarter" idx="15"/>
          </p:nvPr>
        </p:nvSpPr>
        <p:spPr/>
        <p:txBody>
          <a:bodyPr/>
          <a:lstStyle/>
          <a:p>
            <a:r>
              <a:rPr lang="en-US"/>
              <a:t>/   </a:t>
            </a:r>
            <a:fld id="{6C7E6F33-74EE-5541-8108-8353B402F8C1}" type="slidenum">
              <a:rPr lang="en-US" smtClean="0"/>
              <a:pPr/>
              <a:t>‹#›</a:t>
            </a:fld>
            <a:endParaRPr lang="en-US"/>
          </a:p>
        </p:txBody>
      </p:sp>
      <p:graphicFrame>
        <p:nvGraphicFramePr>
          <p:cNvPr id="4" name="Diagram 3">
            <a:extLst>
              <a:ext uri="{FF2B5EF4-FFF2-40B4-BE49-F238E27FC236}">
                <a16:creationId xmlns:a16="http://schemas.microsoft.com/office/drawing/2014/main" id="{52295235-6AC3-C13B-416E-A3B319880513}"/>
              </a:ext>
            </a:extLst>
          </p:cNvPr>
          <p:cNvGraphicFramePr/>
          <p:nvPr userDrawn="1">
            <p:extLst>
              <p:ext uri="{D42A27DB-BD31-4B8C-83A1-F6EECF244321}">
                <p14:modId xmlns:p14="http://schemas.microsoft.com/office/powerpoint/2010/main" val="863356610"/>
              </p:ext>
            </p:extLst>
          </p:nvPr>
        </p:nvGraphicFramePr>
        <p:xfrm>
          <a:off x="2005351" y="1789501"/>
          <a:ext cx="8181298" cy="4114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25E81817-1137-F9C6-035D-63C34598BD7A}"/>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8" name="Text Placeholder 6">
            <a:extLst>
              <a:ext uri="{FF2B5EF4-FFF2-40B4-BE49-F238E27FC236}">
                <a16:creationId xmlns:a16="http://schemas.microsoft.com/office/drawing/2014/main" id="{7ABFDC6C-BCCF-2CF2-F8C7-C459DF7AAD71}"/>
              </a:ext>
            </a:extLst>
          </p:cNvPr>
          <p:cNvSpPr>
            <a:spLocks noGrp="1"/>
          </p:cNvSpPr>
          <p:nvPr>
            <p:ph type="body" sz="quarter" idx="19"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4078964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838201" y="2050795"/>
            <a:ext cx="2775740" cy="329032"/>
          </a:xfrm>
        </p:spPr>
        <p:txBody>
          <a:bodyPr>
            <a:noAutofit/>
          </a:bodyPr>
          <a:lstStyle>
            <a:lvl1pPr marL="0" indent="0" algn="l">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838200" y="2536824"/>
            <a:ext cx="4572000" cy="2877739"/>
          </a:xfrm>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7" name="Text Placeholder 8">
            <a:extLst>
              <a:ext uri="{FF2B5EF4-FFF2-40B4-BE49-F238E27FC236}">
                <a16:creationId xmlns:a16="http://schemas.microsoft.com/office/drawing/2014/main" id="{1BE8467C-F8A0-0B46-954C-0CCA5AE188E5}"/>
              </a:ext>
            </a:extLst>
          </p:cNvPr>
          <p:cNvSpPr>
            <a:spLocks noGrp="1"/>
          </p:cNvSpPr>
          <p:nvPr>
            <p:ph type="body" sz="quarter" idx="19" hasCustomPrompt="1"/>
          </p:nvPr>
        </p:nvSpPr>
        <p:spPr>
          <a:xfrm>
            <a:off x="6781801" y="2050795"/>
            <a:ext cx="2775740" cy="329032"/>
          </a:xfrm>
        </p:spPr>
        <p:txBody>
          <a:bodyPr>
            <a:noAutofit/>
          </a:bodyPr>
          <a:lstStyle>
            <a:lvl1pPr marL="0" indent="0" algn="l">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15" name="Text Placeholder 3">
            <a:extLst>
              <a:ext uri="{FF2B5EF4-FFF2-40B4-BE49-F238E27FC236}">
                <a16:creationId xmlns:a16="http://schemas.microsoft.com/office/drawing/2014/main" id="{B764E411-936F-3044-8265-A066A2B83B67}"/>
              </a:ext>
            </a:extLst>
          </p:cNvPr>
          <p:cNvSpPr>
            <a:spLocks noGrp="1"/>
          </p:cNvSpPr>
          <p:nvPr>
            <p:ph type="body" sz="quarter" idx="20" hasCustomPrompt="1"/>
          </p:nvPr>
        </p:nvSpPr>
        <p:spPr>
          <a:xfrm>
            <a:off x="6781800" y="2536824"/>
            <a:ext cx="4572000" cy="2877739"/>
          </a:xfrm>
        </p:spPr>
        <p:txBody>
          <a:bodyPr/>
          <a:lstStyle>
            <a:lvl1pP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cxnSp>
        <p:nvCxnSpPr>
          <p:cNvPr id="19" name="Straight Connector 18">
            <a:extLst>
              <a:ext uri="{FF2B5EF4-FFF2-40B4-BE49-F238E27FC236}">
                <a16:creationId xmlns:a16="http://schemas.microsoft.com/office/drawing/2014/main" id="{7F7C988E-4FD1-F44B-8698-26D540F4924A}"/>
              </a:ext>
              <a:ext uri="{C183D7F6-B498-43B3-948B-1728B52AA6E4}">
                <adec:decorative xmlns:adec="http://schemas.microsoft.com/office/drawing/2017/decorative" val="1"/>
              </a:ext>
            </a:extLst>
          </p:cNvPr>
          <p:cNvCxnSpPr>
            <a:cxnSpLocks/>
          </p:cNvCxnSpPr>
          <p:nvPr userDrawn="1"/>
        </p:nvCxnSpPr>
        <p:spPr>
          <a:xfrm rot="16200000">
            <a:off x="4754881" y="39622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Footer Placeholder 6">
            <a:extLst>
              <a:ext uri="{FF2B5EF4-FFF2-40B4-BE49-F238E27FC236}">
                <a16:creationId xmlns:a16="http://schemas.microsoft.com/office/drawing/2014/main" id="{905959D2-BEEE-8D4C-8216-8C05C61B75DC}"/>
              </a:ext>
            </a:extLst>
          </p:cNvPr>
          <p:cNvSpPr>
            <a:spLocks noGrp="1"/>
          </p:cNvSpPr>
          <p:nvPr>
            <p:ph type="ftr" sz="quarter" idx="21"/>
          </p:nvPr>
        </p:nvSpPr>
        <p:spPr/>
        <p:txBody>
          <a:bodyPr/>
          <a:lstStyle/>
          <a:p>
            <a:r>
              <a:rPr lang="en-US"/>
              <a:t>TEMPLATE (WRITE IN ALL CAPS)</a:t>
            </a:r>
          </a:p>
        </p:txBody>
      </p:sp>
      <p:sp>
        <p:nvSpPr>
          <p:cNvPr id="8" name="Slide Number Placeholder 7">
            <a:extLst>
              <a:ext uri="{FF2B5EF4-FFF2-40B4-BE49-F238E27FC236}">
                <a16:creationId xmlns:a16="http://schemas.microsoft.com/office/drawing/2014/main" id="{67AAF54B-C785-4346-9B7B-CA106BFE8CDB}"/>
              </a:ext>
            </a:extLst>
          </p:cNvPr>
          <p:cNvSpPr>
            <a:spLocks noGrp="1"/>
          </p:cNvSpPr>
          <p:nvPr>
            <p:ph type="sldNum" sz="quarter" idx="22"/>
          </p:nvPr>
        </p:nvSpPr>
        <p:spPr/>
        <p:txBody>
          <a:bodyPr/>
          <a:lstStyle/>
          <a:p>
            <a:r>
              <a:rPr lang="en-US"/>
              <a:t>/   </a:t>
            </a:r>
            <a:fld id="{6C7E6F33-74EE-5541-8108-8353B402F8C1}" type="slidenum">
              <a:rPr lang="en-US" smtClean="0"/>
              <a:pPr/>
              <a:t>‹#›</a:t>
            </a:fld>
            <a:endParaRPr lang="en-US"/>
          </a:p>
        </p:txBody>
      </p:sp>
      <p:sp>
        <p:nvSpPr>
          <p:cNvPr id="2" name="Title 1">
            <a:extLst>
              <a:ext uri="{FF2B5EF4-FFF2-40B4-BE49-F238E27FC236}">
                <a16:creationId xmlns:a16="http://schemas.microsoft.com/office/drawing/2014/main" id="{DEFADD21-6454-BE34-6E68-D413B7D2DFB0}"/>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33AB676C-24E8-044C-8B5B-55C022944459}"/>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1357738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Column Content">
    <p:spTree>
      <p:nvGrpSpPr>
        <p:cNvPr id="1" name=""/>
        <p:cNvGrpSpPr/>
        <p:nvPr/>
      </p:nvGrpSpPr>
      <p:grpSpPr>
        <a:xfrm>
          <a:off x="0" y="0"/>
          <a:ext cx="0" cy="0"/>
          <a:chOff x="0" y="0"/>
          <a:chExt cx="0" cy="0"/>
        </a:xfrm>
      </p:grpSpPr>
      <p:sp>
        <p:nvSpPr>
          <p:cNvPr id="12" name="Text Placeholder 8">
            <a:extLst>
              <a:ext uri="{FF2B5EF4-FFF2-40B4-BE49-F238E27FC236}">
                <a16:creationId xmlns:a16="http://schemas.microsoft.com/office/drawing/2014/main" id="{D004BC79-4A47-F947-8EF2-485C0AEA7EE3}"/>
              </a:ext>
            </a:extLst>
          </p:cNvPr>
          <p:cNvSpPr>
            <a:spLocks noGrp="1"/>
          </p:cNvSpPr>
          <p:nvPr>
            <p:ph type="body" sz="quarter" idx="13" hasCustomPrompt="1"/>
          </p:nvPr>
        </p:nvSpPr>
        <p:spPr>
          <a:xfrm>
            <a:off x="838201"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4" name="Text Placeholder 3">
            <a:extLst>
              <a:ext uri="{FF2B5EF4-FFF2-40B4-BE49-F238E27FC236}">
                <a16:creationId xmlns:a16="http://schemas.microsoft.com/office/drawing/2014/main" id="{B2BDBB06-23EC-1249-9E7A-B7F4379BBF55}"/>
              </a:ext>
            </a:extLst>
          </p:cNvPr>
          <p:cNvSpPr>
            <a:spLocks noGrp="1"/>
          </p:cNvSpPr>
          <p:nvPr>
            <p:ph type="body" sz="quarter" idx="16" hasCustomPrompt="1"/>
          </p:nvPr>
        </p:nvSpPr>
        <p:spPr>
          <a:xfrm>
            <a:off x="838201"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1" name="Text Placeholder 3">
            <a:extLst>
              <a:ext uri="{FF2B5EF4-FFF2-40B4-BE49-F238E27FC236}">
                <a16:creationId xmlns:a16="http://schemas.microsoft.com/office/drawing/2014/main" id="{EEBD7929-DCAA-9F42-A87C-7B5A76711BF6}"/>
              </a:ext>
            </a:extLst>
          </p:cNvPr>
          <p:cNvSpPr>
            <a:spLocks noGrp="1"/>
          </p:cNvSpPr>
          <p:nvPr>
            <p:ph type="body" sz="quarter" idx="17" hasCustomPrompt="1"/>
          </p:nvPr>
        </p:nvSpPr>
        <p:spPr>
          <a:xfrm>
            <a:off x="4720371"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3" name="Text Placeholder 3">
            <a:extLst>
              <a:ext uri="{FF2B5EF4-FFF2-40B4-BE49-F238E27FC236}">
                <a16:creationId xmlns:a16="http://schemas.microsoft.com/office/drawing/2014/main" id="{1684F489-4B0E-7447-8E87-1F18960C53D0}"/>
              </a:ext>
            </a:extLst>
          </p:cNvPr>
          <p:cNvSpPr>
            <a:spLocks noGrp="1"/>
          </p:cNvSpPr>
          <p:nvPr>
            <p:ph type="body" sz="quarter" idx="18" hasCustomPrompt="1"/>
          </p:nvPr>
        </p:nvSpPr>
        <p:spPr>
          <a:xfrm>
            <a:off x="8608767" y="2536824"/>
            <a:ext cx="2775740" cy="2877739"/>
          </a:xfrm>
        </p:spPr>
        <p:txBody>
          <a:bodyPr/>
          <a:lstStyle>
            <a:lvl1pPr algn="ctr">
              <a:lnSpc>
                <a:spcPct val="100000"/>
              </a:lnSpc>
              <a:spcAft>
                <a:spcPts val="400"/>
              </a:spcAft>
              <a:defRPr sz="1600"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a:t>
            </a:r>
            <a:r>
              <a:rPr lang="en-US" err="1"/>
              <a:t>Sollicitudin</a:t>
            </a:r>
            <a:r>
              <a:rPr lang="en-US"/>
              <a:t> </a:t>
            </a:r>
            <a:r>
              <a:rPr lang="en-US" err="1"/>
              <a:t>tempor</a:t>
            </a:r>
            <a:r>
              <a:rPr lang="en-US"/>
              <a:t> id </a:t>
            </a:r>
            <a:r>
              <a:rPr lang="en-US" err="1"/>
              <a:t>eu</a:t>
            </a:r>
            <a:r>
              <a:rPr lang="en-US"/>
              <a:t> </a:t>
            </a:r>
            <a:r>
              <a:rPr lang="en-US" err="1"/>
              <a:t>nisl</a:t>
            </a:r>
            <a:r>
              <a:rPr lang="en-US"/>
              <a:t> </a:t>
            </a:r>
            <a:r>
              <a:rPr lang="en-US" err="1"/>
              <a:t>nunc</a:t>
            </a:r>
            <a:r>
              <a:rPr lang="en-US"/>
              <a:t> mi ipsum </a:t>
            </a:r>
            <a:r>
              <a:rPr lang="en-US" err="1"/>
              <a:t>faucibus</a:t>
            </a:r>
            <a:r>
              <a:rPr lang="en-US"/>
              <a:t>. </a:t>
            </a:r>
          </a:p>
          <a:p>
            <a:pPr lvl="4"/>
            <a:endParaRPr lang="en-US"/>
          </a:p>
        </p:txBody>
      </p:sp>
      <p:sp>
        <p:nvSpPr>
          <p:cNvPr id="17" name="Text Placeholder 8">
            <a:extLst>
              <a:ext uri="{FF2B5EF4-FFF2-40B4-BE49-F238E27FC236}">
                <a16:creationId xmlns:a16="http://schemas.microsoft.com/office/drawing/2014/main" id="{1BE8467C-F8A0-0B46-954C-0CCA5AE188E5}"/>
              </a:ext>
            </a:extLst>
          </p:cNvPr>
          <p:cNvSpPr>
            <a:spLocks noGrp="1"/>
          </p:cNvSpPr>
          <p:nvPr>
            <p:ph type="body" sz="quarter" idx="19" hasCustomPrompt="1"/>
          </p:nvPr>
        </p:nvSpPr>
        <p:spPr>
          <a:xfrm>
            <a:off x="4708130"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sp>
        <p:nvSpPr>
          <p:cNvPr id="18" name="Text Placeholder 8">
            <a:extLst>
              <a:ext uri="{FF2B5EF4-FFF2-40B4-BE49-F238E27FC236}">
                <a16:creationId xmlns:a16="http://schemas.microsoft.com/office/drawing/2014/main" id="{3DA5635F-177B-8C4B-A3DC-69876D820030}"/>
              </a:ext>
            </a:extLst>
          </p:cNvPr>
          <p:cNvSpPr>
            <a:spLocks noGrp="1"/>
          </p:cNvSpPr>
          <p:nvPr>
            <p:ph type="body" sz="quarter" idx="20" hasCustomPrompt="1"/>
          </p:nvPr>
        </p:nvSpPr>
        <p:spPr>
          <a:xfrm>
            <a:off x="8578059" y="2050795"/>
            <a:ext cx="2775740" cy="329032"/>
          </a:xfrm>
        </p:spPr>
        <p:txBody>
          <a:bodyPr>
            <a:noAutofit/>
          </a:bodyPr>
          <a:lstStyle>
            <a:lvl1pPr marL="0" indent="0" algn="ctr">
              <a:lnSpc>
                <a:spcPts val="1893"/>
              </a:lnSpc>
              <a:buNone/>
              <a:defRPr sz="1600" b="1" i="0" spc="200" baseline="0">
                <a:solidFill>
                  <a:schemeClr val="accent2"/>
                </a:solidFill>
                <a:latin typeface="Utopia Std Subhead" panose="02040603060506020204" pitchFamily="18" charset="77"/>
              </a:defRPr>
            </a:lvl1pPr>
          </a:lstStyle>
          <a:p>
            <a:pPr lvl="0"/>
            <a:r>
              <a:rPr lang="en-US"/>
              <a:t>SUBHEAD GOES HERE</a:t>
            </a:r>
          </a:p>
        </p:txBody>
      </p:sp>
      <p:cxnSp>
        <p:nvCxnSpPr>
          <p:cNvPr id="19" name="Straight Connector 18">
            <a:extLst>
              <a:ext uri="{FF2B5EF4-FFF2-40B4-BE49-F238E27FC236}">
                <a16:creationId xmlns:a16="http://schemas.microsoft.com/office/drawing/2014/main" id="{67428C66-1F80-4C4D-BCD2-480123DFFAFE}"/>
              </a:ext>
              <a:ext uri="{C183D7F6-B498-43B3-948B-1728B52AA6E4}">
                <adec:decorative xmlns:adec="http://schemas.microsoft.com/office/drawing/2017/decorative" val="1"/>
              </a:ext>
            </a:extLst>
          </p:cNvPr>
          <p:cNvCxnSpPr>
            <a:cxnSpLocks/>
          </p:cNvCxnSpPr>
          <p:nvPr userDrawn="1"/>
        </p:nvCxnSpPr>
        <p:spPr>
          <a:xfrm rot="16200000">
            <a:off x="2811780" y="39749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C5691CA-25BF-4244-8679-B624DA433733}"/>
              </a:ext>
              <a:ext uri="{C183D7F6-B498-43B3-948B-1728B52AA6E4}">
                <adec:decorative xmlns:adec="http://schemas.microsoft.com/office/drawing/2017/decorative" val="1"/>
              </a:ext>
            </a:extLst>
          </p:cNvPr>
          <p:cNvCxnSpPr>
            <a:cxnSpLocks/>
          </p:cNvCxnSpPr>
          <p:nvPr userDrawn="1"/>
        </p:nvCxnSpPr>
        <p:spPr>
          <a:xfrm rot="16200000">
            <a:off x="6697980" y="3974947"/>
            <a:ext cx="26822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9763FDE-A720-A74F-88A3-418704C0C76E}"/>
              </a:ext>
            </a:extLst>
          </p:cNvPr>
          <p:cNvSpPr>
            <a:spLocks noGrp="1"/>
          </p:cNvSpPr>
          <p:nvPr>
            <p:ph type="ftr" sz="quarter" idx="21"/>
          </p:nvPr>
        </p:nvSpPr>
        <p:spPr/>
        <p:txBody>
          <a:bodyPr/>
          <a:lstStyle/>
          <a:p>
            <a:r>
              <a:rPr lang="en-US"/>
              <a:t>TEMPLATE (WRITE IN ALL CAPS)</a:t>
            </a:r>
          </a:p>
        </p:txBody>
      </p:sp>
      <p:sp>
        <p:nvSpPr>
          <p:cNvPr id="6" name="Slide Number Placeholder 5">
            <a:extLst>
              <a:ext uri="{FF2B5EF4-FFF2-40B4-BE49-F238E27FC236}">
                <a16:creationId xmlns:a16="http://schemas.microsoft.com/office/drawing/2014/main" id="{6018CB42-5BE5-6847-AFF9-834D3CA91620}"/>
              </a:ext>
            </a:extLst>
          </p:cNvPr>
          <p:cNvSpPr>
            <a:spLocks noGrp="1"/>
          </p:cNvSpPr>
          <p:nvPr>
            <p:ph type="sldNum" sz="quarter" idx="22"/>
          </p:nvPr>
        </p:nvSpPr>
        <p:spPr/>
        <p:txBody>
          <a:bodyPr/>
          <a:lstStyle/>
          <a:p>
            <a:r>
              <a:rPr lang="en-US"/>
              <a:t>/   </a:t>
            </a:r>
            <a:fld id="{6C7E6F33-74EE-5541-8108-8353B402F8C1}" type="slidenum">
              <a:rPr lang="en-US" smtClean="0"/>
              <a:pPr/>
              <a:t>‹#›</a:t>
            </a:fld>
            <a:endParaRPr lang="en-US"/>
          </a:p>
        </p:txBody>
      </p:sp>
      <p:sp>
        <p:nvSpPr>
          <p:cNvPr id="2" name="Title 1">
            <a:extLst>
              <a:ext uri="{FF2B5EF4-FFF2-40B4-BE49-F238E27FC236}">
                <a16:creationId xmlns:a16="http://schemas.microsoft.com/office/drawing/2014/main" id="{6B77353C-CFFF-511E-7354-4D6270ED083B}"/>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3" name="Text Placeholder 6">
            <a:extLst>
              <a:ext uri="{FF2B5EF4-FFF2-40B4-BE49-F238E27FC236}">
                <a16:creationId xmlns:a16="http://schemas.microsoft.com/office/drawing/2014/main" id="{F9264D32-4627-AEB4-A26E-5E5631D79079}"/>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802205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Gallery, 6 or Custo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AA42E8-9C39-454E-ADD6-58C0005063C5}"/>
              </a:ext>
              <a:ext uri="{C183D7F6-B498-43B3-948B-1728B52AA6E4}">
                <adec:decorative xmlns:adec="http://schemas.microsoft.com/office/drawing/2017/decorative" val="1"/>
              </a:ext>
            </a:extLst>
          </p:cNvPr>
          <p:cNvSpPr/>
          <p:nvPr userDrawn="1"/>
        </p:nvSpPr>
        <p:spPr>
          <a:xfrm flipH="1">
            <a:off x="3977532" y="823482"/>
            <a:ext cx="7946523" cy="5134246"/>
          </a:xfrm>
          <a:prstGeom prst="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08" eaLnBrk="1" fontAlgn="auto" hangingPunct="1">
              <a:spcBef>
                <a:spcPts val="0"/>
              </a:spcBef>
              <a:spcAft>
                <a:spcPts val="0"/>
              </a:spcAft>
              <a:defRPr/>
            </a:pPr>
            <a:endParaRPr lang="en-US" sz="1801">
              <a:latin typeface="Muli Regular" charset="0"/>
            </a:endParaRPr>
          </a:p>
        </p:txBody>
      </p:sp>
      <p:sp>
        <p:nvSpPr>
          <p:cNvPr id="9" name="Picture Placeholder 6">
            <a:extLst>
              <a:ext uri="{FF2B5EF4-FFF2-40B4-BE49-F238E27FC236}">
                <a16:creationId xmlns:a16="http://schemas.microsoft.com/office/drawing/2014/main" id="{9DB7D153-61A8-B34E-A15C-9B46F446BCA3}"/>
              </a:ext>
            </a:extLst>
          </p:cNvPr>
          <p:cNvSpPr>
            <a:spLocks noGrp="1" noChangeAspect="1"/>
          </p:cNvSpPr>
          <p:nvPr>
            <p:ph type="pic" sz="quarter" idx="19"/>
          </p:nvPr>
        </p:nvSpPr>
        <p:spPr>
          <a:xfrm>
            <a:off x="4294824" y="3448048"/>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0" name="Picture Placeholder 6">
            <a:extLst>
              <a:ext uri="{FF2B5EF4-FFF2-40B4-BE49-F238E27FC236}">
                <a16:creationId xmlns:a16="http://schemas.microsoft.com/office/drawing/2014/main" id="{7D336015-19B8-2247-9DF3-762298B05F56}"/>
              </a:ext>
            </a:extLst>
          </p:cNvPr>
          <p:cNvSpPr>
            <a:spLocks noGrp="1" noChangeAspect="1"/>
          </p:cNvSpPr>
          <p:nvPr>
            <p:ph type="pic" sz="quarter" idx="16"/>
          </p:nvPr>
        </p:nvSpPr>
        <p:spPr>
          <a:xfrm>
            <a:off x="4294825" y="1441992"/>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1" name="Picture Placeholder 6">
            <a:extLst>
              <a:ext uri="{FF2B5EF4-FFF2-40B4-BE49-F238E27FC236}">
                <a16:creationId xmlns:a16="http://schemas.microsoft.com/office/drawing/2014/main" id="{0DE58043-A190-A54E-A57D-DB8D7710CA6E}"/>
              </a:ext>
            </a:extLst>
          </p:cNvPr>
          <p:cNvSpPr>
            <a:spLocks noGrp="1" noChangeAspect="1"/>
          </p:cNvSpPr>
          <p:nvPr>
            <p:ph type="pic" sz="quarter" idx="17"/>
          </p:nvPr>
        </p:nvSpPr>
        <p:spPr>
          <a:xfrm>
            <a:off x="6836048" y="1444666"/>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2" name="Picture Placeholder 6">
            <a:extLst>
              <a:ext uri="{FF2B5EF4-FFF2-40B4-BE49-F238E27FC236}">
                <a16:creationId xmlns:a16="http://schemas.microsoft.com/office/drawing/2014/main" id="{21A2D792-C3A8-B94C-8D1A-FF993AF9B647}"/>
              </a:ext>
            </a:extLst>
          </p:cNvPr>
          <p:cNvSpPr>
            <a:spLocks noGrp="1" noChangeAspect="1"/>
          </p:cNvSpPr>
          <p:nvPr>
            <p:ph type="pic" sz="quarter" idx="18"/>
          </p:nvPr>
        </p:nvSpPr>
        <p:spPr>
          <a:xfrm>
            <a:off x="9377270" y="1441992"/>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3" name="Picture Placeholder 6">
            <a:extLst>
              <a:ext uri="{FF2B5EF4-FFF2-40B4-BE49-F238E27FC236}">
                <a16:creationId xmlns:a16="http://schemas.microsoft.com/office/drawing/2014/main" id="{16F74465-B7AF-DC42-B0E0-DAEE3F794FD1}"/>
              </a:ext>
            </a:extLst>
          </p:cNvPr>
          <p:cNvSpPr>
            <a:spLocks noGrp="1" noChangeAspect="1"/>
          </p:cNvSpPr>
          <p:nvPr>
            <p:ph type="pic" sz="quarter" idx="20"/>
          </p:nvPr>
        </p:nvSpPr>
        <p:spPr>
          <a:xfrm>
            <a:off x="6836046" y="3448050"/>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14" name="Picture Placeholder 6">
            <a:extLst>
              <a:ext uri="{FF2B5EF4-FFF2-40B4-BE49-F238E27FC236}">
                <a16:creationId xmlns:a16="http://schemas.microsoft.com/office/drawing/2014/main" id="{09C94A2A-6979-4D49-945C-5C430721B087}"/>
              </a:ext>
            </a:extLst>
          </p:cNvPr>
          <p:cNvSpPr>
            <a:spLocks noGrp="1" noChangeAspect="1"/>
          </p:cNvSpPr>
          <p:nvPr>
            <p:ph type="pic" sz="quarter" idx="21"/>
          </p:nvPr>
        </p:nvSpPr>
        <p:spPr>
          <a:xfrm>
            <a:off x="9377269" y="3448049"/>
            <a:ext cx="2274357" cy="1787654"/>
          </a:xfrm>
          <a:solidFill>
            <a:schemeClr val="bg1">
              <a:lumMod val="85000"/>
            </a:schemeClr>
          </a:solidFill>
          <a:ln>
            <a:noFill/>
          </a:ln>
          <a:effectLst>
            <a:outerShdw blurRad="50800" dist="38100" dir="2700000" algn="tl" rotWithShape="0">
              <a:prstClr val="black">
                <a:alpha val="40000"/>
              </a:prstClr>
            </a:outerShdw>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4" name="Footer Placeholder 3">
            <a:extLst>
              <a:ext uri="{FF2B5EF4-FFF2-40B4-BE49-F238E27FC236}">
                <a16:creationId xmlns:a16="http://schemas.microsoft.com/office/drawing/2014/main" id="{BD16ABDF-2326-9E45-8E5D-9E5FC6E22C90}"/>
              </a:ext>
            </a:extLst>
          </p:cNvPr>
          <p:cNvSpPr>
            <a:spLocks noGrp="1"/>
          </p:cNvSpPr>
          <p:nvPr>
            <p:ph type="ftr" sz="quarter" idx="22"/>
          </p:nvPr>
        </p:nvSpPr>
        <p:spPr/>
        <p:txBody>
          <a:bodyPr/>
          <a:lstStyle/>
          <a:p>
            <a:r>
              <a:rPr lang="en-US"/>
              <a:t>TEMPLATE (WRITE IN ALL CAPS)</a:t>
            </a:r>
          </a:p>
        </p:txBody>
      </p:sp>
      <p:sp>
        <p:nvSpPr>
          <p:cNvPr id="5" name="Slide Number Placeholder 4">
            <a:extLst>
              <a:ext uri="{FF2B5EF4-FFF2-40B4-BE49-F238E27FC236}">
                <a16:creationId xmlns:a16="http://schemas.microsoft.com/office/drawing/2014/main" id="{7C81559F-D07E-9448-A48A-3FAC38248852}"/>
              </a:ext>
            </a:extLst>
          </p:cNvPr>
          <p:cNvSpPr>
            <a:spLocks noGrp="1"/>
          </p:cNvSpPr>
          <p:nvPr>
            <p:ph type="sldNum" sz="quarter" idx="23"/>
          </p:nvPr>
        </p:nvSpPr>
        <p:spPr/>
        <p:txBody>
          <a:bodyPr/>
          <a:lstStyle/>
          <a:p>
            <a:r>
              <a:rPr lang="en-US"/>
              <a:t>/   </a:t>
            </a:r>
            <a:fld id="{6C7E6F33-74EE-5541-8108-8353B402F8C1}" type="slidenum">
              <a:rPr lang="en-US" smtClean="0"/>
              <a:pPr/>
              <a:t>‹#›</a:t>
            </a:fld>
            <a:endParaRPr lang="en-US"/>
          </a:p>
        </p:txBody>
      </p:sp>
      <p:sp>
        <p:nvSpPr>
          <p:cNvPr id="2" name="Title Placeholder 1">
            <a:extLst>
              <a:ext uri="{FF2B5EF4-FFF2-40B4-BE49-F238E27FC236}">
                <a16:creationId xmlns:a16="http://schemas.microsoft.com/office/drawing/2014/main" id="{7C63A3F1-3298-8C4D-984E-C388DD7476D4}"/>
              </a:ext>
            </a:extLst>
          </p:cNvPr>
          <p:cNvSpPr>
            <a:spLocks noGrp="1"/>
          </p:cNvSpPr>
          <p:nvPr>
            <p:ph type="title" hasCustomPrompt="1"/>
          </p:nvPr>
        </p:nvSpPr>
        <p:spPr>
          <a:xfrm>
            <a:off x="402398" y="639864"/>
            <a:ext cx="3108207" cy="77936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t">
            <a:noAutofit/>
          </a:bodyPr>
          <a:lstStyle>
            <a:lvl1pPr algn="l">
              <a:defRPr/>
            </a:lvl1pPr>
          </a:lstStyle>
          <a:p>
            <a:r>
              <a:rPr lang="en-US"/>
              <a:t>Page Title</a:t>
            </a:r>
          </a:p>
        </p:txBody>
      </p:sp>
      <p:sp>
        <p:nvSpPr>
          <p:cNvPr id="6" name="Text Placeholder 6">
            <a:extLst>
              <a:ext uri="{FF2B5EF4-FFF2-40B4-BE49-F238E27FC236}">
                <a16:creationId xmlns:a16="http://schemas.microsoft.com/office/drawing/2014/main" id="{240F6009-FD34-5694-97BE-792BA362FA48}"/>
              </a:ext>
            </a:extLst>
          </p:cNvPr>
          <p:cNvSpPr>
            <a:spLocks noGrp="1"/>
          </p:cNvSpPr>
          <p:nvPr>
            <p:ph type="body" sz="quarter" idx="24" hasCustomPrompt="1"/>
          </p:nvPr>
        </p:nvSpPr>
        <p:spPr>
          <a:xfrm>
            <a:off x="402397" y="1419226"/>
            <a:ext cx="3108207" cy="1010209"/>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
        <p:nvSpPr>
          <p:cNvPr id="16" name="Text Placeholder 18">
            <a:extLst>
              <a:ext uri="{FF2B5EF4-FFF2-40B4-BE49-F238E27FC236}">
                <a16:creationId xmlns:a16="http://schemas.microsoft.com/office/drawing/2014/main" id="{9B350A66-F079-A443-A6E6-F4E8B55CB8BA}"/>
              </a:ext>
            </a:extLst>
          </p:cNvPr>
          <p:cNvSpPr>
            <a:spLocks noGrp="1"/>
          </p:cNvSpPr>
          <p:nvPr>
            <p:ph type="body" sz="quarter" idx="15" hasCustomPrompt="1"/>
          </p:nvPr>
        </p:nvSpPr>
        <p:spPr>
          <a:xfrm>
            <a:off x="402398" y="2429435"/>
            <a:ext cx="3108207" cy="3528293"/>
          </a:xfrm>
          <a:solidFill>
            <a:schemeClr val="bg1"/>
          </a:solidFill>
          <a:effectLst>
            <a:outerShdw blurRad="50800" dist="38100" dir="2700000" algn="tl" rotWithShape="0">
              <a:prstClr val="black">
                <a:alpha val="40000"/>
              </a:prstClr>
            </a:outerShdw>
          </a:effectLst>
        </p:spPr>
        <p:txBody>
          <a:bodyPr>
            <a:normAutofit/>
          </a:bodyPr>
          <a:lstStyle>
            <a:lvl1pPr marL="380990" indent="-259074" algn="l">
              <a:lnSpc>
                <a:spcPct val="100000"/>
              </a:lnSpc>
              <a:spcAft>
                <a:spcPts val="400"/>
              </a:spcAft>
              <a:buFont typeface="Arial" panose="020B0604020202020204" pitchFamily="34" charset="0"/>
              <a:buChar char="•"/>
              <a:defRPr sz="1733"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p>
          <a:p>
            <a:pPr lvl="0"/>
            <a:r>
              <a:rPr lang="en-US" err="1"/>
              <a:t>Sollicitudin</a:t>
            </a:r>
            <a:r>
              <a:rPr lang="en-US"/>
              <a:t> </a:t>
            </a:r>
            <a:r>
              <a:rPr lang="en-US" err="1"/>
              <a:t>tempor</a:t>
            </a:r>
            <a:r>
              <a:rPr lang="en-US"/>
              <a:t> id </a:t>
            </a:r>
            <a:br>
              <a:rPr lang="en-US"/>
            </a:br>
            <a:r>
              <a:rPr lang="en-US" err="1"/>
              <a:t>eu</a:t>
            </a:r>
            <a:r>
              <a:rPr lang="en-US"/>
              <a:t> </a:t>
            </a:r>
            <a:r>
              <a:rPr lang="en-US" err="1"/>
              <a:t>nisl</a:t>
            </a:r>
            <a:r>
              <a:rPr lang="en-US"/>
              <a:t> </a:t>
            </a:r>
            <a:r>
              <a:rPr lang="en-US" err="1"/>
              <a:t>nunc</a:t>
            </a:r>
            <a:r>
              <a:rPr lang="en-US"/>
              <a:t> mi ipsum </a:t>
            </a:r>
            <a:r>
              <a:rPr lang="en-US" err="1"/>
              <a:t>faucibus</a:t>
            </a:r>
            <a:r>
              <a:rPr lang="en-US"/>
              <a:t>.</a:t>
            </a:r>
          </a:p>
        </p:txBody>
      </p:sp>
    </p:spTree>
    <p:extLst>
      <p:ext uri="{BB962C8B-B14F-4D97-AF65-F5344CB8AC3E}">
        <p14:creationId xmlns:p14="http://schemas.microsoft.com/office/powerpoint/2010/main" val="32394921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4AA42E8-9C39-454E-ADD6-58C0005063C5}"/>
              </a:ext>
              <a:ext uri="{C183D7F6-B498-43B3-948B-1728B52AA6E4}">
                <adec:decorative xmlns:adec="http://schemas.microsoft.com/office/drawing/2017/decorative" val="1"/>
              </a:ext>
            </a:extLst>
          </p:cNvPr>
          <p:cNvSpPr/>
          <p:nvPr userDrawn="1"/>
        </p:nvSpPr>
        <p:spPr>
          <a:xfrm flipH="1">
            <a:off x="3977532" y="823482"/>
            <a:ext cx="7946523" cy="5134246"/>
          </a:xfrm>
          <a:prstGeom prst="rect">
            <a:avLst/>
          </a:pr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219108" eaLnBrk="1" fontAlgn="auto" hangingPunct="1">
              <a:spcBef>
                <a:spcPts val="0"/>
              </a:spcBef>
              <a:spcAft>
                <a:spcPts val="0"/>
              </a:spcAft>
              <a:defRPr/>
            </a:pPr>
            <a:endParaRPr lang="en-US" sz="1801">
              <a:latin typeface="Muli Regular" charset="0"/>
            </a:endParaRPr>
          </a:p>
        </p:txBody>
      </p:sp>
      <p:sp>
        <p:nvSpPr>
          <p:cNvPr id="10" name="Picture Placeholder 6">
            <a:extLst>
              <a:ext uri="{FF2B5EF4-FFF2-40B4-BE49-F238E27FC236}">
                <a16:creationId xmlns:a16="http://schemas.microsoft.com/office/drawing/2014/main" id="{7D336015-19B8-2247-9DF3-762298B05F56}"/>
              </a:ext>
            </a:extLst>
          </p:cNvPr>
          <p:cNvSpPr>
            <a:spLocks noGrp="1" noChangeAspect="1"/>
          </p:cNvSpPr>
          <p:nvPr>
            <p:ph type="pic" sz="quarter" idx="16"/>
          </p:nvPr>
        </p:nvSpPr>
        <p:spPr>
          <a:xfrm>
            <a:off x="4294872" y="1352255"/>
            <a:ext cx="7311842" cy="4076700"/>
          </a:xfrm>
          <a:solidFill>
            <a:schemeClr val="bg1">
              <a:lumMod val="85000"/>
            </a:schemeClr>
          </a:solidFill>
          <a:ln>
            <a:noFill/>
          </a:ln>
          <a:effectLst/>
        </p:spPr>
        <p:txBody>
          <a:bodyPr lIns="270000" tIns="270000" rIns="270000" bIns="270000"/>
          <a:lstStyle>
            <a:lvl1pPr marL="0" indent="0" algn="ctr">
              <a:buNone/>
              <a:defRPr sz="1335" b="1" i="0" cap="none" spc="0" baseline="0">
                <a:solidFill>
                  <a:schemeClr val="tx1"/>
                </a:solidFill>
                <a:latin typeface="Muli" charset="0"/>
                <a:ea typeface="Muli" charset="0"/>
                <a:cs typeface="Muli" charset="0"/>
              </a:defRPr>
            </a:lvl1pPr>
          </a:lstStyle>
          <a:p>
            <a:pPr lvl="0"/>
            <a:r>
              <a:rPr lang="en-US" noProof="0"/>
              <a:t>Drag picture to placeholder or click icon to add</a:t>
            </a:r>
          </a:p>
        </p:txBody>
      </p:sp>
      <p:sp>
        <p:nvSpPr>
          <p:cNvPr id="4" name="Footer Placeholder 3">
            <a:extLst>
              <a:ext uri="{FF2B5EF4-FFF2-40B4-BE49-F238E27FC236}">
                <a16:creationId xmlns:a16="http://schemas.microsoft.com/office/drawing/2014/main" id="{BD16ABDF-2326-9E45-8E5D-9E5FC6E22C90}"/>
              </a:ext>
            </a:extLst>
          </p:cNvPr>
          <p:cNvSpPr>
            <a:spLocks noGrp="1"/>
          </p:cNvSpPr>
          <p:nvPr>
            <p:ph type="ftr" sz="quarter" idx="22"/>
          </p:nvPr>
        </p:nvSpPr>
        <p:spPr/>
        <p:txBody>
          <a:bodyPr/>
          <a:lstStyle/>
          <a:p>
            <a:r>
              <a:rPr lang="en-US"/>
              <a:t>TEMPLATE (WRITE IN ALL CAPS)</a:t>
            </a:r>
          </a:p>
        </p:txBody>
      </p:sp>
      <p:sp>
        <p:nvSpPr>
          <p:cNvPr id="5" name="Slide Number Placeholder 4">
            <a:extLst>
              <a:ext uri="{FF2B5EF4-FFF2-40B4-BE49-F238E27FC236}">
                <a16:creationId xmlns:a16="http://schemas.microsoft.com/office/drawing/2014/main" id="{7C81559F-D07E-9448-A48A-3FAC38248852}"/>
              </a:ext>
            </a:extLst>
          </p:cNvPr>
          <p:cNvSpPr>
            <a:spLocks noGrp="1"/>
          </p:cNvSpPr>
          <p:nvPr>
            <p:ph type="sldNum" sz="quarter" idx="23"/>
          </p:nvPr>
        </p:nvSpPr>
        <p:spPr/>
        <p:txBody>
          <a:bodyPr/>
          <a:lstStyle/>
          <a:p>
            <a:r>
              <a:rPr lang="en-US"/>
              <a:t>/   </a:t>
            </a:r>
            <a:fld id="{6C7E6F33-74EE-5541-8108-8353B402F8C1}" type="slidenum">
              <a:rPr lang="en-US" smtClean="0"/>
              <a:pPr/>
              <a:t>‹#›</a:t>
            </a:fld>
            <a:endParaRPr lang="en-US"/>
          </a:p>
        </p:txBody>
      </p:sp>
      <p:sp>
        <p:nvSpPr>
          <p:cNvPr id="8" name="Title Placeholder 1">
            <a:extLst>
              <a:ext uri="{FF2B5EF4-FFF2-40B4-BE49-F238E27FC236}">
                <a16:creationId xmlns:a16="http://schemas.microsoft.com/office/drawing/2014/main" id="{188C06E2-59A6-4FE8-C5A7-6180FBDDFC23}"/>
              </a:ext>
            </a:extLst>
          </p:cNvPr>
          <p:cNvSpPr>
            <a:spLocks noGrp="1"/>
          </p:cNvSpPr>
          <p:nvPr>
            <p:ph type="title" hasCustomPrompt="1"/>
          </p:nvPr>
        </p:nvSpPr>
        <p:spPr>
          <a:xfrm>
            <a:off x="402398" y="639864"/>
            <a:ext cx="3108207" cy="779362"/>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t">
            <a:noAutofit/>
          </a:bodyPr>
          <a:lstStyle>
            <a:lvl1pPr algn="l">
              <a:defRPr/>
            </a:lvl1pPr>
          </a:lstStyle>
          <a:p>
            <a:r>
              <a:rPr lang="en-US"/>
              <a:t>Page Title</a:t>
            </a:r>
          </a:p>
        </p:txBody>
      </p:sp>
      <p:sp>
        <p:nvSpPr>
          <p:cNvPr id="9" name="Text Placeholder 6">
            <a:extLst>
              <a:ext uri="{FF2B5EF4-FFF2-40B4-BE49-F238E27FC236}">
                <a16:creationId xmlns:a16="http://schemas.microsoft.com/office/drawing/2014/main" id="{B7FCDA71-99A0-621A-1565-FFB026DDF512}"/>
              </a:ext>
            </a:extLst>
          </p:cNvPr>
          <p:cNvSpPr>
            <a:spLocks noGrp="1"/>
          </p:cNvSpPr>
          <p:nvPr>
            <p:ph type="body" sz="quarter" idx="19" hasCustomPrompt="1"/>
          </p:nvPr>
        </p:nvSpPr>
        <p:spPr>
          <a:xfrm>
            <a:off x="402397" y="1419226"/>
            <a:ext cx="3108207" cy="1010209"/>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
        <p:nvSpPr>
          <p:cNvPr id="16" name="Text Placeholder 18">
            <a:extLst>
              <a:ext uri="{FF2B5EF4-FFF2-40B4-BE49-F238E27FC236}">
                <a16:creationId xmlns:a16="http://schemas.microsoft.com/office/drawing/2014/main" id="{9B350A66-F079-A443-A6E6-F4E8B55CB8BA}"/>
              </a:ext>
            </a:extLst>
          </p:cNvPr>
          <p:cNvSpPr>
            <a:spLocks noGrp="1"/>
          </p:cNvSpPr>
          <p:nvPr>
            <p:ph type="body" sz="quarter" idx="15" hasCustomPrompt="1"/>
          </p:nvPr>
        </p:nvSpPr>
        <p:spPr>
          <a:xfrm>
            <a:off x="402398" y="2429435"/>
            <a:ext cx="3108207" cy="3528293"/>
          </a:xfrm>
          <a:solidFill>
            <a:schemeClr val="bg1"/>
          </a:solidFill>
          <a:effectLst>
            <a:outerShdw blurRad="50800" dist="38100" dir="2700000" algn="tl" rotWithShape="0">
              <a:prstClr val="black">
                <a:alpha val="40000"/>
              </a:prstClr>
            </a:outerShdw>
          </a:effectLst>
        </p:spPr>
        <p:txBody>
          <a:bodyPr>
            <a:normAutofit/>
          </a:bodyPr>
          <a:lstStyle>
            <a:lvl1pPr marL="380990" indent="-259074" algn="l">
              <a:lnSpc>
                <a:spcPct val="100000"/>
              </a:lnSpc>
              <a:spcAft>
                <a:spcPts val="400"/>
              </a:spcAft>
              <a:buFont typeface="Arial" panose="020B0604020202020204" pitchFamily="34" charset="0"/>
              <a:buChar char="•"/>
              <a:defRPr sz="1733" spc="0"/>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p>
          <a:p>
            <a:pPr lvl="0"/>
            <a:r>
              <a:rPr lang="en-US" err="1"/>
              <a:t>Sollicitudin</a:t>
            </a:r>
            <a:r>
              <a:rPr lang="en-US"/>
              <a:t> </a:t>
            </a:r>
            <a:r>
              <a:rPr lang="en-US" err="1"/>
              <a:t>tempor</a:t>
            </a:r>
            <a:r>
              <a:rPr lang="en-US"/>
              <a:t> id </a:t>
            </a:r>
            <a:br>
              <a:rPr lang="en-US"/>
            </a:br>
            <a:r>
              <a:rPr lang="en-US" err="1"/>
              <a:t>eu</a:t>
            </a:r>
            <a:r>
              <a:rPr lang="en-US"/>
              <a:t> </a:t>
            </a:r>
            <a:r>
              <a:rPr lang="en-US" err="1"/>
              <a:t>nisl</a:t>
            </a:r>
            <a:r>
              <a:rPr lang="en-US"/>
              <a:t> </a:t>
            </a:r>
            <a:r>
              <a:rPr lang="en-US" err="1"/>
              <a:t>nunc</a:t>
            </a:r>
            <a:r>
              <a:rPr lang="en-US"/>
              <a:t> mi ipsum </a:t>
            </a:r>
            <a:r>
              <a:rPr lang="en-US" err="1"/>
              <a:t>faucibus</a:t>
            </a:r>
            <a:r>
              <a:rPr lang="en-US"/>
              <a:t>.</a:t>
            </a:r>
          </a:p>
        </p:txBody>
      </p:sp>
    </p:spTree>
    <p:extLst>
      <p:ext uri="{BB962C8B-B14F-4D97-AF65-F5344CB8AC3E}">
        <p14:creationId xmlns:p14="http://schemas.microsoft.com/office/powerpoint/2010/main" val="6803969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Gallery, 4">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DC74FF91-56F8-4041-8084-DCA6FE3768A6}"/>
              </a:ext>
            </a:extLst>
          </p:cNvPr>
          <p:cNvSpPr>
            <a:spLocks noGrp="1"/>
          </p:cNvSpPr>
          <p:nvPr>
            <p:ph type="pic" sz="quarter" idx="10"/>
          </p:nvPr>
        </p:nvSpPr>
        <p:spPr>
          <a:xfrm>
            <a:off x="827040" y="2272822"/>
            <a:ext cx="2499360"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0" name="Picture Placeholder 8">
            <a:extLst>
              <a:ext uri="{FF2B5EF4-FFF2-40B4-BE49-F238E27FC236}">
                <a16:creationId xmlns:a16="http://schemas.microsoft.com/office/drawing/2014/main" id="{9890E7C6-6DB0-2747-A517-8DEE6CDE9DAF}"/>
              </a:ext>
            </a:extLst>
          </p:cNvPr>
          <p:cNvSpPr>
            <a:spLocks noGrp="1"/>
          </p:cNvSpPr>
          <p:nvPr>
            <p:ph type="pic" sz="quarter" idx="11"/>
          </p:nvPr>
        </p:nvSpPr>
        <p:spPr>
          <a:xfrm>
            <a:off x="3501573" y="2272822"/>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1" name="Picture Placeholder 8">
            <a:extLst>
              <a:ext uri="{FF2B5EF4-FFF2-40B4-BE49-F238E27FC236}">
                <a16:creationId xmlns:a16="http://schemas.microsoft.com/office/drawing/2014/main" id="{770EB97E-35CF-6846-8293-859346561647}"/>
              </a:ext>
            </a:extLst>
          </p:cNvPr>
          <p:cNvSpPr>
            <a:spLocks noGrp="1"/>
          </p:cNvSpPr>
          <p:nvPr>
            <p:ph type="pic" sz="quarter" idx="12"/>
          </p:nvPr>
        </p:nvSpPr>
        <p:spPr>
          <a:xfrm>
            <a:off x="6183721" y="2272822"/>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12" name="Picture Placeholder 8">
            <a:extLst>
              <a:ext uri="{FF2B5EF4-FFF2-40B4-BE49-F238E27FC236}">
                <a16:creationId xmlns:a16="http://schemas.microsoft.com/office/drawing/2014/main" id="{B67E2AC7-593C-1A48-9B8F-BCBC2F014AE8}"/>
              </a:ext>
            </a:extLst>
          </p:cNvPr>
          <p:cNvSpPr>
            <a:spLocks noGrp="1"/>
          </p:cNvSpPr>
          <p:nvPr>
            <p:ph type="pic" sz="quarter" idx="13"/>
          </p:nvPr>
        </p:nvSpPr>
        <p:spPr>
          <a:xfrm>
            <a:off x="8856346" y="2272821"/>
            <a:ext cx="2495551" cy="2495551"/>
          </a:xfrm>
          <a:solidFill>
            <a:schemeClr val="bg1">
              <a:lumMod val="85000"/>
            </a:schemeClr>
          </a:solidFill>
          <a:effectLst>
            <a:outerShdw blurRad="50800" dist="38100" dir="2700000" algn="tl" rotWithShape="0">
              <a:prstClr val="black">
                <a:alpha val="40000"/>
              </a:prstClr>
            </a:outerShdw>
          </a:effectLst>
        </p:spPr>
        <p:txBody>
          <a:bodyPr/>
          <a:lstStyle>
            <a:lvl1pPr marL="0" indent="0" algn="ctr">
              <a:buNone/>
              <a:defRPr/>
            </a:lvl1pPr>
          </a:lstStyle>
          <a:p>
            <a:endParaRPr lang="en-US"/>
          </a:p>
        </p:txBody>
      </p:sp>
      <p:sp>
        <p:nvSpPr>
          <p:cNvPr id="3" name="Title 1">
            <a:extLst>
              <a:ext uri="{FF2B5EF4-FFF2-40B4-BE49-F238E27FC236}">
                <a16:creationId xmlns:a16="http://schemas.microsoft.com/office/drawing/2014/main" id="{F18BDDAE-2A68-FBA5-7B53-C1B0ACA5EBCE}"/>
              </a:ext>
            </a:extLst>
          </p:cNvPr>
          <p:cNvSpPr>
            <a:spLocks noGrp="1"/>
          </p:cNvSpPr>
          <p:nvPr>
            <p:ph type="title" hasCustomPrompt="1"/>
          </p:nvPr>
        </p:nvSpPr>
        <p:spPr>
          <a:xfrm>
            <a:off x="531848" y="716984"/>
            <a:ext cx="5564152" cy="625567"/>
          </a:xfrm>
          <a:solidFill>
            <a:schemeClr val="bg1"/>
          </a:solidFill>
          <a:effectLst>
            <a:outerShdw blurRad="50800" dist="38100" dir="2700000" algn="tl" rotWithShape="0">
              <a:prstClr val="black">
                <a:alpha val="40000"/>
              </a:prstClr>
            </a:outerShdw>
          </a:effectLst>
        </p:spPr>
        <p:txBody>
          <a:bodyPr/>
          <a:lstStyle>
            <a:lvl1pPr algn="l">
              <a:defRPr>
                <a:latin typeface="Munistic" panose="02000500000000000000" pitchFamily="2" charset="0"/>
              </a:defRPr>
            </a:lvl1pPr>
          </a:lstStyle>
          <a:p>
            <a:r>
              <a:rPr lang="en-US"/>
              <a:t>TITLE</a:t>
            </a:r>
          </a:p>
        </p:txBody>
      </p:sp>
      <p:sp>
        <p:nvSpPr>
          <p:cNvPr id="4" name="Text Placeholder 6">
            <a:extLst>
              <a:ext uri="{FF2B5EF4-FFF2-40B4-BE49-F238E27FC236}">
                <a16:creationId xmlns:a16="http://schemas.microsoft.com/office/drawing/2014/main" id="{37C61FBC-F81F-DB41-B3CB-92857737A91D}"/>
              </a:ext>
            </a:extLst>
          </p:cNvPr>
          <p:cNvSpPr>
            <a:spLocks noGrp="1"/>
          </p:cNvSpPr>
          <p:nvPr>
            <p:ph type="body" sz="quarter" idx="23" hasCustomPrompt="1"/>
          </p:nvPr>
        </p:nvSpPr>
        <p:spPr>
          <a:xfrm>
            <a:off x="6096000" y="716984"/>
            <a:ext cx="5674660" cy="625567"/>
          </a:xfrm>
          <a:solidFill>
            <a:schemeClr val="bg1"/>
          </a:solidFill>
          <a:effectLst>
            <a:outerShdw blurRad="50800" dist="38100" dir="2700000" algn="tl" rotWithShape="0">
              <a:prstClr val="black">
                <a:alpha val="40000"/>
              </a:prstClr>
            </a:outerShdw>
          </a:effectLst>
        </p:spPr>
        <p:txBody>
          <a:bodyPr anchor="ctr"/>
          <a:lstStyle>
            <a:lvl1pPr>
              <a:defRPr spc="67" baseline="0"/>
            </a:lvl1pPr>
          </a:lstStyle>
          <a:p>
            <a:pPr lvl="0"/>
            <a:r>
              <a:rPr lang="en-US"/>
              <a:t>SUBHEAD TO GO HERE</a:t>
            </a:r>
          </a:p>
        </p:txBody>
      </p:sp>
    </p:spTree>
    <p:extLst>
      <p:ext uri="{BB962C8B-B14F-4D97-AF65-F5344CB8AC3E}">
        <p14:creationId xmlns:p14="http://schemas.microsoft.com/office/powerpoint/2010/main" val="20950818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3"/>
          <p:cNvSpPr txBox="1">
            <a:spLocks noGrp="1"/>
          </p:cNvSpPr>
          <p:nvPr>
            <p:ph type="sldNum" idx="12"/>
          </p:nvPr>
        </p:nvSpPr>
        <p:spPr>
          <a:xfrm>
            <a:off x="11354939" y="6323867"/>
            <a:ext cx="365600" cy="524800"/>
          </a:xfrm>
          <a:prstGeom prst="rect">
            <a:avLst/>
          </a:prstGeom>
          <a:noFill/>
          <a:ln>
            <a:noFill/>
          </a:ln>
        </p:spPr>
        <p:txBody>
          <a:bodyPr spcFirstLastPara="1" wrap="square" lIns="91425" tIns="91425" rIns="91425" bIns="91425" anchor="ctr" anchorCtr="0">
            <a:norm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20" name="Google Shape;20;p3"/>
          <p:cNvSpPr txBox="1">
            <a:spLocks noGrp="1"/>
          </p:cNvSpPr>
          <p:nvPr>
            <p:ph type="body" idx="1"/>
          </p:nvPr>
        </p:nvSpPr>
        <p:spPr>
          <a:xfrm>
            <a:off x="415600" y="1502467"/>
            <a:ext cx="11362400" cy="47920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Tree>
    <p:extLst>
      <p:ext uri="{BB962C8B-B14F-4D97-AF65-F5344CB8AC3E}">
        <p14:creationId xmlns:p14="http://schemas.microsoft.com/office/powerpoint/2010/main" val="40204962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En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00C3C-7EC6-AE23-71FD-2D47F48F913E}"/>
              </a:ext>
            </a:extLst>
          </p:cNvPr>
          <p:cNvSpPr>
            <a:spLocks noGrp="1"/>
          </p:cNvSpPr>
          <p:nvPr>
            <p:ph type="ctrTitle" hasCustomPrompt="1"/>
          </p:nvPr>
        </p:nvSpPr>
        <p:spPr>
          <a:xfrm>
            <a:off x="2587978" y="2219239"/>
            <a:ext cx="6343650" cy="1540459"/>
          </a:xfrm>
          <a:noFill/>
          <a:effectLst/>
        </p:spPr>
        <p:txBody>
          <a:bodyPr anchor="b"/>
          <a:lstStyle>
            <a:lvl1pPr algn="ctr">
              <a:defRPr sz="6000">
                <a:latin typeface="Munistic" panose="02000500000000000000" pitchFamily="2" charset="0"/>
              </a:defRPr>
            </a:lvl1pPr>
          </a:lstStyle>
          <a:p>
            <a:r>
              <a:rPr lang="en-US"/>
              <a:t>THANK YOU</a:t>
            </a:r>
          </a:p>
        </p:txBody>
      </p:sp>
      <p:sp>
        <p:nvSpPr>
          <p:cNvPr id="3" name="Subtitle 2">
            <a:extLst>
              <a:ext uri="{FF2B5EF4-FFF2-40B4-BE49-F238E27FC236}">
                <a16:creationId xmlns:a16="http://schemas.microsoft.com/office/drawing/2014/main" id="{EAEFFB5D-8493-2F65-E03A-B3D502FEDF8D}"/>
              </a:ext>
            </a:extLst>
          </p:cNvPr>
          <p:cNvSpPr>
            <a:spLocks noGrp="1"/>
          </p:cNvSpPr>
          <p:nvPr>
            <p:ph type="subTitle" idx="1" hasCustomPrompt="1"/>
          </p:nvPr>
        </p:nvSpPr>
        <p:spPr>
          <a:xfrm>
            <a:off x="2587977" y="3851774"/>
            <a:ext cx="6343650" cy="1655762"/>
          </a:xfrm>
        </p:spPr>
        <p:txBody>
          <a:bodyPr/>
          <a:lstStyle>
            <a:lvl1pPr marL="0" indent="0" algn="ctr">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CAL POLY SPACE SYSTEMS</a:t>
            </a:r>
          </a:p>
        </p:txBody>
      </p:sp>
      <p:sp>
        <p:nvSpPr>
          <p:cNvPr id="4" name="Date Placeholder 3">
            <a:extLst>
              <a:ext uri="{FF2B5EF4-FFF2-40B4-BE49-F238E27FC236}">
                <a16:creationId xmlns:a16="http://schemas.microsoft.com/office/drawing/2014/main" id="{A094F224-0262-F26D-51D3-0465D1119920}"/>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7AE2E9E9-586D-E749-733C-47775405D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2A02A3-A1D5-01D2-3C50-0CD19B4D1202}"/>
              </a:ext>
            </a:extLst>
          </p:cNvPr>
          <p:cNvSpPr>
            <a:spLocks noGrp="1"/>
          </p:cNvSpPr>
          <p:nvPr>
            <p:ph type="sldNum" sz="quarter" idx="12"/>
          </p:nvPr>
        </p:nvSpPr>
        <p:spPr/>
        <p:txBody>
          <a:bodyPr/>
          <a:lstStyle/>
          <a:p>
            <a:fld id="{A34BE8CB-CD86-4941-8F6D-69456A036F2B}" type="slidenum">
              <a:rPr lang="en-US" smtClean="0"/>
              <a:t>‹#›</a:t>
            </a:fld>
            <a:endParaRPr lang="en-US"/>
          </a:p>
        </p:txBody>
      </p:sp>
      <p:pic>
        <p:nvPicPr>
          <p:cNvPr id="1026" name="Picture 2" descr="A blue and white text on a black background&#10;&#10;Description automatically generated">
            <a:extLst>
              <a:ext uri="{FF2B5EF4-FFF2-40B4-BE49-F238E27FC236}">
                <a16:creationId xmlns:a16="http://schemas.microsoft.com/office/drawing/2014/main" id="{49352888-9D9B-1C21-29E5-BFAD18FC90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2988" y="382323"/>
            <a:ext cx="4666567" cy="1203992"/>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A blue and purple text on a black background&#10;&#10;Description automatically generated">
            <a:extLst>
              <a:ext uri="{FF2B5EF4-FFF2-40B4-BE49-F238E27FC236}">
                <a16:creationId xmlns:a16="http://schemas.microsoft.com/office/drawing/2014/main" id="{3CCAC7A9-2D82-8951-05CD-88BE8C463DD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15729" y="3058564"/>
            <a:ext cx="2437339" cy="887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oeing Logo and symbol, meaning, history, PNG, brand">
            <a:extLst>
              <a:ext uri="{FF2B5EF4-FFF2-40B4-BE49-F238E27FC236}">
                <a16:creationId xmlns:a16="http://schemas.microsoft.com/office/drawing/2014/main" id="{76909B21-5469-297F-5C83-A9E1FE46791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236518" y="205670"/>
            <a:ext cx="4510697" cy="1518204"/>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omposites One Showroom | CompositesWorld">
            <a:extLst>
              <a:ext uri="{FF2B5EF4-FFF2-40B4-BE49-F238E27FC236}">
                <a16:creationId xmlns:a16="http://schemas.microsoft.com/office/drawing/2014/main" id="{0F458620-B139-69DE-42D6-0DBB12F4A30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82037" y="5321043"/>
            <a:ext cx="5080980" cy="73851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 logo for a ski resort&#10;&#10;Description automatically generated">
            <a:extLst>
              <a:ext uri="{FF2B5EF4-FFF2-40B4-BE49-F238E27FC236}">
                <a16:creationId xmlns:a16="http://schemas.microsoft.com/office/drawing/2014/main" id="{612C1C81-5266-DB95-7CD7-5DDBFC636F2E}"/>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2553" y="1848874"/>
            <a:ext cx="3493904" cy="1112292"/>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Axiom Materials to be Acquired by Kordsa, Merging International Leaders in  Industrial Materials">
            <a:extLst>
              <a:ext uri="{FF2B5EF4-FFF2-40B4-BE49-F238E27FC236}">
                <a16:creationId xmlns:a16="http://schemas.microsoft.com/office/drawing/2014/main" id="{754FFED0-D488-3252-EBAD-8F183D97ACE7}"/>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280817" y="4231282"/>
            <a:ext cx="2307161" cy="688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065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199" y="737139"/>
            <a:ext cx="10515600" cy="943848"/>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ctr">
            <a:noAutofit/>
          </a:bodyPr>
          <a:lstStyle/>
          <a:p>
            <a:r>
              <a:rPr lang="en-US"/>
              <a:t>TITLE</a:t>
            </a:r>
          </a:p>
        </p:txBody>
      </p:sp>
      <p:sp>
        <p:nvSpPr>
          <p:cNvPr id="3" name="Text Placeholder 2"/>
          <p:cNvSpPr>
            <a:spLocks noGrp="1"/>
          </p:cNvSpPr>
          <p:nvPr>
            <p:ph type="body" idx="1"/>
          </p:nvPr>
        </p:nvSpPr>
        <p:spPr>
          <a:xfrm>
            <a:off x="838200" y="2232594"/>
            <a:ext cx="10515600" cy="3624868"/>
          </a:xfrm>
          <a:prstGeom prst="rect">
            <a:avLst/>
          </a:prstGeom>
        </p:spPr>
        <p:txBody>
          <a:bodyPr vert="horz" lIns="91440" tIns="45720" rIns="91440" bIns="4572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6B19DA-7078-8248-93A9-40A85B001A1C}"/>
              </a:ext>
              <a:ext uri="{C183D7F6-B498-43B3-948B-1728B52AA6E4}">
                <adec:decorative xmlns:adec="http://schemas.microsoft.com/office/drawing/2017/decorative" val="1"/>
              </a:ext>
            </a:extLst>
          </p:cNvPr>
          <p:cNvCxnSpPr/>
          <p:nvPr userDrawn="1"/>
        </p:nvCxnSpPr>
        <p:spPr>
          <a:xfrm>
            <a:off x="403413" y="6287377"/>
            <a:ext cx="11385177"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A9FAD1C2-7B31-4845-82E3-2D766FA7E142}"/>
              </a:ext>
              <a:ext uri="{C183D7F6-B498-43B3-948B-1728B52AA6E4}">
                <adec:decorative xmlns:adec="http://schemas.microsoft.com/office/drawing/2017/decorative" val="1"/>
              </a:ext>
            </a:extLst>
          </p:cNvPr>
          <p:cNvSpPr/>
          <p:nvPr userDrawn="1"/>
        </p:nvSpPr>
        <p:spPr>
          <a:xfrm>
            <a:off x="-1" y="0"/>
            <a:ext cx="12192000" cy="1855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 name="Footer Placeholder 3">
            <a:extLst>
              <a:ext uri="{FF2B5EF4-FFF2-40B4-BE49-F238E27FC236}">
                <a16:creationId xmlns:a16="http://schemas.microsoft.com/office/drawing/2014/main" id="{2113EB39-BDD5-3540-B088-F494392B9C65}"/>
              </a:ext>
            </a:extLst>
          </p:cNvPr>
          <p:cNvSpPr>
            <a:spLocks noGrp="1"/>
          </p:cNvSpPr>
          <p:nvPr>
            <p:ph type="ftr" sz="quarter" idx="3"/>
          </p:nvPr>
        </p:nvSpPr>
        <p:spPr>
          <a:xfrm>
            <a:off x="7491867" y="6351113"/>
            <a:ext cx="4114800" cy="366183"/>
          </a:xfrm>
          <a:prstGeom prst="rect">
            <a:avLst/>
          </a:prstGeom>
        </p:spPr>
        <p:txBody>
          <a:bodyPr vert="horz" lIns="91440" tIns="45720" rIns="91440" bIns="45720" rtlCol="0" anchor="ctr"/>
          <a:lstStyle>
            <a:lvl1pPr algn="r">
              <a:defRPr sz="933" b="0" i="0" spc="133" baseline="0">
                <a:solidFill>
                  <a:schemeClr val="tx1">
                    <a:tint val="75000"/>
                  </a:schemeClr>
                </a:solidFill>
                <a:latin typeface="Source Sans Pro" panose="020B0503030403020204" pitchFamily="34" charset="0"/>
              </a:defRPr>
            </a:lvl1pPr>
          </a:lstStyle>
          <a:p>
            <a:r>
              <a:rPr lang="en-US"/>
              <a:t>TEMPLATE (WRITE IN ALL CAPS)</a:t>
            </a:r>
          </a:p>
        </p:txBody>
      </p:sp>
      <p:sp>
        <p:nvSpPr>
          <p:cNvPr id="5" name="Slide Number Placeholder 4">
            <a:extLst>
              <a:ext uri="{FF2B5EF4-FFF2-40B4-BE49-F238E27FC236}">
                <a16:creationId xmlns:a16="http://schemas.microsoft.com/office/drawing/2014/main" id="{706EE155-D1A5-5C42-B024-39462222F25F}"/>
              </a:ext>
            </a:extLst>
          </p:cNvPr>
          <p:cNvSpPr>
            <a:spLocks noGrp="1"/>
          </p:cNvSpPr>
          <p:nvPr>
            <p:ph type="sldNum" sz="quarter" idx="4"/>
          </p:nvPr>
        </p:nvSpPr>
        <p:spPr>
          <a:xfrm>
            <a:off x="11379199" y="6351113"/>
            <a:ext cx="544856" cy="366183"/>
          </a:xfrm>
          <a:prstGeom prst="rect">
            <a:avLst/>
          </a:prstGeom>
        </p:spPr>
        <p:txBody>
          <a:bodyPr vert="horz" lIns="91440" tIns="45720" rIns="91440" bIns="45720" rtlCol="0" anchor="ctr"/>
          <a:lstStyle>
            <a:lvl1pPr algn="r">
              <a:defRPr sz="933" b="0" i="0">
                <a:solidFill>
                  <a:schemeClr val="bg2">
                    <a:lumMod val="75000"/>
                  </a:schemeClr>
                </a:solidFill>
                <a:latin typeface="Source Sans Pro" panose="020B0503030403020204" pitchFamily="34" charset="0"/>
              </a:defRPr>
            </a:lvl1pPr>
          </a:lstStyle>
          <a:p>
            <a:r>
              <a:rPr lang="en-US"/>
              <a:t>/   </a:t>
            </a:r>
            <a:fld id="{6C7E6F33-74EE-5541-8108-8353B402F8C1}" type="slidenum">
              <a:rPr lang="en-US" smtClean="0"/>
              <a:pPr/>
              <a:t>‹#›</a:t>
            </a:fld>
            <a:endParaRPr lang="en-US"/>
          </a:p>
        </p:txBody>
      </p:sp>
      <p:pic>
        <p:nvPicPr>
          <p:cNvPr id="6" name="Picture 5" descr="A green and white text&#10;&#10;Description automatically generated">
            <a:extLst>
              <a:ext uri="{FF2B5EF4-FFF2-40B4-BE49-F238E27FC236}">
                <a16:creationId xmlns:a16="http://schemas.microsoft.com/office/drawing/2014/main" id="{7E2A885B-EFC7-5D6A-F066-22010D9DFA5D}"/>
              </a:ext>
            </a:extLst>
          </p:cNvPr>
          <p:cNvPicPr>
            <a:picLocks noChangeAspect="1"/>
          </p:cNvPicPr>
          <p:nvPr userDrawn="1"/>
        </p:nvPicPr>
        <p:blipFill>
          <a:blip r:embed="rId19"/>
          <a:stretch>
            <a:fillRect/>
          </a:stretch>
        </p:blipFill>
        <p:spPr>
          <a:xfrm>
            <a:off x="267945" y="6120861"/>
            <a:ext cx="1471448" cy="827689"/>
          </a:xfrm>
          <a:prstGeom prst="rect">
            <a:avLst/>
          </a:prstGeom>
        </p:spPr>
      </p:pic>
      <p:pic>
        <p:nvPicPr>
          <p:cNvPr id="7" name="Picture 6" descr="A green and white text&#10;&#10;Description automatically generated">
            <a:extLst>
              <a:ext uri="{FF2B5EF4-FFF2-40B4-BE49-F238E27FC236}">
                <a16:creationId xmlns:a16="http://schemas.microsoft.com/office/drawing/2014/main" id="{900A4ABF-D1EE-4564-993E-1FF575D474BE}"/>
              </a:ext>
            </a:extLst>
          </p:cNvPr>
          <p:cNvPicPr>
            <a:picLocks noChangeAspect="1"/>
          </p:cNvPicPr>
          <p:nvPr userDrawn="1"/>
        </p:nvPicPr>
        <p:blipFill>
          <a:blip r:embed="rId19">
            <a:alphaModFix amt="8000"/>
          </a:blip>
          <a:stretch>
            <a:fillRect/>
          </a:stretch>
        </p:blipFill>
        <p:spPr>
          <a:xfrm>
            <a:off x="2124029" y="1232590"/>
            <a:ext cx="7809463" cy="4392819"/>
          </a:xfrm>
          <a:prstGeom prst="rect">
            <a:avLst/>
          </a:prstGeom>
        </p:spPr>
      </p:pic>
    </p:spTree>
    <p:extLst>
      <p:ext uri="{BB962C8B-B14F-4D97-AF65-F5344CB8AC3E}">
        <p14:creationId xmlns:p14="http://schemas.microsoft.com/office/powerpoint/2010/main" val="44649789"/>
      </p:ext>
    </p:extLst>
  </p:cSld>
  <p:clrMap bg1="lt1" tx1="dk1" bg2="lt2" tx2="dk2" accent1="accent1" accent2="accent2" accent3="accent3" accent4="accent4" accent5="accent5" accent6="accent6" hlink="hlink" folHlink="folHlink"/>
  <p:sldLayoutIdLst>
    <p:sldLayoutId id="2147483663" r:id="rId1"/>
    <p:sldLayoutId id="2147483688" r:id="rId2"/>
    <p:sldLayoutId id="2147483664" r:id="rId3"/>
    <p:sldLayoutId id="2147483668" r:id="rId4"/>
    <p:sldLayoutId id="2147483674" r:id="rId5"/>
    <p:sldLayoutId id="2147483666" r:id="rId6"/>
    <p:sldLayoutId id="2147483685" r:id="rId7"/>
    <p:sldLayoutId id="2147483669" r:id="rId8"/>
    <p:sldLayoutId id="2147483684" r:id="rId9"/>
    <p:sldLayoutId id="2147483686" r:id="rId10"/>
    <p:sldLayoutId id="2147483670" r:id="rId11"/>
    <p:sldLayoutId id="2147483671" r:id="rId12"/>
    <p:sldLayoutId id="2147483675" r:id="rId13"/>
    <p:sldLayoutId id="2147483687" r:id="rId14"/>
    <p:sldLayoutId id="2147483676" r:id="rId15"/>
    <p:sldLayoutId id="2147483689" r:id="rId16"/>
    <p:sldLayoutId id="2147483690" r:id="rId17"/>
  </p:sldLayoutIdLst>
  <p:hf hdr="0" dt="0"/>
  <p:txStyles>
    <p:titleStyle>
      <a:lvl1pPr algn="ctr" defTabSz="914377" rtl="0" eaLnBrk="1" latinLnBrk="0" hangingPunct="1">
        <a:lnSpc>
          <a:spcPct val="100000"/>
        </a:lnSpc>
        <a:spcBef>
          <a:spcPct val="0"/>
        </a:spcBef>
        <a:buNone/>
        <a:defRPr sz="4200" kern="1200" spc="400" baseline="0">
          <a:solidFill>
            <a:schemeClr val="tx1"/>
          </a:solidFill>
          <a:latin typeface="Munistic" panose="02000500000000000000" pitchFamily="2" charset="0"/>
          <a:ea typeface="+mj-ea"/>
          <a:cs typeface="+mj-cs"/>
        </a:defRPr>
      </a:lvl1pPr>
    </p:titleStyle>
    <p:bodyStyle>
      <a:lvl1pPr marL="0" indent="0" algn="l" defTabSz="914377" rtl="0" eaLnBrk="1" latinLnBrk="0" hangingPunct="1">
        <a:lnSpc>
          <a:spcPct val="100000"/>
        </a:lnSpc>
        <a:spcBef>
          <a:spcPts val="1000"/>
        </a:spcBef>
        <a:buSzPct val="75000"/>
        <a:buFont typeface="Arial" panose="020B0604020202020204" pitchFamily="34" charset="0"/>
        <a:buNone/>
        <a:defRPr sz="1867" b="0" i="0" kern="800" cap="none" spc="27"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3_77ADCD5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2D_C1E8239A.xm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2F_61F04474.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8/10/relationships/comments" Target="../comments/modernComment_19E_41CFC87E.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A4_D720166A.xml"/><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87_B267FA19.xm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hyperlink" Target="https://www.castlecreations.com/en/castle-2028-sensored-motor-800kv-060-0064-00" TargetMode="Externa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227_1626F096.xml"/><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18E_B1F233D7.xml"/><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5.jpeg"/></Relationships>
</file>

<file path=ppt/slides/_rels/slide21.xml.rels><?xml version="1.0" encoding="UTF-8" standalone="yes"?>
<Relationships xmlns="http://schemas.openxmlformats.org/package/2006/relationships"><Relationship Id="rId3" Type="http://schemas.microsoft.com/office/2018/10/relationships/comments" Target="../comments/modernComment_18F_E94D2E9.xml"/><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6.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195_9B71CE6D.xml"/><Relationship Id="rId7"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microsoft.com/office/2018/10/relationships/comments" Target="../comments/modernComment_198_17432CD4.xml"/><Relationship Id="rId7"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99_2D2640A4.xml"/><Relationship Id="rId7"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microsoft.com/office/2018/10/relationships/comments" Target="../comments/modernComment_193_D5DB25EC.xml"/><Relationship Id="rId7"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hyperlink" Target="https://www.mcmaster.com/92620A621/" TargetMode="Externa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microsoft.com/office/2018/10/relationships/comments" Target="../comments/modernComment_19C_CF9A74D9.xml"/><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2" Type="http://schemas.microsoft.com/office/2018/10/relationships/comments" Target="../comments/modernComment_194_25722753.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52.png"/><Relationship Id="rId3" Type="http://schemas.microsoft.com/office/2018/10/relationships/comments" Target="../comments/modernComment_196_44A5CD7B.xml"/><Relationship Id="rId7"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microsoft.com/office/2018/10/relationships/comments" Target="../comments/modernComment_21E_E23EE16F.xml"/><Relationship Id="rId7" Type="http://schemas.openxmlformats.org/officeDocument/2006/relationships/image" Target="../media/image56.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png"/><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60.png"/><Relationship Id="rId1" Type="http://schemas.openxmlformats.org/officeDocument/2006/relationships/slideLayout" Target="../slideLayouts/slideLayout4.xml"/><Relationship Id="rId4" Type="http://schemas.openxmlformats.org/officeDocument/2006/relationships/image" Target="../media/image61.jpeg"/></Relationships>
</file>

<file path=ppt/slides/_rels/slide4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hyperlink" Target="https://www.midweststeelsupply.com/store/6061aluminumroundbar" TargetMode="External"/><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hyperlink" Target="https://www.mcmaster.com/products/reducers/fitting-type~bushing/high-pressure-stainless-steel-threaded-pipe-fittings-8/pipe-size~3-8/" TargetMode="External"/><Relationship Id="rId5" Type="http://schemas.openxmlformats.org/officeDocument/2006/relationships/hyperlink" Target="https://www.mcmaster.com/products/bolts/" TargetMode="External"/><Relationship Id="rId4" Type="http://schemas.openxmlformats.org/officeDocument/2006/relationships/hyperlink" Target="https://www.mcmaster.com/products/o-rings/o-rings-2~/"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microsoft.com/office/2018/10/relationships/comments" Target="../comments/modernComment_1BE_8B19740F.xml"/><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65.png"/><Relationship Id="rId4" Type="http://schemas.openxmlformats.org/officeDocument/2006/relationships/image" Target="../media/image64.png"/></Relationships>
</file>

<file path=ppt/slides/_rels/slide46.xml.rels><?xml version="1.0" encoding="UTF-8" standalone="yes"?>
<Relationships xmlns="http://schemas.openxmlformats.org/package/2006/relationships"><Relationship Id="rId3" Type="http://schemas.microsoft.com/office/2018/10/relationships/comments" Target="../comments/modernComment_1A7_73BC8D8A.xml"/><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67.png"/><Relationship Id="rId4" Type="http://schemas.openxmlformats.org/officeDocument/2006/relationships/image" Target="../media/image66.png"/></Relationships>
</file>

<file path=ppt/slides/_rels/slide47.xml.rels><?xml version="1.0" encoding="UTF-8" standalone="yes"?>
<Relationships xmlns="http://schemas.openxmlformats.org/package/2006/relationships"><Relationship Id="rId3" Type="http://schemas.microsoft.com/office/2018/10/relationships/comments" Target="../comments/modernComment_1A3_5837D4BD.xml"/><Relationship Id="rId2" Type="http://schemas.openxmlformats.org/officeDocument/2006/relationships/notesSlide" Target="../notesSlides/notesSlide37.xml"/><Relationship Id="rId1" Type="http://schemas.openxmlformats.org/officeDocument/2006/relationships/slideLayout" Target="../slideLayouts/slideLayout5.xml"/><Relationship Id="rId5" Type="http://schemas.openxmlformats.org/officeDocument/2006/relationships/image" Target="../media/image69.png"/><Relationship Id="rId4" Type="http://schemas.openxmlformats.org/officeDocument/2006/relationships/image" Target="../media/image68.png"/></Relationships>
</file>

<file path=ppt/slides/_rels/slide4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4.xml"/><Relationship Id="rId5" Type="http://schemas.openxmlformats.org/officeDocument/2006/relationships/image" Target="../media/image76.png"/><Relationship Id="rId4" Type="http://schemas.openxmlformats.org/officeDocument/2006/relationships/image" Target="../media/image75.png"/></Relationships>
</file>

<file path=ppt/slides/_rels/slide51.xml.rels><?xml version="1.0" encoding="UTF-8" standalone="yes"?>
<Relationships xmlns="http://schemas.openxmlformats.org/package/2006/relationships"><Relationship Id="rId3" Type="http://schemas.microsoft.com/office/2018/10/relationships/comments" Target="../comments/modernComment_1E1_EB5215B1.xml"/><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4.xml"/><Relationship Id="rId4" Type="http://schemas.openxmlformats.org/officeDocument/2006/relationships/image" Target="../media/image80.png"/></Relationships>
</file>

<file path=ppt/slides/_rels/slide56.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81.jpe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8" Type="http://schemas.openxmlformats.org/officeDocument/2006/relationships/hyperlink" Target="http://www.ebay.com/" TargetMode="External"/><Relationship Id="rId3" Type="http://schemas.microsoft.com/office/2018/10/relationships/comments" Target="../comments/modernComment_1CD_2967EC19.xml"/><Relationship Id="rId7" Type="http://schemas.openxmlformats.org/officeDocument/2006/relationships/hyperlink" Target="https://www.mcmaster.com/1874N15/" TargetMode="External"/><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hyperlink" Target="https://www.sprayerdepot.com/products/1-2-1200-psi-brass-relief-valve" TargetMode="External"/><Relationship Id="rId11" Type="http://schemas.openxmlformats.org/officeDocument/2006/relationships/hyperlink" Target="https://www.mcmaster.com/5648K25-5648K254/" TargetMode="External"/><Relationship Id="rId5" Type="http://schemas.openxmlformats.org/officeDocument/2006/relationships/hyperlink" Target="https://www.dataq.com/products/accessories/pressure-sensor/2000361-hs-1500x.html?srsltid=AfmBOooxcPdJdVLVTDiTC5lmWYmu79wxoZ69a4G-UoxgkIUVndPT6BAQ-vc" TargetMode="External"/><Relationship Id="rId10" Type="http://schemas.openxmlformats.org/officeDocument/2006/relationships/hyperlink" Target="https://www.electricsolenoidvalves.com/1-4-3-way-2-position-pneumatic-solenoid-valve/?srsltid=AfmBOopUNe-86tprYoaKuM4Z-j-4nMOaNu9RiXTCiE0AwrFPnFxOt0PnOO4" TargetMode="External"/><Relationship Id="rId4" Type="http://schemas.openxmlformats.org/officeDocument/2006/relationships/hyperlink" Target="https://assuredautomation.com/26/index.php?p=buy" TargetMode="External"/><Relationship Id="rId9" Type="http://schemas.openxmlformats.org/officeDocument/2006/relationships/hyperlink" Target="https://ussolid.com/products/1-2-high-pressure-solenoid-valve-160-bar-stainless-steel-12v-dc-high-pressure-high-temperature-solenoid-valve-76-356-f-normally-closed?country=US&amp;srsltid=AfmBOopahCug8FLI1ZeQBy8qmT7fCm8qDlpUsc5XBtWrD2VXIuOwf4RZ4_k" TargetMode="External"/></Relationships>
</file>

<file path=ppt/slides/_rels/slide58.xml.rels><?xml version="1.0" encoding="UTF-8" standalone="yes"?>
<Relationships xmlns="http://schemas.openxmlformats.org/package/2006/relationships"><Relationship Id="rId3" Type="http://schemas.openxmlformats.org/officeDocument/2006/relationships/hyperlink" Target="http://www.metalsdepot.com/" TargetMode="External"/><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hyperlink" Target="https://www.amazon.com/Fittings-Stainless-Connectors-Connector-2pcs/dp/B0FJXSGWGH/ref=sr_1_11?crid=20FK8XD6JUF8Y&amp;dib=eyJ2IjoiMSJ9.tENztwNwcr1CNhiwCYXW8SWqaecysjXBDwvYPwFtoNsc2BvjBgqqMztRWDfu1gtz0TFb8FZnD0Q6563IlYYJiZDaMGYVOepYaXGE-LXkkGQxR29oTFjGmm0DJGjirD0clDodEZmrsGvEwqC3__bUigOiknIDsr-w0QQtHrzuERvuPmkh2mXmezTV4aIM0ehZ8xYXkKiJEjNNQYd38qArKT4F1Epx0USVxm-ogeJ7MC0.lT7WiQCP3T1zt-etNSTw6Rgq4HWHBhgp05n-nAXZdq0&amp;dib_tag=se&amp;keywords=1%2F2%22%2Bnpt%2Bmale%2Bto%2Bmale&amp;qid=1769229408&amp;sprefix=%2Caps%2C227&amp;sr=8-11&amp;th=1" TargetMode="External"/></Relationships>
</file>

<file path=ppt/slides/_rels/slide59.xml.rels><?xml version="1.0" encoding="UTF-8" standalone="yes"?>
<Relationships xmlns="http://schemas.openxmlformats.org/package/2006/relationships"><Relationship Id="rId3" Type="http://schemas.microsoft.com/office/2018/10/relationships/comments" Target="../comments/modernComment_225_45AA20C8.xm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3" Type="http://schemas.openxmlformats.org/officeDocument/2006/relationships/hyperlink" Target="https://www.sherfab.com/vacuum-bag-cl" TargetMode="External"/><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hyperlink" Target="https://www.compositeenvisions.com/HI-SHRINK-TAPE-100-yards-Release-Coated?quantity=2&amp;width=959&amp;srsltid=AfmBOorrZjJb0ihyAcvaIfCd54Ydvbiqin_gKF962KJsfn-WpQWzRa50" TargetMode="Externa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4.xml"/><Relationship Id="rId4" Type="http://schemas.openxmlformats.org/officeDocument/2006/relationships/image" Target="../media/image103.png"/></Relationships>
</file>

<file path=ppt/slides/_rels/slide8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4.xml"/><Relationship Id="rId5" Type="http://schemas.openxmlformats.org/officeDocument/2006/relationships/image" Target="../media/image107.png"/><Relationship Id="rId4" Type="http://schemas.openxmlformats.org/officeDocument/2006/relationships/image" Target="../media/image106.png"/></Relationships>
</file>

<file path=ppt/slides/_rels/slide8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14.xml"/></Relationships>
</file>

<file path=ppt/slides/_rels/slide8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6.xml"/></Relationships>
</file>

<file path=ppt/slides/_rels/slide93.xml.rels><?xml version="1.0" encoding="UTF-8" standalone="yes"?>
<Relationships xmlns="http://schemas.openxmlformats.org/package/2006/relationships"><Relationship Id="rId3" Type="http://schemas.openxmlformats.org/officeDocument/2006/relationships/image" Target="../media/image116.png"/><Relationship Id="rId2" Type="http://schemas.microsoft.com/office/2018/10/relationships/comments" Target="../comments/modernComment_1CA_5F977AA4.xml"/><Relationship Id="rId1" Type="http://schemas.openxmlformats.org/officeDocument/2006/relationships/slideLayout" Target="../slideLayouts/slideLayout6.xml"/><Relationship Id="rId4" Type="http://schemas.openxmlformats.org/officeDocument/2006/relationships/image" Target="../media/image117.png"/></Relationships>
</file>

<file path=ppt/slides/_rels/slide94.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image" Target="../media/image118.png"/><Relationship Id="rId1" Type="http://schemas.openxmlformats.org/officeDocument/2006/relationships/slideLayout" Target="../slideLayouts/slideLayout6.xml"/><Relationship Id="rId4" Type="http://schemas.openxmlformats.org/officeDocument/2006/relationships/image" Target="../media/image120.png"/></Relationships>
</file>

<file path=ppt/slides/_rels/slide95.xml.rels><?xml version="1.0" encoding="UTF-8" standalone="yes"?>
<Relationships xmlns="http://schemas.openxmlformats.org/package/2006/relationships"><Relationship Id="rId2" Type="http://schemas.openxmlformats.org/officeDocument/2006/relationships/image" Target="../media/image121.jpe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image" Target="../media/image122.jpe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image" Target="../media/image124.png"/><Relationship Id="rId2" Type="http://schemas.microsoft.com/office/2018/10/relationships/comments" Target="../comments/modernComment_159_1C2E6C9B.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1.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2" Type="http://schemas.openxmlformats.org/officeDocument/2006/relationships/image" Target="../media/image127.jpeg"/><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8" Type="http://schemas.openxmlformats.org/officeDocument/2006/relationships/hyperlink" Target="../../Link" TargetMode="External"/><Relationship Id="rId3" Type="http://schemas.openxmlformats.org/officeDocument/2006/relationships/hyperlink" Target="https://www.tinderrocketry.com/checkout?checkoutId=e5a15e95-8664-4c0b-96ef-3438cca200e1&amp;origin=shopping+cart" TargetMode="External"/><Relationship Id="rId7" Type="http://schemas.openxmlformats.org/officeDocument/2006/relationships/hyperlink" Target="https://www.cobrafiringsystems.com/index/page/shopping_cart?actions%5bShoppingCartModule%5d=add_to_cart&amp;add_to_cart_timestamp=1762587538&amp;legacy=&amp;add_to_cart_mode=single&amp;product_id=1372&amp;tag_name=add_to_cart&amp;out_of_stock_behavior=allow_purchase&amp;has_configurations=1&amp;out_of_stock_message=(Out%20of%20Stock)&amp;force_reset_link=&amp;1372_discount_percent=1&amp;failed_add_product_name_template=blank&amp;check_availability_template=blank&amp;add_to_cart_id=add_to_cart_1372&amp;hide_add_to_cart_button_container=false&amp;add_to_cart_select_config=none&amp;configurations%5b207%5d=23125&amp;ignore=0&amp;pcs_price_display%5badd_to_cart_1372%5d%5b207%5d=Array&amp;quantity=1&amp;" TargetMode="External"/><Relationship Id="rId2" Type="http://schemas.microsoft.com/office/2018/10/relationships/comments" Target="../comments/modernComment_1B2_61DA371A.xml"/><Relationship Id="rId1" Type="http://schemas.openxmlformats.org/officeDocument/2006/relationships/slideLayout" Target="../slideLayouts/slideLayout4.xml"/><Relationship Id="rId6" Type="http://schemas.openxmlformats.org/officeDocument/2006/relationships/hyperlink" Target="https://shop.fruitychutes.com/checkouts/cn/hWN52xJYwqtpx5KHkzup8PUm/en-us?_r=AQABKQW0CePyQ1ukxVlo0CbmX0Ls2uqIOUo3MUzbUwDR_E8" TargetMode="External"/><Relationship Id="rId5" Type="http://schemas.openxmlformats.org/officeDocument/2006/relationships/hyperlink" Target="https://shop.fruitychutes.com/checkouts/cn/hWN52xXZRuP5R6yuHcxQMIPY/en-us?_r=AQABx9IkKfmiII6ZnBq5Ifr7qIbv0s8iYlYgT1IC8qSh39w" TargetMode="External"/><Relationship Id="rId4" Type="http://schemas.openxmlformats.org/officeDocument/2006/relationships/hyperlink" Target="https://www.tinderrocketry.com/cart-page" TargetMode="Externa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109.xml.rels><?xml version="1.0" encoding="UTF-8" standalone="yes"?>
<Relationships xmlns="http://schemas.openxmlformats.org/package/2006/relationships"><Relationship Id="rId2" Type="http://schemas.openxmlformats.org/officeDocument/2006/relationships/image" Target="../media/image130.jpe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132.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image" Target="../media/image134.png"/><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jpeg"/><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jpeg"/><Relationship Id="rId1" Type="http://schemas.openxmlformats.org/officeDocument/2006/relationships/slideLayout" Target="../slideLayouts/slideLayout5.xml"/><Relationship Id="rId4" Type="http://schemas.openxmlformats.org/officeDocument/2006/relationships/image" Target="../media/image141.jpeg"/></Relationships>
</file>

<file path=ppt/slides/_rels/slide125.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3" Type="http://schemas.microsoft.com/office/2018/10/relationships/comments" Target="../comments/modernComment_1BF_F2D5BD87.xml"/><Relationship Id="rId2" Type="http://schemas.openxmlformats.org/officeDocument/2006/relationships/notesSlide" Target="../notesSlides/notesSlide6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0238A2-F230-2DC2-E7E0-2B97A2248EBB}"/>
              </a:ext>
            </a:extLst>
          </p:cNvPr>
          <p:cNvSpPr>
            <a:spLocks noGrp="1"/>
          </p:cNvSpPr>
          <p:nvPr>
            <p:ph type="body" sz="quarter" idx="11"/>
          </p:nvPr>
        </p:nvSpPr>
        <p:spPr>
          <a:xfrm>
            <a:off x="1155324" y="3789503"/>
            <a:ext cx="6285711" cy="472104"/>
          </a:xfrm>
        </p:spPr>
        <p:txBody>
          <a:bodyPr/>
          <a:lstStyle/>
          <a:p>
            <a:r>
              <a:rPr lang="en-US" sz="1850">
                <a:ea typeface="Source Sans Pro"/>
              </a:rPr>
              <a:t>Project Manager: Jasmine Cheng</a:t>
            </a:r>
          </a:p>
          <a:p>
            <a:endParaRPr lang="en-US" sz="1850">
              <a:ea typeface="Source Sans Pro"/>
              <a:cs typeface="Calibri"/>
            </a:endParaRPr>
          </a:p>
          <a:p>
            <a:endParaRPr lang="en-US" sz="1850">
              <a:ea typeface="Source Sans Pro"/>
              <a:cs typeface="Calibri"/>
            </a:endParaRPr>
          </a:p>
        </p:txBody>
      </p:sp>
      <p:sp>
        <p:nvSpPr>
          <p:cNvPr id="3" name="Title 2">
            <a:extLst>
              <a:ext uri="{FF2B5EF4-FFF2-40B4-BE49-F238E27FC236}">
                <a16:creationId xmlns:a16="http://schemas.microsoft.com/office/drawing/2014/main" id="{C3B7B22B-A6A2-90C9-1095-3EAB3E16D708}"/>
              </a:ext>
            </a:extLst>
          </p:cNvPr>
          <p:cNvSpPr>
            <a:spLocks noGrp="1"/>
          </p:cNvSpPr>
          <p:nvPr>
            <p:ph type="title"/>
          </p:nvPr>
        </p:nvSpPr>
        <p:spPr/>
        <p:txBody>
          <a:bodyPr/>
          <a:lstStyle/>
          <a:p>
            <a:r>
              <a:rPr lang="en-US" sz="6600"/>
              <a:t>Archerfish</a:t>
            </a:r>
          </a:p>
        </p:txBody>
      </p:sp>
    </p:spTree>
    <p:extLst>
      <p:ext uri="{BB962C8B-B14F-4D97-AF65-F5344CB8AC3E}">
        <p14:creationId xmlns:p14="http://schemas.microsoft.com/office/powerpoint/2010/main" val="2007878993"/>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DE29332-6DCC-B0D7-CF0A-7217D7543F6A}"/>
              </a:ext>
            </a:extLst>
          </p:cNvPr>
          <p:cNvSpPr>
            <a:spLocks noGrp="1"/>
          </p:cNvSpPr>
          <p:nvPr>
            <p:ph type="body" sz="quarter" idx="15"/>
          </p:nvPr>
        </p:nvSpPr>
        <p:spPr>
          <a:xfrm>
            <a:off x="838199" y="1450433"/>
            <a:ext cx="10515600" cy="4033401"/>
          </a:xfrm>
        </p:spPr>
        <p:txBody>
          <a:bodyPr vert="horz" lIns="91440" tIns="45720" rIns="91440" bIns="45720" numCol="2" spcCol="457200" rtlCol="0" anchor="t">
            <a:noAutofit/>
          </a:bodyPr>
          <a:lstStyle/>
          <a:p>
            <a:pPr marL="578485" indent="-457200">
              <a:buAutoNum type="arabicPeriod"/>
            </a:pPr>
            <a:r>
              <a:rPr lang="en-US" sz="2400">
                <a:ea typeface="Source Sans Pro"/>
              </a:rPr>
              <a:t>Overview</a:t>
            </a:r>
            <a:endParaRPr lang="en-US" sz="2400">
              <a:ea typeface="Source Sans Pro"/>
              <a:cs typeface="Calibri"/>
            </a:endParaRPr>
          </a:p>
          <a:p>
            <a:pPr marL="654685" lvl="1" indent="-457200">
              <a:buFont typeface="Arial" panose="020B0604020202020204" pitchFamily="34" charset="0"/>
              <a:buChar char="•"/>
            </a:pPr>
            <a:r>
              <a:rPr lang="en-US" sz="2400">
                <a:ea typeface="Source Sans Pro"/>
              </a:rPr>
              <a:t>Mission Scope</a:t>
            </a:r>
            <a:endParaRPr lang="en-US" sz="2400">
              <a:ea typeface="Source Sans Pro"/>
              <a:cs typeface="Calibri"/>
            </a:endParaRPr>
          </a:p>
          <a:p>
            <a:pPr marL="654685" lvl="1" indent="-457200">
              <a:buFont typeface="Arial" panose="020B0604020202020204" pitchFamily="34" charset="0"/>
              <a:buChar char="•"/>
            </a:pPr>
            <a:r>
              <a:rPr lang="en-US" sz="2400">
                <a:ea typeface="Source Sans Pro"/>
              </a:rPr>
              <a:t>Concept of Operations</a:t>
            </a:r>
            <a:endParaRPr lang="en-US" sz="2400">
              <a:cs typeface="Calibri" panose="020F0502020204030204"/>
            </a:endParaRPr>
          </a:p>
          <a:p>
            <a:pPr marL="654685" lvl="1" indent="-457200">
              <a:buFont typeface="Arial" panose="020B0604020202020204" pitchFamily="34" charset="0"/>
              <a:buChar char="•"/>
            </a:pPr>
            <a:r>
              <a:rPr lang="en-US" sz="2400">
                <a:ea typeface="Source Sans Pro"/>
              </a:rPr>
              <a:t>Top Level Requirements</a:t>
            </a:r>
            <a:endParaRPr lang="en-US" sz="2400">
              <a:ea typeface="Source Sans Pro"/>
              <a:cs typeface="Calibri"/>
            </a:endParaRPr>
          </a:p>
          <a:p>
            <a:pPr marL="578485" indent="-457200">
              <a:buAutoNum type="arabicPeriod"/>
            </a:pPr>
            <a:r>
              <a:rPr lang="en-US" sz="2400">
                <a:ea typeface="Source Sans Pro"/>
                <a:cs typeface="Calibri"/>
              </a:rPr>
              <a:t>Fluids </a:t>
            </a:r>
          </a:p>
          <a:p>
            <a:pPr marL="578485" indent="-457200">
              <a:buAutoNum type="arabicPeriod"/>
            </a:pPr>
            <a:r>
              <a:rPr lang="en-US" sz="2400">
                <a:ea typeface="Source Sans Pro"/>
                <a:cs typeface="Calibri"/>
              </a:rPr>
              <a:t>GSE</a:t>
            </a:r>
          </a:p>
          <a:p>
            <a:pPr marL="578485" indent="-457200">
              <a:buAutoNum type="arabicPeriod"/>
            </a:pPr>
            <a:r>
              <a:rPr lang="en-US" sz="2400">
                <a:ea typeface="Source Sans Pro"/>
              </a:rPr>
              <a:t>Aerodynamics</a:t>
            </a:r>
            <a:endParaRPr lang="en-US" sz="2400">
              <a:ea typeface="Source Sans Pro"/>
              <a:cs typeface="Calibri"/>
            </a:endParaRPr>
          </a:p>
          <a:p>
            <a:pPr marL="578485" indent="-457200">
              <a:buAutoNum type="arabicPeriod"/>
            </a:pPr>
            <a:r>
              <a:rPr lang="en-US" sz="2400">
                <a:ea typeface="Source Sans Pro"/>
              </a:rPr>
              <a:t>Structures</a:t>
            </a:r>
            <a:endParaRPr lang="en-US" sz="2400">
              <a:ea typeface="Source Sans Pro"/>
              <a:cs typeface="Calibri"/>
            </a:endParaRPr>
          </a:p>
          <a:p>
            <a:pPr marL="578485" indent="-457200">
              <a:buAutoNum type="arabicPeriod"/>
            </a:pPr>
            <a:r>
              <a:rPr lang="en-US" sz="2400">
                <a:ea typeface="Source Sans Pro"/>
              </a:rPr>
              <a:t>Recovery</a:t>
            </a:r>
            <a:endParaRPr lang="en-US" sz="2400">
              <a:ea typeface="Source Sans Pro"/>
              <a:cs typeface="Calibri"/>
            </a:endParaRPr>
          </a:p>
          <a:p>
            <a:pPr marL="578485" indent="-457200">
              <a:buAutoNum type="arabicPeriod"/>
            </a:pPr>
            <a:r>
              <a:rPr lang="en-US" sz="2400">
                <a:ea typeface="Source Sans Pro"/>
              </a:rPr>
              <a:t>Avionics</a:t>
            </a:r>
            <a:endParaRPr lang="en-US" sz="2400">
              <a:ea typeface="Source Sans Pro"/>
              <a:cs typeface="Calibri"/>
            </a:endParaRPr>
          </a:p>
          <a:p>
            <a:pPr marL="578485" indent="-457200">
              <a:buAutoNum type="arabicPeriod"/>
            </a:pPr>
            <a:r>
              <a:rPr lang="en-US" sz="2400">
                <a:ea typeface="Source Sans Pro"/>
                <a:cs typeface="Calibri"/>
              </a:rPr>
              <a:t>Testing</a:t>
            </a:r>
          </a:p>
          <a:p>
            <a:pPr marL="578485" indent="-457200">
              <a:buAutoNum type="arabicPeriod"/>
            </a:pPr>
            <a:r>
              <a:rPr lang="en-US" sz="2400">
                <a:ea typeface="Source Sans Pro"/>
                <a:cs typeface="Calibri"/>
              </a:rPr>
              <a:t>Budget</a:t>
            </a:r>
          </a:p>
        </p:txBody>
      </p:sp>
      <p:sp>
        <p:nvSpPr>
          <p:cNvPr id="3" name="Footer Placeholder 2">
            <a:extLst>
              <a:ext uri="{FF2B5EF4-FFF2-40B4-BE49-F238E27FC236}">
                <a16:creationId xmlns:a16="http://schemas.microsoft.com/office/drawing/2014/main" id="{41D01802-58E4-3EA8-8F19-FA314EDA67C0}"/>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1668C6DD-A259-7136-3515-63274A784122}"/>
              </a:ext>
            </a:extLst>
          </p:cNvPr>
          <p:cNvSpPr>
            <a:spLocks noGrp="1"/>
          </p:cNvSpPr>
          <p:nvPr>
            <p:ph type="sldNum" sz="quarter" idx="17"/>
          </p:nvPr>
        </p:nvSpPr>
        <p:spPr/>
        <p:txBody>
          <a:bodyPr/>
          <a:lstStyle/>
          <a:p>
            <a:r>
              <a:rPr lang="en-US"/>
              <a:t>/   </a:t>
            </a:r>
            <a:fld id="{6C7E6F33-74EE-5541-8108-8353B402F8C1}" type="slidenum">
              <a:rPr lang="en-US" smtClean="0"/>
              <a:pPr/>
              <a:t>2</a:t>
            </a:fld>
            <a:endParaRPr lang="en-US"/>
          </a:p>
        </p:txBody>
      </p:sp>
      <p:sp>
        <p:nvSpPr>
          <p:cNvPr id="5" name="Title 4">
            <a:extLst>
              <a:ext uri="{FF2B5EF4-FFF2-40B4-BE49-F238E27FC236}">
                <a16:creationId xmlns:a16="http://schemas.microsoft.com/office/drawing/2014/main" id="{D1A85E83-6A09-F842-7E7D-67BF02F6B48F}"/>
              </a:ext>
            </a:extLst>
          </p:cNvPr>
          <p:cNvSpPr>
            <a:spLocks noGrp="1"/>
          </p:cNvSpPr>
          <p:nvPr>
            <p:ph type="title"/>
          </p:nvPr>
        </p:nvSpPr>
        <p:spPr/>
        <p:txBody>
          <a:bodyPr/>
          <a:lstStyle/>
          <a:p>
            <a:r>
              <a:rPr lang="en-US"/>
              <a:t>Agenda</a:t>
            </a:r>
          </a:p>
        </p:txBody>
      </p:sp>
      <p:sp>
        <p:nvSpPr>
          <p:cNvPr id="6" name="Text Placeholder 5">
            <a:extLst>
              <a:ext uri="{FF2B5EF4-FFF2-40B4-BE49-F238E27FC236}">
                <a16:creationId xmlns:a16="http://schemas.microsoft.com/office/drawing/2014/main" id="{8163757E-76D8-6490-39B9-E8A38D1CC8CA}"/>
              </a:ext>
            </a:extLst>
          </p:cNvPr>
          <p:cNvSpPr>
            <a:spLocks noGrp="1"/>
          </p:cNvSpPr>
          <p:nvPr>
            <p:ph type="body" sz="quarter" idx="13"/>
          </p:nvPr>
        </p:nvSpPr>
        <p:spPr/>
        <p:txBody>
          <a:bodyPr/>
          <a:lstStyle/>
          <a:p>
            <a:r>
              <a:rPr lang="en-US"/>
              <a:t> </a:t>
            </a:r>
          </a:p>
        </p:txBody>
      </p:sp>
    </p:spTree>
    <p:extLst>
      <p:ext uri="{BB962C8B-B14F-4D97-AF65-F5344CB8AC3E}">
        <p14:creationId xmlns:p14="http://schemas.microsoft.com/office/powerpoint/2010/main" val="3253216154"/>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F0B24F-7EEC-8940-BCA1-392DEBA97404}"/>
              </a:ext>
            </a:extLst>
          </p:cNvPr>
          <p:cNvSpPr>
            <a:spLocks noGrp="1"/>
          </p:cNvSpPr>
          <p:nvPr>
            <p:ph type="sldNum" sz="quarter" idx="17"/>
          </p:nvPr>
        </p:nvSpPr>
        <p:spPr/>
        <p:txBody>
          <a:bodyPr/>
          <a:lstStyle/>
          <a:p>
            <a:r>
              <a:rPr lang="en-US"/>
              <a:t>/   </a:t>
            </a:r>
            <a:fld id="{6C7E6F33-74EE-5541-8108-8353B402F8C1}" type="slidenum">
              <a:rPr lang="en-US" smtClean="0"/>
              <a:pPr/>
              <a:t>3</a:t>
            </a:fld>
            <a:endParaRPr lang="en-US"/>
          </a:p>
        </p:txBody>
      </p:sp>
      <p:sp>
        <p:nvSpPr>
          <p:cNvPr id="5" name="Title 4">
            <a:extLst>
              <a:ext uri="{FF2B5EF4-FFF2-40B4-BE49-F238E27FC236}">
                <a16:creationId xmlns:a16="http://schemas.microsoft.com/office/drawing/2014/main" id="{8C37F48A-51E1-E968-DC8F-CEA58B89E3B7}"/>
              </a:ext>
            </a:extLst>
          </p:cNvPr>
          <p:cNvSpPr>
            <a:spLocks noGrp="1"/>
          </p:cNvSpPr>
          <p:nvPr>
            <p:ph type="title"/>
          </p:nvPr>
        </p:nvSpPr>
        <p:spPr/>
        <p:txBody>
          <a:bodyPr/>
          <a:lstStyle/>
          <a:p>
            <a:r>
              <a:rPr lang="en-US"/>
              <a:t>Overview</a:t>
            </a:r>
          </a:p>
        </p:txBody>
      </p:sp>
      <p:sp>
        <p:nvSpPr>
          <p:cNvPr id="6" name="Text Placeholder 5">
            <a:extLst>
              <a:ext uri="{FF2B5EF4-FFF2-40B4-BE49-F238E27FC236}">
                <a16:creationId xmlns:a16="http://schemas.microsoft.com/office/drawing/2014/main" id="{F8EDD83F-413E-0541-A0E6-6EFDFD6D0FB1}"/>
              </a:ext>
            </a:extLst>
          </p:cNvPr>
          <p:cNvSpPr>
            <a:spLocks noGrp="1"/>
          </p:cNvSpPr>
          <p:nvPr>
            <p:ph type="body" sz="quarter" idx="13"/>
          </p:nvPr>
        </p:nvSpPr>
        <p:spPr/>
        <p:txBody>
          <a:bodyPr/>
          <a:lstStyle/>
          <a:p>
            <a:r>
              <a:rPr lang="en-US"/>
              <a:t>Mission Scope</a:t>
            </a:r>
          </a:p>
        </p:txBody>
      </p:sp>
      <p:sp>
        <p:nvSpPr>
          <p:cNvPr id="9" name="Text Placeholder 8">
            <a:extLst>
              <a:ext uri="{FF2B5EF4-FFF2-40B4-BE49-F238E27FC236}">
                <a16:creationId xmlns:a16="http://schemas.microsoft.com/office/drawing/2014/main" id="{77EF124E-E145-892F-4322-A51B41CE7C15}"/>
              </a:ext>
            </a:extLst>
          </p:cNvPr>
          <p:cNvSpPr>
            <a:spLocks noGrp="1"/>
          </p:cNvSpPr>
          <p:nvPr>
            <p:ph type="body" sz="quarter" idx="15"/>
          </p:nvPr>
        </p:nvSpPr>
        <p:spPr/>
        <p:txBody>
          <a:bodyPr vert="horz" lIns="91440" tIns="45720" rIns="91440" bIns="45720" numCol="1" spcCol="457200" rtlCol="0" anchor="t">
            <a:noAutofit/>
          </a:bodyPr>
          <a:lstStyle/>
          <a:p>
            <a:pPr marL="380365" indent="-258445"/>
            <a:r>
              <a:rPr lang="en-US" sz="1800" b="1">
                <a:ea typeface="Source Sans Pro"/>
              </a:rPr>
              <a:t>Mission Objective: </a:t>
            </a:r>
            <a:r>
              <a:rPr lang="en-US" sz="1800">
                <a:ea typeface="+mn-lt"/>
                <a:cs typeface="+mn-lt"/>
              </a:rPr>
              <a:t>To launch an experimental pump-fed bi-propellent liquid rocket.</a:t>
            </a:r>
          </a:p>
          <a:p>
            <a:pPr marL="380365" indent="-258445"/>
            <a:r>
              <a:rPr lang="en-US" sz="1800" b="1">
                <a:ea typeface="Source Sans Pro"/>
              </a:rPr>
              <a:t>Mission Success Criteria: </a:t>
            </a:r>
            <a:endParaRPr lang="en-US" sz="1800">
              <a:ea typeface="Source Sans Pro"/>
              <a:cs typeface="Calibri"/>
            </a:endParaRPr>
          </a:p>
          <a:p>
            <a:pPr marL="380365" indent="-258445">
              <a:buAutoNum type="arabicPeriod"/>
            </a:pPr>
            <a:r>
              <a:rPr lang="en-US" sz="1800">
                <a:ea typeface="Source Sans Pro"/>
              </a:rPr>
              <a:t>Successful, complete launch and recovery of rocket</a:t>
            </a:r>
            <a:endParaRPr lang="en-US" sz="1800">
              <a:ea typeface="Source Sans Pro"/>
              <a:cs typeface="Calibri"/>
            </a:endParaRPr>
          </a:p>
          <a:p>
            <a:pPr marL="380365" indent="-258445">
              <a:buAutoNum type="arabicPeriod"/>
            </a:pPr>
            <a:r>
              <a:rPr lang="en-US" sz="1800">
                <a:ea typeface="Calibri"/>
                <a:cs typeface="Calibri"/>
              </a:rPr>
              <a:t>Student technical and teamwork development!</a:t>
            </a:r>
            <a:br>
              <a:rPr lang="en-US" sz="1800">
                <a:ea typeface="Calibri"/>
                <a:cs typeface="Calibri"/>
              </a:rPr>
            </a:br>
            <a:endParaRPr lang="en-US" sz="1800">
              <a:ea typeface="Source Sans Pro"/>
              <a:cs typeface="Calibri"/>
            </a:endParaRPr>
          </a:p>
          <a:p>
            <a:pPr marL="380365" indent="-258445"/>
            <a:r>
              <a:rPr lang="en-US" sz="1800">
                <a:ea typeface="Source Sans Pro"/>
                <a:cs typeface="Calibri"/>
              </a:rPr>
              <a:t>FAR Ten Cents per Foot Contest, launch end of May – Early June</a:t>
            </a:r>
          </a:p>
          <a:p>
            <a:pPr marL="380365" indent="-258445"/>
            <a:endParaRPr lang="en-US" sz="1800">
              <a:ea typeface="Source Sans Pro"/>
              <a:cs typeface="Calibri"/>
            </a:endParaRPr>
          </a:p>
          <a:p>
            <a:pPr marL="380365" indent="-258445"/>
            <a:endParaRPr lang="en-US" sz="1800">
              <a:ea typeface="Source Sans Pro"/>
              <a:cs typeface="Calibri"/>
            </a:endParaRPr>
          </a:p>
          <a:p>
            <a:pPr marL="121920" indent="0">
              <a:buNone/>
            </a:pPr>
            <a:endParaRPr lang="en-US" sz="1800">
              <a:ea typeface="Source Sans Pro"/>
              <a:cs typeface="Calibri"/>
            </a:endParaRPr>
          </a:p>
          <a:p>
            <a:pPr marL="121920" indent="0">
              <a:buNone/>
            </a:pPr>
            <a:endParaRPr lang="en-US" sz="1800">
              <a:ea typeface="Source Sans Pro"/>
              <a:cs typeface="Calibri"/>
            </a:endParaRPr>
          </a:p>
          <a:p>
            <a:pPr marL="578485" indent="-457200">
              <a:buAutoNum type="arabicPeriod"/>
            </a:pPr>
            <a:endParaRPr lang="en-US" sz="1800">
              <a:ea typeface="Calibri"/>
              <a:cs typeface="Calibri"/>
            </a:endParaRPr>
          </a:p>
          <a:p>
            <a:pPr marL="578485" indent="-457200">
              <a:buAutoNum type="arabicPeriod"/>
            </a:pPr>
            <a:endParaRPr lang="en-US" sz="1800">
              <a:ea typeface="Calibri"/>
              <a:cs typeface="Calibri"/>
            </a:endParaRPr>
          </a:p>
          <a:p>
            <a:pPr marL="578485" indent="-457200">
              <a:buAutoNum type="arabicPeriod"/>
            </a:pPr>
            <a:endParaRPr lang="en-US" sz="1800">
              <a:ea typeface="Calibri"/>
              <a:cs typeface="Calibri"/>
            </a:endParaRPr>
          </a:p>
          <a:p>
            <a:pPr marL="121285" indent="0">
              <a:buNone/>
            </a:pPr>
            <a:endParaRPr lang="en-US" sz="1800">
              <a:cs typeface="Calibri" panose="020F0502020204030204"/>
            </a:endParaRPr>
          </a:p>
        </p:txBody>
      </p:sp>
      <p:sp>
        <p:nvSpPr>
          <p:cNvPr id="10" name="Footer Placeholder 2">
            <a:extLst>
              <a:ext uri="{FF2B5EF4-FFF2-40B4-BE49-F238E27FC236}">
                <a16:creationId xmlns:a16="http://schemas.microsoft.com/office/drawing/2014/main" id="{6E86098A-4EF9-53F0-56B5-6C7955B1DBED}"/>
              </a:ext>
            </a:extLst>
          </p:cNvPr>
          <p:cNvSpPr>
            <a:spLocks noGrp="1"/>
          </p:cNvSpPr>
          <p:nvPr>
            <p:ph type="ftr" sz="quarter" idx="16"/>
          </p:nvPr>
        </p:nvSpPr>
        <p:spPr>
          <a:xfrm>
            <a:off x="7491867" y="6351113"/>
            <a:ext cx="4114800" cy="366183"/>
          </a:xfrm>
        </p:spPr>
        <p:txBody>
          <a:bodyPr/>
          <a:lstStyle/>
          <a:p>
            <a:r>
              <a:rPr lang="en-US" sz="900">
                <a:latin typeface="Source Sans Pro"/>
                <a:ea typeface="Source Sans Pro"/>
              </a:rPr>
              <a:t>ARCHERFISH CDR</a:t>
            </a:r>
            <a:endParaRPr lang="en-US"/>
          </a:p>
        </p:txBody>
      </p:sp>
    </p:spTree>
    <p:extLst>
      <p:ext uri="{BB962C8B-B14F-4D97-AF65-F5344CB8AC3E}">
        <p14:creationId xmlns:p14="http://schemas.microsoft.com/office/powerpoint/2010/main" val="2903784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B080F6-2BAB-03BA-2AD8-5E689B93112F}"/>
              </a:ext>
            </a:extLst>
          </p:cNvPr>
          <p:cNvSpPr>
            <a:spLocks noGrp="1"/>
          </p:cNvSpPr>
          <p:nvPr>
            <p:ph type="body" sz="quarter" idx="15"/>
          </p:nvPr>
        </p:nvSpPr>
        <p:spPr>
          <a:xfrm>
            <a:off x="838199" y="1969477"/>
            <a:ext cx="10515600" cy="1785367"/>
          </a:xfrm>
        </p:spPr>
        <p:txBody>
          <a:bodyPr vert="horz" lIns="91440" tIns="45720" rIns="91440" bIns="45720" numCol="2" spcCol="457200" rtlCol="0" anchor="t">
            <a:noAutofit/>
          </a:bodyPr>
          <a:lstStyle/>
          <a:p>
            <a:pPr marL="380365" indent="-258445"/>
            <a:r>
              <a:rPr lang="en-US" sz="1850" b="1">
                <a:ea typeface="Source Sans Pro"/>
              </a:rPr>
              <a:t>Wet Mass:</a:t>
            </a:r>
            <a:r>
              <a:rPr lang="en-US" sz="1850">
                <a:ea typeface="Source Sans Pro"/>
              </a:rPr>
              <a:t> 93.0 </a:t>
            </a:r>
            <a:r>
              <a:rPr lang="en-US" sz="1850" err="1">
                <a:ea typeface="Source Sans Pro"/>
              </a:rPr>
              <a:t>lb</a:t>
            </a:r>
            <a:endParaRPr lang="en-US" sz="1850" err="1">
              <a:ea typeface="Source Sans Pro"/>
              <a:cs typeface="Calibri" panose="020F0502020204030204"/>
            </a:endParaRPr>
          </a:p>
          <a:p>
            <a:pPr marL="380365" indent="-258445"/>
            <a:r>
              <a:rPr lang="en-US" sz="1850" b="1">
                <a:ea typeface="Source Sans Pro"/>
              </a:rPr>
              <a:t>Dry Mass:</a:t>
            </a:r>
            <a:r>
              <a:rPr lang="en-US" sz="1850">
                <a:ea typeface="Source Sans Pro"/>
              </a:rPr>
              <a:t> 73.2 </a:t>
            </a:r>
            <a:r>
              <a:rPr lang="en-US" sz="1850" err="1">
                <a:ea typeface="Source Sans Pro"/>
              </a:rPr>
              <a:t>lb</a:t>
            </a:r>
            <a:endParaRPr lang="en-US" sz="1850" err="1">
              <a:ea typeface="Source Sans Pro"/>
              <a:cs typeface="Calibri" panose="020F0502020204030204"/>
            </a:endParaRPr>
          </a:p>
          <a:p>
            <a:pPr marL="380365" indent="-258445"/>
            <a:r>
              <a:rPr lang="en-US" sz="1850" b="1">
                <a:ea typeface="Source Sans Pro"/>
              </a:rPr>
              <a:t>Overall Length: </a:t>
            </a:r>
            <a:r>
              <a:rPr lang="en-US" sz="1850">
                <a:ea typeface="Source Sans Pro"/>
              </a:rPr>
              <a:t>122 in (10' 2")</a:t>
            </a:r>
            <a:endParaRPr lang="en-US" sz="1850">
              <a:ea typeface="Source Sans Pro"/>
              <a:cs typeface="Calibri"/>
            </a:endParaRPr>
          </a:p>
          <a:p>
            <a:pPr marL="380365" indent="-258445"/>
            <a:r>
              <a:rPr lang="en-US" sz="1850" b="1">
                <a:ea typeface="Source Sans Pro"/>
                <a:cs typeface="Calibri"/>
              </a:rPr>
              <a:t>Diameters: </a:t>
            </a:r>
            <a:endParaRPr lang="en-US" sz="1850">
              <a:cs typeface="Calibri"/>
            </a:endParaRPr>
          </a:p>
          <a:p>
            <a:pPr marL="742315" lvl="1" indent="-285750">
              <a:buFont typeface="Courier New" panose="020B0604020202020204" pitchFamily="34" charset="0"/>
              <a:buChar char="o"/>
            </a:pPr>
            <a:r>
              <a:rPr lang="en-US">
                <a:ea typeface="Source Sans Pro"/>
                <a:cs typeface="Calibri"/>
              </a:rPr>
              <a:t>Top: 6.20 in Outer | 6 in Inner</a:t>
            </a:r>
            <a:endParaRPr lang="en-US">
              <a:cs typeface="Calibri" panose="020F0502020204030204"/>
            </a:endParaRPr>
          </a:p>
          <a:p>
            <a:pPr marL="742315" lvl="1" indent="-285750">
              <a:buFont typeface="Courier New" panose="020B0604020202020204" pitchFamily="34" charset="0"/>
              <a:buChar char="o"/>
            </a:pPr>
            <a:r>
              <a:rPr lang="en-US">
                <a:ea typeface="Source Sans Pro"/>
                <a:cs typeface="Calibri"/>
              </a:rPr>
              <a:t>Bottom: 6 in Outer | 5.75 in Inner</a:t>
            </a:r>
            <a:endParaRPr lang="en-US">
              <a:ea typeface="Source Sans Pro"/>
            </a:endParaRPr>
          </a:p>
          <a:p>
            <a:pPr marL="380365" indent="-258445"/>
            <a:r>
              <a:rPr lang="en-US" sz="1850" b="1">
                <a:ea typeface="Source Sans Pro"/>
              </a:rPr>
              <a:t>CG Location:</a:t>
            </a:r>
            <a:r>
              <a:rPr lang="en-US" sz="1850">
                <a:ea typeface="Source Sans Pro"/>
              </a:rPr>
              <a:t> 74.6 in</a:t>
            </a:r>
            <a:endParaRPr lang="en-US" sz="1850">
              <a:ea typeface="Source Sans Pro"/>
              <a:cs typeface="Calibri"/>
            </a:endParaRPr>
          </a:p>
          <a:p>
            <a:pPr marL="380365" indent="-258445"/>
            <a:r>
              <a:rPr lang="en-US" sz="1850" b="1">
                <a:ea typeface="Source Sans Pro"/>
              </a:rPr>
              <a:t>CP Location:</a:t>
            </a:r>
            <a:r>
              <a:rPr lang="en-US" sz="1850">
                <a:ea typeface="Source Sans Pro"/>
              </a:rPr>
              <a:t> 85.3 in</a:t>
            </a:r>
            <a:endParaRPr lang="en-US" sz="1850">
              <a:ea typeface="Source Sans Pro"/>
              <a:cs typeface="Calibri"/>
            </a:endParaRPr>
          </a:p>
          <a:p>
            <a:pPr marL="380365" indent="-258445"/>
            <a:r>
              <a:rPr lang="en-US" sz="1850" b="1">
                <a:ea typeface="Source Sans Pro"/>
              </a:rPr>
              <a:t>Stability:</a:t>
            </a:r>
            <a:r>
              <a:rPr lang="en-US" sz="1850">
                <a:ea typeface="Source Sans Pro"/>
              </a:rPr>
              <a:t>  1.73 caliber</a:t>
            </a:r>
            <a:endParaRPr lang="en-US" sz="1850">
              <a:ea typeface="Source Sans Pro"/>
              <a:cs typeface="Calibri"/>
            </a:endParaRPr>
          </a:p>
          <a:p>
            <a:pPr marL="380365" indent="-258445"/>
            <a:r>
              <a:rPr lang="en-US" sz="1850" b="1">
                <a:ea typeface="Source Sans Pro"/>
                <a:cs typeface="Calibri" panose="020F0502020204030204"/>
              </a:rPr>
              <a:t>OF Ratio:</a:t>
            </a:r>
            <a:r>
              <a:rPr lang="en-US" sz="1850">
                <a:ea typeface="Source Sans Pro"/>
                <a:cs typeface="Calibri" panose="020F0502020204030204"/>
              </a:rPr>
              <a:t> 2.6</a:t>
            </a:r>
          </a:p>
          <a:p>
            <a:pPr marL="380365" indent="-258445"/>
            <a:r>
              <a:rPr lang="en-US" sz="1850" b="1">
                <a:ea typeface="Source Sans Pro"/>
                <a:cs typeface="Calibri" panose="020F0502020204030204"/>
              </a:rPr>
              <a:t>TWR: </a:t>
            </a:r>
            <a:r>
              <a:rPr lang="en-US" sz="1850">
                <a:ea typeface="Source Sans Pro"/>
                <a:cs typeface="Calibri" panose="020F0502020204030204"/>
              </a:rPr>
              <a:t> 4:1</a:t>
            </a:r>
          </a:p>
        </p:txBody>
      </p:sp>
      <p:sp>
        <p:nvSpPr>
          <p:cNvPr id="4" name="Slide Number Placeholder 3">
            <a:extLst>
              <a:ext uri="{FF2B5EF4-FFF2-40B4-BE49-F238E27FC236}">
                <a16:creationId xmlns:a16="http://schemas.microsoft.com/office/drawing/2014/main" id="{6FCDE381-38DC-62B6-98AC-138C65134E38}"/>
              </a:ext>
            </a:extLst>
          </p:cNvPr>
          <p:cNvSpPr>
            <a:spLocks noGrp="1"/>
          </p:cNvSpPr>
          <p:nvPr>
            <p:ph type="sldNum" sz="quarter" idx="17"/>
          </p:nvPr>
        </p:nvSpPr>
        <p:spPr/>
        <p:txBody>
          <a:bodyPr/>
          <a:lstStyle/>
          <a:p>
            <a:r>
              <a:rPr lang="en-US"/>
              <a:t>/   </a:t>
            </a:r>
            <a:fld id="{6C7E6F33-74EE-5541-8108-8353B402F8C1}" type="slidenum">
              <a:rPr lang="en-US" smtClean="0"/>
              <a:pPr/>
              <a:t>4</a:t>
            </a:fld>
            <a:endParaRPr lang="en-US"/>
          </a:p>
        </p:txBody>
      </p:sp>
      <p:sp>
        <p:nvSpPr>
          <p:cNvPr id="5" name="Title 4">
            <a:extLst>
              <a:ext uri="{FF2B5EF4-FFF2-40B4-BE49-F238E27FC236}">
                <a16:creationId xmlns:a16="http://schemas.microsoft.com/office/drawing/2014/main" id="{2FD86446-9922-3D67-91AA-32B7F22B74C4}"/>
              </a:ext>
            </a:extLst>
          </p:cNvPr>
          <p:cNvSpPr>
            <a:spLocks noGrp="1"/>
          </p:cNvSpPr>
          <p:nvPr>
            <p:ph type="title"/>
          </p:nvPr>
        </p:nvSpPr>
        <p:spPr/>
        <p:txBody>
          <a:bodyPr/>
          <a:lstStyle/>
          <a:p>
            <a:r>
              <a:rPr lang="en-US"/>
              <a:t>Overview</a:t>
            </a:r>
          </a:p>
        </p:txBody>
      </p:sp>
      <p:sp>
        <p:nvSpPr>
          <p:cNvPr id="6" name="Text Placeholder 5">
            <a:extLst>
              <a:ext uri="{FF2B5EF4-FFF2-40B4-BE49-F238E27FC236}">
                <a16:creationId xmlns:a16="http://schemas.microsoft.com/office/drawing/2014/main" id="{0E0CE764-9970-053C-6162-70B86F90804B}"/>
              </a:ext>
            </a:extLst>
          </p:cNvPr>
          <p:cNvSpPr>
            <a:spLocks noGrp="1"/>
          </p:cNvSpPr>
          <p:nvPr>
            <p:ph type="body" sz="quarter" idx="13"/>
          </p:nvPr>
        </p:nvSpPr>
        <p:spPr/>
        <p:txBody>
          <a:bodyPr/>
          <a:lstStyle/>
          <a:p>
            <a:r>
              <a:rPr lang="en-US" sz="1850">
                <a:ea typeface="Source Sans Pro"/>
              </a:rPr>
              <a:t>Rocket Sizing</a:t>
            </a:r>
            <a:endParaRPr lang="en-US"/>
          </a:p>
        </p:txBody>
      </p:sp>
      <p:sp>
        <p:nvSpPr>
          <p:cNvPr id="8" name="Footer Placeholder 2">
            <a:extLst>
              <a:ext uri="{FF2B5EF4-FFF2-40B4-BE49-F238E27FC236}">
                <a16:creationId xmlns:a16="http://schemas.microsoft.com/office/drawing/2014/main" id="{5E47D6FF-CCCE-4973-3CCE-32052F3388B5}"/>
              </a:ext>
            </a:extLst>
          </p:cNvPr>
          <p:cNvSpPr>
            <a:spLocks noGrp="1"/>
          </p:cNvSpPr>
          <p:nvPr>
            <p:ph type="ftr" sz="quarter" idx="16"/>
          </p:nvPr>
        </p:nvSpPr>
        <p:spPr>
          <a:xfrm>
            <a:off x="7491867" y="6351113"/>
            <a:ext cx="4114800" cy="366183"/>
          </a:xfrm>
        </p:spPr>
        <p:txBody>
          <a:bodyPr/>
          <a:lstStyle/>
          <a:p>
            <a:r>
              <a:rPr lang="en-US" sz="900">
                <a:ea typeface="Source Sans Pro"/>
              </a:rPr>
              <a:t>ARCHERFISH CDR </a:t>
            </a:r>
            <a:endParaRPr lang="en-US"/>
          </a:p>
        </p:txBody>
      </p:sp>
    </p:spTree>
    <p:extLst>
      <p:ext uri="{BB962C8B-B14F-4D97-AF65-F5344CB8AC3E}">
        <p14:creationId xmlns:p14="http://schemas.microsoft.com/office/powerpoint/2010/main" val="1643136116"/>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drawing of a rectangular object&#10;&#10;AI-generated content may be incorrect.">
            <a:extLst>
              <a:ext uri="{FF2B5EF4-FFF2-40B4-BE49-F238E27FC236}">
                <a16:creationId xmlns:a16="http://schemas.microsoft.com/office/drawing/2014/main" id="{50F2D813-AA3B-C258-FD3A-CD039FD69A82}"/>
              </a:ext>
            </a:extLst>
          </p:cNvPr>
          <p:cNvPicPr>
            <a:picLocks noChangeAspect="1"/>
          </p:cNvPicPr>
          <p:nvPr/>
        </p:nvPicPr>
        <p:blipFill>
          <a:blip r:embed="rId3"/>
          <a:srcRect t="24240" b="25258"/>
          <a:stretch>
            <a:fillRect/>
          </a:stretch>
        </p:blipFill>
        <p:spPr>
          <a:xfrm>
            <a:off x="0" y="4397651"/>
            <a:ext cx="12192000" cy="1734833"/>
          </a:xfrm>
          <a:prstGeom prst="rect">
            <a:avLst/>
          </a:prstGeom>
        </p:spPr>
      </p:pic>
      <p:sp>
        <p:nvSpPr>
          <p:cNvPr id="2" name="Footer Placeholder 1">
            <a:extLst>
              <a:ext uri="{FF2B5EF4-FFF2-40B4-BE49-F238E27FC236}">
                <a16:creationId xmlns:a16="http://schemas.microsoft.com/office/drawing/2014/main" id="{BE1FEC2A-C8F1-870E-AEA7-2FCFAE3073DC}"/>
              </a:ext>
            </a:extLst>
          </p:cNvPr>
          <p:cNvSpPr>
            <a:spLocks noGrp="1"/>
          </p:cNvSpPr>
          <p:nvPr>
            <p:ph type="ftr" sz="quarter" idx="14"/>
          </p:nvPr>
        </p:nvSpPr>
        <p:spPr/>
        <p:txBody>
          <a:bodyPr/>
          <a:lstStyle/>
          <a:p>
            <a:r>
              <a:rPr lang="en-US" sz="900">
                <a:ea typeface="Source Sans Pro"/>
              </a:rPr>
              <a:t>ARCHERFISH CDR </a:t>
            </a:r>
            <a:endParaRPr lang="en-US"/>
          </a:p>
        </p:txBody>
      </p:sp>
      <p:sp>
        <p:nvSpPr>
          <p:cNvPr id="3" name="Slide Number Placeholder 2">
            <a:extLst>
              <a:ext uri="{FF2B5EF4-FFF2-40B4-BE49-F238E27FC236}">
                <a16:creationId xmlns:a16="http://schemas.microsoft.com/office/drawing/2014/main" id="{91423541-9CF2-D83B-F7CD-C5287124D61F}"/>
              </a:ext>
            </a:extLst>
          </p:cNvPr>
          <p:cNvSpPr>
            <a:spLocks noGrp="1"/>
          </p:cNvSpPr>
          <p:nvPr>
            <p:ph type="sldNum" sz="quarter" idx="15"/>
          </p:nvPr>
        </p:nvSpPr>
        <p:spPr/>
        <p:txBody>
          <a:bodyPr/>
          <a:lstStyle/>
          <a:p>
            <a:r>
              <a:rPr lang="en-US"/>
              <a:t>/   </a:t>
            </a:r>
            <a:fld id="{6C7E6F33-74EE-5541-8108-8353B402F8C1}" type="slidenum">
              <a:rPr lang="en-US" smtClean="0"/>
              <a:pPr/>
              <a:t>5</a:t>
            </a:fld>
            <a:endParaRPr lang="en-US"/>
          </a:p>
        </p:txBody>
      </p:sp>
      <p:sp>
        <p:nvSpPr>
          <p:cNvPr id="4" name="Title 3">
            <a:extLst>
              <a:ext uri="{FF2B5EF4-FFF2-40B4-BE49-F238E27FC236}">
                <a16:creationId xmlns:a16="http://schemas.microsoft.com/office/drawing/2014/main" id="{9757FE77-6F75-0222-DEE2-A7143FC8D47F}"/>
              </a:ext>
            </a:extLst>
          </p:cNvPr>
          <p:cNvSpPr>
            <a:spLocks noGrp="1"/>
          </p:cNvSpPr>
          <p:nvPr>
            <p:ph type="title"/>
          </p:nvPr>
        </p:nvSpPr>
        <p:spPr/>
        <p:txBody>
          <a:bodyPr/>
          <a:lstStyle/>
          <a:p>
            <a:r>
              <a:rPr lang="en-US"/>
              <a:t>Overview</a:t>
            </a:r>
          </a:p>
        </p:txBody>
      </p:sp>
      <p:sp>
        <p:nvSpPr>
          <p:cNvPr id="5" name="Text Placeholder 4">
            <a:extLst>
              <a:ext uri="{FF2B5EF4-FFF2-40B4-BE49-F238E27FC236}">
                <a16:creationId xmlns:a16="http://schemas.microsoft.com/office/drawing/2014/main" id="{015A938F-6F6F-8E64-CCF9-933FA92D58E4}"/>
              </a:ext>
            </a:extLst>
          </p:cNvPr>
          <p:cNvSpPr>
            <a:spLocks noGrp="1"/>
          </p:cNvSpPr>
          <p:nvPr>
            <p:ph type="body" sz="quarter" idx="13"/>
          </p:nvPr>
        </p:nvSpPr>
        <p:spPr/>
        <p:txBody>
          <a:bodyPr/>
          <a:lstStyle/>
          <a:p>
            <a:r>
              <a:rPr lang="en-US" sz="1850">
                <a:ea typeface="Source Sans Pro"/>
              </a:rPr>
              <a:t>Open Rocket Model</a:t>
            </a:r>
            <a:endParaRPr lang="en-US"/>
          </a:p>
        </p:txBody>
      </p:sp>
      <p:sp>
        <p:nvSpPr>
          <p:cNvPr id="12" name="TextBox 11">
            <a:extLst>
              <a:ext uri="{FF2B5EF4-FFF2-40B4-BE49-F238E27FC236}">
                <a16:creationId xmlns:a16="http://schemas.microsoft.com/office/drawing/2014/main" id="{424732EC-0794-7D29-E6A5-967CD3C43933}"/>
              </a:ext>
            </a:extLst>
          </p:cNvPr>
          <p:cNvSpPr txBox="1"/>
          <p:nvPr/>
        </p:nvSpPr>
        <p:spPr>
          <a:xfrm>
            <a:off x="9311071" y="5822811"/>
            <a:ext cx="18723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Fins</a:t>
            </a:r>
            <a:endParaRPr lang="en-US"/>
          </a:p>
        </p:txBody>
      </p:sp>
      <p:sp>
        <p:nvSpPr>
          <p:cNvPr id="13" name="TextBox 12">
            <a:extLst>
              <a:ext uri="{FF2B5EF4-FFF2-40B4-BE49-F238E27FC236}">
                <a16:creationId xmlns:a16="http://schemas.microsoft.com/office/drawing/2014/main" id="{C70A71F1-DDC6-30EC-7C1B-EE6439B50AE0}"/>
              </a:ext>
            </a:extLst>
          </p:cNvPr>
          <p:cNvSpPr txBox="1"/>
          <p:nvPr/>
        </p:nvSpPr>
        <p:spPr>
          <a:xfrm>
            <a:off x="10649704" y="3650003"/>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Engine </a:t>
            </a:r>
          </a:p>
        </p:txBody>
      </p:sp>
      <p:sp>
        <p:nvSpPr>
          <p:cNvPr id="14" name="TextBox 13">
            <a:extLst>
              <a:ext uri="{FF2B5EF4-FFF2-40B4-BE49-F238E27FC236}">
                <a16:creationId xmlns:a16="http://schemas.microsoft.com/office/drawing/2014/main" id="{C3691768-BA87-3E5C-8376-51879513421A}"/>
              </a:ext>
            </a:extLst>
          </p:cNvPr>
          <p:cNvSpPr txBox="1"/>
          <p:nvPr/>
        </p:nvSpPr>
        <p:spPr>
          <a:xfrm>
            <a:off x="9680983" y="3664064"/>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Pump </a:t>
            </a:r>
          </a:p>
        </p:txBody>
      </p:sp>
      <p:sp>
        <p:nvSpPr>
          <p:cNvPr id="15" name="TextBox 14">
            <a:extLst>
              <a:ext uri="{FF2B5EF4-FFF2-40B4-BE49-F238E27FC236}">
                <a16:creationId xmlns:a16="http://schemas.microsoft.com/office/drawing/2014/main" id="{94DE11C3-2D25-D74B-5AA7-7DFF32A89E24}"/>
              </a:ext>
            </a:extLst>
          </p:cNvPr>
          <p:cNvSpPr txBox="1"/>
          <p:nvPr/>
        </p:nvSpPr>
        <p:spPr>
          <a:xfrm>
            <a:off x="3718950" y="3600592"/>
            <a:ext cx="13037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Avionics</a:t>
            </a:r>
          </a:p>
        </p:txBody>
      </p:sp>
      <p:sp>
        <p:nvSpPr>
          <p:cNvPr id="16" name="TextBox 15">
            <a:extLst>
              <a:ext uri="{FF2B5EF4-FFF2-40B4-BE49-F238E27FC236}">
                <a16:creationId xmlns:a16="http://schemas.microsoft.com/office/drawing/2014/main" id="{DD52E03F-0D14-39EE-2B94-B77CF11015B1}"/>
              </a:ext>
            </a:extLst>
          </p:cNvPr>
          <p:cNvSpPr txBox="1"/>
          <p:nvPr/>
        </p:nvSpPr>
        <p:spPr>
          <a:xfrm>
            <a:off x="6030848" y="3600593"/>
            <a:ext cx="1567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Oxidizer</a:t>
            </a:r>
            <a:endParaRPr lang="en-US"/>
          </a:p>
        </p:txBody>
      </p:sp>
      <p:sp>
        <p:nvSpPr>
          <p:cNvPr id="17" name="TextBox 16">
            <a:extLst>
              <a:ext uri="{FF2B5EF4-FFF2-40B4-BE49-F238E27FC236}">
                <a16:creationId xmlns:a16="http://schemas.microsoft.com/office/drawing/2014/main" id="{238B429E-8048-A385-75FD-975C5FEFEC3A}"/>
              </a:ext>
            </a:extLst>
          </p:cNvPr>
          <p:cNvSpPr txBox="1"/>
          <p:nvPr/>
        </p:nvSpPr>
        <p:spPr>
          <a:xfrm>
            <a:off x="2061583" y="3533356"/>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Recovery</a:t>
            </a:r>
          </a:p>
        </p:txBody>
      </p:sp>
      <p:sp>
        <p:nvSpPr>
          <p:cNvPr id="18" name="TextBox 17">
            <a:extLst>
              <a:ext uri="{FF2B5EF4-FFF2-40B4-BE49-F238E27FC236}">
                <a16:creationId xmlns:a16="http://schemas.microsoft.com/office/drawing/2014/main" id="{3286035E-C658-F182-B16D-71850447A137}"/>
              </a:ext>
            </a:extLst>
          </p:cNvPr>
          <p:cNvSpPr txBox="1"/>
          <p:nvPr/>
        </p:nvSpPr>
        <p:spPr>
          <a:xfrm>
            <a:off x="112354" y="4124136"/>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Nosecone</a:t>
            </a:r>
          </a:p>
        </p:txBody>
      </p:sp>
      <p:sp>
        <p:nvSpPr>
          <p:cNvPr id="9" name="Text Placeholder 1">
            <a:extLst>
              <a:ext uri="{FF2B5EF4-FFF2-40B4-BE49-F238E27FC236}">
                <a16:creationId xmlns:a16="http://schemas.microsoft.com/office/drawing/2014/main" id="{3DDD57A1-BC54-314B-0956-D89366C36DD1}"/>
              </a:ext>
            </a:extLst>
          </p:cNvPr>
          <p:cNvSpPr txBox="1">
            <a:spLocks/>
          </p:cNvSpPr>
          <p:nvPr/>
        </p:nvSpPr>
        <p:spPr>
          <a:xfrm>
            <a:off x="4701726" y="6318405"/>
            <a:ext cx="3437740" cy="387660"/>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0.1</a:t>
            </a:r>
            <a:r>
              <a:rPr lang="en-US" sz="1850">
                <a:ea typeface="Source Sans Pro"/>
              </a:rPr>
              <a:t> Open Rocket Model</a:t>
            </a:r>
          </a:p>
        </p:txBody>
      </p:sp>
      <p:sp>
        <p:nvSpPr>
          <p:cNvPr id="11" name="TextBox 10">
            <a:extLst>
              <a:ext uri="{FF2B5EF4-FFF2-40B4-BE49-F238E27FC236}">
                <a16:creationId xmlns:a16="http://schemas.microsoft.com/office/drawing/2014/main" id="{B199185E-4A61-D2E7-0412-F35DDB4C8297}"/>
              </a:ext>
            </a:extLst>
          </p:cNvPr>
          <p:cNvSpPr txBox="1"/>
          <p:nvPr/>
        </p:nvSpPr>
        <p:spPr>
          <a:xfrm>
            <a:off x="7471097" y="3599504"/>
            <a:ext cx="115745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GN2</a:t>
            </a:r>
          </a:p>
        </p:txBody>
      </p:sp>
      <p:sp>
        <p:nvSpPr>
          <p:cNvPr id="20" name="TextBox 19">
            <a:extLst>
              <a:ext uri="{FF2B5EF4-FFF2-40B4-BE49-F238E27FC236}">
                <a16:creationId xmlns:a16="http://schemas.microsoft.com/office/drawing/2014/main" id="{ED1AE161-9FE6-DCC3-2BB1-FA754AC256D6}"/>
              </a:ext>
            </a:extLst>
          </p:cNvPr>
          <p:cNvSpPr txBox="1"/>
          <p:nvPr/>
        </p:nvSpPr>
        <p:spPr>
          <a:xfrm>
            <a:off x="8631714" y="3599506"/>
            <a:ext cx="11552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Fuel</a:t>
            </a:r>
          </a:p>
        </p:txBody>
      </p:sp>
      <p:sp>
        <p:nvSpPr>
          <p:cNvPr id="21" name="Arrow: Right 20">
            <a:extLst>
              <a:ext uri="{FF2B5EF4-FFF2-40B4-BE49-F238E27FC236}">
                <a16:creationId xmlns:a16="http://schemas.microsoft.com/office/drawing/2014/main" id="{07C2AEA5-FDB6-5368-DF8B-5CC1000CD7BC}"/>
              </a:ext>
            </a:extLst>
          </p:cNvPr>
          <p:cNvSpPr/>
          <p:nvPr/>
        </p:nvSpPr>
        <p:spPr>
          <a:xfrm rot="5400000">
            <a:off x="2201657" y="4284447"/>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2" name="Arrow: Right 21">
            <a:extLst>
              <a:ext uri="{FF2B5EF4-FFF2-40B4-BE49-F238E27FC236}">
                <a16:creationId xmlns:a16="http://schemas.microsoft.com/office/drawing/2014/main" id="{215BFDC8-B547-36DB-A3F0-1D26513FE4BC}"/>
              </a:ext>
            </a:extLst>
          </p:cNvPr>
          <p:cNvSpPr/>
          <p:nvPr/>
        </p:nvSpPr>
        <p:spPr>
          <a:xfrm rot="5400000">
            <a:off x="3848121" y="4284447"/>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3" name="Arrow: Right 22">
            <a:extLst>
              <a:ext uri="{FF2B5EF4-FFF2-40B4-BE49-F238E27FC236}">
                <a16:creationId xmlns:a16="http://schemas.microsoft.com/office/drawing/2014/main" id="{6100D9BA-C924-3F15-095D-D83CBE837E84}"/>
              </a:ext>
            </a:extLst>
          </p:cNvPr>
          <p:cNvSpPr/>
          <p:nvPr/>
        </p:nvSpPr>
        <p:spPr>
          <a:xfrm rot="5400000">
            <a:off x="6091470" y="4284447"/>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4" name="Arrow: Right 23">
            <a:extLst>
              <a:ext uri="{FF2B5EF4-FFF2-40B4-BE49-F238E27FC236}">
                <a16:creationId xmlns:a16="http://schemas.microsoft.com/office/drawing/2014/main" id="{A8135690-8BA1-1EA7-5F88-F00E3211ABE3}"/>
              </a:ext>
            </a:extLst>
          </p:cNvPr>
          <p:cNvSpPr/>
          <p:nvPr/>
        </p:nvSpPr>
        <p:spPr>
          <a:xfrm rot="5400000">
            <a:off x="7378290" y="4284142"/>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5" name="Arrow: Right 24">
            <a:extLst>
              <a:ext uri="{FF2B5EF4-FFF2-40B4-BE49-F238E27FC236}">
                <a16:creationId xmlns:a16="http://schemas.microsoft.com/office/drawing/2014/main" id="{5E775FAE-4174-CBE3-896B-A175F62D7B34}"/>
              </a:ext>
            </a:extLst>
          </p:cNvPr>
          <p:cNvSpPr/>
          <p:nvPr/>
        </p:nvSpPr>
        <p:spPr>
          <a:xfrm rot="5400000">
            <a:off x="8577346" y="4284446"/>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6" name="Arrow: Right 25">
            <a:extLst>
              <a:ext uri="{FF2B5EF4-FFF2-40B4-BE49-F238E27FC236}">
                <a16:creationId xmlns:a16="http://schemas.microsoft.com/office/drawing/2014/main" id="{6F72D56A-EBE3-57BA-1822-1FB30B69866F}"/>
              </a:ext>
            </a:extLst>
          </p:cNvPr>
          <p:cNvSpPr/>
          <p:nvPr/>
        </p:nvSpPr>
        <p:spPr>
          <a:xfrm rot="5400000">
            <a:off x="9644878" y="4312461"/>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7" name="Arrow: Right 26">
            <a:extLst>
              <a:ext uri="{FF2B5EF4-FFF2-40B4-BE49-F238E27FC236}">
                <a16:creationId xmlns:a16="http://schemas.microsoft.com/office/drawing/2014/main" id="{BFBD52ED-91A6-36B1-B6C5-53F943181543}"/>
              </a:ext>
            </a:extLst>
          </p:cNvPr>
          <p:cNvSpPr/>
          <p:nvPr/>
        </p:nvSpPr>
        <p:spPr>
          <a:xfrm rot="5400000">
            <a:off x="10602794" y="4323669"/>
            <a:ext cx="873440" cy="2712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8" name="Arrow: Right 27">
            <a:extLst>
              <a:ext uri="{FF2B5EF4-FFF2-40B4-BE49-F238E27FC236}">
                <a16:creationId xmlns:a16="http://schemas.microsoft.com/office/drawing/2014/main" id="{C8286388-1C59-93A8-8678-7E1357C35B8F}"/>
              </a:ext>
            </a:extLst>
          </p:cNvPr>
          <p:cNvSpPr/>
          <p:nvPr/>
        </p:nvSpPr>
        <p:spPr>
          <a:xfrm rot="21120000">
            <a:off x="10018455" y="5802621"/>
            <a:ext cx="867379" cy="27057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6" name="Arrow: Right 5">
            <a:extLst>
              <a:ext uri="{FF2B5EF4-FFF2-40B4-BE49-F238E27FC236}">
                <a16:creationId xmlns:a16="http://schemas.microsoft.com/office/drawing/2014/main" id="{CDDC799A-B65C-5FC1-1029-E219821CE15C}"/>
              </a:ext>
            </a:extLst>
          </p:cNvPr>
          <p:cNvSpPr/>
          <p:nvPr/>
        </p:nvSpPr>
        <p:spPr>
          <a:xfrm rot="3600000">
            <a:off x="423125" y="4642579"/>
            <a:ext cx="527429" cy="189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30" name="TextBox 29">
            <a:extLst>
              <a:ext uri="{FF2B5EF4-FFF2-40B4-BE49-F238E27FC236}">
                <a16:creationId xmlns:a16="http://schemas.microsoft.com/office/drawing/2014/main" id="{1A1546A9-8C04-CAA1-ED68-9566FC58A7D4}"/>
              </a:ext>
            </a:extLst>
          </p:cNvPr>
          <p:cNvSpPr txBox="1"/>
          <p:nvPr/>
        </p:nvSpPr>
        <p:spPr>
          <a:xfrm>
            <a:off x="8495253" y="1567778"/>
            <a:ext cx="3281307"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rtl="0">
              <a:buFont typeface="Arial"/>
              <a:buChar char="•"/>
            </a:pPr>
            <a:r>
              <a:rPr lang="en-US" sz="1850" b="1" baseline="0">
                <a:solidFill>
                  <a:srgbClr val="154734"/>
                </a:solidFill>
                <a:latin typeface="Source Sans Pro"/>
                <a:ea typeface="Segoe UI"/>
                <a:cs typeface="Segoe UI"/>
              </a:rPr>
              <a:t>CG Location:</a:t>
            </a:r>
            <a:r>
              <a:rPr lang="en-US" sz="1850" baseline="0">
                <a:solidFill>
                  <a:srgbClr val="154734"/>
                </a:solidFill>
                <a:latin typeface="Source Sans Pro"/>
                <a:ea typeface="Segoe UI"/>
                <a:cs typeface="Segoe UI"/>
              </a:rPr>
              <a:t> 74.6 in</a:t>
            </a:r>
            <a:r>
              <a:rPr lang="en-US" sz="1850">
                <a:solidFill>
                  <a:srgbClr val="154734"/>
                </a:solidFill>
                <a:latin typeface="Source Sans Pro"/>
                <a:ea typeface="Segoe UI"/>
                <a:cs typeface="Segoe UI"/>
              </a:rPr>
              <a:t>​</a:t>
            </a:r>
            <a:endParaRPr lang="en-US">
              <a:ea typeface="Calibri" panose="020F0502020204030204"/>
              <a:cs typeface="Calibri" panose="020F0502020204030204"/>
            </a:endParaRPr>
          </a:p>
          <a:p>
            <a:pPr marL="342900" indent="-342900" rtl="0">
              <a:buFont typeface="Arial"/>
              <a:buChar char="•"/>
            </a:pPr>
            <a:r>
              <a:rPr lang="en-US" sz="1850" b="1" baseline="0">
                <a:solidFill>
                  <a:srgbClr val="154734"/>
                </a:solidFill>
                <a:latin typeface="Source Sans Pro"/>
                <a:ea typeface="Segoe UI"/>
                <a:cs typeface="Segoe UI"/>
              </a:rPr>
              <a:t>CP Location:</a:t>
            </a:r>
            <a:r>
              <a:rPr lang="en-US" sz="1850" baseline="0">
                <a:solidFill>
                  <a:srgbClr val="154734"/>
                </a:solidFill>
                <a:latin typeface="Source Sans Pro"/>
                <a:ea typeface="Segoe UI"/>
                <a:cs typeface="Segoe UI"/>
              </a:rPr>
              <a:t> 85.3 in</a:t>
            </a:r>
            <a:r>
              <a:rPr lang="en-US" sz="1850">
                <a:solidFill>
                  <a:srgbClr val="154734"/>
                </a:solidFill>
                <a:latin typeface="Source Sans Pro"/>
                <a:ea typeface="Segoe UI"/>
                <a:cs typeface="Segoe UI"/>
              </a:rPr>
              <a:t>​</a:t>
            </a:r>
          </a:p>
          <a:p>
            <a:pPr marL="342900" indent="-342900" rtl="0">
              <a:buFont typeface="Arial"/>
              <a:buChar char="•"/>
            </a:pPr>
            <a:r>
              <a:rPr lang="en-US" sz="1850" b="1" baseline="0">
                <a:solidFill>
                  <a:srgbClr val="154734"/>
                </a:solidFill>
                <a:latin typeface="Source Sans Pro"/>
                <a:ea typeface="Segoe UI"/>
                <a:cs typeface="Segoe UI"/>
              </a:rPr>
              <a:t>Stability:</a:t>
            </a:r>
            <a:r>
              <a:rPr lang="en-US" sz="1850" baseline="0">
                <a:solidFill>
                  <a:srgbClr val="154734"/>
                </a:solidFill>
                <a:latin typeface="Source Sans Pro"/>
                <a:ea typeface="Segoe UI"/>
                <a:cs typeface="Segoe UI"/>
              </a:rPr>
              <a:t>  1.73 caliber</a:t>
            </a:r>
          </a:p>
          <a:p>
            <a:pPr marL="342900" indent="-342900">
              <a:buFont typeface="Arial"/>
              <a:buChar char="•"/>
            </a:pPr>
            <a:r>
              <a:rPr lang="en-US" sz="1850" b="1">
                <a:latin typeface="Segoe UI"/>
                <a:ea typeface="Source Sans Pro"/>
                <a:cs typeface="Segoe UI"/>
              </a:rPr>
              <a:t>Max Apogee: ~13000ft</a:t>
            </a:r>
          </a:p>
        </p:txBody>
      </p:sp>
      <p:sp>
        <p:nvSpPr>
          <p:cNvPr id="32" name="TextBox 31">
            <a:extLst>
              <a:ext uri="{FF2B5EF4-FFF2-40B4-BE49-F238E27FC236}">
                <a16:creationId xmlns:a16="http://schemas.microsoft.com/office/drawing/2014/main" id="{3910FD19-1849-670D-CB0F-0BE0BF9C8DC8}"/>
              </a:ext>
            </a:extLst>
          </p:cNvPr>
          <p:cNvSpPr txBox="1"/>
          <p:nvPr/>
        </p:nvSpPr>
        <p:spPr>
          <a:xfrm>
            <a:off x="4590154" y="1485078"/>
            <a:ext cx="3977640" cy="22929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80365" lvl="0" indent="-258445" rtl="0">
              <a:buFont typeface=""/>
              <a:buChar char="•"/>
            </a:pPr>
            <a:r>
              <a:rPr lang="en-US" sz="1850" b="1" baseline="0">
                <a:solidFill>
                  <a:srgbClr val="154734"/>
                </a:solidFill>
                <a:latin typeface="Calibri"/>
                <a:ea typeface="Arial"/>
                <a:cs typeface="Arial"/>
              </a:rPr>
              <a:t>Wet Mass:</a:t>
            </a:r>
            <a:r>
              <a:rPr lang="en-US" sz="1850" baseline="0">
                <a:solidFill>
                  <a:srgbClr val="154734"/>
                </a:solidFill>
                <a:latin typeface="Calibri"/>
                <a:ea typeface="Arial"/>
                <a:cs typeface="Arial"/>
              </a:rPr>
              <a:t> 93.0 </a:t>
            </a:r>
            <a:r>
              <a:rPr lang="en-US" sz="1850" baseline="0" err="1">
                <a:solidFill>
                  <a:srgbClr val="154734"/>
                </a:solidFill>
                <a:latin typeface="Calibri"/>
                <a:ea typeface="Arial"/>
                <a:cs typeface="Arial"/>
              </a:rPr>
              <a:t>lb</a:t>
            </a:r>
            <a:r>
              <a:rPr lang="en-US" sz="1850">
                <a:solidFill>
                  <a:srgbClr val="154734"/>
                </a:solidFill>
                <a:latin typeface="Calibri"/>
                <a:ea typeface="Arial"/>
                <a:cs typeface="Arial"/>
              </a:rPr>
              <a:t>​s</a:t>
            </a:r>
          </a:p>
          <a:p>
            <a:pPr marL="380365" lvl="0" indent="-258445" rtl="0">
              <a:buFont typeface=""/>
              <a:buChar char="•"/>
            </a:pPr>
            <a:r>
              <a:rPr lang="en-US" sz="1850" b="1" baseline="0">
                <a:solidFill>
                  <a:srgbClr val="154734"/>
                </a:solidFill>
                <a:latin typeface="Calibri"/>
                <a:ea typeface="Arial"/>
                <a:cs typeface="Arial"/>
              </a:rPr>
              <a:t>Dry Mass:</a:t>
            </a:r>
            <a:r>
              <a:rPr lang="en-US" sz="1850" baseline="0">
                <a:solidFill>
                  <a:srgbClr val="154734"/>
                </a:solidFill>
                <a:latin typeface="Calibri"/>
                <a:ea typeface="Arial"/>
                <a:cs typeface="Arial"/>
              </a:rPr>
              <a:t> 73.2 </a:t>
            </a:r>
            <a:r>
              <a:rPr lang="en-US" sz="1850" baseline="0" err="1">
                <a:solidFill>
                  <a:srgbClr val="154734"/>
                </a:solidFill>
                <a:latin typeface="Calibri"/>
                <a:ea typeface="Arial"/>
                <a:cs typeface="Arial"/>
              </a:rPr>
              <a:t>lb</a:t>
            </a:r>
            <a:r>
              <a:rPr lang="en-US" sz="1850">
                <a:solidFill>
                  <a:srgbClr val="154734"/>
                </a:solidFill>
                <a:latin typeface="Calibri"/>
                <a:ea typeface="Arial"/>
                <a:cs typeface="Arial"/>
              </a:rPr>
              <a:t>​s</a:t>
            </a:r>
          </a:p>
          <a:p>
            <a:pPr marL="464820" indent="-342900">
              <a:buFont typeface="Arial"/>
              <a:buChar char="•"/>
            </a:pPr>
            <a:r>
              <a:rPr lang="en-US" sz="1900" b="1">
                <a:solidFill>
                  <a:srgbClr val="154734"/>
                </a:solidFill>
                <a:latin typeface="Source Sans Pro"/>
                <a:ea typeface="Source Sans Pro"/>
                <a:cs typeface="Arial"/>
              </a:rPr>
              <a:t>TWR: </a:t>
            </a:r>
            <a:r>
              <a:rPr lang="en-US" sz="1900">
                <a:solidFill>
                  <a:srgbClr val="154734"/>
                </a:solidFill>
                <a:latin typeface="Source Sans Pro"/>
                <a:ea typeface="Source Sans Pro"/>
                <a:cs typeface="Arial"/>
              </a:rPr>
              <a:t>4:1 </a:t>
            </a:r>
            <a:endParaRPr lang="en-US" sz="1900">
              <a:solidFill>
                <a:srgbClr val="000000"/>
              </a:solidFill>
              <a:latin typeface="Source Sans Pro"/>
              <a:ea typeface="Source Sans Pro"/>
              <a:cs typeface="Arial"/>
            </a:endParaRPr>
          </a:p>
          <a:p>
            <a:pPr marL="380365" lvl="0" indent="-258445" rtl="0">
              <a:buFont typeface=""/>
              <a:buChar char="•"/>
            </a:pPr>
            <a:r>
              <a:rPr lang="en-US" sz="1850" b="1" baseline="0">
                <a:solidFill>
                  <a:srgbClr val="154734"/>
                </a:solidFill>
                <a:latin typeface="Calibri"/>
                <a:ea typeface="Arial"/>
                <a:cs typeface="Arial"/>
              </a:rPr>
              <a:t>Overall Length: </a:t>
            </a:r>
            <a:r>
              <a:rPr lang="en-US" sz="1850" baseline="0">
                <a:solidFill>
                  <a:srgbClr val="154734"/>
                </a:solidFill>
                <a:latin typeface="Calibri"/>
                <a:ea typeface="Arial"/>
                <a:cs typeface="Arial"/>
              </a:rPr>
              <a:t>122 in (10' 2")</a:t>
            </a:r>
            <a:r>
              <a:rPr lang="en-US" sz="1850">
                <a:solidFill>
                  <a:srgbClr val="154734"/>
                </a:solidFill>
                <a:latin typeface="Calibri"/>
                <a:ea typeface="Arial"/>
                <a:cs typeface="Arial"/>
              </a:rPr>
              <a:t>​</a:t>
            </a:r>
          </a:p>
          <a:p>
            <a:pPr marL="380365" lvl="0" indent="-258445" rtl="0">
              <a:buFont typeface=""/>
              <a:buChar char="•"/>
            </a:pPr>
            <a:r>
              <a:rPr lang="en-US" sz="1850" b="1" baseline="0">
                <a:solidFill>
                  <a:srgbClr val="154734"/>
                </a:solidFill>
                <a:latin typeface="Calibri"/>
                <a:ea typeface="Arial"/>
                <a:cs typeface="Arial"/>
              </a:rPr>
              <a:t>Diameters: </a:t>
            </a:r>
            <a:r>
              <a:rPr lang="en-US" sz="1850">
                <a:solidFill>
                  <a:srgbClr val="154734"/>
                </a:solidFill>
                <a:latin typeface="Calibri"/>
                <a:ea typeface="Arial"/>
                <a:cs typeface="Arial"/>
              </a:rPr>
              <a:t>​</a:t>
            </a:r>
          </a:p>
          <a:p>
            <a:pPr marL="742315" lvl="1" indent="-285750">
              <a:buFont typeface="Courier New,monospace"/>
              <a:buChar char="o"/>
            </a:pPr>
            <a:r>
              <a:rPr lang="en-US" sz="1600" baseline="0">
                <a:solidFill>
                  <a:srgbClr val="154734"/>
                </a:solidFill>
                <a:latin typeface="Calibri"/>
                <a:ea typeface="Arial"/>
                <a:cs typeface="Arial"/>
              </a:rPr>
              <a:t>Top: 6.20</a:t>
            </a:r>
            <a:r>
              <a:rPr lang="en-US" sz="1600">
                <a:solidFill>
                  <a:srgbClr val="154734"/>
                </a:solidFill>
                <a:latin typeface="Calibri"/>
                <a:ea typeface="Arial"/>
                <a:cs typeface="Arial"/>
              </a:rPr>
              <a:t>"</a:t>
            </a:r>
            <a:r>
              <a:rPr lang="en-US" sz="1600" baseline="0">
                <a:solidFill>
                  <a:srgbClr val="154734"/>
                </a:solidFill>
                <a:latin typeface="Calibri"/>
                <a:ea typeface="Arial"/>
                <a:cs typeface="Arial"/>
              </a:rPr>
              <a:t> Outer | 6</a:t>
            </a:r>
            <a:r>
              <a:rPr lang="en-US" sz="1600">
                <a:solidFill>
                  <a:srgbClr val="154734"/>
                </a:solidFill>
                <a:latin typeface="Calibri"/>
                <a:ea typeface="Arial"/>
                <a:cs typeface="Arial"/>
              </a:rPr>
              <a:t>"</a:t>
            </a:r>
            <a:r>
              <a:rPr lang="en-US" sz="1600" baseline="0">
                <a:solidFill>
                  <a:srgbClr val="154734"/>
                </a:solidFill>
                <a:latin typeface="Calibri"/>
                <a:ea typeface="Arial"/>
                <a:cs typeface="Arial"/>
              </a:rPr>
              <a:t> Inner</a:t>
            </a:r>
            <a:r>
              <a:rPr lang="en-US" sz="1600">
                <a:solidFill>
                  <a:srgbClr val="154734"/>
                </a:solidFill>
                <a:latin typeface="Calibri"/>
                <a:ea typeface="Arial"/>
                <a:cs typeface="Arial"/>
              </a:rPr>
              <a:t>​</a:t>
            </a:r>
          </a:p>
          <a:p>
            <a:pPr marL="742315" lvl="1" indent="-285750">
              <a:buFont typeface="Courier New,monospace"/>
              <a:buChar char="o"/>
            </a:pPr>
            <a:r>
              <a:rPr lang="en-US" sz="1600" baseline="0">
                <a:solidFill>
                  <a:srgbClr val="154734"/>
                </a:solidFill>
                <a:latin typeface="Calibri"/>
                <a:ea typeface="Arial"/>
                <a:cs typeface="Arial"/>
              </a:rPr>
              <a:t>Bottom: 6</a:t>
            </a:r>
            <a:r>
              <a:rPr lang="en-US" sz="1600">
                <a:solidFill>
                  <a:srgbClr val="154734"/>
                </a:solidFill>
                <a:latin typeface="Calibri"/>
                <a:ea typeface="Arial"/>
                <a:cs typeface="Arial"/>
              </a:rPr>
              <a:t>"</a:t>
            </a:r>
            <a:r>
              <a:rPr lang="en-US" sz="1600" baseline="0">
                <a:solidFill>
                  <a:srgbClr val="154734"/>
                </a:solidFill>
                <a:latin typeface="Calibri"/>
                <a:ea typeface="Arial"/>
                <a:cs typeface="Arial"/>
              </a:rPr>
              <a:t> Outer | 5.75</a:t>
            </a:r>
            <a:r>
              <a:rPr lang="en-US" sz="1600">
                <a:solidFill>
                  <a:srgbClr val="154734"/>
                </a:solidFill>
                <a:latin typeface="Calibri"/>
                <a:ea typeface="Arial"/>
                <a:cs typeface="Arial"/>
              </a:rPr>
              <a:t>"</a:t>
            </a:r>
            <a:r>
              <a:rPr lang="en-US" sz="1600" baseline="0">
                <a:solidFill>
                  <a:srgbClr val="154734"/>
                </a:solidFill>
                <a:latin typeface="Calibri"/>
                <a:ea typeface="Arial"/>
                <a:cs typeface="Arial"/>
              </a:rPr>
              <a:t> Inner</a:t>
            </a:r>
          </a:p>
          <a:p>
            <a:endParaRPr lang="en-US">
              <a:ea typeface="Calibri" panose="020F0502020204030204"/>
              <a:cs typeface="Calibri" panose="020F0502020204030204"/>
            </a:endParaRPr>
          </a:p>
        </p:txBody>
      </p:sp>
      <p:sp>
        <p:nvSpPr>
          <p:cNvPr id="33" name="TextBox 32">
            <a:extLst>
              <a:ext uri="{FF2B5EF4-FFF2-40B4-BE49-F238E27FC236}">
                <a16:creationId xmlns:a16="http://schemas.microsoft.com/office/drawing/2014/main" id="{E6A0C034-7015-0E11-D258-797274F7F7AA}"/>
              </a:ext>
            </a:extLst>
          </p:cNvPr>
          <p:cNvSpPr txBox="1"/>
          <p:nvPr/>
        </p:nvSpPr>
        <p:spPr>
          <a:xfrm>
            <a:off x="899160" y="1483360"/>
            <a:ext cx="3114040" cy="18004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b="1">
                <a:solidFill>
                  <a:srgbClr val="154734"/>
                </a:solidFill>
                <a:latin typeface="Source Sans Pro"/>
                <a:ea typeface="Segoe UI"/>
                <a:cs typeface="Segoe UI"/>
              </a:rPr>
              <a:t>Liquid Bi-Propellant Rocket</a:t>
            </a:r>
            <a:endParaRPr lang="en-US">
              <a:ea typeface="Calibri" panose="020F0502020204030204"/>
              <a:cs typeface="Calibri" panose="020F0502020204030204"/>
            </a:endParaRPr>
          </a:p>
          <a:p>
            <a:pPr marL="342900" indent="-342900">
              <a:buFont typeface="Arial"/>
              <a:buChar char="•"/>
            </a:pPr>
            <a:r>
              <a:rPr lang="en-US" sz="1850" b="1">
                <a:solidFill>
                  <a:srgbClr val="154734"/>
                </a:solidFill>
                <a:latin typeface="Source Sans Pro"/>
                <a:ea typeface="Segoe UI"/>
                <a:cs typeface="Segoe UI"/>
              </a:rPr>
              <a:t>Oxidizer: </a:t>
            </a:r>
            <a:r>
              <a:rPr lang="en-US" sz="1850">
                <a:solidFill>
                  <a:srgbClr val="154734"/>
                </a:solidFill>
                <a:latin typeface="Source Sans Pro"/>
                <a:ea typeface="Segoe UI"/>
                <a:cs typeface="Segoe UI"/>
              </a:rPr>
              <a:t>Nitrous Oxide</a:t>
            </a:r>
            <a:endParaRPr lang="en-US">
              <a:ea typeface="Calibri" panose="020F0502020204030204"/>
              <a:cs typeface="Calibri" panose="020F0502020204030204"/>
            </a:endParaRPr>
          </a:p>
          <a:p>
            <a:pPr marL="342900" indent="-342900">
              <a:buFont typeface="Arial"/>
              <a:buChar char="•"/>
            </a:pPr>
            <a:r>
              <a:rPr lang="en-US" sz="1850" b="1">
                <a:solidFill>
                  <a:srgbClr val="154734"/>
                </a:solidFill>
                <a:latin typeface="Source Sans Pro"/>
                <a:ea typeface="Segoe UI"/>
                <a:cs typeface="Segoe UI"/>
              </a:rPr>
              <a:t>Fuel: </a:t>
            </a:r>
            <a:r>
              <a:rPr lang="en-US" sz="1850">
                <a:solidFill>
                  <a:srgbClr val="154734"/>
                </a:solidFill>
                <a:latin typeface="Source Sans Pro"/>
                <a:ea typeface="Segoe UI"/>
                <a:cs typeface="Segoe UI"/>
              </a:rPr>
              <a:t>Ethanol</a:t>
            </a:r>
          </a:p>
          <a:p>
            <a:pPr marL="800100" lvl="1" indent="-342900">
              <a:buFont typeface="Courier New"/>
              <a:buChar char="o"/>
            </a:pPr>
            <a:r>
              <a:rPr lang="en-US" sz="1850">
                <a:solidFill>
                  <a:srgbClr val="154734"/>
                </a:solidFill>
                <a:latin typeface="Source Sans Pro"/>
                <a:ea typeface="Segoe UI"/>
                <a:cs typeface="Segoe UI"/>
              </a:rPr>
              <a:t>Pressurized By GN2</a:t>
            </a:r>
          </a:p>
          <a:p>
            <a:pPr marL="342900" indent="-342900">
              <a:buFont typeface="Arial"/>
              <a:buChar char="•"/>
            </a:pPr>
            <a:r>
              <a:rPr lang="en-US" sz="1850" b="1" baseline="0">
                <a:solidFill>
                  <a:srgbClr val="154734"/>
                </a:solidFill>
                <a:latin typeface="Source Sans Pro"/>
                <a:ea typeface="Segoe UI"/>
                <a:cs typeface="Segoe UI"/>
              </a:rPr>
              <a:t>OF Ratio:</a:t>
            </a:r>
            <a:r>
              <a:rPr lang="en-US" sz="1850" baseline="0">
                <a:solidFill>
                  <a:srgbClr val="154734"/>
                </a:solidFill>
                <a:latin typeface="Source Sans Pro"/>
                <a:ea typeface="Segoe UI"/>
                <a:cs typeface="Segoe UI"/>
              </a:rPr>
              <a:t> 2.6</a:t>
            </a:r>
            <a:endParaRPr lang="en-US">
              <a:solidFill>
                <a:srgbClr val="154734"/>
              </a:solidFill>
              <a:latin typeface="Calibri" panose="020F0502020204030204"/>
              <a:ea typeface="Calibri" panose="020F0502020204030204"/>
              <a:cs typeface="Calibri" panose="020F0502020204030204"/>
            </a:endParaRPr>
          </a:p>
          <a:p>
            <a:pPr marL="342900" indent="-342900">
              <a:buFont typeface="Arial"/>
              <a:buChar char="•"/>
            </a:pPr>
            <a:r>
              <a:rPr lang="en-US" sz="1850" b="1">
                <a:solidFill>
                  <a:srgbClr val="154734"/>
                </a:solidFill>
                <a:latin typeface="Source Sans Pro"/>
                <a:ea typeface="Segoe UI"/>
                <a:cs typeface="Segoe UI"/>
              </a:rPr>
              <a:t>Target Thrust</a:t>
            </a:r>
            <a:r>
              <a:rPr lang="en-US" sz="1850">
                <a:solidFill>
                  <a:srgbClr val="154734"/>
                </a:solidFill>
                <a:latin typeface="Source Sans Pro"/>
                <a:ea typeface="Segoe UI"/>
                <a:cs typeface="Segoe UI"/>
              </a:rPr>
              <a:t>: 400 </a:t>
            </a:r>
            <a:r>
              <a:rPr lang="en-US" sz="1850" err="1">
                <a:solidFill>
                  <a:srgbClr val="154734"/>
                </a:solidFill>
                <a:latin typeface="Source Sans Pro"/>
                <a:ea typeface="Segoe UI"/>
                <a:cs typeface="Segoe UI"/>
              </a:rPr>
              <a:t>lbf</a:t>
            </a:r>
            <a:r>
              <a:rPr lang="en-US" sz="1850" baseline="0">
                <a:solidFill>
                  <a:srgbClr val="154734"/>
                </a:solidFill>
                <a:latin typeface="Source Sans Pro"/>
                <a:ea typeface="Segoe UI"/>
                <a:cs typeface="Segoe UI"/>
              </a:rPr>
              <a:t>​</a:t>
            </a:r>
            <a:r>
              <a:rPr lang="en-US" sz="1850">
                <a:solidFill>
                  <a:srgbClr val="154734"/>
                </a:solidFill>
                <a:latin typeface="Source Sans Pro"/>
                <a:ea typeface="Segoe UI"/>
                <a:cs typeface="Segoe UI"/>
              </a:rPr>
              <a:t>​</a:t>
            </a:r>
            <a:endParaRPr lang="en-US">
              <a:ea typeface="Calibri"/>
              <a:cs typeface="Calibri"/>
            </a:endParaRPr>
          </a:p>
        </p:txBody>
      </p:sp>
    </p:spTree>
    <p:extLst>
      <p:ext uri="{BB962C8B-B14F-4D97-AF65-F5344CB8AC3E}">
        <p14:creationId xmlns:p14="http://schemas.microsoft.com/office/powerpoint/2010/main" val="3117641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ack pipe with a white background&#10;&#10;AI-generated content may be incorrect.">
            <a:extLst>
              <a:ext uri="{FF2B5EF4-FFF2-40B4-BE49-F238E27FC236}">
                <a16:creationId xmlns:a16="http://schemas.microsoft.com/office/drawing/2014/main" id="{008B28C4-BF8C-699C-2CA6-3AD0528A23C7}"/>
              </a:ext>
            </a:extLst>
          </p:cNvPr>
          <p:cNvPicPr>
            <a:picLocks noChangeAspect="1"/>
          </p:cNvPicPr>
          <p:nvPr/>
        </p:nvPicPr>
        <p:blipFill>
          <a:blip r:embed="rId3"/>
          <a:stretch>
            <a:fillRect/>
          </a:stretch>
        </p:blipFill>
        <p:spPr>
          <a:xfrm>
            <a:off x="0" y="2923599"/>
            <a:ext cx="12192000" cy="2412181"/>
          </a:xfrm>
          <a:prstGeom prst="rect">
            <a:avLst/>
          </a:prstGeom>
        </p:spPr>
      </p:pic>
      <p:sp>
        <p:nvSpPr>
          <p:cNvPr id="2" name="Footer Placeholder 1">
            <a:extLst>
              <a:ext uri="{FF2B5EF4-FFF2-40B4-BE49-F238E27FC236}">
                <a16:creationId xmlns:a16="http://schemas.microsoft.com/office/drawing/2014/main" id="{BE1FEC2A-C8F1-870E-AEA7-2FCFAE3073DC}"/>
              </a:ext>
            </a:extLst>
          </p:cNvPr>
          <p:cNvSpPr>
            <a:spLocks noGrp="1"/>
          </p:cNvSpPr>
          <p:nvPr>
            <p:ph type="ftr" sz="quarter" idx="14"/>
          </p:nvPr>
        </p:nvSpPr>
        <p:spPr/>
        <p:txBody>
          <a:bodyPr/>
          <a:lstStyle/>
          <a:p>
            <a:r>
              <a:rPr lang="en-US" sz="900">
                <a:latin typeface="Source Sans Pro"/>
                <a:ea typeface="Source Sans Pro"/>
              </a:rPr>
              <a:t>ARCHERFISH CDR</a:t>
            </a:r>
            <a:endParaRPr lang="en-US">
              <a:ea typeface="Source Sans Pro" panose="020B0503030403020204" pitchFamily="34" charset="0"/>
            </a:endParaRPr>
          </a:p>
        </p:txBody>
      </p:sp>
      <p:sp>
        <p:nvSpPr>
          <p:cNvPr id="3" name="Slide Number Placeholder 2">
            <a:extLst>
              <a:ext uri="{FF2B5EF4-FFF2-40B4-BE49-F238E27FC236}">
                <a16:creationId xmlns:a16="http://schemas.microsoft.com/office/drawing/2014/main" id="{91423541-9CF2-D83B-F7CD-C5287124D61F}"/>
              </a:ext>
            </a:extLst>
          </p:cNvPr>
          <p:cNvSpPr>
            <a:spLocks noGrp="1"/>
          </p:cNvSpPr>
          <p:nvPr>
            <p:ph type="sldNum" sz="quarter" idx="15"/>
          </p:nvPr>
        </p:nvSpPr>
        <p:spPr/>
        <p:txBody>
          <a:bodyPr/>
          <a:lstStyle/>
          <a:p>
            <a:r>
              <a:rPr lang="en-US"/>
              <a:t>/   </a:t>
            </a:r>
            <a:fld id="{6C7E6F33-74EE-5541-8108-8353B402F8C1}" type="slidenum">
              <a:rPr lang="en-US" smtClean="0"/>
              <a:pPr/>
              <a:t>6</a:t>
            </a:fld>
            <a:endParaRPr lang="en-US"/>
          </a:p>
        </p:txBody>
      </p:sp>
      <p:sp>
        <p:nvSpPr>
          <p:cNvPr id="4" name="Title 3">
            <a:extLst>
              <a:ext uri="{FF2B5EF4-FFF2-40B4-BE49-F238E27FC236}">
                <a16:creationId xmlns:a16="http://schemas.microsoft.com/office/drawing/2014/main" id="{9757FE77-6F75-0222-DEE2-A7143FC8D47F}"/>
              </a:ext>
            </a:extLst>
          </p:cNvPr>
          <p:cNvSpPr>
            <a:spLocks noGrp="1"/>
          </p:cNvSpPr>
          <p:nvPr>
            <p:ph type="title"/>
          </p:nvPr>
        </p:nvSpPr>
        <p:spPr/>
        <p:txBody>
          <a:bodyPr/>
          <a:lstStyle/>
          <a:p>
            <a:r>
              <a:rPr lang="en-US"/>
              <a:t>Overview</a:t>
            </a:r>
          </a:p>
        </p:txBody>
      </p:sp>
      <p:sp>
        <p:nvSpPr>
          <p:cNvPr id="5" name="Text Placeholder 4">
            <a:extLst>
              <a:ext uri="{FF2B5EF4-FFF2-40B4-BE49-F238E27FC236}">
                <a16:creationId xmlns:a16="http://schemas.microsoft.com/office/drawing/2014/main" id="{015A938F-6F6F-8E64-CCF9-933FA92D58E4}"/>
              </a:ext>
            </a:extLst>
          </p:cNvPr>
          <p:cNvSpPr>
            <a:spLocks noGrp="1"/>
          </p:cNvSpPr>
          <p:nvPr>
            <p:ph type="body" sz="quarter" idx="13"/>
          </p:nvPr>
        </p:nvSpPr>
        <p:spPr/>
        <p:txBody>
          <a:bodyPr/>
          <a:lstStyle/>
          <a:p>
            <a:r>
              <a:rPr lang="en-US" sz="1850">
                <a:ea typeface="Source Sans Pro"/>
              </a:rPr>
              <a:t> CAD Model (Full)</a:t>
            </a:r>
          </a:p>
        </p:txBody>
      </p:sp>
      <p:sp>
        <p:nvSpPr>
          <p:cNvPr id="6" name="Text Placeholder 1">
            <a:extLst>
              <a:ext uri="{FF2B5EF4-FFF2-40B4-BE49-F238E27FC236}">
                <a16:creationId xmlns:a16="http://schemas.microsoft.com/office/drawing/2014/main" id="{ECA8CF34-D8D3-EC19-9413-5209E848E7D3}"/>
              </a:ext>
            </a:extLst>
          </p:cNvPr>
          <p:cNvSpPr txBox="1">
            <a:spLocks/>
          </p:cNvSpPr>
          <p:nvPr/>
        </p:nvSpPr>
        <p:spPr>
          <a:xfrm>
            <a:off x="4737369" y="5852971"/>
            <a:ext cx="2710661" cy="352898"/>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0.2</a:t>
            </a:r>
            <a:r>
              <a:rPr lang="en-US" sz="1850">
                <a:ea typeface="Source Sans Pro"/>
              </a:rPr>
              <a:t> Full External CAD</a:t>
            </a:r>
          </a:p>
        </p:txBody>
      </p:sp>
      <p:sp>
        <p:nvSpPr>
          <p:cNvPr id="14" name="TextBox 13">
            <a:extLst>
              <a:ext uri="{FF2B5EF4-FFF2-40B4-BE49-F238E27FC236}">
                <a16:creationId xmlns:a16="http://schemas.microsoft.com/office/drawing/2014/main" id="{C3691768-BA87-3E5C-8376-51879513421A}"/>
              </a:ext>
            </a:extLst>
          </p:cNvPr>
          <p:cNvSpPr txBox="1"/>
          <p:nvPr/>
        </p:nvSpPr>
        <p:spPr>
          <a:xfrm>
            <a:off x="5955337" y="2205031"/>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Ox Tank</a:t>
            </a:r>
          </a:p>
        </p:txBody>
      </p:sp>
      <p:sp>
        <p:nvSpPr>
          <p:cNvPr id="17" name="TextBox 16">
            <a:extLst>
              <a:ext uri="{FF2B5EF4-FFF2-40B4-BE49-F238E27FC236}">
                <a16:creationId xmlns:a16="http://schemas.microsoft.com/office/drawing/2014/main" id="{238B429E-8048-A385-75FD-975C5FEFEC3A}"/>
              </a:ext>
            </a:extLst>
          </p:cNvPr>
          <p:cNvSpPr txBox="1"/>
          <p:nvPr/>
        </p:nvSpPr>
        <p:spPr>
          <a:xfrm>
            <a:off x="4165378" y="2209281"/>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Avionics</a:t>
            </a:r>
          </a:p>
        </p:txBody>
      </p:sp>
      <p:sp>
        <p:nvSpPr>
          <p:cNvPr id="18" name="TextBox 17">
            <a:extLst>
              <a:ext uri="{FF2B5EF4-FFF2-40B4-BE49-F238E27FC236}">
                <a16:creationId xmlns:a16="http://schemas.microsoft.com/office/drawing/2014/main" id="{3286035E-C658-F182-B16D-71850447A137}"/>
              </a:ext>
            </a:extLst>
          </p:cNvPr>
          <p:cNvSpPr txBox="1"/>
          <p:nvPr/>
        </p:nvSpPr>
        <p:spPr>
          <a:xfrm>
            <a:off x="2169276" y="2205716"/>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Recovery</a:t>
            </a:r>
          </a:p>
        </p:txBody>
      </p:sp>
      <p:sp>
        <p:nvSpPr>
          <p:cNvPr id="19" name="TextBox 18">
            <a:extLst>
              <a:ext uri="{FF2B5EF4-FFF2-40B4-BE49-F238E27FC236}">
                <a16:creationId xmlns:a16="http://schemas.microsoft.com/office/drawing/2014/main" id="{C27329BA-3B0F-C473-4009-CA179AB98FDD}"/>
              </a:ext>
            </a:extLst>
          </p:cNvPr>
          <p:cNvSpPr txBox="1"/>
          <p:nvPr/>
        </p:nvSpPr>
        <p:spPr>
          <a:xfrm>
            <a:off x="250353" y="2205716"/>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Nosecone</a:t>
            </a:r>
          </a:p>
        </p:txBody>
      </p:sp>
      <p:sp>
        <p:nvSpPr>
          <p:cNvPr id="8" name="TextBox 7">
            <a:extLst>
              <a:ext uri="{FF2B5EF4-FFF2-40B4-BE49-F238E27FC236}">
                <a16:creationId xmlns:a16="http://schemas.microsoft.com/office/drawing/2014/main" id="{BD4E60FC-B20E-80EA-732A-BAA43315E347}"/>
              </a:ext>
            </a:extLst>
          </p:cNvPr>
          <p:cNvSpPr txBox="1"/>
          <p:nvPr/>
        </p:nvSpPr>
        <p:spPr>
          <a:xfrm>
            <a:off x="7209043" y="2205030"/>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GN2 Tank</a:t>
            </a:r>
          </a:p>
        </p:txBody>
      </p:sp>
      <p:sp>
        <p:nvSpPr>
          <p:cNvPr id="10" name="TextBox 9">
            <a:extLst>
              <a:ext uri="{FF2B5EF4-FFF2-40B4-BE49-F238E27FC236}">
                <a16:creationId xmlns:a16="http://schemas.microsoft.com/office/drawing/2014/main" id="{24B53A1A-8F84-25AB-1C81-9E25D5643305}"/>
              </a:ext>
            </a:extLst>
          </p:cNvPr>
          <p:cNvSpPr txBox="1"/>
          <p:nvPr/>
        </p:nvSpPr>
        <p:spPr>
          <a:xfrm>
            <a:off x="8404208" y="2205031"/>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Fuel Tank</a:t>
            </a:r>
          </a:p>
        </p:txBody>
      </p:sp>
      <p:sp>
        <p:nvSpPr>
          <p:cNvPr id="11" name="TextBox 10">
            <a:extLst>
              <a:ext uri="{FF2B5EF4-FFF2-40B4-BE49-F238E27FC236}">
                <a16:creationId xmlns:a16="http://schemas.microsoft.com/office/drawing/2014/main" id="{F748CF19-2B7F-DD77-3CB5-FAEA769867C2}"/>
              </a:ext>
            </a:extLst>
          </p:cNvPr>
          <p:cNvSpPr txBox="1"/>
          <p:nvPr/>
        </p:nvSpPr>
        <p:spPr>
          <a:xfrm>
            <a:off x="10772706" y="2106175"/>
            <a:ext cx="11474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Engine</a:t>
            </a:r>
          </a:p>
        </p:txBody>
      </p:sp>
      <p:sp>
        <p:nvSpPr>
          <p:cNvPr id="15" name="Arrow: Right 14">
            <a:extLst>
              <a:ext uri="{FF2B5EF4-FFF2-40B4-BE49-F238E27FC236}">
                <a16:creationId xmlns:a16="http://schemas.microsoft.com/office/drawing/2014/main" id="{6DD1746A-821D-6E82-3527-6A1E1E5AFD40}"/>
              </a:ext>
            </a:extLst>
          </p:cNvPr>
          <p:cNvSpPr/>
          <p:nvPr/>
        </p:nvSpPr>
        <p:spPr>
          <a:xfrm rot="5400000">
            <a:off x="394226" y="3023528"/>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0" name="Arrow: Right 19">
            <a:extLst>
              <a:ext uri="{FF2B5EF4-FFF2-40B4-BE49-F238E27FC236}">
                <a16:creationId xmlns:a16="http://schemas.microsoft.com/office/drawing/2014/main" id="{9D8B0426-D505-AC53-08F9-EDDC75BA9D2E}"/>
              </a:ext>
            </a:extLst>
          </p:cNvPr>
          <p:cNvSpPr/>
          <p:nvPr/>
        </p:nvSpPr>
        <p:spPr>
          <a:xfrm rot="5400000">
            <a:off x="2218981" y="3023528"/>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2" name="Arrow: Right 21">
            <a:extLst>
              <a:ext uri="{FF2B5EF4-FFF2-40B4-BE49-F238E27FC236}">
                <a16:creationId xmlns:a16="http://schemas.microsoft.com/office/drawing/2014/main" id="{3F7E4D9B-2AF5-DCBC-4884-2A1D0D995CBC}"/>
              </a:ext>
            </a:extLst>
          </p:cNvPr>
          <p:cNvSpPr/>
          <p:nvPr/>
        </p:nvSpPr>
        <p:spPr>
          <a:xfrm rot="5400000">
            <a:off x="4125398" y="3023528"/>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4" name="Arrow: Right 23">
            <a:extLst>
              <a:ext uri="{FF2B5EF4-FFF2-40B4-BE49-F238E27FC236}">
                <a16:creationId xmlns:a16="http://schemas.microsoft.com/office/drawing/2014/main" id="{446C6AA9-4256-4683-B049-30DD0E837F87}"/>
              </a:ext>
            </a:extLst>
          </p:cNvPr>
          <p:cNvSpPr/>
          <p:nvPr/>
        </p:nvSpPr>
        <p:spPr>
          <a:xfrm rot="5400000">
            <a:off x="6021445" y="3029776"/>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6" name="Arrow: Right 25">
            <a:extLst>
              <a:ext uri="{FF2B5EF4-FFF2-40B4-BE49-F238E27FC236}">
                <a16:creationId xmlns:a16="http://schemas.microsoft.com/office/drawing/2014/main" id="{6D9DD6BF-E043-FFAF-BB3B-2B155E81A595}"/>
              </a:ext>
            </a:extLst>
          </p:cNvPr>
          <p:cNvSpPr/>
          <p:nvPr/>
        </p:nvSpPr>
        <p:spPr>
          <a:xfrm rot="5400000">
            <a:off x="7352563" y="3029775"/>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8" name="Arrow: Right 27">
            <a:extLst>
              <a:ext uri="{FF2B5EF4-FFF2-40B4-BE49-F238E27FC236}">
                <a16:creationId xmlns:a16="http://schemas.microsoft.com/office/drawing/2014/main" id="{3284EA5B-47F9-8CC4-666A-2021A8FAFFDF}"/>
              </a:ext>
            </a:extLst>
          </p:cNvPr>
          <p:cNvSpPr/>
          <p:nvPr/>
        </p:nvSpPr>
        <p:spPr>
          <a:xfrm rot="5400000">
            <a:off x="8503613" y="3029776"/>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30" name="Arrow: Right 29">
            <a:extLst>
              <a:ext uri="{FF2B5EF4-FFF2-40B4-BE49-F238E27FC236}">
                <a16:creationId xmlns:a16="http://schemas.microsoft.com/office/drawing/2014/main" id="{E1FC75B0-0FD9-1879-1ABD-572B888187DC}"/>
              </a:ext>
            </a:extLst>
          </p:cNvPr>
          <p:cNvSpPr/>
          <p:nvPr/>
        </p:nvSpPr>
        <p:spPr>
          <a:xfrm rot="5400000">
            <a:off x="10520738" y="3015027"/>
            <a:ext cx="1273431" cy="3689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12" name="Arrow: Right 11">
            <a:extLst>
              <a:ext uri="{FF2B5EF4-FFF2-40B4-BE49-F238E27FC236}">
                <a16:creationId xmlns:a16="http://schemas.microsoft.com/office/drawing/2014/main" id="{71E9704B-C939-FDD2-4524-74489043DE21}"/>
              </a:ext>
            </a:extLst>
          </p:cNvPr>
          <p:cNvSpPr/>
          <p:nvPr/>
        </p:nvSpPr>
        <p:spPr>
          <a:xfrm rot="5400000">
            <a:off x="9737612" y="3023786"/>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16" name="TextBox 15">
            <a:extLst>
              <a:ext uri="{FF2B5EF4-FFF2-40B4-BE49-F238E27FC236}">
                <a16:creationId xmlns:a16="http://schemas.microsoft.com/office/drawing/2014/main" id="{25C0342B-93AF-F8E2-39A3-705C46E984A2}"/>
              </a:ext>
            </a:extLst>
          </p:cNvPr>
          <p:cNvSpPr txBox="1"/>
          <p:nvPr/>
        </p:nvSpPr>
        <p:spPr>
          <a:xfrm>
            <a:off x="9787743" y="2107199"/>
            <a:ext cx="112644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154734"/>
                </a:solidFill>
                <a:ea typeface="Calibri"/>
                <a:cs typeface="Calibri"/>
              </a:rPr>
              <a:t>Pump</a:t>
            </a:r>
          </a:p>
          <a:p>
            <a:r>
              <a:rPr lang="en-US" b="1">
                <a:ea typeface="Calibri"/>
                <a:cs typeface="Calibri"/>
              </a:rPr>
              <a:t>Housing</a:t>
            </a:r>
          </a:p>
          <a:p>
            <a:pPr algn="l"/>
            <a:endParaRPr lang="en-US">
              <a:ea typeface="Calibri"/>
              <a:cs typeface="Calibri"/>
            </a:endParaRPr>
          </a:p>
        </p:txBody>
      </p:sp>
      <p:sp>
        <p:nvSpPr>
          <p:cNvPr id="13" name="Arrow: Right 12">
            <a:extLst>
              <a:ext uri="{FF2B5EF4-FFF2-40B4-BE49-F238E27FC236}">
                <a16:creationId xmlns:a16="http://schemas.microsoft.com/office/drawing/2014/main" id="{09E245A2-194B-28D3-6BDB-930FBD5DF045}"/>
              </a:ext>
            </a:extLst>
          </p:cNvPr>
          <p:cNvSpPr/>
          <p:nvPr/>
        </p:nvSpPr>
        <p:spPr>
          <a:xfrm rot="16200000">
            <a:off x="8542704" y="4871596"/>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1" name="TextBox 20">
            <a:extLst>
              <a:ext uri="{FF2B5EF4-FFF2-40B4-BE49-F238E27FC236}">
                <a16:creationId xmlns:a16="http://schemas.microsoft.com/office/drawing/2014/main" id="{C3D304FE-9130-8CB1-29CB-0A9FAA03B71B}"/>
              </a:ext>
            </a:extLst>
          </p:cNvPr>
          <p:cNvSpPr txBox="1"/>
          <p:nvPr/>
        </p:nvSpPr>
        <p:spPr>
          <a:xfrm>
            <a:off x="8119939" y="5480753"/>
            <a:ext cx="16291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Downcomer</a:t>
            </a:r>
            <a:endParaRPr lang="en-US"/>
          </a:p>
        </p:txBody>
      </p:sp>
      <p:sp>
        <p:nvSpPr>
          <p:cNvPr id="25" name="Arrow: Right 24">
            <a:extLst>
              <a:ext uri="{FF2B5EF4-FFF2-40B4-BE49-F238E27FC236}">
                <a16:creationId xmlns:a16="http://schemas.microsoft.com/office/drawing/2014/main" id="{4DA0249E-A568-0134-3F54-86E855653284}"/>
              </a:ext>
            </a:extLst>
          </p:cNvPr>
          <p:cNvSpPr/>
          <p:nvPr/>
        </p:nvSpPr>
        <p:spPr>
          <a:xfrm rot="19080000">
            <a:off x="10482312" y="4891382"/>
            <a:ext cx="861776"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
        <p:nvSpPr>
          <p:cNvPr id="29" name="TextBox 28">
            <a:extLst>
              <a:ext uri="{FF2B5EF4-FFF2-40B4-BE49-F238E27FC236}">
                <a16:creationId xmlns:a16="http://schemas.microsoft.com/office/drawing/2014/main" id="{8B1FF7F2-C729-35EA-A8AA-E178B5B83D94}"/>
              </a:ext>
            </a:extLst>
          </p:cNvPr>
          <p:cNvSpPr txBox="1"/>
          <p:nvPr/>
        </p:nvSpPr>
        <p:spPr>
          <a:xfrm>
            <a:off x="10366142" y="5483086"/>
            <a:ext cx="15675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Fins</a:t>
            </a:r>
            <a:endParaRPr lang="en-US"/>
          </a:p>
        </p:txBody>
      </p:sp>
    </p:spTree>
    <p:extLst>
      <p:ext uri="{BB962C8B-B14F-4D97-AF65-F5344CB8AC3E}">
        <p14:creationId xmlns:p14="http://schemas.microsoft.com/office/powerpoint/2010/main" val="1104136318"/>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F9F5B2-A521-1356-C435-A1FC63CAD8AD}"/>
              </a:ext>
            </a:extLst>
          </p:cNvPr>
          <p:cNvSpPr>
            <a:spLocks noGrp="1"/>
          </p:cNvSpPr>
          <p:nvPr>
            <p:ph type="body" sz="quarter" idx="15"/>
          </p:nvPr>
        </p:nvSpPr>
        <p:spPr>
          <a:xfrm>
            <a:off x="838199" y="1969476"/>
            <a:ext cx="7364632" cy="4033401"/>
          </a:xfrm>
        </p:spPr>
        <p:txBody>
          <a:bodyPr vert="horz" lIns="91440" tIns="45720" rIns="91440" bIns="45720" numCol="2" spcCol="457200" rtlCol="0" anchor="t">
            <a:noAutofit/>
          </a:bodyPr>
          <a:lstStyle/>
          <a:p>
            <a:pPr marL="464820" indent="-342900"/>
            <a:r>
              <a:rPr lang="en-US" sz="1900">
                <a:ea typeface="Calibri"/>
                <a:cs typeface="Calibri"/>
              </a:rPr>
              <a:t>Phase 1: Filling</a:t>
            </a:r>
            <a:endParaRPr lang="en-US" sz="1850">
              <a:ea typeface="Source Sans Pro"/>
              <a:cs typeface="Calibri"/>
            </a:endParaRPr>
          </a:p>
          <a:p>
            <a:pPr marL="456565" lvl="1"/>
            <a:r>
              <a:rPr lang="en-US" sz="1650">
                <a:ea typeface="Calibri"/>
                <a:cs typeface="Calibri"/>
              </a:rPr>
              <a:t>Ox tank and air tank fill</a:t>
            </a:r>
            <a:endParaRPr lang="en-US">
              <a:cs typeface="Calibri"/>
            </a:endParaRPr>
          </a:p>
          <a:p>
            <a:pPr marL="464820" indent="-342900">
              <a:buFont typeface="Arial"/>
              <a:buChar char="•"/>
            </a:pPr>
            <a:r>
              <a:rPr lang="en-US" sz="1900">
                <a:ea typeface="Calibri"/>
                <a:cs typeface="Calibri"/>
              </a:rPr>
              <a:t>Phase 2: Launch</a:t>
            </a:r>
          </a:p>
          <a:p>
            <a:pPr marL="456565" lvl="1"/>
            <a:r>
              <a:rPr lang="en-US" sz="1650" kern="800" spc="0">
                <a:ea typeface="Calibri"/>
                <a:cs typeface="Calibri"/>
              </a:rPr>
              <a:t>Pump turns on</a:t>
            </a:r>
          </a:p>
          <a:p>
            <a:pPr marL="456565" lvl="1"/>
            <a:r>
              <a:rPr lang="en-US" sz="1650" kern="800" spc="0">
                <a:ea typeface="Calibri"/>
                <a:cs typeface="Calibri"/>
              </a:rPr>
              <a:t>Line cutters ignite</a:t>
            </a:r>
            <a:endParaRPr lang="en-US" sz="1650">
              <a:ea typeface="Calibri"/>
              <a:cs typeface="Calibri"/>
            </a:endParaRPr>
          </a:p>
          <a:p>
            <a:pPr marL="456565" lvl="1"/>
            <a:r>
              <a:rPr lang="en-US" sz="1650" kern="800" spc="0">
                <a:ea typeface="Calibri"/>
                <a:cs typeface="Calibri"/>
              </a:rPr>
              <a:t>C-motor ignition</a:t>
            </a:r>
            <a:endParaRPr lang="en-US" sz="1650">
              <a:ea typeface="Calibri"/>
              <a:cs typeface="Calibri"/>
            </a:endParaRPr>
          </a:p>
          <a:p>
            <a:pPr marL="464820" indent="-342900">
              <a:buFont typeface="Arial"/>
              <a:buChar char="•"/>
            </a:pPr>
            <a:r>
              <a:rPr lang="en-US" sz="1900">
                <a:ea typeface="Calibri"/>
                <a:cs typeface="Calibri"/>
              </a:rPr>
              <a:t>Phase 3: Apogee + Drogue Deployment</a:t>
            </a:r>
          </a:p>
          <a:p>
            <a:pPr marL="121920" indent="0">
              <a:buNone/>
            </a:pPr>
            <a:r>
              <a:rPr lang="en-US" sz="1650">
                <a:ea typeface="Calibri"/>
                <a:cs typeface="Calibri"/>
              </a:rPr>
              <a:t>    Coasts</a:t>
            </a:r>
            <a:r>
              <a:rPr lang="en-US" sz="1650" kern="800" spc="0">
                <a:ea typeface="Calibri"/>
                <a:cs typeface="Calibri"/>
              </a:rPr>
              <a:t> to an apogee of </a:t>
            </a:r>
            <a:r>
              <a:rPr lang="en-US" sz="1650">
                <a:ea typeface="Calibri"/>
                <a:cs typeface="Calibri"/>
              </a:rPr>
              <a:t>~13000 ft</a:t>
            </a:r>
            <a:endParaRPr lang="en-US" sz="1650">
              <a:cs typeface="Calibri"/>
            </a:endParaRPr>
          </a:p>
          <a:p>
            <a:pPr marL="456565" lvl="1"/>
            <a:r>
              <a:rPr lang="en-US" sz="1650">
                <a:ea typeface="Calibri"/>
                <a:cs typeface="Calibri"/>
              </a:rPr>
              <a:t>Detect deployment at apogee</a:t>
            </a:r>
            <a:br>
              <a:rPr lang="en-US" sz="1650">
                <a:ea typeface="Calibri"/>
                <a:cs typeface="Calibri"/>
              </a:rPr>
            </a:br>
            <a:endParaRPr lang="en-US" sz="1650">
              <a:ea typeface="Calibri"/>
              <a:cs typeface="Calibri"/>
            </a:endParaRPr>
          </a:p>
          <a:p>
            <a:pPr marL="997585" lvl="2" indent="-342900">
              <a:buFont typeface="Courier New,monospace"/>
              <a:buChar char="o"/>
            </a:pPr>
            <a:endParaRPr lang="en-US" sz="1600">
              <a:ea typeface="Calibri"/>
              <a:cs typeface="Calibri"/>
            </a:endParaRPr>
          </a:p>
        </p:txBody>
      </p:sp>
      <p:sp>
        <p:nvSpPr>
          <p:cNvPr id="3" name="Footer Placeholder 2">
            <a:extLst>
              <a:ext uri="{FF2B5EF4-FFF2-40B4-BE49-F238E27FC236}">
                <a16:creationId xmlns:a16="http://schemas.microsoft.com/office/drawing/2014/main" id="{03E13E82-ADD0-8756-4E6B-CB84F8AC3208}"/>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5D6ED761-8C50-8008-D9B4-EBF0A1EB5FDC}"/>
              </a:ext>
            </a:extLst>
          </p:cNvPr>
          <p:cNvSpPr>
            <a:spLocks noGrp="1"/>
          </p:cNvSpPr>
          <p:nvPr>
            <p:ph type="sldNum" sz="quarter" idx="17"/>
          </p:nvPr>
        </p:nvSpPr>
        <p:spPr/>
        <p:txBody>
          <a:bodyPr/>
          <a:lstStyle/>
          <a:p>
            <a:r>
              <a:rPr lang="en-US"/>
              <a:t>/   </a:t>
            </a:r>
            <a:fld id="{6C7E6F33-74EE-5541-8108-8353B402F8C1}" type="slidenum">
              <a:rPr lang="en-US" smtClean="0"/>
              <a:pPr/>
              <a:t>7</a:t>
            </a:fld>
            <a:endParaRPr lang="en-US"/>
          </a:p>
        </p:txBody>
      </p:sp>
      <p:sp>
        <p:nvSpPr>
          <p:cNvPr id="5" name="Title 4">
            <a:extLst>
              <a:ext uri="{FF2B5EF4-FFF2-40B4-BE49-F238E27FC236}">
                <a16:creationId xmlns:a16="http://schemas.microsoft.com/office/drawing/2014/main" id="{0E6F8982-DCFB-7E59-DB07-E4BBFCEBB890}"/>
              </a:ext>
            </a:extLst>
          </p:cNvPr>
          <p:cNvSpPr>
            <a:spLocks noGrp="1"/>
          </p:cNvSpPr>
          <p:nvPr>
            <p:ph type="title"/>
          </p:nvPr>
        </p:nvSpPr>
        <p:spPr/>
        <p:txBody>
          <a:bodyPr/>
          <a:lstStyle/>
          <a:p>
            <a:r>
              <a:rPr lang="en-US" err="1">
                <a:latin typeface="Munistic"/>
              </a:rPr>
              <a:t>ConOps</a:t>
            </a:r>
            <a:endParaRPr lang="en-US" err="1"/>
          </a:p>
        </p:txBody>
      </p:sp>
      <p:sp>
        <p:nvSpPr>
          <p:cNvPr id="6" name="Text Placeholder 5">
            <a:extLst>
              <a:ext uri="{FF2B5EF4-FFF2-40B4-BE49-F238E27FC236}">
                <a16:creationId xmlns:a16="http://schemas.microsoft.com/office/drawing/2014/main" id="{AF2389D4-4041-6E0A-DFFD-4CC0EADAA16B}"/>
              </a:ext>
            </a:extLst>
          </p:cNvPr>
          <p:cNvSpPr>
            <a:spLocks noGrp="1"/>
          </p:cNvSpPr>
          <p:nvPr>
            <p:ph type="body" sz="quarter" idx="13"/>
          </p:nvPr>
        </p:nvSpPr>
        <p:spPr/>
        <p:txBody>
          <a:bodyPr/>
          <a:lstStyle/>
          <a:p>
            <a:r>
              <a:rPr lang="en-US" sz="1850">
                <a:ea typeface="Source Sans Pro"/>
                <a:cs typeface="Calibri"/>
              </a:rPr>
              <a:t>Graphic + Phases</a:t>
            </a:r>
            <a:endParaRPr lang="en-US" err="1"/>
          </a:p>
        </p:txBody>
      </p:sp>
      <p:sp>
        <p:nvSpPr>
          <p:cNvPr id="8" name="TextBox 7">
            <a:extLst>
              <a:ext uri="{FF2B5EF4-FFF2-40B4-BE49-F238E27FC236}">
                <a16:creationId xmlns:a16="http://schemas.microsoft.com/office/drawing/2014/main" id="{E9D5A91B-6444-7F25-9F77-BCE60242C773}"/>
              </a:ext>
            </a:extLst>
          </p:cNvPr>
          <p:cNvSpPr txBox="1"/>
          <p:nvPr/>
        </p:nvSpPr>
        <p:spPr>
          <a:xfrm>
            <a:off x="3973154" y="1969575"/>
            <a:ext cx="3732508" cy="22493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64820" indent="-342900">
              <a:spcBef>
                <a:spcPts val="1000"/>
              </a:spcBef>
              <a:spcAft>
                <a:spcPts val="800"/>
              </a:spcAft>
              <a:buFont typeface="Arial,Sans-Serif"/>
              <a:buChar char="•"/>
            </a:pPr>
            <a:r>
              <a:rPr lang="en-US" sz="1900">
                <a:ea typeface="Calibri"/>
                <a:cs typeface="Calibri"/>
              </a:rPr>
              <a:t>Phase 4: Main Parachute</a:t>
            </a:r>
          </a:p>
          <a:p>
            <a:pPr marL="456565" lvl="1">
              <a:spcBef>
                <a:spcPts val="500"/>
              </a:spcBef>
            </a:pPr>
            <a:r>
              <a:rPr lang="en-US" sz="1650">
                <a:ea typeface="Calibri"/>
                <a:cs typeface="Calibri"/>
              </a:rPr>
              <a:t>Detect deployment altitude of 1000 ft</a:t>
            </a:r>
          </a:p>
          <a:p>
            <a:pPr marL="464820" indent="-342900">
              <a:spcBef>
                <a:spcPts val="1000"/>
              </a:spcBef>
              <a:spcAft>
                <a:spcPts val="800"/>
              </a:spcAft>
              <a:buFont typeface="Arial,Sans-Serif"/>
              <a:buChar char="•"/>
            </a:pPr>
            <a:r>
              <a:rPr lang="en-US" sz="1900">
                <a:ea typeface="Calibri"/>
                <a:cs typeface="Calibri"/>
              </a:rPr>
              <a:t>Phase 5: Landing</a:t>
            </a:r>
          </a:p>
          <a:p>
            <a:pPr marL="456565" lvl="1">
              <a:spcBef>
                <a:spcPts val="500"/>
              </a:spcBef>
            </a:pPr>
            <a:r>
              <a:rPr lang="en-US" sz="1650">
                <a:ea typeface="Calibri"/>
                <a:cs typeface="Calibri"/>
              </a:rPr>
              <a:t>Archerfish lands safely</a:t>
            </a:r>
          </a:p>
          <a:p>
            <a:pPr marL="456565" lvl="1">
              <a:spcBef>
                <a:spcPts val="500"/>
              </a:spcBef>
            </a:pPr>
            <a:r>
              <a:rPr lang="en-US" sz="1650">
                <a:ea typeface="Calibri"/>
                <a:cs typeface="Calibri"/>
              </a:rPr>
              <a:t>GPS transmits location</a:t>
            </a:r>
            <a:endParaRPr lang="en-US" sz="1650"/>
          </a:p>
        </p:txBody>
      </p:sp>
      <p:pic>
        <p:nvPicPr>
          <p:cNvPr id="11" name="Picture 10" descr="A diagram of a rocket launch&#10;&#10;AI-generated content may be incorrect.">
            <a:extLst>
              <a:ext uri="{FF2B5EF4-FFF2-40B4-BE49-F238E27FC236}">
                <a16:creationId xmlns:a16="http://schemas.microsoft.com/office/drawing/2014/main" id="{65C8C4F9-87BB-38BD-6E00-DDF24CAF42B5}"/>
              </a:ext>
            </a:extLst>
          </p:cNvPr>
          <p:cNvPicPr>
            <a:picLocks noChangeAspect="1"/>
          </p:cNvPicPr>
          <p:nvPr/>
        </p:nvPicPr>
        <p:blipFill>
          <a:blip r:embed="rId3"/>
          <a:stretch>
            <a:fillRect/>
          </a:stretch>
        </p:blipFill>
        <p:spPr>
          <a:xfrm>
            <a:off x="6666879" y="2839216"/>
            <a:ext cx="5296250" cy="2988896"/>
          </a:xfrm>
          <a:prstGeom prst="rect">
            <a:avLst/>
          </a:prstGeom>
        </p:spPr>
      </p:pic>
      <p:sp>
        <p:nvSpPr>
          <p:cNvPr id="13" name="Text Placeholder 1">
            <a:extLst>
              <a:ext uri="{FF2B5EF4-FFF2-40B4-BE49-F238E27FC236}">
                <a16:creationId xmlns:a16="http://schemas.microsoft.com/office/drawing/2014/main" id="{D0AD9FFD-FA74-E631-5234-65A752472946}"/>
              </a:ext>
            </a:extLst>
          </p:cNvPr>
          <p:cNvSpPr txBox="1">
            <a:spLocks/>
          </p:cNvSpPr>
          <p:nvPr/>
        </p:nvSpPr>
        <p:spPr>
          <a:xfrm>
            <a:off x="7644840" y="5829022"/>
            <a:ext cx="3339836" cy="352893"/>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0.3</a:t>
            </a:r>
            <a:r>
              <a:rPr lang="en-US" sz="1850">
                <a:ea typeface="Source Sans Pro"/>
              </a:rPr>
              <a:t> Concept of Operations</a:t>
            </a:r>
          </a:p>
        </p:txBody>
      </p:sp>
    </p:spTree>
    <p:extLst>
      <p:ext uri="{BB962C8B-B14F-4D97-AF65-F5344CB8AC3E}">
        <p14:creationId xmlns:p14="http://schemas.microsoft.com/office/powerpoint/2010/main" val="4099858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36FE9-8ABC-633B-4BBD-87BF3B4DF17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D9258C4-EECA-9CA2-4324-6EE694E72778}"/>
              </a:ext>
            </a:extLst>
          </p:cNvPr>
          <p:cNvSpPr>
            <a:spLocks noGrp="1"/>
          </p:cNvSpPr>
          <p:nvPr>
            <p:ph type="sldNum" sz="quarter" idx="17"/>
          </p:nvPr>
        </p:nvSpPr>
        <p:spPr>
          <a:xfrm>
            <a:off x="11379199" y="6408622"/>
            <a:ext cx="544856" cy="366183"/>
          </a:xfrm>
        </p:spPr>
        <p:txBody>
          <a:bodyPr/>
          <a:lstStyle/>
          <a:p>
            <a:r>
              <a:rPr lang="en-US"/>
              <a:t>/   </a:t>
            </a:r>
            <a:fld id="{6C7E6F33-74EE-5541-8108-8353B402F8C1}" type="slidenum">
              <a:rPr lang="en-US" smtClean="0"/>
              <a:pPr/>
              <a:t>8</a:t>
            </a:fld>
            <a:endParaRPr lang="en-US"/>
          </a:p>
        </p:txBody>
      </p:sp>
      <p:sp>
        <p:nvSpPr>
          <p:cNvPr id="5" name="Title 4">
            <a:extLst>
              <a:ext uri="{FF2B5EF4-FFF2-40B4-BE49-F238E27FC236}">
                <a16:creationId xmlns:a16="http://schemas.microsoft.com/office/drawing/2014/main" id="{F3F7F67D-96ED-C34D-B4A1-B17147C5E9E4}"/>
              </a:ext>
            </a:extLst>
          </p:cNvPr>
          <p:cNvSpPr>
            <a:spLocks noGrp="1"/>
          </p:cNvSpPr>
          <p:nvPr>
            <p:ph type="title"/>
          </p:nvPr>
        </p:nvSpPr>
        <p:spPr/>
        <p:txBody>
          <a:bodyPr/>
          <a:lstStyle/>
          <a:p>
            <a:r>
              <a:rPr lang="en-US"/>
              <a:t>Requirements</a:t>
            </a:r>
          </a:p>
        </p:txBody>
      </p:sp>
      <p:sp>
        <p:nvSpPr>
          <p:cNvPr id="6" name="Text Placeholder 5">
            <a:extLst>
              <a:ext uri="{FF2B5EF4-FFF2-40B4-BE49-F238E27FC236}">
                <a16:creationId xmlns:a16="http://schemas.microsoft.com/office/drawing/2014/main" id="{332C9E49-2E5B-389F-A927-10DD568AF426}"/>
              </a:ext>
            </a:extLst>
          </p:cNvPr>
          <p:cNvSpPr>
            <a:spLocks noGrp="1"/>
          </p:cNvSpPr>
          <p:nvPr>
            <p:ph type="body" sz="quarter" idx="13"/>
          </p:nvPr>
        </p:nvSpPr>
        <p:spPr/>
        <p:txBody>
          <a:bodyPr/>
          <a:lstStyle/>
          <a:p>
            <a:r>
              <a:rPr lang="en-US"/>
              <a:t>Top Level</a:t>
            </a:r>
          </a:p>
        </p:txBody>
      </p:sp>
      <p:graphicFrame>
        <p:nvGraphicFramePr>
          <p:cNvPr id="7" name="Table 6">
            <a:extLst>
              <a:ext uri="{FF2B5EF4-FFF2-40B4-BE49-F238E27FC236}">
                <a16:creationId xmlns:a16="http://schemas.microsoft.com/office/drawing/2014/main" id="{6B27AA36-FB01-439D-75AF-E1E515EAD228}"/>
              </a:ext>
            </a:extLst>
          </p:cNvPr>
          <p:cNvGraphicFramePr>
            <a:graphicFrameLocks noGrp="1"/>
          </p:cNvGraphicFramePr>
          <p:nvPr>
            <p:extLst>
              <p:ext uri="{D42A27DB-BD31-4B8C-83A1-F6EECF244321}">
                <p14:modId xmlns:p14="http://schemas.microsoft.com/office/powerpoint/2010/main" val="95650345"/>
              </p:ext>
            </p:extLst>
          </p:nvPr>
        </p:nvGraphicFramePr>
        <p:xfrm>
          <a:off x="531848" y="1746043"/>
          <a:ext cx="11192222" cy="4218480"/>
        </p:xfrm>
        <a:graphic>
          <a:graphicData uri="http://schemas.openxmlformats.org/drawingml/2006/table">
            <a:tbl>
              <a:tblPr firstRow="1" bandRow="1">
                <a:tableStyleId>{073A0DAA-6AF3-43AB-8588-CEC1D06C72B9}</a:tableStyleId>
              </a:tblPr>
              <a:tblGrid>
                <a:gridCol w="567207">
                  <a:extLst>
                    <a:ext uri="{9D8B030D-6E8A-4147-A177-3AD203B41FA5}">
                      <a16:colId xmlns:a16="http://schemas.microsoft.com/office/drawing/2014/main" val="3089745894"/>
                    </a:ext>
                  </a:extLst>
                </a:gridCol>
                <a:gridCol w="4568989">
                  <a:extLst>
                    <a:ext uri="{9D8B030D-6E8A-4147-A177-3AD203B41FA5}">
                      <a16:colId xmlns:a16="http://schemas.microsoft.com/office/drawing/2014/main" val="2003570306"/>
                    </a:ext>
                  </a:extLst>
                </a:gridCol>
                <a:gridCol w="6056026">
                  <a:extLst>
                    <a:ext uri="{9D8B030D-6E8A-4147-A177-3AD203B41FA5}">
                      <a16:colId xmlns:a16="http://schemas.microsoft.com/office/drawing/2014/main" val="621346601"/>
                    </a:ext>
                  </a:extLst>
                </a:gridCol>
              </a:tblGrid>
              <a:tr h="554287">
                <a:tc>
                  <a:txBody>
                    <a:bodyPr/>
                    <a:lstStyle/>
                    <a:p>
                      <a:r>
                        <a:rPr lang="en-US"/>
                        <a:t>RBS</a:t>
                      </a:r>
                    </a:p>
                  </a:txBody>
                  <a:tcPr/>
                </a:tc>
                <a:tc>
                  <a:txBody>
                    <a:bodyPr/>
                    <a:lstStyle/>
                    <a:p>
                      <a:r>
                        <a:rPr lang="en-US"/>
                        <a:t>Requirement</a:t>
                      </a:r>
                    </a:p>
                  </a:txBody>
                  <a:tcPr/>
                </a:tc>
                <a:tc>
                  <a:txBody>
                    <a:bodyPr/>
                    <a:lstStyle/>
                    <a:p>
                      <a:r>
                        <a:rPr lang="en-US"/>
                        <a:t>Rationale</a:t>
                      </a:r>
                    </a:p>
                  </a:txBody>
                  <a:tcPr/>
                </a:tc>
                <a:extLst>
                  <a:ext uri="{0D108BD9-81ED-4DB2-BD59-A6C34878D82A}">
                    <a16:rowId xmlns:a16="http://schemas.microsoft.com/office/drawing/2014/main" val="643055058"/>
                  </a:ext>
                </a:extLst>
              </a:tr>
              <a:tr h="554287">
                <a:tc>
                  <a:txBody>
                    <a:bodyPr/>
                    <a:lstStyle/>
                    <a:p>
                      <a:pPr algn="ctr"/>
                      <a:r>
                        <a:rPr lang="en-US" sz="1300">
                          <a:solidFill>
                            <a:srgbClr val="000000"/>
                          </a:solidFill>
                        </a:rPr>
                        <a:t>1</a:t>
                      </a:r>
                    </a:p>
                  </a:txBody>
                  <a:tcPr/>
                </a:tc>
                <a:tc>
                  <a:txBody>
                    <a:bodyPr/>
                    <a:lstStyle/>
                    <a:p>
                      <a:pPr lvl="0" algn="ctr">
                        <a:buNone/>
                      </a:pPr>
                      <a:r>
                        <a:rPr lang="en-US" sz="1300" b="0" i="0" u="none" strike="noStrike" noProof="0">
                          <a:solidFill>
                            <a:srgbClr val="000000"/>
                          </a:solidFill>
                          <a:effectLst/>
                          <a:latin typeface="Aptos Narrow"/>
                        </a:rPr>
                        <a:t>The rocket shall be a pump-fed bipropellant liquid rocket</a:t>
                      </a:r>
                      <a:endParaRPr lang="en-US"/>
                    </a:p>
                  </a:txBody>
                  <a:tcPr marL="7620" marR="7620" marT="7620" marB="0"/>
                </a:tc>
                <a:tc>
                  <a:txBody>
                    <a:bodyPr/>
                    <a:lstStyle/>
                    <a:p>
                      <a:pPr lvl="0" algn="ctr">
                        <a:buNone/>
                      </a:pPr>
                      <a:r>
                        <a:rPr lang="en-US" sz="1300" b="0" i="0" u="none" strike="noStrike" noProof="0">
                          <a:solidFill>
                            <a:srgbClr val="000000"/>
                          </a:solidFill>
                          <a:effectLst/>
                          <a:latin typeface="Aptos Narrow"/>
                        </a:rPr>
                        <a:t>This is the primary mission of this rocket.</a:t>
                      </a:r>
                      <a:endParaRPr lang="en-US" sz="1300">
                        <a:solidFill>
                          <a:srgbClr val="000000"/>
                        </a:solidFill>
                      </a:endParaRPr>
                    </a:p>
                  </a:txBody>
                  <a:tcPr marL="7620" marR="7620" marT="7620" marB="0"/>
                </a:tc>
                <a:extLst>
                  <a:ext uri="{0D108BD9-81ED-4DB2-BD59-A6C34878D82A}">
                    <a16:rowId xmlns:a16="http://schemas.microsoft.com/office/drawing/2014/main" val="2414361062"/>
                  </a:ext>
                </a:extLst>
              </a:tr>
              <a:tr h="665961">
                <a:tc>
                  <a:txBody>
                    <a:bodyPr/>
                    <a:lstStyle/>
                    <a:p>
                      <a:pPr algn="ctr"/>
                      <a:r>
                        <a:rPr lang="en-US" sz="1300">
                          <a:solidFill>
                            <a:srgbClr val="000000"/>
                          </a:solidFill>
                        </a:rPr>
                        <a:t>2</a:t>
                      </a:r>
                    </a:p>
                  </a:txBody>
                  <a:tcPr/>
                </a:tc>
                <a:tc>
                  <a:txBody>
                    <a:bodyPr/>
                    <a:lstStyle/>
                    <a:p>
                      <a:pPr lvl="0" algn="ctr">
                        <a:buNone/>
                      </a:pPr>
                      <a:r>
                        <a:rPr lang="en-US" sz="1300" b="0" i="0" u="none" strike="noStrike" noProof="0">
                          <a:solidFill>
                            <a:srgbClr val="000000"/>
                          </a:solidFill>
                          <a:effectLst/>
                          <a:latin typeface="Aptos Narrow"/>
                        </a:rPr>
                        <a:t>The rocket shall be fully recoverable</a:t>
                      </a:r>
                      <a:endParaRPr lang="en-US" sz="1300">
                        <a:solidFill>
                          <a:srgbClr val="000000"/>
                        </a:solidFill>
                      </a:endParaRPr>
                    </a:p>
                  </a:txBody>
                  <a:tcPr marL="7620" marR="7620" marT="7620" marB="0"/>
                </a:tc>
                <a:tc>
                  <a:txBody>
                    <a:bodyPr/>
                    <a:lstStyle/>
                    <a:p>
                      <a:pPr lvl="0" algn="ctr">
                        <a:buNone/>
                      </a:pPr>
                      <a:r>
                        <a:rPr lang="en-US" sz="1300" b="0" i="0" u="none" strike="noStrike" noProof="0">
                          <a:solidFill>
                            <a:srgbClr val="000000"/>
                          </a:solidFill>
                          <a:effectLst/>
                          <a:latin typeface="Aptos Narrow"/>
                        </a:rPr>
                        <a:t>Components and materials are expensive, post launch analysis becomes much more difficult if the rocket is in bad condition afterwards. This is also a FAR requirement.</a:t>
                      </a:r>
                      <a:endParaRPr lang="en-US" sz="1300">
                        <a:solidFill>
                          <a:srgbClr val="000000"/>
                        </a:solidFill>
                      </a:endParaRPr>
                    </a:p>
                  </a:txBody>
                  <a:tcPr marL="7620" marR="7620" marT="7620" marB="0"/>
                </a:tc>
                <a:extLst>
                  <a:ext uri="{0D108BD9-81ED-4DB2-BD59-A6C34878D82A}">
                    <a16:rowId xmlns:a16="http://schemas.microsoft.com/office/drawing/2014/main" val="1847058879"/>
                  </a:ext>
                </a:extLst>
              </a:tr>
              <a:tr h="716809">
                <a:tc>
                  <a:txBody>
                    <a:bodyPr/>
                    <a:lstStyle/>
                    <a:p>
                      <a:pPr lvl="0" algn="ctr">
                        <a:buNone/>
                      </a:pPr>
                      <a:r>
                        <a:rPr lang="en-US" sz="1300">
                          <a:solidFill>
                            <a:srgbClr val="000000"/>
                          </a:solidFill>
                        </a:rPr>
                        <a:t>3</a:t>
                      </a:r>
                    </a:p>
                  </a:txBody>
                  <a:tcPr/>
                </a:tc>
                <a:tc>
                  <a:txBody>
                    <a:bodyPr/>
                    <a:lstStyle/>
                    <a:p>
                      <a:pPr lvl="0" algn="ctr">
                        <a:buNone/>
                      </a:pPr>
                      <a:r>
                        <a:rPr lang="en-US" sz="1300">
                          <a:solidFill>
                            <a:srgbClr val="000000"/>
                          </a:solidFill>
                        </a:rPr>
                        <a:t>The rocket shall be structurally stable</a:t>
                      </a:r>
                    </a:p>
                  </a:txBody>
                  <a:tcPr marL="7620" marR="7620" marT="7620" marB="0"/>
                </a:tc>
                <a:tc>
                  <a:txBody>
                    <a:bodyPr/>
                    <a:lstStyle/>
                    <a:p>
                      <a:pPr lvl="0" algn="ctr">
                        <a:buNone/>
                      </a:pPr>
                      <a:r>
                        <a:rPr lang="en-US" sz="1300" b="0" i="0" u="none" strike="noStrike" noProof="0">
                          <a:solidFill>
                            <a:srgbClr val="000000"/>
                          </a:solidFill>
                          <a:effectLst/>
                          <a:latin typeface="Aptos Narrow"/>
                        </a:rPr>
                        <a:t>Components and materials are expensive, post launch analysis becomes much more difficult if the rocket is in bad condition afterwards</a:t>
                      </a:r>
                      <a:endParaRPr lang="en-US" sz="1300">
                        <a:solidFill>
                          <a:srgbClr val="000000"/>
                        </a:solidFill>
                      </a:endParaRPr>
                    </a:p>
                  </a:txBody>
                  <a:tcPr marL="7620" marR="7620" marT="7620" marB="0"/>
                </a:tc>
                <a:extLst>
                  <a:ext uri="{0D108BD9-81ED-4DB2-BD59-A6C34878D82A}">
                    <a16:rowId xmlns:a16="http://schemas.microsoft.com/office/drawing/2014/main" val="4074238505"/>
                  </a:ext>
                </a:extLst>
              </a:tr>
              <a:tr h="565045">
                <a:tc>
                  <a:txBody>
                    <a:bodyPr/>
                    <a:lstStyle/>
                    <a:p>
                      <a:pPr lvl="0" algn="ctr">
                        <a:buNone/>
                      </a:pPr>
                      <a:r>
                        <a:rPr lang="en-US" sz="1300">
                          <a:solidFill>
                            <a:srgbClr val="000000"/>
                          </a:solidFill>
                        </a:rPr>
                        <a:t>4</a:t>
                      </a:r>
                    </a:p>
                  </a:txBody>
                  <a:tcPr/>
                </a:tc>
                <a:tc>
                  <a:txBody>
                    <a:bodyPr/>
                    <a:lstStyle/>
                    <a:p>
                      <a:pPr lvl="0" algn="ctr">
                        <a:buNone/>
                      </a:pPr>
                      <a:r>
                        <a:rPr lang="en-US" sz="1300" b="0" i="0" u="none" strike="noStrike" noProof="0">
                          <a:solidFill>
                            <a:srgbClr val="000000"/>
                          </a:solidFill>
                          <a:effectLst/>
                          <a:latin typeface="Aptos Narrow"/>
                        </a:rPr>
                        <a:t>The rocket shall maintain static stability throughout flight</a:t>
                      </a:r>
                    </a:p>
                  </a:txBody>
                  <a:tcPr marL="7620" marR="7620" marT="7620" marB="0"/>
                </a:tc>
                <a:tc>
                  <a:txBody>
                    <a:bodyPr/>
                    <a:lstStyle/>
                    <a:p>
                      <a:pPr lvl="0" algn="ctr">
                        <a:buNone/>
                      </a:pPr>
                      <a:r>
                        <a:rPr lang="en-US" sz="1300" b="0" i="0" u="none" strike="noStrike" noProof="0">
                          <a:solidFill>
                            <a:srgbClr val="000000"/>
                          </a:solidFill>
                          <a:effectLst/>
                          <a:latin typeface="Aptos Narrow"/>
                        </a:rPr>
                        <a:t>A stability caliber that's too low allows the wind to easily change trajectory or cause tumbling, lowering apogee or potentially mission failure. A too high stability caliber increases the rocket's sensitivity to disturbances and makes it difficult to recover from them, changing the trajectory and lowering apogee.​</a:t>
                      </a:r>
                    </a:p>
                  </a:txBody>
                  <a:tcPr marL="7620" marR="7620" marT="7620" marB="0"/>
                </a:tc>
                <a:extLst>
                  <a:ext uri="{0D108BD9-81ED-4DB2-BD59-A6C34878D82A}">
                    <a16:rowId xmlns:a16="http://schemas.microsoft.com/office/drawing/2014/main" val="3313582001"/>
                  </a:ext>
                </a:extLst>
              </a:tr>
              <a:tr h="927036">
                <a:tc>
                  <a:txBody>
                    <a:bodyPr/>
                    <a:lstStyle/>
                    <a:p>
                      <a:pPr lvl="0" algn="ctr">
                        <a:buNone/>
                      </a:pPr>
                      <a:r>
                        <a:rPr lang="en-US" sz="1300">
                          <a:solidFill>
                            <a:srgbClr val="000000"/>
                          </a:solidFill>
                        </a:rPr>
                        <a:t>5</a:t>
                      </a:r>
                    </a:p>
                  </a:txBody>
                  <a:tcPr/>
                </a:tc>
                <a:tc>
                  <a:txBody>
                    <a:bodyPr/>
                    <a:lstStyle/>
                    <a:p>
                      <a:pPr lvl="0" algn="ctr">
                        <a:lnSpc>
                          <a:spcPct val="100000"/>
                        </a:lnSpc>
                        <a:spcBef>
                          <a:spcPts val="0"/>
                        </a:spcBef>
                        <a:spcAft>
                          <a:spcPts val="0"/>
                        </a:spcAft>
                        <a:buNone/>
                      </a:pPr>
                      <a:r>
                        <a:rPr lang="en-US" sz="1300" b="0" i="0" u="none" strike="noStrike" noProof="0">
                          <a:solidFill>
                            <a:srgbClr val="000000"/>
                          </a:solidFill>
                          <a:effectLst/>
                          <a:latin typeface="Aptos Narrow"/>
                        </a:rPr>
                        <a:t> The rocket shall have an avionics system   </a:t>
                      </a:r>
                    </a:p>
                  </a:txBody>
                  <a:tcPr marL="7620" marR="7620" marT="7620" marB="0"/>
                </a:tc>
                <a:tc>
                  <a:txBody>
                    <a:bodyPr/>
                    <a:lstStyle/>
                    <a:p>
                      <a:pPr lvl="0" algn="ctr">
                        <a:buNone/>
                      </a:pPr>
                      <a:r>
                        <a:rPr lang="en-US" sz="1300">
                          <a:solidFill>
                            <a:srgbClr val="000000"/>
                          </a:solidFill>
                          <a:latin typeface="Aptos Narrow"/>
                        </a:rPr>
                        <a:t>This is a FAR requirement and is also necessary for several functions of the rocket</a:t>
                      </a:r>
                    </a:p>
                  </a:txBody>
                  <a:tcPr marL="7620" marR="7620" marT="7620" marB="0"/>
                </a:tc>
                <a:extLst>
                  <a:ext uri="{0D108BD9-81ED-4DB2-BD59-A6C34878D82A}">
                    <a16:rowId xmlns:a16="http://schemas.microsoft.com/office/drawing/2014/main" val="317543205"/>
                  </a:ext>
                </a:extLst>
              </a:tr>
            </a:tbl>
          </a:graphicData>
        </a:graphic>
      </p:graphicFrame>
      <p:sp>
        <p:nvSpPr>
          <p:cNvPr id="10" name="Footer Placeholder 2">
            <a:extLst>
              <a:ext uri="{FF2B5EF4-FFF2-40B4-BE49-F238E27FC236}">
                <a16:creationId xmlns:a16="http://schemas.microsoft.com/office/drawing/2014/main" id="{036D8CF1-18EC-2DA7-A958-2D9FB429604D}"/>
              </a:ext>
            </a:extLst>
          </p:cNvPr>
          <p:cNvSpPr>
            <a:spLocks noGrp="1"/>
          </p:cNvSpPr>
          <p:nvPr>
            <p:ph type="ftr" sz="quarter" idx="16"/>
          </p:nvPr>
        </p:nvSpPr>
        <p:spPr>
          <a:xfrm>
            <a:off x="7491867" y="6408622"/>
            <a:ext cx="4114800" cy="366183"/>
          </a:xfrm>
        </p:spPr>
        <p:txBody>
          <a:bodyPr/>
          <a:lstStyle/>
          <a:p>
            <a:r>
              <a:rPr lang="en-US" sz="900">
                <a:latin typeface="Source Sans Pro"/>
                <a:ea typeface="Source Sans Pro"/>
              </a:rPr>
              <a:t>ARCHERFISH CDR</a:t>
            </a:r>
            <a:endParaRPr lang="en-US"/>
          </a:p>
        </p:txBody>
      </p:sp>
      <p:sp>
        <p:nvSpPr>
          <p:cNvPr id="2" name="TextBox 1">
            <a:extLst>
              <a:ext uri="{FF2B5EF4-FFF2-40B4-BE49-F238E27FC236}">
                <a16:creationId xmlns:a16="http://schemas.microsoft.com/office/drawing/2014/main" id="{BCF70961-CB08-25BE-F58C-583488B4D87C}"/>
              </a:ext>
            </a:extLst>
          </p:cNvPr>
          <p:cNvSpPr txBox="1"/>
          <p:nvPr/>
        </p:nvSpPr>
        <p:spPr>
          <a:xfrm>
            <a:off x="4032250" y="6368015"/>
            <a:ext cx="3697872" cy="369332"/>
          </a:xfrm>
          <a:prstGeom prst="rect">
            <a:avLst/>
          </a:prstGeom>
          <a:noFill/>
        </p:spPr>
        <p:txBody>
          <a:bodyPr wrap="none" rtlCol="0">
            <a:spAutoFit/>
          </a:bodyPr>
          <a:lstStyle/>
          <a:p>
            <a:r>
              <a:rPr lang="en-US"/>
              <a:t>Note: FAR Requirements in Appendix </a:t>
            </a:r>
          </a:p>
        </p:txBody>
      </p:sp>
    </p:spTree>
    <p:extLst>
      <p:ext uri="{BB962C8B-B14F-4D97-AF65-F5344CB8AC3E}">
        <p14:creationId xmlns:p14="http://schemas.microsoft.com/office/powerpoint/2010/main" val="2437009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181EC-9E8B-CAD3-F83D-CD28AD3B3FC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D052F5-B68B-9DA1-B9A4-DE6023462454}"/>
              </a:ext>
            </a:extLst>
          </p:cNvPr>
          <p:cNvSpPr>
            <a:spLocks noGrp="1"/>
          </p:cNvSpPr>
          <p:nvPr>
            <p:ph type="sldNum" sz="quarter" idx="17"/>
          </p:nvPr>
        </p:nvSpPr>
        <p:spPr>
          <a:xfrm>
            <a:off x="11379199" y="6408622"/>
            <a:ext cx="544856" cy="366183"/>
          </a:xfrm>
        </p:spPr>
        <p:txBody>
          <a:bodyPr/>
          <a:lstStyle/>
          <a:p>
            <a:r>
              <a:rPr lang="en-US"/>
              <a:t>/   </a:t>
            </a:r>
            <a:fld id="{6C7E6F33-74EE-5541-8108-8353B402F8C1}" type="slidenum">
              <a:rPr lang="en-US" smtClean="0"/>
              <a:pPr/>
              <a:t>9</a:t>
            </a:fld>
            <a:endParaRPr lang="en-US"/>
          </a:p>
        </p:txBody>
      </p:sp>
      <p:sp>
        <p:nvSpPr>
          <p:cNvPr id="5" name="Title 4">
            <a:extLst>
              <a:ext uri="{FF2B5EF4-FFF2-40B4-BE49-F238E27FC236}">
                <a16:creationId xmlns:a16="http://schemas.microsoft.com/office/drawing/2014/main" id="{D78DD416-DEF6-361C-9096-E1457A04F56D}"/>
              </a:ext>
            </a:extLst>
          </p:cNvPr>
          <p:cNvSpPr>
            <a:spLocks noGrp="1"/>
          </p:cNvSpPr>
          <p:nvPr>
            <p:ph type="title"/>
          </p:nvPr>
        </p:nvSpPr>
        <p:spPr/>
        <p:txBody>
          <a:bodyPr/>
          <a:lstStyle/>
          <a:p>
            <a:r>
              <a:rPr lang="en-US"/>
              <a:t>Requirements</a:t>
            </a:r>
          </a:p>
        </p:txBody>
      </p:sp>
      <p:sp>
        <p:nvSpPr>
          <p:cNvPr id="6" name="Text Placeholder 5">
            <a:extLst>
              <a:ext uri="{FF2B5EF4-FFF2-40B4-BE49-F238E27FC236}">
                <a16:creationId xmlns:a16="http://schemas.microsoft.com/office/drawing/2014/main" id="{5EA33AAF-16BC-BA84-6166-DFEF9539F666}"/>
              </a:ext>
            </a:extLst>
          </p:cNvPr>
          <p:cNvSpPr>
            <a:spLocks noGrp="1"/>
          </p:cNvSpPr>
          <p:nvPr>
            <p:ph type="body" sz="quarter" idx="13"/>
          </p:nvPr>
        </p:nvSpPr>
        <p:spPr/>
        <p:txBody>
          <a:bodyPr/>
          <a:lstStyle/>
          <a:p>
            <a:r>
              <a:rPr lang="en-US" sz="1850">
                <a:ea typeface="Source Sans Pro"/>
              </a:rPr>
              <a:t>Second Level </a:t>
            </a:r>
          </a:p>
        </p:txBody>
      </p:sp>
      <p:graphicFrame>
        <p:nvGraphicFramePr>
          <p:cNvPr id="7" name="Table 6">
            <a:extLst>
              <a:ext uri="{FF2B5EF4-FFF2-40B4-BE49-F238E27FC236}">
                <a16:creationId xmlns:a16="http://schemas.microsoft.com/office/drawing/2014/main" id="{196ED8D9-AF15-7FF1-4D07-FB894EEF2612}"/>
              </a:ext>
            </a:extLst>
          </p:cNvPr>
          <p:cNvGraphicFramePr>
            <a:graphicFrameLocks noGrp="1"/>
          </p:cNvGraphicFramePr>
          <p:nvPr>
            <p:extLst>
              <p:ext uri="{D42A27DB-BD31-4B8C-83A1-F6EECF244321}">
                <p14:modId xmlns:p14="http://schemas.microsoft.com/office/powerpoint/2010/main" val="2341637516"/>
              </p:ext>
            </p:extLst>
          </p:nvPr>
        </p:nvGraphicFramePr>
        <p:xfrm>
          <a:off x="530084" y="1479826"/>
          <a:ext cx="11240575" cy="4637708"/>
        </p:xfrm>
        <a:graphic>
          <a:graphicData uri="http://schemas.openxmlformats.org/drawingml/2006/table">
            <a:tbl>
              <a:tblPr firstRow="1" bandRow="1">
                <a:tableStyleId>{073A0DAA-6AF3-43AB-8588-CEC1D06C72B9}</a:tableStyleId>
              </a:tblPr>
              <a:tblGrid>
                <a:gridCol w="851593">
                  <a:extLst>
                    <a:ext uri="{9D8B030D-6E8A-4147-A177-3AD203B41FA5}">
                      <a16:colId xmlns:a16="http://schemas.microsoft.com/office/drawing/2014/main" val="3089745894"/>
                    </a:ext>
                  </a:extLst>
                </a:gridCol>
                <a:gridCol w="4755843">
                  <a:extLst>
                    <a:ext uri="{9D8B030D-6E8A-4147-A177-3AD203B41FA5}">
                      <a16:colId xmlns:a16="http://schemas.microsoft.com/office/drawing/2014/main" val="2003570306"/>
                    </a:ext>
                  </a:extLst>
                </a:gridCol>
                <a:gridCol w="5633139">
                  <a:extLst>
                    <a:ext uri="{9D8B030D-6E8A-4147-A177-3AD203B41FA5}">
                      <a16:colId xmlns:a16="http://schemas.microsoft.com/office/drawing/2014/main" val="621346601"/>
                    </a:ext>
                  </a:extLst>
                </a:gridCol>
              </a:tblGrid>
              <a:tr h="501035">
                <a:tc>
                  <a:txBody>
                    <a:bodyPr/>
                    <a:lstStyle/>
                    <a:p>
                      <a:r>
                        <a:rPr lang="en-US"/>
                        <a:t>RBS</a:t>
                      </a:r>
                    </a:p>
                  </a:txBody>
                  <a:tcPr/>
                </a:tc>
                <a:tc>
                  <a:txBody>
                    <a:bodyPr/>
                    <a:lstStyle/>
                    <a:p>
                      <a:r>
                        <a:rPr lang="en-US"/>
                        <a:t>Requirement</a:t>
                      </a:r>
                    </a:p>
                  </a:txBody>
                  <a:tcPr/>
                </a:tc>
                <a:tc>
                  <a:txBody>
                    <a:bodyPr/>
                    <a:lstStyle/>
                    <a:p>
                      <a:r>
                        <a:rPr lang="en-US"/>
                        <a:t>Rationale</a:t>
                      </a:r>
                    </a:p>
                  </a:txBody>
                  <a:tcPr/>
                </a:tc>
                <a:extLst>
                  <a:ext uri="{0D108BD9-81ED-4DB2-BD59-A6C34878D82A}">
                    <a16:rowId xmlns:a16="http://schemas.microsoft.com/office/drawing/2014/main" val="643055058"/>
                  </a:ext>
                </a:extLst>
              </a:tr>
              <a:tr h="501035">
                <a:tc>
                  <a:txBody>
                    <a:bodyPr/>
                    <a:lstStyle/>
                    <a:p>
                      <a:pPr algn="ctr"/>
                      <a:r>
                        <a:rPr lang="en-US" sz="1300">
                          <a:solidFill>
                            <a:srgbClr val="000000"/>
                          </a:solidFill>
                        </a:rPr>
                        <a:t>1.1</a:t>
                      </a:r>
                    </a:p>
                  </a:txBody>
                  <a:tcPr/>
                </a:tc>
                <a:tc>
                  <a:txBody>
                    <a:bodyPr/>
                    <a:lstStyle/>
                    <a:p>
                      <a:pPr lvl="0" algn="ctr">
                        <a:buNone/>
                      </a:pPr>
                      <a:r>
                        <a:rPr lang="en-US" sz="1300" b="0" i="0" u="none" strike="noStrike" noProof="0">
                          <a:solidFill>
                            <a:srgbClr val="000000"/>
                          </a:solidFill>
                          <a:effectLst/>
                          <a:latin typeface="Aptos Narrow"/>
                        </a:rPr>
                        <a:t>The rocket shall have an engine that produces 400 lbf</a:t>
                      </a:r>
                    </a:p>
                  </a:txBody>
                  <a:tcPr marL="7620" marR="7620" marT="7620" marB="0"/>
                </a:tc>
                <a:tc>
                  <a:txBody>
                    <a:bodyPr/>
                    <a:lstStyle/>
                    <a:p>
                      <a:pPr lvl="0" algn="ctr">
                        <a:buNone/>
                      </a:pPr>
                      <a:r>
                        <a:rPr lang="en-US" sz="1300" b="0" i="0" u="none" strike="noStrike" noProof="0">
                          <a:solidFill>
                            <a:srgbClr val="000000"/>
                          </a:solidFill>
                          <a:effectLst/>
                          <a:latin typeface="Aptos Narrow"/>
                        </a:rPr>
                        <a:t>The rocket cannot move otherwise</a:t>
                      </a:r>
                    </a:p>
                  </a:txBody>
                  <a:tcPr marL="7620" marR="7620" marT="7620" marB="0"/>
                </a:tc>
                <a:extLst>
                  <a:ext uri="{0D108BD9-81ED-4DB2-BD59-A6C34878D82A}">
                    <a16:rowId xmlns:a16="http://schemas.microsoft.com/office/drawing/2014/main" val="2414361062"/>
                  </a:ext>
                </a:extLst>
              </a:tr>
              <a:tr h="501035">
                <a:tc>
                  <a:txBody>
                    <a:bodyPr/>
                    <a:lstStyle/>
                    <a:p>
                      <a:pPr algn="ctr"/>
                      <a:r>
                        <a:rPr lang="en-US" sz="1300">
                          <a:solidFill>
                            <a:srgbClr val="000000"/>
                          </a:solidFill>
                        </a:rPr>
                        <a:t>1.2</a:t>
                      </a:r>
                    </a:p>
                  </a:txBody>
                  <a:tcPr/>
                </a:tc>
                <a:tc>
                  <a:txBody>
                    <a:bodyPr/>
                    <a:lstStyle/>
                    <a:p>
                      <a:pPr lvl="0" algn="ctr">
                        <a:buNone/>
                      </a:pPr>
                      <a:r>
                        <a:rPr lang="en-US" sz="1300" b="0" i="0" u="none" strike="noStrike" noProof="0">
                          <a:solidFill>
                            <a:srgbClr val="000000"/>
                          </a:solidFill>
                          <a:effectLst/>
                          <a:latin typeface="Aptos Narrow"/>
                        </a:rPr>
                        <a:t>The rocket shall have a thrust to weight ratio greater than 3:1</a:t>
                      </a:r>
                    </a:p>
                  </a:txBody>
                  <a:tcPr marL="7620" marR="7620" marT="7620" marB="0"/>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300" b="0" i="0" u="none" strike="noStrike" noProof="0">
                          <a:solidFill>
                            <a:srgbClr val="000000"/>
                          </a:solidFill>
                          <a:effectLst/>
                          <a:latin typeface="Aptos Narrow"/>
                        </a:rPr>
                        <a:t>The rocket cannot move otherwise</a:t>
                      </a:r>
                    </a:p>
                    <a:p>
                      <a:pPr lvl="0" algn="ctr">
                        <a:buNone/>
                      </a:pPr>
                      <a:endParaRPr lang="en-US" sz="1300" b="0" i="0" u="none" strike="noStrike" noProof="0">
                        <a:solidFill>
                          <a:srgbClr val="000000"/>
                        </a:solidFill>
                        <a:effectLst/>
                        <a:latin typeface="Aptos Narrow"/>
                      </a:endParaRPr>
                    </a:p>
                  </a:txBody>
                  <a:tcPr marL="7620" marR="7620" marT="7620" marB="0"/>
                </a:tc>
                <a:extLst>
                  <a:ext uri="{0D108BD9-81ED-4DB2-BD59-A6C34878D82A}">
                    <a16:rowId xmlns:a16="http://schemas.microsoft.com/office/drawing/2014/main" val="1847058879"/>
                  </a:ext>
                </a:extLst>
              </a:tr>
              <a:tr h="647944">
                <a:tc>
                  <a:txBody>
                    <a:bodyPr/>
                    <a:lstStyle/>
                    <a:p>
                      <a:pPr lvl="0" algn="ctr">
                        <a:buNone/>
                      </a:pPr>
                      <a:r>
                        <a:rPr lang="en-US" sz="1300">
                          <a:solidFill>
                            <a:srgbClr val="000000"/>
                          </a:solidFill>
                        </a:rPr>
                        <a:t>1.3 </a:t>
                      </a:r>
                    </a:p>
                  </a:txBody>
                  <a:tcPr/>
                </a:tc>
                <a:tc>
                  <a:txBody>
                    <a:bodyPr/>
                    <a:lstStyle/>
                    <a:p>
                      <a:pPr lvl="0" algn="ctr">
                        <a:buNone/>
                      </a:pPr>
                      <a:r>
                        <a:rPr lang="en-US" sz="1300" b="0" i="0" u="none" strike="noStrike" noProof="0">
                          <a:solidFill>
                            <a:srgbClr val="000000"/>
                          </a:solidFill>
                          <a:effectLst/>
                          <a:latin typeface="Aptos Narrow"/>
                        </a:rPr>
                        <a:t>The rocket shall have a pump for the rocket fuel</a:t>
                      </a:r>
                    </a:p>
                  </a:txBody>
                  <a:tcPr marL="7620" marR="7620" marT="7620" marB="0"/>
                </a:tc>
                <a:tc>
                  <a:txBody>
                    <a:bodyPr/>
                    <a:lstStyle/>
                    <a:p>
                      <a:pPr lvl="0" algn="ctr">
                        <a:buNone/>
                      </a:pPr>
                      <a:r>
                        <a:rPr lang="en-US" sz="1300" b="0" i="0" u="none" strike="noStrike" noProof="0">
                          <a:solidFill>
                            <a:srgbClr val="000000"/>
                          </a:solidFill>
                          <a:effectLst/>
                          <a:latin typeface="Aptos Narrow"/>
                        </a:rPr>
                        <a:t>This is a requirement for a rocket to be pump-fed</a:t>
                      </a:r>
                    </a:p>
                  </a:txBody>
                  <a:tcPr marL="7620" marR="7620" marT="7620" marB="0"/>
                </a:tc>
                <a:extLst>
                  <a:ext uri="{0D108BD9-81ED-4DB2-BD59-A6C34878D82A}">
                    <a16:rowId xmlns:a16="http://schemas.microsoft.com/office/drawing/2014/main" val="4074238505"/>
                  </a:ext>
                </a:extLst>
              </a:tr>
              <a:tr h="510760">
                <a:tc>
                  <a:txBody>
                    <a:bodyPr/>
                    <a:lstStyle/>
                    <a:p>
                      <a:pPr lvl="0" algn="ctr">
                        <a:buNone/>
                      </a:pPr>
                      <a:r>
                        <a:rPr lang="en-US" sz="1300">
                          <a:solidFill>
                            <a:srgbClr val="000000"/>
                          </a:solidFill>
                        </a:rPr>
                        <a:t>1.4</a:t>
                      </a:r>
                    </a:p>
                  </a:txBody>
                  <a:tcPr/>
                </a:tc>
                <a:tc>
                  <a:txBody>
                    <a:bodyPr/>
                    <a:lstStyle/>
                    <a:p>
                      <a:pPr lvl="0" algn="ctr">
                        <a:buNone/>
                      </a:pPr>
                      <a:r>
                        <a:rPr lang="en-US" sz="1300" b="0" i="0" u="none" strike="noStrike" noProof="0">
                          <a:solidFill>
                            <a:srgbClr val="000000"/>
                          </a:solidFill>
                          <a:effectLst/>
                          <a:latin typeface="Aptos Narrow"/>
                        </a:rPr>
                        <a:t>The rocket will use Nitrous Oxide and Ethanol</a:t>
                      </a:r>
                    </a:p>
                  </a:txBody>
                  <a:tcPr marL="7620" marR="7620" marT="7620" marB="0"/>
                </a:tc>
                <a:tc>
                  <a:txBody>
                    <a:bodyPr/>
                    <a:lstStyle/>
                    <a:p>
                      <a:pPr lvl="0" algn="ctr">
                        <a:buNone/>
                      </a:pPr>
                      <a:r>
                        <a:rPr lang="en-US" sz="1300" b="0" i="0" u="none" strike="noStrike" noProof="0">
                          <a:solidFill>
                            <a:srgbClr val="000000"/>
                          </a:solidFill>
                          <a:effectLst/>
                          <a:latin typeface="Aptos Narrow"/>
                        </a:rPr>
                        <a:t>This is a FAR Ten Cents Per Foot challenge requirement</a:t>
                      </a:r>
                    </a:p>
                  </a:txBody>
                  <a:tcPr marL="7620" marR="7620" marT="7620" marB="0"/>
                </a:tc>
                <a:extLst>
                  <a:ext uri="{0D108BD9-81ED-4DB2-BD59-A6C34878D82A}">
                    <a16:rowId xmlns:a16="http://schemas.microsoft.com/office/drawing/2014/main" val="3313582001"/>
                  </a:ext>
                </a:extLst>
              </a:tr>
              <a:tr h="740283">
                <a:tc>
                  <a:txBody>
                    <a:bodyPr/>
                    <a:lstStyle/>
                    <a:p>
                      <a:pPr lvl="0" algn="ctr">
                        <a:buNone/>
                      </a:pPr>
                      <a:r>
                        <a:rPr lang="en-US" sz="1300">
                          <a:solidFill>
                            <a:srgbClr val="000000"/>
                          </a:solidFill>
                        </a:rPr>
                        <a:t>2.1</a:t>
                      </a:r>
                    </a:p>
                  </a:txBody>
                  <a:tcPr/>
                </a:tc>
                <a:tc>
                  <a:txBody>
                    <a:bodyPr/>
                    <a:lstStyle/>
                    <a:p>
                      <a:pPr lvl="0" algn="ctr">
                        <a:lnSpc>
                          <a:spcPct val="100000"/>
                        </a:lnSpc>
                        <a:spcBef>
                          <a:spcPts val="0"/>
                        </a:spcBef>
                        <a:spcAft>
                          <a:spcPts val="0"/>
                        </a:spcAft>
                        <a:buNone/>
                      </a:pPr>
                      <a:r>
                        <a:rPr lang="en-US" sz="1300" b="0" i="0" u="none" strike="noStrike" noProof="0">
                          <a:solidFill>
                            <a:srgbClr val="000000"/>
                          </a:solidFill>
                          <a:effectLst/>
                          <a:latin typeface="Aptos Narrow"/>
                        </a:rPr>
                        <a:t>The recovery system shall deploy without damaging the rocket</a:t>
                      </a:r>
                    </a:p>
                  </a:txBody>
                  <a:tcPr marL="7620" marR="7620" marT="7620" marB="0"/>
                </a:tc>
                <a:tc>
                  <a:txBody>
                    <a:bodyPr/>
                    <a:lstStyle/>
                    <a:p>
                      <a:pPr lvl="0" algn="ctr">
                        <a:buNone/>
                      </a:pPr>
                      <a:r>
                        <a:rPr lang="en-US" sz="1300" b="0" i="0" u="none" strike="noStrike" noProof="0">
                          <a:solidFill>
                            <a:srgbClr val="000000"/>
                          </a:solidFill>
                          <a:effectLst/>
                          <a:latin typeface="Aptos Narrow"/>
                        </a:rPr>
                        <a:t>This needs to occur for a successful recovery system</a:t>
                      </a:r>
                    </a:p>
                  </a:txBody>
                  <a:tcPr marL="7620" marR="7620" marT="7620" marB="0"/>
                </a:tc>
                <a:extLst>
                  <a:ext uri="{0D108BD9-81ED-4DB2-BD59-A6C34878D82A}">
                    <a16:rowId xmlns:a16="http://schemas.microsoft.com/office/drawing/2014/main" val="317543205"/>
                  </a:ext>
                </a:extLst>
              </a:tr>
              <a:tr h="617808">
                <a:tc>
                  <a:txBody>
                    <a:bodyPr/>
                    <a:lstStyle/>
                    <a:p>
                      <a:pPr lvl="0" algn="ctr">
                        <a:buNone/>
                      </a:pPr>
                      <a:r>
                        <a:rPr lang="en-US" sz="1300">
                          <a:solidFill>
                            <a:srgbClr val="000000"/>
                          </a:solidFill>
                        </a:rPr>
                        <a:t>2.2</a:t>
                      </a:r>
                    </a:p>
                  </a:txBody>
                  <a:tcPr/>
                </a:tc>
                <a:tc>
                  <a:txBody>
                    <a:bodyPr/>
                    <a:lstStyle/>
                    <a:p>
                      <a:pPr lvl="0" algn="ctr">
                        <a:buNone/>
                      </a:pPr>
                      <a:r>
                        <a:rPr lang="en-US" sz="1300" b="0" i="0" u="none" strike="noStrike" noProof="0">
                          <a:solidFill>
                            <a:srgbClr val="000000"/>
                          </a:solidFill>
                          <a:effectLst/>
                          <a:latin typeface="Aptos Narrow"/>
                        </a:rPr>
                        <a:t>The drogue chute shall deploy at apogee</a:t>
                      </a:r>
                    </a:p>
                  </a:txBody>
                  <a:tcPr marL="7620" marR="7620" marT="7620" marB="0"/>
                </a:tc>
                <a:tc>
                  <a:txBody>
                    <a:bodyPr/>
                    <a:lstStyle/>
                    <a:p>
                      <a:pPr lvl="0" algn="ctr">
                        <a:buNone/>
                      </a:pPr>
                      <a:r>
                        <a:rPr lang="en-US" sz="1300" b="0" i="0" u="none" strike="noStrike" noProof="0">
                          <a:solidFill>
                            <a:srgbClr val="000000"/>
                          </a:solidFill>
                          <a:effectLst/>
                          <a:latin typeface="Aptos Narrow"/>
                        </a:rPr>
                        <a:t>This needs to occur for a successful two stage recovery system</a:t>
                      </a:r>
                    </a:p>
                  </a:txBody>
                  <a:tcPr marL="7620" marR="7620" marT="7620" marB="0"/>
                </a:tc>
                <a:extLst>
                  <a:ext uri="{0D108BD9-81ED-4DB2-BD59-A6C34878D82A}">
                    <a16:rowId xmlns:a16="http://schemas.microsoft.com/office/drawing/2014/main" val="3899007425"/>
                  </a:ext>
                </a:extLst>
              </a:tr>
              <a:tr h="617808">
                <a:tc>
                  <a:txBody>
                    <a:bodyPr/>
                    <a:lstStyle/>
                    <a:p>
                      <a:pPr lvl="0" algn="ctr">
                        <a:buNone/>
                      </a:pPr>
                      <a:r>
                        <a:rPr lang="en-US" sz="1300">
                          <a:solidFill>
                            <a:srgbClr val="000000"/>
                          </a:solidFill>
                        </a:rPr>
                        <a:t>2.3</a:t>
                      </a:r>
                    </a:p>
                  </a:txBody>
                  <a:tcPr/>
                </a:tc>
                <a:tc>
                  <a:txBody>
                    <a:bodyPr/>
                    <a:lstStyle/>
                    <a:p>
                      <a:pPr lvl="0" algn="ctr">
                        <a:buNone/>
                      </a:pPr>
                      <a:r>
                        <a:rPr lang="en-US" sz="1300">
                          <a:solidFill>
                            <a:srgbClr val="000000"/>
                          </a:solidFill>
                          <a:latin typeface="Aptos Narrow"/>
                        </a:rPr>
                        <a:t>The main parachute shall deploy below 1,000 ft</a:t>
                      </a:r>
                    </a:p>
                  </a:txBody>
                  <a:tcPr marL="7620" marR="7620" marT="7620" marB="0"/>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300" b="0" i="0" u="none" strike="noStrike" noProof="0">
                          <a:solidFill>
                            <a:srgbClr val="000000"/>
                          </a:solidFill>
                          <a:effectLst/>
                          <a:latin typeface="Aptos Narrow"/>
                        </a:rPr>
                        <a:t>This needs to occur for a successful two stage recovery system</a:t>
                      </a:r>
                    </a:p>
                    <a:p>
                      <a:pPr marL="0" marR="0" lvl="0" indent="0" algn="ctr" defTabSz="914377" rtl="0" eaLnBrk="1" fontAlgn="auto" latinLnBrk="0" hangingPunct="1">
                        <a:lnSpc>
                          <a:spcPct val="100000"/>
                        </a:lnSpc>
                        <a:spcBef>
                          <a:spcPts val="0"/>
                        </a:spcBef>
                        <a:spcAft>
                          <a:spcPts val="0"/>
                        </a:spcAft>
                        <a:buClrTx/>
                        <a:buSzTx/>
                        <a:buFontTx/>
                        <a:buNone/>
                        <a:tabLst/>
                        <a:defRPr/>
                      </a:pPr>
                      <a:endParaRPr lang="en-US" sz="1300" b="0" i="0" u="none" strike="noStrike" noProof="0">
                        <a:solidFill>
                          <a:srgbClr val="000000"/>
                        </a:solidFill>
                        <a:effectLst/>
                        <a:latin typeface="Aptos Narrow"/>
                      </a:endParaRPr>
                    </a:p>
                  </a:txBody>
                  <a:tcPr marL="7620" marR="7620" marT="7620" marB="0"/>
                </a:tc>
                <a:extLst>
                  <a:ext uri="{0D108BD9-81ED-4DB2-BD59-A6C34878D82A}">
                    <a16:rowId xmlns:a16="http://schemas.microsoft.com/office/drawing/2014/main" val="2838209726"/>
                  </a:ext>
                </a:extLst>
              </a:tr>
            </a:tbl>
          </a:graphicData>
        </a:graphic>
      </p:graphicFrame>
      <p:sp>
        <p:nvSpPr>
          <p:cNvPr id="10" name="Footer Placeholder 2">
            <a:extLst>
              <a:ext uri="{FF2B5EF4-FFF2-40B4-BE49-F238E27FC236}">
                <a16:creationId xmlns:a16="http://schemas.microsoft.com/office/drawing/2014/main" id="{B82DCAE5-AED7-05D3-076F-0D1F81662B22}"/>
              </a:ext>
            </a:extLst>
          </p:cNvPr>
          <p:cNvSpPr>
            <a:spLocks noGrp="1"/>
          </p:cNvSpPr>
          <p:nvPr>
            <p:ph type="ftr" sz="quarter" idx="16"/>
          </p:nvPr>
        </p:nvSpPr>
        <p:spPr>
          <a:xfrm>
            <a:off x="7491867" y="6408622"/>
            <a:ext cx="4114800" cy="366183"/>
          </a:xfrm>
        </p:spPr>
        <p:txBody>
          <a:bodyPr/>
          <a:lstStyle/>
          <a:p>
            <a:r>
              <a:rPr lang="en-US" sz="900">
                <a:latin typeface="Source Sans Pro"/>
                <a:ea typeface="Source Sans Pro"/>
              </a:rPr>
              <a:t>ARCHERFISH CDR</a:t>
            </a:r>
            <a:endParaRPr lang="en-US"/>
          </a:p>
        </p:txBody>
      </p:sp>
    </p:spTree>
    <p:extLst>
      <p:ext uri="{BB962C8B-B14F-4D97-AF65-F5344CB8AC3E}">
        <p14:creationId xmlns:p14="http://schemas.microsoft.com/office/powerpoint/2010/main" val="415933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94682-1412-B25B-B9E0-24534F16FAE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D3198D-0FFB-85C6-0514-2534C96CC21F}"/>
              </a:ext>
            </a:extLst>
          </p:cNvPr>
          <p:cNvSpPr>
            <a:spLocks noGrp="1"/>
          </p:cNvSpPr>
          <p:nvPr>
            <p:ph type="sldNum" sz="quarter" idx="17"/>
          </p:nvPr>
        </p:nvSpPr>
        <p:spPr>
          <a:xfrm>
            <a:off x="11379199" y="6408622"/>
            <a:ext cx="544856" cy="366183"/>
          </a:xfrm>
        </p:spPr>
        <p:txBody>
          <a:bodyPr/>
          <a:lstStyle/>
          <a:p>
            <a:r>
              <a:rPr lang="en-US"/>
              <a:t>/   </a:t>
            </a:r>
            <a:fld id="{6C7E6F33-74EE-5541-8108-8353B402F8C1}" type="slidenum">
              <a:rPr lang="en-US" smtClean="0"/>
              <a:pPr/>
              <a:t>10</a:t>
            </a:fld>
            <a:endParaRPr lang="en-US"/>
          </a:p>
        </p:txBody>
      </p:sp>
      <p:sp>
        <p:nvSpPr>
          <p:cNvPr id="5" name="Title 4">
            <a:extLst>
              <a:ext uri="{FF2B5EF4-FFF2-40B4-BE49-F238E27FC236}">
                <a16:creationId xmlns:a16="http://schemas.microsoft.com/office/drawing/2014/main" id="{2963BC7E-365B-22AA-86A4-2D682D2092BA}"/>
              </a:ext>
            </a:extLst>
          </p:cNvPr>
          <p:cNvSpPr>
            <a:spLocks noGrp="1"/>
          </p:cNvSpPr>
          <p:nvPr>
            <p:ph type="title"/>
          </p:nvPr>
        </p:nvSpPr>
        <p:spPr/>
        <p:txBody>
          <a:bodyPr/>
          <a:lstStyle/>
          <a:p>
            <a:r>
              <a:rPr lang="en-US"/>
              <a:t>Requirements</a:t>
            </a:r>
          </a:p>
        </p:txBody>
      </p:sp>
      <p:sp>
        <p:nvSpPr>
          <p:cNvPr id="6" name="Text Placeholder 5">
            <a:extLst>
              <a:ext uri="{FF2B5EF4-FFF2-40B4-BE49-F238E27FC236}">
                <a16:creationId xmlns:a16="http://schemas.microsoft.com/office/drawing/2014/main" id="{E30E770F-EF6B-69C7-47A0-8FCA1C7D396C}"/>
              </a:ext>
            </a:extLst>
          </p:cNvPr>
          <p:cNvSpPr>
            <a:spLocks noGrp="1"/>
          </p:cNvSpPr>
          <p:nvPr>
            <p:ph type="body" sz="quarter" idx="13"/>
          </p:nvPr>
        </p:nvSpPr>
        <p:spPr>
          <a:xfrm>
            <a:off x="6095999" y="716984"/>
            <a:ext cx="5674660" cy="625567"/>
          </a:xfrm>
        </p:spPr>
        <p:txBody>
          <a:bodyPr/>
          <a:lstStyle/>
          <a:p>
            <a:r>
              <a:rPr lang="en-US" sz="1850">
                <a:ea typeface="Source Sans Pro"/>
              </a:rPr>
              <a:t>Second Level (Cont’d)</a:t>
            </a:r>
          </a:p>
        </p:txBody>
      </p:sp>
      <p:graphicFrame>
        <p:nvGraphicFramePr>
          <p:cNvPr id="7" name="Table 6">
            <a:extLst>
              <a:ext uri="{FF2B5EF4-FFF2-40B4-BE49-F238E27FC236}">
                <a16:creationId xmlns:a16="http://schemas.microsoft.com/office/drawing/2014/main" id="{7EC28BA9-D466-FE17-CAB1-32B5173429E5}"/>
              </a:ext>
            </a:extLst>
          </p:cNvPr>
          <p:cNvGraphicFramePr>
            <a:graphicFrameLocks noGrp="1"/>
          </p:cNvGraphicFramePr>
          <p:nvPr>
            <p:extLst>
              <p:ext uri="{D42A27DB-BD31-4B8C-83A1-F6EECF244321}">
                <p14:modId xmlns:p14="http://schemas.microsoft.com/office/powerpoint/2010/main" val="1771554690"/>
              </p:ext>
            </p:extLst>
          </p:nvPr>
        </p:nvGraphicFramePr>
        <p:xfrm>
          <a:off x="530084" y="1479826"/>
          <a:ext cx="11240575" cy="4050036"/>
        </p:xfrm>
        <a:graphic>
          <a:graphicData uri="http://schemas.openxmlformats.org/drawingml/2006/table">
            <a:tbl>
              <a:tblPr firstRow="1" bandRow="1">
                <a:tableStyleId>{073A0DAA-6AF3-43AB-8588-CEC1D06C72B9}</a:tableStyleId>
              </a:tblPr>
              <a:tblGrid>
                <a:gridCol w="851593">
                  <a:extLst>
                    <a:ext uri="{9D8B030D-6E8A-4147-A177-3AD203B41FA5}">
                      <a16:colId xmlns:a16="http://schemas.microsoft.com/office/drawing/2014/main" val="3089745894"/>
                    </a:ext>
                  </a:extLst>
                </a:gridCol>
                <a:gridCol w="4755843">
                  <a:extLst>
                    <a:ext uri="{9D8B030D-6E8A-4147-A177-3AD203B41FA5}">
                      <a16:colId xmlns:a16="http://schemas.microsoft.com/office/drawing/2014/main" val="2003570306"/>
                    </a:ext>
                  </a:extLst>
                </a:gridCol>
                <a:gridCol w="5633139">
                  <a:extLst>
                    <a:ext uri="{9D8B030D-6E8A-4147-A177-3AD203B41FA5}">
                      <a16:colId xmlns:a16="http://schemas.microsoft.com/office/drawing/2014/main" val="621346601"/>
                    </a:ext>
                  </a:extLst>
                </a:gridCol>
              </a:tblGrid>
              <a:tr h="501035">
                <a:tc>
                  <a:txBody>
                    <a:bodyPr/>
                    <a:lstStyle/>
                    <a:p>
                      <a:r>
                        <a:rPr lang="en-US"/>
                        <a:t>RBS</a:t>
                      </a:r>
                    </a:p>
                  </a:txBody>
                  <a:tcPr/>
                </a:tc>
                <a:tc>
                  <a:txBody>
                    <a:bodyPr/>
                    <a:lstStyle/>
                    <a:p>
                      <a:r>
                        <a:rPr lang="en-US"/>
                        <a:t>Requirement</a:t>
                      </a:r>
                    </a:p>
                  </a:txBody>
                  <a:tcPr/>
                </a:tc>
                <a:tc>
                  <a:txBody>
                    <a:bodyPr/>
                    <a:lstStyle/>
                    <a:p>
                      <a:r>
                        <a:rPr lang="en-US"/>
                        <a:t>Rationale</a:t>
                      </a:r>
                    </a:p>
                  </a:txBody>
                  <a:tcPr/>
                </a:tc>
                <a:extLst>
                  <a:ext uri="{0D108BD9-81ED-4DB2-BD59-A6C34878D82A}">
                    <a16:rowId xmlns:a16="http://schemas.microsoft.com/office/drawing/2014/main" val="643055058"/>
                  </a:ext>
                </a:extLst>
              </a:tr>
              <a:tr h="501035">
                <a:tc>
                  <a:txBody>
                    <a:bodyPr/>
                    <a:lstStyle/>
                    <a:p>
                      <a:pPr algn="ctr"/>
                      <a:r>
                        <a:rPr lang="en-US" sz="1300">
                          <a:solidFill>
                            <a:srgbClr val="000000"/>
                          </a:solidFill>
                        </a:rPr>
                        <a:t>3.1</a:t>
                      </a:r>
                    </a:p>
                  </a:txBody>
                  <a:tcPr/>
                </a:tc>
                <a:tc>
                  <a:txBody>
                    <a:bodyPr/>
                    <a:lstStyle/>
                    <a:p>
                      <a:pPr lvl="0" algn="ctr">
                        <a:buNone/>
                      </a:pPr>
                      <a:r>
                        <a:rPr lang="en-US" sz="1300" b="0" i="0" u="none" strike="noStrike" noProof="0">
                          <a:solidFill>
                            <a:srgbClr val="000000"/>
                          </a:solidFill>
                          <a:effectLst/>
                          <a:latin typeface="Aptos Narrow"/>
                        </a:rPr>
                        <a:t>All parts of the rocket shall stay intact as designed throughout the internal systems</a:t>
                      </a:r>
                    </a:p>
                  </a:txBody>
                  <a:tcPr marL="7620" marR="7620" marT="7620" marB="0"/>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300" b="0" i="0" u="none" strike="noStrike" noProof="0">
                          <a:solidFill>
                            <a:srgbClr val="000000"/>
                          </a:solidFill>
                          <a:effectLst/>
                          <a:latin typeface="Aptos Narrow"/>
                        </a:rPr>
                        <a:t>Components and materials are expensive, post launch analysis becomes much more difficult if the rocket is in bad condition afterwards</a:t>
                      </a:r>
                    </a:p>
                  </a:txBody>
                  <a:tcPr marL="7620" marR="7620" marT="7620" marB="0"/>
                </a:tc>
                <a:extLst>
                  <a:ext uri="{0D108BD9-81ED-4DB2-BD59-A6C34878D82A}">
                    <a16:rowId xmlns:a16="http://schemas.microsoft.com/office/drawing/2014/main" val="2414361062"/>
                  </a:ext>
                </a:extLst>
              </a:tr>
              <a:tr h="501035">
                <a:tc>
                  <a:txBody>
                    <a:bodyPr/>
                    <a:lstStyle/>
                    <a:p>
                      <a:pPr algn="ctr"/>
                      <a:r>
                        <a:rPr lang="en-US" sz="1300">
                          <a:solidFill>
                            <a:srgbClr val="000000"/>
                          </a:solidFill>
                        </a:rPr>
                        <a:t>3.2</a:t>
                      </a:r>
                    </a:p>
                  </a:txBody>
                  <a:tcPr/>
                </a:tc>
                <a:tc>
                  <a:txBody>
                    <a:bodyPr/>
                    <a:lstStyle/>
                    <a:p>
                      <a:pPr lvl="0" algn="ctr">
                        <a:buNone/>
                      </a:pPr>
                      <a:r>
                        <a:rPr lang="en-US" sz="1300" b="0" i="0" u="none" strike="noStrike" noProof="0">
                          <a:solidFill>
                            <a:srgbClr val="000000"/>
                          </a:solidFill>
                          <a:effectLst/>
                          <a:latin typeface="Aptos Narrow"/>
                        </a:rPr>
                        <a:t>The rocket body shall be able to support the weight of all internal systems</a:t>
                      </a:r>
                    </a:p>
                  </a:txBody>
                  <a:tcPr marL="7620" marR="7620" marT="7620" marB="0"/>
                </a:tc>
                <a:tc>
                  <a:txBody>
                    <a:bodyPr/>
                    <a:lstStyle/>
                    <a:p>
                      <a:pPr lvl="0" algn="ctr">
                        <a:buNone/>
                      </a:pPr>
                      <a:r>
                        <a:rPr lang="en-US" sz="1300" b="0" i="0" u="none" strike="noStrike" noProof="0">
                          <a:solidFill>
                            <a:srgbClr val="000000"/>
                          </a:solidFill>
                          <a:effectLst/>
                          <a:latin typeface="Aptos Narrow"/>
                        </a:rPr>
                        <a:t>The rocket will fall apart if the rocket cannot support its own weight</a:t>
                      </a:r>
                    </a:p>
                  </a:txBody>
                  <a:tcPr marL="7620" marR="7620" marT="7620" marB="0"/>
                </a:tc>
                <a:extLst>
                  <a:ext uri="{0D108BD9-81ED-4DB2-BD59-A6C34878D82A}">
                    <a16:rowId xmlns:a16="http://schemas.microsoft.com/office/drawing/2014/main" val="1847058879"/>
                  </a:ext>
                </a:extLst>
              </a:tr>
              <a:tr h="647944">
                <a:tc>
                  <a:txBody>
                    <a:bodyPr/>
                    <a:lstStyle/>
                    <a:p>
                      <a:pPr lvl="0" algn="ctr">
                        <a:buNone/>
                      </a:pPr>
                      <a:r>
                        <a:rPr lang="en-US" sz="1300">
                          <a:solidFill>
                            <a:srgbClr val="000000"/>
                          </a:solidFill>
                        </a:rPr>
                        <a:t>3.3</a:t>
                      </a:r>
                    </a:p>
                  </a:txBody>
                  <a:tcPr/>
                </a:tc>
                <a:tc>
                  <a:txBody>
                    <a:bodyPr/>
                    <a:lstStyle/>
                    <a:p>
                      <a:pPr lvl="0" algn="ctr">
                        <a:buNone/>
                      </a:pPr>
                      <a:r>
                        <a:rPr lang="en-US" sz="1300" b="0" i="0" u="none" strike="noStrike" noProof="0">
                          <a:solidFill>
                            <a:srgbClr val="000000"/>
                          </a:solidFill>
                          <a:effectLst/>
                          <a:latin typeface="Aptos Narrow"/>
                        </a:rPr>
                        <a:t>The rocket shall have a minimum FOS of 1 during entire flight</a:t>
                      </a:r>
                    </a:p>
                  </a:txBody>
                  <a:tcPr marL="7620" marR="7620" marT="7620" marB="0"/>
                </a:tc>
                <a:tc>
                  <a:txBody>
                    <a:bodyPr/>
                    <a:lstStyle/>
                    <a:p>
                      <a:pPr lvl="0" algn="ctr">
                        <a:buNone/>
                      </a:pPr>
                      <a:r>
                        <a:rPr lang="en-US" sz="1300" b="0" i="0" u="none" strike="noStrike" noProof="0">
                          <a:solidFill>
                            <a:srgbClr val="000000"/>
                          </a:solidFill>
                          <a:effectLst/>
                          <a:latin typeface="Aptos Narrow"/>
                        </a:rPr>
                        <a:t>Components and materials are expensive, post launch analysis becomes much more difficult if the rocket is in bad condition afterwards</a:t>
                      </a:r>
                    </a:p>
                  </a:txBody>
                  <a:tcPr marL="7620" marR="7620" marT="7620" marB="0"/>
                </a:tc>
                <a:extLst>
                  <a:ext uri="{0D108BD9-81ED-4DB2-BD59-A6C34878D82A}">
                    <a16:rowId xmlns:a16="http://schemas.microsoft.com/office/drawing/2014/main" val="4074238505"/>
                  </a:ext>
                </a:extLst>
              </a:tr>
              <a:tr h="647944">
                <a:tc>
                  <a:txBody>
                    <a:bodyPr/>
                    <a:lstStyle/>
                    <a:p>
                      <a:pPr lvl="0" algn="ctr">
                        <a:buNone/>
                      </a:pPr>
                      <a:r>
                        <a:rPr lang="en-US" sz="1300">
                          <a:solidFill>
                            <a:srgbClr val="000000"/>
                          </a:solidFill>
                        </a:rPr>
                        <a:t>4.1</a:t>
                      </a:r>
                    </a:p>
                  </a:txBody>
                  <a:tcPr/>
                </a:tc>
                <a:tc>
                  <a:txBody>
                    <a:bodyPr/>
                    <a:lstStyle/>
                    <a:p>
                      <a:pPr lvl="0" algn="ctr">
                        <a:buNone/>
                      </a:pPr>
                      <a:r>
                        <a:rPr lang="en-US" sz="1300" b="0" i="0" u="none" strike="noStrike" noProof="0">
                          <a:solidFill>
                            <a:srgbClr val="000000"/>
                          </a:solidFill>
                          <a:effectLst/>
                          <a:latin typeface="Aptos Narrow"/>
                        </a:rPr>
                        <a:t>The rocket shall have a stability caliber of 2. 5 +/- 0.5 OR 15% </a:t>
                      </a:r>
                    </a:p>
                  </a:txBody>
                  <a:tcPr marL="7620" marR="7620" marT="7620" marB="0"/>
                </a:tc>
                <a:tc>
                  <a:txBody>
                    <a:bodyPr/>
                    <a:lstStyle/>
                    <a:p>
                      <a:pPr lvl="0" algn="ctr">
                        <a:buNone/>
                      </a:pPr>
                      <a:r>
                        <a:rPr lang="en-US" sz="1300" b="0" i="0" u="none" strike="noStrike" noProof="0">
                          <a:solidFill>
                            <a:srgbClr val="000000"/>
                          </a:solidFill>
                          <a:effectLst/>
                          <a:latin typeface="Aptos Narrow"/>
                        </a:rPr>
                        <a:t>See RBS 4</a:t>
                      </a:r>
                    </a:p>
                  </a:txBody>
                  <a:tcPr marL="7620" marR="7620" marT="7620" marB="0"/>
                </a:tc>
                <a:extLst>
                  <a:ext uri="{0D108BD9-81ED-4DB2-BD59-A6C34878D82A}">
                    <a16:rowId xmlns:a16="http://schemas.microsoft.com/office/drawing/2014/main" val="3116772104"/>
                  </a:ext>
                </a:extLst>
              </a:tr>
              <a:tr h="510760">
                <a:tc>
                  <a:txBody>
                    <a:bodyPr/>
                    <a:lstStyle/>
                    <a:p>
                      <a:pPr lvl="0" algn="ctr">
                        <a:buNone/>
                      </a:pPr>
                      <a:r>
                        <a:rPr lang="en-US" sz="1300">
                          <a:solidFill>
                            <a:srgbClr val="000000"/>
                          </a:solidFill>
                        </a:rPr>
                        <a:t>5.1</a:t>
                      </a:r>
                    </a:p>
                  </a:txBody>
                  <a:tcPr/>
                </a:tc>
                <a:tc>
                  <a:txBody>
                    <a:bodyPr/>
                    <a:lstStyle/>
                    <a:p>
                      <a:pPr lvl="0" algn="ctr">
                        <a:buNone/>
                      </a:pPr>
                      <a:r>
                        <a:rPr lang="en-US" sz="1300" b="0" i="0" u="none" strike="noStrike" noProof="0">
                          <a:solidFill>
                            <a:srgbClr val="000000"/>
                          </a:solidFill>
                          <a:effectLst/>
                          <a:latin typeface="Aptos Narrow"/>
                        </a:rPr>
                        <a:t>The rocket shall have a telemetry system</a:t>
                      </a:r>
                    </a:p>
                  </a:txBody>
                  <a:tcPr marL="7620" marR="7620" marT="7620" marB="0"/>
                </a:tc>
                <a:tc>
                  <a:txBody>
                    <a:bodyPr/>
                    <a:lstStyle/>
                    <a:p>
                      <a:pPr lvl="0" algn="ctr">
                        <a:buNone/>
                      </a:pPr>
                      <a:r>
                        <a:rPr lang="en-US" sz="1300" b="0" i="0" u="none" strike="noStrike" noProof="0">
                          <a:solidFill>
                            <a:srgbClr val="000000"/>
                          </a:solidFill>
                          <a:effectLst/>
                          <a:latin typeface="Aptos Narrow"/>
                        </a:rPr>
                        <a:t>This is a FAR requirement</a:t>
                      </a:r>
                    </a:p>
                  </a:txBody>
                  <a:tcPr marL="7620" marR="7620" marT="7620" marB="0"/>
                </a:tc>
                <a:extLst>
                  <a:ext uri="{0D108BD9-81ED-4DB2-BD59-A6C34878D82A}">
                    <a16:rowId xmlns:a16="http://schemas.microsoft.com/office/drawing/2014/main" val="3313582001"/>
                  </a:ext>
                </a:extLst>
              </a:tr>
              <a:tr h="740283">
                <a:tc>
                  <a:txBody>
                    <a:bodyPr/>
                    <a:lstStyle/>
                    <a:p>
                      <a:pPr lvl="0" algn="ctr">
                        <a:buNone/>
                      </a:pPr>
                      <a:r>
                        <a:rPr lang="en-US" sz="1300">
                          <a:solidFill>
                            <a:srgbClr val="000000"/>
                          </a:solidFill>
                        </a:rPr>
                        <a:t>5.2</a:t>
                      </a:r>
                    </a:p>
                  </a:txBody>
                  <a:tcPr/>
                </a:tc>
                <a:tc>
                  <a:txBody>
                    <a:bodyPr/>
                    <a:lstStyle/>
                    <a:p>
                      <a:pPr lvl="0" algn="ctr">
                        <a:lnSpc>
                          <a:spcPct val="100000"/>
                        </a:lnSpc>
                        <a:spcBef>
                          <a:spcPts val="0"/>
                        </a:spcBef>
                        <a:spcAft>
                          <a:spcPts val="0"/>
                        </a:spcAft>
                        <a:buNone/>
                      </a:pPr>
                      <a:r>
                        <a:rPr lang="en-US" sz="1300" b="0" i="0" u="none" strike="noStrike" noProof="0">
                          <a:solidFill>
                            <a:srgbClr val="000000"/>
                          </a:solidFill>
                          <a:effectLst/>
                          <a:latin typeface="Aptos Narrow"/>
                        </a:rPr>
                        <a:t>The avionics stack shall stay in one piece throughout the flight</a:t>
                      </a:r>
                    </a:p>
                  </a:txBody>
                  <a:tcPr marL="7620" marR="7620" marT="7620" marB="0"/>
                </a:tc>
                <a:tc>
                  <a:txBody>
                    <a:bodyPr/>
                    <a:lstStyle/>
                    <a:p>
                      <a:pPr lvl="0" algn="ctr">
                        <a:buNone/>
                      </a:pPr>
                      <a:r>
                        <a:rPr lang="en-US" sz="1300" b="0" i="0" u="none" strike="noStrike" noProof="0">
                          <a:solidFill>
                            <a:srgbClr val="000000"/>
                          </a:solidFill>
                          <a:effectLst/>
                          <a:latin typeface="Aptos Narrow"/>
                        </a:rPr>
                        <a:t>The avionics system will likely not work if damaged</a:t>
                      </a:r>
                    </a:p>
                  </a:txBody>
                  <a:tcPr marL="7620" marR="7620" marT="7620" marB="0"/>
                </a:tc>
                <a:extLst>
                  <a:ext uri="{0D108BD9-81ED-4DB2-BD59-A6C34878D82A}">
                    <a16:rowId xmlns:a16="http://schemas.microsoft.com/office/drawing/2014/main" val="317543205"/>
                  </a:ext>
                </a:extLst>
              </a:tr>
            </a:tbl>
          </a:graphicData>
        </a:graphic>
      </p:graphicFrame>
      <p:sp>
        <p:nvSpPr>
          <p:cNvPr id="10" name="Footer Placeholder 2">
            <a:extLst>
              <a:ext uri="{FF2B5EF4-FFF2-40B4-BE49-F238E27FC236}">
                <a16:creationId xmlns:a16="http://schemas.microsoft.com/office/drawing/2014/main" id="{B32E5DF2-122D-6DB7-7662-FEC1570EF71F}"/>
              </a:ext>
            </a:extLst>
          </p:cNvPr>
          <p:cNvSpPr>
            <a:spLocks noGrp="1"/>
          </p:cNvSpPr>
          <p:nvPr>
            <p:ph type="ftr" sz="quarter" idx="16"/>
          </p:nvPr>
        </p:nvSpPr>
        <p:spPr>
          <a:xfrm>
            <a:off x="7491867" y="6408622"/>
            <a:ext cx="4114800" cy="366183"/>
          </a:xfrm>
        </p:spPr>
        <p:txBody>
          <a:bodyPr/>
          <a:lstStyle/>
          <a:p>
            <a:r>
              <a:rPr lang="en-US" sz="900">
                <a:latin typeface="Source Sans Pro"/>
                <a:ea typeface="Source Sans Pro"/>
              </a:rPr>
              <a:t>ARCHERFISH CDR</a:t>
            </a:r>
            <a:endParaRPr lang="en-US"/>
          </a:p>
        </p:txBody>
      </p:sp>
    </p:spTree>
    <p:extLst>
      <p:ext uri="{BB962C8B-B14F-4D97-AF65-F5344CB8AC3E}">
        <p14:creationId xmlns:p14="http://schemas.microsoft.com/office/powerpoint/2010/main" val="951038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8465730-2002-FCB5-4EB7-3D20CA4F012A}"/>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DAE4AAE8-B224-5A1B-7F82-F0BD6430307D}"/>
              </a:ext>
            </a:extLst>
          </p:cNvPr>
          <p:cNvSpPr>
            <a:spLocks noGrp="1"/>
          </p:cNvSpPr>
          <p:nvPr>
            <p:ph type="sldNum" sz="quarter" idx="17"/>
          </p:nvPr>
        </p:nvSpPr>
        <p:spPr/>
        <p:txBody>
          <a:bodyPr/>
          <a:lstStyle/>
          <a:p>
            <a:r>
              <a:rPr lang="en-US"/>
              <a:t>/   </a:t>
            </a:r>
            <a:fld id="{6C7E6F33-74EE-5541-8108-8353B402F8C1}" type="slidenum">
              <a:rPr lang="en-US" smtClean="0"/>
              <a:pPr/>
              <a:t>11</a:t>
            </a:fld>
            <a:endParaRPr lang="en-US"/>
          </a:p>
        </p:txBody>
      </p:sp>
      <p:sp>
        <p:nvSpPr>
          <p:cNvPr id="5" name="Title 4">
            <a:extLst>
              <a:ext uri="{FF2B5EF4-FFF2-40B4-BE49-F238E27FC236}">
                <a16:creationId xmlns:a16="http://schemas.microsoft.com/office/drawing/2014/main" id="{23551391-AE8F-B026-0DB0-577DCFBA74B8}"/>
              </a:ext>
            </a:extLst>
          </p:cNvPr>
          <p:cNvSpPr>
            <a:spLocks noGrp="1"/>
          </p:cNvSpPr>
          <p:nvPr>
            <p:ph type="title"/>
          </p:nvPr>
        </p:nvSpPr>
        <p:spPr>
          <a:xfrm>
            <a:off x="531848" y="716984"/>
            <a:ext cx="6747546" cy="625567"/>
          </a:xfrm>
        </p:spPr>
        <p:txBody>
          <a:bodyPr/>
          <a:lstStyle/>
          <a:p>
            <a:r>
              <a:rPr lang="en-US">
                <a:latin typeface="Munistic"/>
              </a:rPr>
              <a:t>Altitude Plots</a:t>
            </a:r>
            <a:endParaRPr lang="en-US"/>
          </a:p>
        </p:txBody>
      </p:sp>
      <p:sp>
        <p:nvSpPr>
          <p:cNvPr id="10" name="TextBox 9">
            <a:extLst>
              <a:ext uri="{FF2B5EF4-FFF2-40B4-BE49-F238E27FC236}">
                <a16:creationId xmlns:a16="http://schemas.microsoft.com/office/drawing/2014/main" id="{87854627-5583-0F27-3246-4452EAEC91C3}"/>
              </a:ext>
            </a:extLst>
          </p:cNvPr>
          <p:cNvSpPr txBox="1"/>
          <p:nvPr/>
        </p:nvSpPr>
        <p:spPr>
          <a:xfrm>
            <a:off x="536385" y="1480527"/>
            <a:ext cx="6750293" cy="369332"/>
          </a:xfrm>
          <a:prstGeom prst="rect">
            <a:avLst/>
          </a:prstGeom>
          <a:solidFill>
            <a:srgbClr val="15473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rgbClr val="FFFFFF"/>
                </a:solidFill>
                <a:ea typeface="Calibri"/>
                <a:cs typeface="Calibri"/>
              </a:rPr>
              <a:t>Open Rocket</a:t>
            </a:r>
            <a:endParaRPr lang="en-US"/>
          </a:p>
        </p:txBody>
      </p:sp>
      <p:sp>
        <p:nvSpPr>
          <p:cNvPr id="9" name="TextBox 8">
            <a:extLst>
              <a:ext uri="{FF2B5EF4-FFF2-40B4-BE49-F238E27FC236}">
                <a16:creationId xmlns:a16="http://schemas.microsoft.com/office/drawing/2014/main" id="{517B8BB0-15BC-8148-FDE3-09A8D7354BD1}"/>
              </a:ext>
            </a:extLst>
          </p:cNvPr>
          <p:cNvSpPr txBox="1"/>
          <p:nvPr/>
        </p:nvSpPr>
        <p:spPr>
          <a:xfrm>
            <a:off x="7812157" y="1996168"/>
            <a:ext cx="3981367"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b="1">
                <a:ea typeface="Calibri"/>
                <a:cs typeface="Calibri"/>
              </a:rPr>
              <a:t>Results:</a:t>
            </a:r>
          </a:p>
          <a:p>
            <a:pPr marL="742950" lvl="1" indent="-285750">
              <a:buFont typeface="Courier New" panose="02070309020205020404" pitchFamily="49" charset="0"/>
              <a:buChar char="o"/>
            </a:pPr>
            <a:r>
              <a:rPr lang="en-US">
                <a:ea typeface="Calibri"/>
                <a:cs typeface="Calibri"/>
              </a:rPr>
              <a:t>Apogee: 13275 ft</a:t>
            </a:r>
          </a:p>
          <a:p>
            <a:pPr marL="742950" lvl="1" indent="-285750">
              <a:buFont typeface="Courier New" panose="02070309020205020404" pitchFamily="49" charset="0"/>
              <a:buChar char="o"/>
            </a:pPr>
            <a:r>
              <a:rPr lang="en-US">
                <a:ea typeface="Calibri"/>
                <a:cs typeface="Calibri"/>
              </a:rPr>
              <a:t>Max Velocity: 906 ft/s =</a:t>
            </a:r>
          </a:p>
          <a:p>
            <a:pPr lvl="1"/>
            <a:r>
              <a:rPr lang="en-US">
                <a:ea typeface="Calibri"/>
                <a:cs typeface="Calibri"/>
              </a:rPr>
              <a:t>     [Mach .826]</a:t>
            </a:r>
            <a:endParaRPr lang="en-US">
              <a:highlight>
                <a:srgbClr val="FFFF00"/>
              </a:highlight>
              <a:ea typeface="Calibri"/>
              <a:cs typeface="Calibri"/>
            </a:endParaRPr>
          </a:p>
          <a:p>
            <a:pPr marL="742950" lvl="1" indent="-285750">
              <a:buFont typeface="Courier New" panose="02070309020205020404" pitchFamily="49" charset="0"/>
              <a:buChar char="o"/>
            </a:pPr>
            <a:r>
              <a:rPr lang="en-US">
                <a:ea typeface="Calibri"/>
                <a:cs typeface="Calibri"/>
              </a:rPr>
              <a:t>Max Acceleration: 110 ft/s^2</a:t>
            </a:r>
          </a:p>
          <a:p>
            <a:pPr marL="742950" lvl="1" indent="-285750">
              <a:buFont typeface="Courier New" panose="02070309020205020404" pitchFamily="49" charset="0"/>
              <a:buChar char="o"/>
            </a:pPr>
            <a:r>
              <a:rPr lang="en-US">
                <a:ea typeface="Calibri"/>
                <a:cs typeface="Calibri"/>
              </a:rPr>
              <a:t>Time to Apogee: 31.5 s</a:t>
            </a:r>
          </a:p>
          <a:p>
            <a:pPr marL="742950" lvl="1" indent="-285750">
              <a:buFont typeface="Courier New" panose="02070309020205020404" pitchFamily="49" charset="0"/>
              <a:buChar char="o"/>
            </a:pPr>
            <a:r>
              <a:rPr lang="en-US">
                <a:ea typeface="Calibri"/>
                <a:cs typeface="Calibri"/>
              </a:rPr>
              <a:t>Flight Time: 63.2 s</a:t>
            </a:r>
          </a:p>
          <a:p>
            <a:pPr marL="285750" indent="-285750">
              <a:buFont typeface="Arial" panose="020B0604020202020204" pitchFamily="34" charset="0"/>
              <a:buChar char="•"/>
            </a:pPr>
            <a:r>
              <a:rPr lang="en-US" b="1">
                <a:ea typeface="Calibri"/>
                <a:cs typeface="Calibri"/>
              </a:rPr>
              <a:t>Assumptions made:</a:t>
            </a:r>
          </a:p>
          <a:p>
            <a:pPr marL="742950" lvl="1" indent="-285750">
              <a:buFont typeface="Courier New" panose="02070309020205020404" pitchFamily="49" charset="0"/>
              <a:buChar char="o"/>
            </a:pPr>
            <a:r>
              <a:rPr lang="en-US">
                <a:ea typeface="Calibri"/>
                <a:cs typeface="Calibri"/>
              </a:rPr>
              <a:t>5 mph Wind</a:t>
            </a:r>
          </a:p>
          <a:p>
            <a:pPr marL="742950" lvl="1" indent="-285750">
              <a:buFont typeface="Courier New" panose="02070309020205020404" pitchFamily="49" charset="0"/>
              <a:buChar char="o"/>
            </a:pPr>
            <a:endParaRPr lang="en-US">
              <a:ea typeface="Calibri"/>
              <a:cs typeface="Calibri"/>
            </a:endParaRPr>
          </a:p>
          <a:p>
            <a:pPr marL="285750" indent="-285750">
              <a:buFont typeface="Arial" panose="020B0604020202020204" pitchFamily="34" charset="0"/>
              <a:buChar char="•"/>
            </a:pPr>
            <a:endParaRPr lang="en-US" b="1">
              <a:ea typeface="Calibri"/>
              <a:cs typeface="Calibri"/>
            </a:endParaRPr>
          </a:p>
        </p:txBody>
      </p:sp>
      <p:sp>
        <p:nvSpPr>
          <p:cNvPr id="2" name="Text Placeholder 1">
            <a:extLst>
              <a:ext uri="{FF2B5EF4-FFF2-40B4-BE49-F238E27FC236}">
                <a16:creationId xmlns:a16="http://schemas.microsoft.com/office/drawing/2014/main" id="{0C8C5DA7-A415-EDEE-F962-581D3F934AEF}"/>
              </a:ext>
            </a:extLst>
          </p:cNvPr>
          <p:cNvSpPr txBox="1">
            <a:spLocks/>
          </p:cNvSpPr>
          <p:nvPr/>
        </p:nvSpPr>
        <p:spPr>
          <a:xfrm>
            <a:off x="960804" y="5720720"/>
            <a:ext cx="5367733" cy="320977"/>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1.5</a:t>
            </a:r>
            <a:r>
              <a:rPr lang="en-US" sz="1850">
                <a:ea typeface="Source Sans Pro"/>
              </a:rPr>
              <a:t> Open Rocket predicted trajectory</a:t>
            </a:r>
          </a:p>
        </p:txBody>
      </p:sp>
      <p:pic>
        <p:nvPicPr>
          <p:cNvPr id="6" name="Picture 5" descr="A graph of a function&#10;&#10;AI-generated content may be incorrect.">
            <a:extLst>
              <a:ext uri="{FF2B5EF4-FFF2-40B4-BE49-F238E27FC236}">
                <a16:creationId xmlns:a16="http://schemas.microsoft.com/office/drawing/2014/main" id="{47D9298D-0D03-0DDD-E693-D62FAAD0F303}"/>
              </a:ext>
            </a:extLst>
          </p:cNvPr>
          <p:cNvPicPr>
            <a:picLocks noChangeAspect="1"/>
          </p:cNvPicPr>
          <p:nvPr/>
        </p:nvPicPr>
        <p:blipFill>
          <a:blip r:embed="rId4"/>
          <a:stretch>
            <a:fillRect/>
          </a:stretch>
        </p:blipFill>
        <p:spPr>
          <a:xfrm>
            <a:off x="1342543" y="2106705"/>
            <a:ext cx="4609944" cy="3451413"/>
          </a:xfrm>
          <a:prstGeom prst="rect">
            <a:avLst/>
          </a:prstGeom>
        </p:spPr>
      </p:pic>
    </p:spTree>
    <p:extLst>
      <p:ext uri="{BB962C8B-B14F-4D97-AF65-F5344CB8AC3E}">
        <p14:creationId xmlns:p14="http://schemas.microsoft.com/office/powerpoint/2010/main" val="3609204330"/>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9542D-5FFD-BEB2-B3F4-F023FDCB0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EFB6A8-0351-BAA4-EFED-B99D40D5D7F7}"/>
              </a:ext>
            </a:extLst>
          </p:cNvPr>
          <p:cNvSpPr>
            <a:spLocks noGrp="1"/>
          </p:cNvSpPr>
          <p:nvPr>
            <p:ph type="title"/>
          </p:nvPr>
        </p:nvSpPr>
        <p:spPr/>
        <p:txBody>
          <a:bodyPr/>
          <a:lstStyle/>
          <a:p>
            <a:r>
              <a:rPr lang="en-US">
                <a:latin typeface="Munistic"/>
              </a:rPr>
              <a:t>Fluids</a:t>
            </a:r>
            <a:endParaRPr lang="en-US"/>
          </a:p>
        </p:txBody>
      </p:sp>
      <p:sp>
        <p:nvSpPr>
          <p:cNvPr id="5" name="TextBox 4">
            <a:extLst>
              <a:ext uri="{FF2B5EF4-FFF2-40B4-BE49-F238E27FC236}">
                <a16:creationId xmlns:a16="http://schemas.microsoft.com/office/drawing/2014/main" id="{1A45BA60-8ACC-AA56-5B81-285B99F519C3}"/>
              </a:ext>
            </a:extLst>
          </p:cNvPr>
          <p:cNvSpPr txBox="1"/>
          <p:nvPr/>
        </p:nvSpPr>
        <p:spPr>
          <a:xfrm>
            <a:off x="676909" y="2080048"/>
            <a:ext cx="4297573" cy="30008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a:buChar char="•"/>
            </a:pPr>
            <a:r>
              <a:rPr lang="en-US" sz="1900">
                <a:solidFill>
                  <a:srgbClr val="214734"/>
                </a:solidFill>
                <a:ea typeface="Calibri"/>
                <a:cs typeface="Calibri"/>
              </a:rPr>
              <a:t>Pump</a:t>
            </a:r>
            <a:endParaRPr lang="en-US" sz="1900">
              <a:solidFill>
                <a:srgbClr val="154734"/>
              </a:solidFill>
              <a:ea typeface="Calibri"/>
              <a:cs typeface="Calibri"/>
            </a:endParaRPr>
          </a:p>
          <a:p>
            <a:pPr marL="342900" indent="-342900">
              <a:lnSpc>
                <a:spcPct val="150000"/>
              </a:lnSpc>
              <a:buFont typeface="Arial"/>
              <a:buChar char="•"/>
            </a:pPr>
            <a:r>
              <a:rPr lang="en-US" sz="1900">
                <a:solidFill>
                  <a:srgbClr val="214734"/>
                </a:solidFill>
                <a:ea typeface="Calibri"/>
                <a:cs typeface="Calibri"/>
              </a:rPr>
              <a:t>Bulkheads and Tanks</a:t>
            </a:r>
            <a:endParaRPr lang="en-US" sz="1900">
              <a:solidFill>
                <a:srgbClr val="154734"/>
              </a:solidFill>
              <a:ea typeface="Calibri"/>
              <a:cs typeface="Calibri"/>
            </a:endParaRPr>
          </a:p>
          <a:p>
            <a:pPr marL="342900" indent="-342900">
              <a:lnSpc>
                <a:spcPct val="150000"/>
              </a:lnSpc>
              <a:buFont typeface="Arial"/>
              <a:buChar char="•"/>
            </a:pPr>
            <a:r>
              <a:rPr lang="en-US" sz="1900">
                <a:solidFill>
                  <a:srgbClr val="214734"/>
                </a:solidFill>
                <a:ea typeface="Calibri"/>
                <a:cs typeface="Calibri"/>
              </a:rPr>
              <a:t>Valves</a:t>
            </a:r>
            <a:endParaRPr lang="en-US" sz="1900">
              <a:solidFill>
                <a:srgbClr val="154734"/>
              </a:solidFill>
              <a:ea typeface="Calibri"/>
              <a:cs typeface="Calibri"/>
            </a:endParaRPr>
          </a:p>
          <a:p>
            <a:pPr marL="342900" indent="-342900">
              <a:lnSpc>
                <a:spcPct val="150000"/>
              </a:lnSpc>
              <a:buFont typeface="Arial"/>
              <a:buChar char="•"/>
            </a:pPr>
            <a:r>
              <a:rPr lang="en-US" sz="1900">
                <a:solidFill>
                  <a:srgbClr val="214734"/>
                </a:solidFill>
                <a:ea typeface="Calibri"/>
                <a:cs typeface="Calibri"/>
              </a:rPr>
              <a:t>Injector</a:t>
            </a:r>
            <a:endParaRPr lang="en-US" sz="1900">
              <a:ea typeface="Calibri"/>
              <a:cs typeface="Calibri"/>
            </a:endParaRPr>
          </a:p>
          <a:p>
            <a:pPr marL="342900" indent="-342900">
              <a:lnSpc>
                <a:spcPct val="150000"/>
              </a:lnSpc>
              <a:buFont typeface="Arial"/>
              <a:buChar char="•"/>
            </a:pPr>
            <a:r>
              <a:rPr lang="en-US" sz="1900">
                <a:solidFill>
                  <a:srgbClr val="214734"/>
                </a:solidFill>
                <a:ea typeface="Calibri"/>
                <a:cs typeface="Calibri"/>
              </a:rPr>
              <a:t>Propulsion</a:t>
            </a:r>
          </a:p>
          <a:p>
            <a:pPr algn="l">
              <a:lnSpc>
                <a:spcPct val="150000"/>
              </a:lnSpc>
            </a:pPr>
            <a:endParaRPr lang="en-US" sz="1900">
              <a:ea typeface="Calibri"/>
              <a:cs typeface="Calibri"/>
            </a:endParaRPr>
          </a:p>
          <a:p>
            <a:endParaRPr lang="en-US">
              <a:ea typeface="Calibri"/>
              <a:cs typeface="Calibri"/>
            </a:endParaRPr>
          </a:p>
        </p:txBody>
      </p:sp>
    </p:spTree>
    <p:extLst>
      <p:ext uri="{BB962C8B-B14F-4D97-AF65-F5344CB8AC3E}">
        <p14:creationId xmlns:p14="http://schemas.microsoft.com/office/powerpoint/2010/main" val="4276377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66018-6885-8456-84FF-F92BA9345AF7}"/>
              </a:ext>
            </a:extLst>
          </p:cNvPr>
          <p:cNvSpPr>
            <a:spLocks noGrp="1"/>
          </p:cNvSpPr>
          <p:nvPr>
            <p:ph type="title"/>
          </p:nvPr>
        </p:nvSpPr>
        <p:spPr/>
        <p:txBody>
          <a:bodyPr/>
          <a:lstStyle/>
          <a:p>
            <a:r>
              <a:rPr lang="en-US">
                <a:latin typeface="Munistic"/>
              </a:rPr>
              <a:t>Fluids – Pump</a:t>
            </a:r>
            <a:endParaRPr lang="en-US"/>
          </a:p>
        </p:txBody>
      </p:sp>
      <p:sp>
        <p:nvSpPr>
          <p:cNvPr id="3" name="Text Placeholder 2">
            <a:extLst>
              <a:ext uri="{FF2B5EF4-FFF2-40B4-BE49-F238E27FC236}">
                <a16:creationId xmlns:a16="http://schemas.microsoft.com/office/drawing/2014/main" id="{E8DF805F-9DAA-8BE4-5E72-5CDBB5F6FD76}"/>
              </a:ext>
            </a:extLst>
          </p:cNvPr>
          <p:cNvSpPr>
            <a:spLocks noGrp="1"/>
          </p:cNvSpPr>
          <p:nvPr>
            <p:ph type="body" sz="quarter" idx="11"/>
          </p:nvPr>
        </p:nvSpPr>
        <p:spPr>
          <a:xfrm>
            <a:off x="672347" y="1842273"/>
            <a:ext cx="5620503" cy="342329"/>
          </a:xfrm>
        </p:spPr>
        <p:txBody>
          <a:bodyPr/>
          <a:lstStyle/>
          <a:p>
            <a:r>
              <a:rPr lang="en-US" sz="1850">
                <a:ea typeface="Source Sans Pro"/>
              </a:rPr>
              <a:t>Presented by: Tony Casagrande and Tate Manley</a:t>
            </a:r>
            <a:endParaRPr lang="en-US" sz="1850">
              <a:ea typeface="Source Sans Pro"/>
              <a:cs typeface="Calibri"/>
            </a:endParaRPr>
          </a:p>
        </p:txBody>
      </p:sp>
    </p:spTree>
    <p:extLst>
      <p:ext uri="{BB962C8B-B14F-4D97-AF65-F5344CB8AC3E}">
        <p14:creationId xmlns:p14="http://schemas.microsoft.com/office/powerpoint/2010/main" val="1848685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A0C9B7-59BB-153D-F8E6-B760C8182435}"/>
              </a:ext>
            </a:extLst>
          </p:cNvPr>
          <p:cNvSpPr>
            <a:spLocks noGrp="1"/>
          </p:cNvSpPr>
          <p:nvPr>
            <p:ph type="body" sz="quarter" idx="13"/>
          </p:nvPr>
        </p:nvSpPr>
        <p:spPr>
          <a:xfrm>
            <a:off x="1670713" y="1741841"/>
            <a:ext cx="8851900" cy="329032"/>
          </a:xfrm>
        </p:spPr>
        <p:txBody>
          <a:bodyPr/>
          <a:lstStyle/>
          <a:p>
            <a:r>
              <a:rPr lang="en-US"/>
              <a:t>1. Head Rise &gt;= 400</a:t>
            </a:r>
          </a:p>
        </p:txBody>
      </p:sp>
      <p:sp>
        <p:nvSpPr>
          <p:cNvPr id="3" name="Text Placeholder 2">
            <a:extLst>
              <a:ext uri="{FF2B5EF4-FFF2-40B4-BE49-F238E27FC236}">
                <a16:creationId xmlns:a16="http://schemas.microsoft.com/office/drawing/2014/main" id="{1F574ECE-F03B-6336-4AFE-574CA21D1274}"/>
              </a:ext>
            </a:extLst>
          </p:cNvPr>
          <p:cNvSpPr>
            <a:spLocks noGrp="1"/>
          </p:cNvSpPr>
          <p:nvPr>
            <p:ph type="body" sz="quarter" idx="14"/>
          </p:nvPr>
        </p:nvSpPr>
        <p:spPr>
          <a:xfrm>
            <a:off x="1670713" y="2827088"/>
            <a:ext cx="8852563" cy="329032"/>
          </a:xfrm>
        </p:spPr>
        <p:txBody>
          <a:bodyPr vert="horz" lIns="91440" tIns="45720" rIns="91440" bIns="45720" rtlCol="0" anchor="t">
            <a:noAutofit/>
          </a:bodyPr>
          <a:lstStyle/>
          <a:p>
            <a:r>
              <a:rPr lang="en-US">
                <a:latin typeface="Utopia Std Subhead"/>
                <a:ea typeface="Source Sans Pro"/>
              </a:rPr>
              <a:t>2. 0.26 kg/s Mass flowrate</a:t>
            </a:r>
          </a:p>
        </p:txBody>
      </p:sp>
      <p:sp>
        <p:nvSpPr>
          <p:cNvPr id="4" name="Text Placeholder 3">
            <a:extLst>
              <a:ext uri="{FF2B5EF4-FFF2-40B4-BE49-F238E27FC236}">
                <a16:creationId xmlns:a16="http://schemas.microsoft.com/office/drawing/2014/main" id="{F09E3646-9C8F-C5CF-9746-86CA1D55E709}"/>
              </a:ext>
            </a:extLst>
          </p:cNvPr>
          <p:cNvSpPr>
            <a:spLocks noGrp="1"/>
          </p:cNvSpPr>
          <p:nvPr>
            <p:ph type="body" sz="quarter" idx="15"/>
          </p:nvPr>
        </p:nvSpPr>
        <p:spPr>
          <a:xfrm>
            <a:off x="1670713" y="3912335"/>
            <a:ext cx="8852563" cy="329032"/>
          </a:xfrm>
        </p:spPr>
        <p:txBody>
          <a:bodyPr/>
          <a:lstStyle/>
          <a:p>
            <a:r>
              <a:rPr lang="en-US"/>
              <a:t>3. </a:t>
            </a:r>
            <a:r>
              <a:rPr lang="en-US" err="1"/>
              <a:t>P</a:t>
            </a:r>
            <a:r>
              <a:rPr lang="en-US" baseline="-25000" err="1"/>
              <a:t>Req</a:t>
            </a:r>
            <a:r>
              <a:rPr lang="en-US" baseline="-25000"/>
              <a:t> </a:t>
            </a:r>
            <a:r>
              <a:rPr lang="en-US"/>
              <a:t>&lt;= 10000 Watts</a:t>
            </a:r>
          </a:p>
        </p:txBody>
      </p:sp>
      <p:sp>
        <p:nvSpPr>
          <p:cNvPr id="5" name="Text Placeholder 4">
            <a:extLst>
              <a:ext uri="{FF2B5EF4-FFF2-40B4-BE49-F238E27FC236}">
                <a16:creationId xmlns:a16="http://schemas.microsoft.com/office/drawing/2014/main" id="{9DB03446-E665-020F-F1DF-2BA0DCE309F5}"/>
              </a:ext>
            </a:extLst>
          </p:cNvPr>
          <p:cNvSpPr>
            <a:spLocks noGrp="1"/>
          </p:cNvSpPr>
          <p:nvPr>
            <p:ph type="body" sz="quarter" idx="16"/>
          </p:nvPr>
        </p:nvSpPr>
        <p:spPr>
          <a:xfrm>
            <a:off x="1670713" y="2061117"/>
            <a:ext cx="8851900" cy="677576"/>
          </a:xfrm>
        </p:spPr>
        <p:txBody>
          <a:bodyPr/>
          <a:lstStyle/>
          <a:p>
            <a:r>
              <a:rPr lang="en-US"/>
              <a:t>Derived from main requirements -&gt; needed for proper engine pressure = 350 psi</a:t>
            </a:r>
          </a:p>
        </p:txBody>
      </p:sp>
      <p:sp>
        <p:nvSpPr>
          <p:cNvPr id="6" name="Text Placeholder 5">
            <a:extLst>
              <a:ext uri="{FF2B5EF4-FFF2-40B4-BE49-F238E27FC236}">
                <a16:creationId xmlns:a16="http://schemas.microsoft.com/office/drawing/2014/main" id="{A2B86EB5-CDFB-9522-24E4-BF7DE4DBD3C1}"/>
              </a:ext>
            </a:extLst>
          </p:cNvPr>
          <p:cNvSpPr>
            <a:spLocks noGrp="1"/>
          </p:cNvSpPr>
          <p:nvPr>
            <p:ph type="body" sz="quarter" idx="17"/>
          </p:nvPr>
        </p:nvSpPr>
        <p:spPr>
          <a:xfrm>
            <a:off x="1670714" y="3146364"/>
            <a:ext cx="8851900" cy="677576"/>
          </a:xfrm>
        </p:spPr>
        <p:txBody>
          <a:bodyPr/>
          <a:lstStyle/>
          <a:p>
            <a:r>
              <a:rPr lang="en-US"/>
              <a:t>Derived from main requirements for engine -&gt; supports 400 </a:t>
            </a:r>
            <a:r>
              <a:rPr lang="en-US" err="1"/>
              <a:t>lbf</a:t>
            </a:r>
            <a:endParaRPr lang="en-US"/>
          </a:p>
        </p:txBody>
      </p:sp>
      <p:sp>
        <p:nvSpPr>
          <p:cNvPr id="7" name="Text Placeholder 6">
            <a:extLst>
              <a:ext uri="{FF2B5EF4-FFF2-40B4-BE49-F238E27FC236}">
                <a16:creationId xmlns:a16="http://schemas.microsoft.com/office/drawing/2014/main" id="{1EBBF0D4-FD1F-7C1F-DB6E-FCB46FE7BFBC}"/>
              </a:ext>
            </a:extLst>
          </p:cNvPr>
          <p:cNvSpPr>
            <a:spLocks noGrp="1"/>
          </p:cNvSpPr>
          <p:nvPr>
            <p:ph type="body" sz="quarter" idx="18"/>
          </p:nvPr>
        </p:nvSpPr>
        <p:spPr>
          <a:xfrm>
            <a:off x="1670713" y="4241367"/>
            <a:ext cx="8851900" cy="677576"/>
          </a:xfrm>
        </p:spPr>
        <p:txBody>
          <a:bodyPr/>
          <a:lstStyle/>
          <a:p>
            <a:r>
              <a:rPr lang="en-US"/>
              <a:t>Derived from capabilities of batteries and choosing a realistic amperage / voltage from past pumps (~50V @ 200 amps)</a:t>
            </a:r>
          </a:p>
        </p:txBody>
      </p:sp>
      <p:sp>
        <p:nvSpPr>
          <p:cNvPr id="8" name="Title 7">
            <a:extLst>
              <a:ext uri="{FF2B5EF4-FFF2-40B4-BE49-F238E27FC236}">
                <a16:creationId xmlns:a16="http://schemas.microsoft.com/office/drawing/2014/main" id="{1C56F674-7BEB-F3DC-5834-CB3BE0037AC4}"/>
              </a:ext>
            </a:extLst>
          </p:cNvPr>
          <p:cNvSpPr>
            <a:spLocks noGrp="1"/>
          </p:cNvSpPr>
          <p:nvPr>
            <p:ph type="title"/>
          </p:nvPr>
        </p:nvSpPr>
        <p:spPr/>
        <p:txBody>
          <a:bodyPr/>
          <a:lstStyle/>
          <a:p>
            <a:r>
              <a:rPr lang="en-US"/>
              <a:t>Pump Requirements</a:t>
            </a:r>
          </a:p>
        </p:txBody>
      </p:sp>
      <p:sp>
        <p:nvSpPr>
          <p:cNvPr id="9" name="Text Placeholder 8">
            <a:extLst>
              <a:ext uri="{FF2B5EF4-FFF2-40B4-BE49-F238E27FC236}">
                <a16:creationId xmlns:a16="http://schemas.microsoft.com/office/drawing/2014/main" id="{D3156827-D6F7-BCE2-02F9-BD9AA27A945D}"/>
              </a:ext>
            </a:extLst>
          </p:cNvPr>
          <p:cNvSpPr>
            <a:spLocks noGrp="1"/>
          </p:cNvSpPr>
          <p:nvPr>
            <p:ph type="body" sz="quarter" idx="21"/>
          </p:nvPr>
        </p:nvSpPr>
        <p:spPr/>
        <p:txBody>
          <a:bodyPr/>
          <a:lstStyle/>
          <a:p>
            <a:r>
              <a:rPr lang="en-US"/>
              <a:t>Design Criteria</a:t>
            </a:r>
          </a:p>
        </p:txBody>
      </p:sp>
      <p:sp>
        <p:nvSpPr>
          <p:cNvPr id="10" name="Text Placeholder 3">
            <a:extLst>
              <a:ext uri="{FF2B5EF4-FFF2-40B4-BE49-F238E27FC236}">
                <a16:creationId xmlns:a16="http://schemas.microsoft.com/office/drawing/2014/main" id="{B3550F05-4671-67BF-E4FE-3C076D5C8132}"/>
              </a:ext>
            </a:extLst>
          </p:cNvPr>
          <p:cNvSpPr txBox="1">
            <a:spLocks/>
          </p:cNvSpPr>
          <p:nvPr/>
        </p:nvSpPr>
        <p:spPr>
          <a:xfrm>
            <a:off x="1670050" y="4997582"/>
            <a:ext cx="8852563" cy="329032"/>
          </a:xfrm>
          <a:prstGeom prst="rect">
            <a:avLst/>
          </a:prstGeom>
          <a:solidFill>
            <a:schemeClr val="tx1"/>
          </a:solidFill>
          <a:effectLst>
            <a:outerShdw blurRad="50800" dist="38100" dir="2700000" algn="tl" rotWithShape="0">
              <a:prstClr val="black">
                <a:alpha val="40000"/>
              </a:prstClr>
            </a:outerShdw>
          </a:effectLst>
        </p:spPr>
        <p:txBody>
          <a:bodyPr vert="horz" lIns="91440" tIns="45720" rIns="91440" bIns="45720" rtlCol="0">
            <a:noAutofit/>
          </a:bodyPr>
          <a:lstStyle>
            <a:lvl1pPr marL="0" indent="0" algn="l" defTabSz="914377" rtl="0" eaLnBrk="1" latinLnBrk="0" hangingPunct="1">
              <a:lnSpc>
                <a:spcPts val="1893"/>
              </a:lnSpc>
              <a:spcBef>
                <a:spcPts val="1000"/>
              </a:spcBef>
              <a:buSzPct val="75000"/>
              <a:buFont typeface="Arial" panose="020B0604020202020204" pitchFamily="34" charset="0"/>
              <a:buNone/>
              <a:defRPr sz="1600" b="1" i="0" kern="800" cap="none" spc="200" baseline="0">
                <a:solidFill>
                  <a:schemeClr val="bg1"/>
                </a:solidFill>
                <a:latin typeface="Utopia Std Subhead" panose="02040603060506020204" pitchFamily="18" charset="77"/>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4. N = 30000 RPM</a:t>
            </a:r>
          </a:p>
        </p:txBody>
      </p:sp>
      <p:sp>
        <p:nvSpPr>
          <p:cNvPr id="11" name="Text Placeholder 6">
            <a:extLst>
              <a:ext uri="{FF2B5EF4-FFF2-40B4-BE49-F238E27FC236}">
                <a16:creationId xmlns:a16="http://schemas.microsoft.com/office/drawing/2014/main" id="{8486D384-80AD-A1CA-C65B-550A13601D8D}"/>
              </a:ext>
            </a:extLst>
          </p:cNvPr>
          <p:cNvSpPr txBox="1">
            <a:spLocks/>
          </p:cNvSpPr>
          <p:nvPr/>
        </p:nvSpPr>
        <p:spPr>
          <a:xfrm>
            <a:off x="1670050" y="5326614"/>
            <a:ext cx="8851900" cy="677576"/>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oAutofit/>
          </a:bodyPr>
          <a:lstStyle>
            <a:lvl1pPr marL="0" indent="0" algn="l" defTabSz="914377" rtl="0" eaLnBrk="1" latinLnBrk="0" hangingPunct="1">
              <a:lnSpc>
                <a:spcPct val="100000"/>
              </a:lnSpc>
              <a:spcBef>
                <a:spcPts val="1000"/>
              </a:spcBef>
              <a:spcAft>
                <a:spcPts val="400"/>
              </a:spcAft>
              <a:buSzPct val="75000"/>
              <a:buFont typeface="Arial" panose="020B0604020202020204" pitchFamily="34" charset="0"/>
              <a:buNone/>
              <a:defRPr sz="1600"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Based on capabilities of current motor, soft requirement as different motor can be selected </a:t>
            </a:r>
          </a:p>
        </p:txBody>
      </p:sp>
    </p:spTree>
    <p:extLst>
      <p:ext uri="{BB962C8B-B14F-4D97-AF65-F5344CB8AC3E}">
        <p14:creationId xmlns:p14="http://schemas.microsoft.com/office/powerpoint/2010/main" val="1328190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E474DCC-8B55-93D5-3E60-72E3B9CE7679}"/>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937C33A3-2BEE-9910-59C1-ECD97AA6584E}"/>
              </a:ext>
            </a:extLst>
          </p:cNvPr>
          <p:cNvSpPr>
            <a:spLocks noGrp="1"/>
          </p:cNvSpPr>
          <p:nvPr>
            <p:ph type="sldNum" sz="quarter" idx="17"/>
          </p:nvPr>
        </p:nvSpPr>
        <p:spPr/>
        <p:txBody>
          <a:bodyPr/>
          <a:lstStyle/>
          <a:p>
            <a:r>
              <a:rPr lang="en-US"/>
              <a:t>/   </a:t>
            </a:r>
            <a:fld id="{6C7E6F33-74EE-5541-8108-8353B402F8C1}" type="slidenum">
              <a:rPr lang="en-US" smtClean="0"/>
              <a:pPr/>
              <a:t>15</a:t>
            </a:fld>
            <a:endParaRPr lang="en-US"/>
          </a:p>
        </p:txBody>
      </p:sp>
      <p:sp>
        <p:nvSpPr>
          <p:cNvPr id="5" name="Title 4">
            <a:extLst>
              <a:ext uri="{FF2B5EF4-FFF2-40B4-BE49-F238E27FC236}">
                <a16:creationId xmlns:a16="http://schemas.microsoft.com/office/drawing/2014/main" id="{8C392ED1-5B10-4BF7-3EEA-8F785DD3A719}"/>
              </a:ext>
            </a:extLst>
          </p:cNvPr>
          <p:cNvSpPr>
            <a:spLocks noGrp="1"/>
          </p:cNvSpPr>
          <p:nvPr>
            <p:ph type="title"/>
          </p:nvPr>
        </p:nvSpPr>
        <p:spPr/>
        <p:txBody>
          <a:bodyPr/>
          <a:lstStyle/>
          <a:p>
            <a:r>
              <a:rPr lang="en-US"/>
              <a:t>Pump Design</a:t>
            </a:r>
          </a:p>
        </p:txBody>
      </p:sp>
      <p:sp>
        <p:nvSpPr>
          <p:cNvPr id="6" name="Text Placeholder 5">
            <a:extLst>
              <a:ext uri="{FF2B5EF4-FFF2-40B4-BE49-F238E27FC236}">
                <a16:creationId xmlns:a16="http://schemas.microsoft.com/office/drawing/2014/main" id="{635AAB0D-AD82-491C-1374-60C45FEDB438}"/>
              </a:ext>
            </a:extLst>
          </p:cNvPr>
          <p:cNvSpPr>
            <a:spLocks noGrp="1"/>
          </p:cNvSpPr>
          <p:nvPr>
            <p:ph type="body" sz="quarter" idx="13"/>
          </p:nvPr>
        </p:nvSpPr>
        <p:spPr/>
        <p:txBody>
          <a:bodyPr/>
          <a:lstStyle/>
          <a:p>
            <a:r>
              <a:rPr lang="en-US"/>
              <a:t>Overall Design Parameters / Considerations</a:t>
            </a:r>
          </a:p>
        </p:txBody>
      </p:sp>
      <p:graphicFrame>
        <p:nvGraphicFramePr>
          <p:cNvPr id="8" name="Table 7">
            <a:extLst>
              <a:ext uri="{FF2B5EF4-FFF2-40B4-BE49-F238E27FC236}">
                <a16:creationId xmlns:a16="http://schemas.microsoft.com/office/drawing/2014/main" id="{972C73F2-89CF-C19E-8548-A16C75ABC18B}"/>
              </a:ext>
            </a:extLst>
          </p:cNvPr>
          <p:cNvGraphicFramePr>
            <a:graphicFrameLocks noGrp="1"/>
          </p:cNvGraphicFramePr>
          <p:nvPr>
            <p:extLst>
              <p:ext uri="{D42A27DB-BD31-4B8C-83A1-F6EECF244321}">
                <p14:modId xmlns:p14="http://schemas.microsoft.com/office/powerpoint/2010/main" val="3424817696"/>
              </p:ext>
            </p:extLst>
          </p:nvPr>
        </p:nvGraphicFramePr>
        <p:xfrm>
          <a:off x="8428325" y="1969476"/>
          <a:ext cx="3495730" cy="2991508"/>
        </p:xfrm>
        <a:graphic>
          <a:graphicData uri="http://schemas.openxmlformats.org/drawingml/2006/table">
            <a:tbl>
              <a:tblPr firstRow="1" bandRow="1">
                <a:tableStyleId>{073A0DAA-6AF3-43AB-8588-CEC1D06C72B9}</a:tableStyleId>
              </a:tblPr>
              <a:tblGrid>
                <a:gridCol w="2014072">
                  <a:extLst>
                    <a:ext uri="{9D8B030D-6E8A-4147-A177-3AD203B41FA5}">
                      <a16:colId xmlns:a16="http://schemas.microsoft.com/office/drawing/2014/main" val="4241198040"/>
                    </a:ext>
                  </a:extLst>
                </a:gridCol>
                <a:gridCol w="1481658">
                  <a:extLst>
                    <a:ext uri="{9D8B030D-6E8A-4147-A177-3AD203B41FA5}">
                      <a16:colId xmlns:a16="http://schemas.microsoft.com/office/drawing/2014/main" val="2995624153"/>
                    </a:ext>
                  </a:extLst>
                </a:gridCol>
              </a:tblGrid>
              <a:tr h="489918">
                <a:tc>
                  <a:txBody>
                    <a:bodyPr/>
                    <a:lstStyle/>
                    <a:p>
                      <a:pPr algn="ctr"/>
                      <a:r>
                        <a:rPr lang="en-US"/>
                        <a:t>Parameters</a:t>
                      </a:r>
                    </a:p>
                  </a:txBody>
                  <a:tcPr anchor="ctr"/>
                </a:tc>
                <a:tc>
                  <a:txBody>
                    <a:bodyPr/>
                    <a:lstStyle/>
                    <a:p>
                      <a:pPr algn="ctr"/>
                      <a:r>
                        <a:rPr lang="en-US"/>
                        <a:t>Value</a:t>
                      </a:r>
                    </a:p>
                  </a:txBody>
                  <a:tcPr anchor="ctr"/>
                </a:tc>
                <a:extLst>
                  <a:ext uri="{0D108BD9-81ED-4DB2-BD59-A6C34878D82A}">
                    <a16:rowId xmlns:a16="http://schemas.microsoft.com/office/drawing/2014/main" val="2988235042"/>
                  </a:ext>
                </a:extLst>
              </a:tr>
              <a:tr h="500318">
                <a:tc>
                  <a:txBody>
                    <a:bodyPr/>
                    <a:lstStyle/>
                    <a:p>
                      <a:pPr algn="ctr"/>
                      <a:r>
                        <a:rPr lang="en-US"/>
                        <a:t>Fuel Mass Flow</a:t>
                      </a:r>
                    </a:p>
                  </a:txBody>
                  <a:tcPr anchor="ctr"/>
                </a:tc>
                <a:tc>
                  <a:txBody>
                    <a:bodyPr/>
                    <a:lstStyle/>
                    <a:p>
                      <a:pPr lvl="0" algn="ctr">
                        <a:buNone/>
                      </a:pPr>
                      <a:r>
                        <a:rPr lang="en-US"/>
                        <a:t>0.26 [kg/s]*</a:t>
                      </a:r>
                    </a:p>
                  </a:txBody>
                  <a:tcPr marL="7620" marR="7620" marT="7620" marB="0" anchor="ctr"/>
                </a:tc>
                <a:extLst>
                  <a:ext uri="{0D108BD9-81ED-4DB2-BD59-A6C34878D82A}">
                    <a16:rowId xmlns:a16="http://schemas.microsoft.com/office/drawing/2014/main" val="3637585756"/>
                  </a:ext>
                </a:extLst>
              </a:tr>
              <a:tr h="500318">
                <a:tc>
                  <a:txBody>
                    <a:bodyPr/>
                    <a:lstStyle/>
                    <a:p>
                      <a:pPr algn="ctr"/>
                      <a:r>
                        <a:rPr lang="en-US"/>
                        <a:t>Head Rise</a:t>
                      </a:r>
                    </a:p>
                  </a:txBody>
                  <a:tcPr anchor="ctr"/>
                </a:tc>
                <a:tc>
                  <a:txBody>
                    <a:bodyPr/>
                    <a:lstStyle/>
                    <a:p>
                      <a:pPr lvl="0" algn="ctr">
                        <a:buNone/>
                      </a:pPr>
                      <a:r>
                        <a:rPr lang="en-US"/>
                        <a:t>500 [psi]</a:t>
                      </a:r>
                    </a:p>
                  </a:txBody>
                  <a:tcPr marL="7620" marR="7620" marT="7620" marB="0" anchor="ctr"/>
                </a:tc>
                <a:extLst>
                  <a:ext uri="{0D108BD9-81ED-4DB2-BD59-A6C34878D82A}">
                    <a16:rowId xmlns:a16="http://schemas.microsoft.com/office/drawing/2014/main" val="18374682"/>
                  </a:ext>
                </a:extLst>
              </a:tr>
              <a:tr h="500318">
                <a:tc>
                  <a:txBody>
                    <a:bodyPr/>
                    <a:lstStyle/>
                    <a:p>
                      <a:pPr lvl="0" algn="ctr">
                        <a:buNone/>
                      </a:pPr>
                      <a:r>
                        <a:rPr lang="en-US"/>
                        <a:t>RPM</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54734"/>
                          </a:solidFill>
                          <a:effectLst/>
                          <a:uLnTx/>
                          <a:uFillTx/>
                          <a:latin typeface="Calibri" panose="020F0502020204030204"/>
                          <a:ea typeface="+mn-ea"/>
                          <a:cs typeface="+mn-cs"/>
                        </a:rPr>
                        <a:t>30000</a:t>
                      </a:r>
                    </a:p>
                  </a:txBody>
                  <a:tcPr marL="7620" marR="7620" marT="7620" marB="0" anchor="ctr"/>
                </a:tc>
                <a:extLst>
                  <a:ext uri="{0D108BD9-81ED-4DB2-BD59-A6C34878D82A}">
                    <a16:rowId xmlns:a16="http://schemas.microsoft.com/office/drawing/2014/main" val="2193156192"/>
                  </a:ext>
                </a:extLst>
              </a:tr>
              <a:tr h="500318">
                <a:tc>
                  <a:txBody>
                    <a:bodyPr/>
                    <a:lstStyle/>
                    <a:p>
                      <a:pPr lvl="0" algn="ctr">
                        <a:buNone/>
                      </a:pPr>
                      <a:r>
                        <a:rPr lang="en-US"/>
                        <a:t>Specific Speed (Ns)</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54734"/>
                          </a:solidFill>
                          <a:effectLst/>
                          <a:uLnTx/>
                          <a:uFillTx/>
                          <a:latin typeface="Calibri" panose="020F0502020204030204"/>
                          <a:ea typeface="+mn-ea"/>
                          <a:cs typeface="+mn-cs"/>
                        </a:rPr>
                        <a:t>350</a:t>
                      </a:r>
                    </a:p>
                  </a:txBody>
                  <a:tcPr marL="7620" marR="7620" marT="7620" marB="0" anchor="ctr"/>
                </a:tc>
                <a:extLst>
                  <a:ext uri="{0D108BD9-81ED-4DB2-BD59-A6C34878D82A}">
                    <a16:rowId xmlns:a16="http://schemas.microsoft.com/office/drawing/2014/main" val="331990086"/>
                  </a:ext>
                </a:extLst>
              </a:tr>
              <a:tr h="500318">
                <a:tc>
                  <a:txBody>
                    <a:bodyPr/>
                    <a:lstStyle/>
                    <a:p>
                      <a:pPr lvl="0" algn="ctr">
                        <a:buNone/>
                      </a:pPr>
                      <a:r>
                        <a:rPr lang="en-US"/>
                        <a:t>NPSHR</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54734"/>
                          </a:solidFill>
                          <a:effectLst/>
                          <a:uLnTx/>
                          <a:uFillTx/>
                          <a:latin typeface="Calibri" panose="020F0502020204030204"/>
                          <a:ea typeface="+mn-ea"/>
                          <a:cs typeface="+mn-cs"/>
                        </a:rPr>
                        <a:t>10 [psig]</a:t>
                      </a:r>
                    </a:p>
                  </a:txBody>
                  <a:tcPr marL="7620" marR="7620" marT="7620" marB="0" anchor="ctr"/>
                </a:tc>
                <a:extLst>
                  <a:ext uri="{0D108BD9-81ED-4DB2-BD59-A6C34878D82A}">
                    <a16:rowId xmlns:a16="http://schemas.microsoft.com/office/drawing/2014/main" val="2737313250"/>
                  </a:ext>
                </a:extLst>
              </a:tr>
            </a:tbl>
          </a:graphicData>
        </a:graphic>
      </p:graphicFrame>
      <p:grpSp>
        <p:nvGrpSpPr>
          <p:cNvPr id="16" name="Group 15">
            <a:extLst>
              <a:ext uri="{FF2B5EF4-FFF2-40B4-BE49-F238E27FC236}">
                <a16:creationId xmlns:a16="http://schemas.microsoft.com/office/drawing/2014/main" id="{EABB7569-32A9-B6C6-049D-5FE990702793}"/>
              </a:ext>
            </a:extLst>
          </p:cNvPr>
          <p:cNvGrpSpPr/>
          <p:nvPr/>
        </p:nvGrpSpPr>
        <p:grpSpPr>
          <a:xfrm>
            <a:off x="565514" y="4277800"/>
            <a:ext cx="4149508" cy="1618200"/>
            <a:chOff x="718956" y="3920708"/>
            <a:chExt cx="5693476" cy="2220308"/>
          </a:xfrm>
        </p:grpSpPr>
        <p:pic>
          <p:nvPicPr>
            <p:cNvPr id="1030" name="Picture 6" descr="Development of Ultra-Low Specific Speed Centrifugal Pumps Design Method for  Small Liquid Rocket Engines">
              <a:extLst>
                <a:ext uri="{FF2B5EF4-FFF2-40B4-BE49-F238E27FC236}">
                  <a16:creationId xmlns:a16="http://schemas.microsoft.com/office/drawing/2014/main" id="{EBA1E507-8FE0-8BA7-5D13-40E2EC0615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956" y="3920708"/>
              <a:ext cx="5693476" cy="2220308"/>
            </a:xfrm>
            <a:prstGeom prst="rect">
              <a:avLst/>
            </a:prstGeom>
            <a:noFill/>
            <a:extLst>
              <a:ext uri="{909E8E84-426E-40DD-AFC4-6F175D3DCCD1}">
                <a14:hiddenFill xmlns:a14="http://schemas.microsoft.com/office/drawing/2010/main">
                  <a:solidFill>
                    <a:srgbClr val="FFFFFF"/>
                  </a:solidFill>
                </a14:hiddenFill>
              </a:ext>
            </a:extLst>
          </p:spPr>
        </p:pic>
        <p:sp>
          <p:nvSpPr>
            <p:cNvPr id="15" name="Circle: Hollow 14">
              <a:extLst>
                <a:ext uri="{FF2B5EF4-FFF2-40B4-BE49-F238E27FC236}">
                  <a16:creationId xmlns:a16="http://schemas.microsoft.com/office/drawing/2014/main" id="{C4E5206B-D2B6-AAED-B65D-63BDFF58AB1A}"/>
                </a:ext>
              </a:extLst>
            </p:cNvPr>
            <p:cNvSpPr/>
            <p:nvPr/>
          </p:nvSpPr>
          <p:spPr>
            <a:xfrm>
              <a:off x="2644577" y="4019781"/>
              <a:ext cx="1629711" cy="2052165"/>
            </a:xfrm>
            <a:prstGeom prst="donut">
              <a:avLst>
                <a:gd name="adj" fmla="val 6967"/>
              </a:avLst>
            </a:prstGeom>
            <a:solidFill>
              <a:srgbClr val="FF0000">
                <a:alpha val="50000"/>
              </a:srgbClr>
            </a:solidFill>
            <a:ln>
              <a:solidFill>
                <a:srgbClr val="FF0000">
                  <a:alpha val="5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25" name="TextBox 24">
            <a:extLst>
              <a:ext uri="{FF2B5EF4-FFF2-40B4-BE49-F238E27FC236}">
                <a16:creationId xmlns:a16="http://schemas.microsoft.com/office/drawing/2014/main" id="{FCA1C770-C301-09C8-54AB-CD23A19EBBF2}"/>
              </a:ext>
            </a:extLst>
          </p:cNvPr>
          <p:cNvSpPr txBox="1"/>
          <p:nvPr/>
        </p:nvSpPr>
        <p:spPr>
          <a:xfrm>
            <a:off x="467187" y="1969476"/>
            <a:ext cx="7961138" cy="230832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Low Specific Speed + High Head Rise </a:t>
            </a:r>
            <a:r>
              <a:rPr lang="en-US">
                <a:sym typeface="Wingdings" panose="05000000000000000000" pitchFamily="2" charset="2"/>
              </a:rPr>
              <a:t> </a:t>
            </a:r>
            <a:r>
              <a:rPr lang="en-US" b="1">
                <a:sym typeface="Wingdings" panose="05000000000000000000" pitchFamily="2" charset="2"/>
              </a:rPr>
              <a:t>Centrifugal Pump with Barske Impeller</a:t>
            </a:r>
          </a:p>
          <a:p>
            <a:pPr marL="742950" lvl="1" indent="-285750">
              <a:buFont typeface="Arial" panose="020B0604020202020204" pitchFamily="34" charset="0"/>
              <a:buChar char="•"/>
            </a:pPr>
            <a:endParaRPr lang="en-US">
              <a:sym typeface="Wingdings" panose="05000000000000000000" pitchFamily="2" charset="2"/>
            </a:endParaRPr>
          </a:p>
          <a:p>
            <a:pPr marL="285750" indent="-285750">
              <a:buFont typeface="Arial" panose="020B0604020202020204" pitchFamily="34" charset="0"/>
              <a:buChar char="•"/>
            </a:pPr>
            <a:r>
              <a:rPr lang="en-US" b="1"/>
              <a:t>Single Stage: </a:t>
            </a:r>
            <a:r>
              <a:rPr lang="en-US"/>
              <a:t>Simplicity/Cost</a:t>
            </a:r>
            <a:endParaRPr lang="en-US">
              <a:ea typeface="Calibri"/>
              <a:cs typeface="Calibri"/>
            </a:endParaRP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t>No Inducer: </a:t>
            </a:r>
            <a:r>
              <a:rPr lang="en-US"/>
              <a:t>Small Net Specific Suction Head Require (NPSHR) for impeller</a:t>
            </a:r>
            <a:endParaRPr lang="en-US">
              <a:ea typeface="Calibri"/>
              <a:cs typeface="Calibri"/>
            </a:endParaRP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t>Bearings + Sealing: </a:t>
            </a:r>
            <a:r>
              <a:rPr lang="en-US"/>
              <a:t>High speed ball bearings + compressed graphite/PTFE packing rope + Springs and Seal-Plunger</a:t>
            </a:r>
          </a:p>
        </p:txBody>
      </p:sp>
      <p:pic>
        <p:nvPicPr>
          <p:cNvPr id="27" name="Picture 26">
            <a:extLst>
              <a:ext uri="{FF2B5EF4-FFF2-40B4-BE49-F238E27FC236}">
                <a16:creationId xmlns:a16="http://schemas.microsoft.com/office/drawing/2014/main" id="{AC6EBB56-C846-72A8-7E15-53B9D38BCAEB}"/>
              </a:ext>
            </a:extLst>
          </p:cNvPr>
          <p:cNvPicPr>
            <a:picLocks noChangeAspect="1"/>
          </p:cNvPicPr>
          <p:nvPr/>
        </p:nvPicPr>
        <p:blipFill>
          <a:blip r:embed="rId4"/>
          <a:stretch>
            <a:fillRect/>
          </a:stretch>
        </p:blipFill>
        <p:spPr>
          <a:xfrm>
            <a:off x="4813349" y="4150619"/>
            <a:ext cx="3384533" cy="1909937"/>
          </a:xfrm>
          <a:prstGeom prst="rect">
            <a:avLst/>
          </a:prstGeom>
        </p:spPr>
      </p:pic>
      <p:sp>
        <p:nvSpPr>
          <p:cNvPr id="2" name="Text Placeholder 5">
            <a:extLst>
              <a:ext uri="{FF2B5EF4-FFF2-40B4-BE49-F238E27FC236}">
                <a16:creationId xmlns:a16="http://schemas.microsoft.com/office/drawing/2014/main" id="{9C8F30E5-D2C2-8766-F3B7-C3206E5D53E9}"/>
              </a:ext>
            </a:extLst>
          </p:cNvPr>
          <p:cNvSpPr txBox="1">
            <a:spLocks/>
          </p:cNvSpPr>
          <p:nvPr/>
        </p:nvSpPr>
        <p:spPr>
          <a:xfrm>
            <a:off x="10535384" y="1605719"/>
            <a:ext cx="1687630" cy="249358"/>
          </a:xfrm>
          <a:prstGeom prst="rect">
            <a:avLst/>
          </a:prstGeom>
          <a:noFill/>
          <a:effectLst>
            <a:outerShdw blurRad="50800" dist="38100" dir="2700000" algn="tl" rotWithShape="0">
              <a:prstClr val="black">
                <a:alpha val="40000"/>
              </a:prstClr>
            </a:outerShdw>
          </a:effectLst>
        </p:spPr>
        <p:txBody>
          <a:bodyPr vert="horz" lIns="91440" tIns="45720" rIns="91440" bIns="45720" rtlCol="0" anchor="ctr">
            <a:noAutofit/>
          </a:bodyPr>
          <a:lstStyle>
            <a:lvl1pPr marL="0" indent="0" algn="l" defTabSz="914377" rtl="0" eaLnBrk="1" latinLnBrk="0" hangingPunct="1">
              <a:lnSpc>
                <a:spcPct val="100000"/>
              </a:lnSpc>
              <a:spcBef>
                <a:spcPts val="1000"/>
              </a:spcBef>
              <a:buSzPct val="75000"/>
              <a:buFont typeface="Arial" panose="020B0604020202020204" pitchFamily="34" charset="0"/>
              <a:buNone/>
              <a:defRPr sz="1867" b="0" i="0" kern="800" cap="none" spc="67"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*5.21 [GPM]</a:t>
            </a:r>
          </a:p>
        </p:txBody>
      </p:sp>
      <p:sp>
        <p:nvSpPr>
          <p:cNvPr id="7" name="Text Placeholder 1">
            <a:extLst>
              <a:ext uri="{FF2B5EF4-FFF2-40B4-BE49-F238E27FC236}">
                <a16:creationId xmlns:a16="http://schemas.microsoft.com/office/drawing/2014/main" id="{7772E870-CB56-6EAC-BD91-3A54324CE043}"/>
              </a:ext>
            </a:extLst>
          </p:cNvPr>
          <p:cNvSpPr txBox="1">
            <a:spLocks/>
          </p:cNvSpPr>
          <p:nvPr/>
        </p:nvSpPr>
        <p:spPr>
          <a:xfrm>
            <a:off x="1418036" y="5886790"/>
            <a:ext cx="2289572" cy="347531"/>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lgn="ctr">
              <a:buNone/>
            </a:pPr>
            <a:r>
              <a:rPr lang="en-US" sz="1400" b="1">
                <a:ea typeface="Source Sans Pro"/>
              </a:rPr>
              <a:t>Fig 1.1 </a:t>
            </a:r>
            <a:r>
              <a:rPr lang="en-US" sz="1400">
                <a:ea typeface="Source Sans Pro"/>
              </a:rPr>
              <a:t>Pump Types</a:t>
            </a:r>
          </a:p>
        </p:txBody>
      </p:sp>
      <p:sp>
        <p:nvSpPr>
          <p:cNvPr id="9" name="Text Placeholder 1">
            <a:extLst>
              <a:ext uri="{FF2B5EF4-FFF2-40B4-BE49-F238E27FC236}">
                <a16:creationId xmlns:a16="http://schemas.microsoft.com/office/drawing/2014/main" id="{568FDF82-5B1F-C647-81D5-02DB100A72C6}"/>
              </a:ext>
            </a:extLst>
          </p:cNvPr>
          <p:cNvSpPr txBox="1">
            <a:spLocks/>
          </p:cNvSpPr>
          <p:nvPr/>
        </p:nvSpPr>
        <p:spPr>
          <a:xfrm>
            <a:off x="5202295" y="5967250"/>
            <a:ext cx="2289572" cy="347531"/>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lgn="ctr">
              <a:buNone/>
            </a:pPr>
            <a:r>
              <a:rPr lang="en-US" sz="1400" b="1">
                <a:ea typeface="Source Sans Pro"/>
              </a:rPr>
              <a:t>Fig 1.2 </a:t>
            </a:r>
            <a:r>
              <a:rPr lang="en-US" sz="1400">
                <a:ea typeface="Source Sans Pro"/>
              </a:rPr>
              <a:t>Barske Pump</a:t>
            </a:r>
          </a:p>
        </p:txBody>
      </p:sp>
    </p:spTree>
    <p:extLst>
      <p:ext uri="{BB962C8B-B14F-4D97-AF65-F5344CB8AC3E}">
        <p14:creationId xmlns:p14="http://schemas.microsoft.com/office/powerpoint/2010/main" val="1016413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29CBF-A210-34DC-AC6F-D0B72CC3E22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FBDA23-5148-6636-AE13-603161AC4013}"/>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9795D17E-F14F-258D-0353-6CEFF2B06F5E}"/>
              </a:ext>
            </a:extLst>
          </p:cNvPr>
          <p:cNvSpPr>
            <a:spLocks noGrp="1"/>
          </p:cNvSpPr>
          <p:nvPr>
            <p:ph type="sldNum" sz="quarter" idx="17"/>
          </p:nvPr>
        </p:nvSpPr>
        <p:spPr/>
        <p:txBody>
          <a:bodyPr/>
          <a:lstStyle/>
          <a:p>
            <a:r>
              <a:rPr lang="en-US"/>
              <a:t>/   </a:t>
            </a:r>
            <a:fld id="{6C7E6F33-74EE-5541-8108-8353B402F8C1}" type="slidenum">
              <a:rPr lang="en-US" smtClean="0"/>
              <a:pPr/>
              <a:t>16</a:t>
            </a:fld>
            <a:endParaRPr lang="en-US"/>
          </a:p>
        </p:txBody>
      </p:sp>
      <p:sp>
        <p:nvSpPr>
          <p:cNvPr id="5" name="Title 4">
            <a:extLst>
              <a:ext uri="{FF2B5EF4-FFF2-40B4-BE49-F238E27FC236}">
                <a16:creationId xmlns:a16="http://schemas.microsoft.com/office/drawing/2014/main" id="{1408E94D-1623-9382-2ACF-9099D63C02D2}"/>
              </a:ext>
            </a:extLst>
          </p:cNvPr>
          <p:cNvSpPr>
            <a:spLocks noGrp="1"/>
          </p:cNvSpPr>
          <p:nvPr>
            <p:ph type="title"/>
          </p:nvPr>
        </p:nvSpPr>
        <p:spPr/>
        <p:txBody>
          <a:bodyPr/>
          <a:lstStyle/>
          <a:p>
            <a:r>
              <a:rPr lang="en-US"/>
              <a:t>Pump Design</a:t>
            </a:r>
          </a:p>
        </p:txBody>
      </p:sp>
      <p:sp>
        <p:nvSpPr>
          <p:cNvPr id="6" name="Text Placeholder 5">
            <a:extLst>
              <a:ext uri="{FF2B5EF4-FFF2-40B4-BE49-F238E27FC236}">
                <a16:creationId xmlns:a16="http://schemas.microsoft.com/office/drawing/2014/main" id="{E56E009A-B2AC-700C-B7F9-987BE27B48FC}"/>
              </a:ext>
            </a:extLst>
          </p:cNvPr>
          <p:cNvSpPr>
            <a:spLocks noGrp="1"/>
          </p:cNvSpPr>
          <p:nvPr>
            <p:ph type="body" sz="quarter" idx="13"/>
          </p:nvPr>
        </p:nvSpPr>
        <p:spPr/>
        <p:txBody>
          <a:bodyPr/>
          <a:lstStyle/>
          <a:p>
            <a:r>
              <a:rPr lang="en-US"/>
              <a:t>Overall Design and Parameters/Considerations</a:t>
            </a:r>
          </a:p>
        </p:txBody>
      </p:sp>
      <p:sp>
        <p:nvSpPr>
          <p:cNvPr id="11" name="TextBox 10">
            <a:extLst>
              <a:ext uri="{FF2B5EF4-FFF2-40B4-BE49-F238E27FC236}">
                <a16:creationId xmlns:a16="http://schemas.microsoft.com/office/drawing/2014/main" id="{A6C60FB9-7E3F-8FD1-E28C-555B89AE1FD9}"/>
              </a:ext>
            </a:extLst>
          </p:cNvPr>
          <p:cNvSpPr txBox="1"/>
          <p:nvPr/>
        </p:nvSpPr>
        <p:spPr>
          <a:xfrm>
            <a:off x="467187" y="1969476"/>
            <a:ext cx="10056880" cy="3693319"/>
          </a:xfrm>
          <a:prstGeom prst="rect">
            <a:avLst/>
          </a:prstGeom>
          <a:noFill/>
        </p:spPr>
        <p:txBody>
          <a:bodyPr wrap="square" rtlCol="0">
            <a:spAutoFit/>
          </a:bodyPr>
          <a:lstStyle/>
          <a:p>
            <a:pPr marL="285750" indent="-285750">
              <a:buFont typeface="Arial" panose="020B0604020202020204" pitchFamily="34" charset="0"/>
              <a:buChar char="•"/>
            </a:pPr>
            <a:r>
              <a:rPr lang="en-US" b="1"/>
              <a:t>Volute: </a:t>
            </a:r>
            <a:r>
              <a:rPr lang="en-US"/>
              <a:t>Concentric bowl (No gain with Volute collector at &lt;400 Ns)</a:t>
            </a:r>
          </a:p>
          <a:p>
            <a:pPr marL="742950" lvl="1" indent="-285750">
              <a:buFont typeface="Arial" panose="020B0604020202020204" pitchFamily="34" charset="0"/>
              <a:buChar char="•"/>
            </a:pPr>
            <a:r>
              <a:rPr lang="en-US"/>
              <a:t>Prior pump </a:t>
            </a:r>
          </a:p>
          <a:p>
            <a:pPr marL="285750" indent="-285750">
              <a:buFont typeface="Arial" panose="020B0604020202020204" pitchFamily="34" charset="0"/>
              <a:buChar char="•"/>
            </a:pPr>
            <a:endParaRPr lang="en-US" b="1"/>
          </a:p>
          <a:p>
            <a:pPr marL="285750" indent="-285750">
              <a:buFont typeface="Arial" panose="020B0604020202020204" pitchFamily="34" charset="0"/>
              <a:buChar char="•"/>
            </a:pPr>
            <a:r>
              <a:rPr lang="en-US" b="1"/>
              <a:t>Motor: </a:t>
            </a:r>
            <a:r>
              <a:rPr lang="en-US" cap="all">
                <a:hlinkClick r:id="rId4"/>
              </a:rPr>
              <a:t>Castle 2028 </a:t>
            </a:r>
            <a:r>
              <a:rPr lang="en-US" cap="all" err="1">
                <a:hlinkClick r:id="rId4"/>
              </a:rPr>
              <a:t>Sensored</a:t>
            </a:r>
            <a:r>
              <a:rPr lang="en-US" cap="all">
                <a:hlinkClick r:id="rId4"/>
              </a:rPr>
              <a:t> Motor - 800Kv (FOC capable)</a:t>
            </a:r>
            <a:endParaRPr lang="en-US"/>
          </a:p>
          <a:p>
            <a:pPr marL="285750" indent="-285750">
              <a:buFont typeface="Arial" panose="020B0604020202020204" pitchFamily="34" charset="0"/>
              <a:buChar char="•"/>
            </a:pPr>
            <a:endParaRPr lang="en-US" b="1"/>
          </a:p>
          <a:p>
            <a:pPr marL="285750" indent="-285750">
              <a:buFont typeface="Arial" panose="020B0604020202020204" pitchFamily="34" charset="0"/>
              <a:buChar char="•"/>
            </a:pPr>
            <a:r>
              <a:rPr lang="en-US" b="1"/>
              <a:t>Materials: </a:t>
            </a:r>
          </a:p>
          <a:p>
            <a:pPr marL="742950" lvl="1" indent="-285750">
              <a:buFont typeface="Arial" panose="020B0604020202020204" pitchFamily="34" charset="0"/>
              <a:buChar char="•"/>
            </a:pPr>
            <a:r>
              <a:rPr lang="en-US"/>
              <a:t>Volute/Diffuser + Casing: 3D Printed Aluminum </a:t>
            </a:r>
          </a:p>
          <a:p>
            <a:pPr marL="742950" lvl="1" indent="-285750">
              <a:buFont typeface="Arial" panose="020B0604020202020204" pitchFamily="34" charset="0"/>
              <a:buChar char="•"/>
            </a:pPr>
            <a:r>
              <a:rPr lang="en-US"/>
              <a:t>Impeller: 3D Printed Stainless (316)</a:t>
            </a:r>
          </a:p>
          <a:p>
            <a:pPr marL="742950" lvl="1" indent="-285750">
              <a:buFont typeface="Arial" panose="020B0604020202020204" pitchFamily="34" charset="0"/>
              <a:buChar char="•"/>
            </a:pPr>
            <a:r>
              <a:rPr lang="en-US"/>
              <a:t>Motor Mount: SLA Resin</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t>Overall Size (Pump Hardware):</a:t>
            </a:r>
          </a:p>
          <a:p>
            <a:pPr marL="742950" lvl="1" indent="-285750">
              <a:buFont typeface="Arial" panose="020B0604020202020204" pitchFamily="34" charset="0"/>
              <a:buChar char="•"/>
            </a:pPr>
            <a:r>
              <a:rPr lang="en-US"/>
              <a:t>Impeller Diameter = 2 [in] </a:t>
            </a:r>
          </a:p>
          <a:p>
            <a:pPr marL="742950" lvl="1" indent="-285750">
              <a:buFont typeface="Arial" panose="020B0604020202020204" pitchFamily="34" charset="0"/>
              <a:buChar char="•"/>
            </a:pPr>
            <a:r>
              <a:rPr lang="en-US"/>
              <a:t>Overall Length = 10.4 [in]</a:t>
            </a:r>
          </a:p>
        </p:txBody>
      </p:sp>
      <p:graphicFrame>
        <p:nvGraphicFramePr>
          <p:cNvPr id="15" name="Table 14">
            <a:extLst>
              <a:ext uri="{FF2B5EF4-FFF2-40B4-BE49-F238E27FC236}">
                <a16:creationId xmlns:a16="http://schemas.microsoft.com/office/drawing/2014/main" id="{93EE63B3-C48F-A770-6625-EFFF39B0EC25}"/>
              </a:ext>
            </a:extLst>
          </p:cNvPr>
          <p:cNvGraphicFramePr>
            <a:graphicFrameLocks noGrp="1"/>
          </p:cNvGraphicFramePr>
          <p:nvPr>
            <p:extLst>
              <p:ext uri="{D42A27DB-BD31-4B8C-83A1-F6EECF244321}">
                <p14:modId xmlns:p14="http://schemas.microsoft.com/office/powerpoint/2010/main" val="383134224"/>
              </p:ext>
            </p:extLst>
          </p:nvPr>
        </p:nvGraphicFramePr>
        <p:xfrm>
          <a:off x="8428325" y="1969476"/>
          <a:ext cx="3495730" cy="1490554"/>
        </p:xfrm>
        <a:graphic>
          <a:graphicData uri="http://schemas.openxmlformats.org/drawingml/2006/table">
            <a:tbl>
              <a:tblPr firstRow="1" bandRow="1">
                <a:tableStyleId>{073A0DAA-6AF3-43AB-8588-CEC1D06C72B9}</a:tableStyleId>
              </a:tblPr>
              <a:tblGrid>
                <a:gridCol w="2014072">
                  <a:extLst>
                    <a:ext uri="{9D8B030D-6E8A-4147-A177-3AD203B41FA5}">
                      <a16:colId xmlns:a16="http://schemas.microsoft.com/office/drawing/2014/main" val="4241198040"/>
                    </a:ext>
                  </a:extLst>
                </a:gridCol>
                <a:gridCol w="1481658">
                  <a:extLst>
                    <a:ext uri="{9D8B030D-6E8A-4147-A177-3AD203B41FA5}">
                      <a16:colId xmlns:a16="http://schemas.microsoft.com/office/drawing/2014/main" val="2995624153"/>
                    </a:ext>
                  </a:extLst>
                </a:gridCol>
              </a:tblGrid>
              <a:tr h="489918">
                <a:tc>
                  <a:txBody>
                    <a:bodyPr/>
                    <a:lstStyle/>
                    <a:p>
                      <a:pPr algn="ctr"/>
                      <a:r>
                        <a:rPr lang="en-US"/>
                        <a:t>Parameters</a:t>
                      </a:r>
                    </a:p>
                  </a:txBody>
                  <a:tcPr anchor="ctr"/>
                </a:tc>
                <a:tc>
                  <a:txBody>
                    <a:bodyPr/>
                    <a:lstStyle/>
                    <a:p>
                      <a:pPr algn="ctr"/>
                      <a:r>
                        <a:rPr lang="en-US"/>
                        <a:t>Value</a:t>
                      </a:r>
                    </a:p>
                  </a:txBody>
                  <a:tcPr anchor="ctr"/>
                </a:tc>
                <a:extLst>
                  <a:ext uri="{0D108BD9-81ED-4DB2-BD59-A6C34878D82A}">
                    <a16:rowId xmlns:a16="http://schemas.microsoft.com/office/drawing/2014/main" val="2988235042"/>
                  </a:ext>
                </a:extLst>
              </a:tr>
              <a:tr h="500318">
                <a:tc>
                  <a:txBody>
                    <a:bodyPr/>
                    <a:lstStyle/>
                    <a:p>
                      <a:pPr algn="ctr"/>
                      <a:r>
                        <a:rPr lang="en-US"/>
                        <a:t>Motor Voltage</a:t>
                      </a:r>
                    </a:p>
                  </a:txBody>
                  <a:tcPr anchor="ctr"/>
                </a:tc>
                <a:tc>
                  <a:txBody>
                    <a:bodyPr/>
                    <a:lstStyle/>
                    <a:p>
                      <a:pPr lvl="0" algn="ctr">
                        <a:buNone/>
                      </a:pPr>
                      <a:r>
                        <a:rPr lang="en-US"/>
                        <a:t>9 - 50.4 [V]</a:t>
                      </a:r>
                    </a:p>
                  </a:txBody>
                  <a:tcPr marL="7620" marR="7620" marT="7620" marB="0" anchor="ctr"/>
                </a:tc>
                <a:extLst>
                  <a:ext uri="{0D108BD9-81ED-4DB2-BD59-A6C34878D82A}">
                    <a16:rowId xmlns:a16="http://schemas.microsoft.com/office/drawing/2014/main" val="18374682"/>
                  </a:ext>
                </a:extLst>
              </a:tr>
              <a:tr h="500318">
                <a:tc>
                  <a:txBody>
                    <a:bodyPr/>
                    <a:lstStyle/>
                    <a:p>
                      <a:pPr lvl="0" algn="ctr">
                        <a:buNone/>
                      </a:pPr>
                      <a:r>
                        <a:rPr lang="en-US"/>
                        <a:t>Motor Amperage</a:t>
                      </a:r>
                    </a:p>
                  </a:txBody>
                  <a:tcPr anchor="ct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154734"/>
                          </a:solidFill>
                          <a:effectLst/>
                          <a:uLnTx/>
                          <a:uFillTx/>
                          <a:latin typeface="Calibri" panose="020F0502020204030204"/>
                          <a:ea typeface="+mn-ea"/>
                          <a:cs typeface="+mn-cs"/>
                        </a:rPr>
                        <a:t>&lt;= 200 [A]</a:t>
                      </a:r>
                    </a:p>
                  </a:txBody>
                  <a:tcPr marL="7620" marR="7620" marT="7620" marB="0" anchor="ctr"/>
                </a:tc>
                <a:extLst>
                  <a:ext uri="{0D108BD9-81ED-4DB2-BD59-A6C34878D82A}">
                    <a16:rowId xmlns:a16="http://schemas.microsoft.com/office/drawing/2014/main" val="2193156192"/>
                  </a:ext>
                </a:extLst>
              </a:tr>
            </a:tbl>
          </a:graphicData>
        </a:graphic>
      </p:graphicFrame>
      <p:sp>
        <p:nvSpPr>
          <p:cNvPr id="17" name="TextBox 16">
            <a:extLst>
              <a:ext uri="{FF2B5EF4-FFF2-40B4-BE49-F238E27FC236}">
                <a16:creationId xmlns:a16="http://schemas.microsoft.com/office/drawing/2014/main" id="{CDEAA407-CBED-DEF3-A2A5-6272BD608D58}"/>
              </a:ext>
            </a:extLst>
          </p:cNvPr>
          <p:cNvSpPr txBox="1"/>
          <p:nvPr/>
        </p:nvSpPr>
        <p:spPr>
          <a:xfrm>
            <a:off x="3780320" y="5246943"/>
            <a:ext cx="6096000" cy="369332"/>
          </a:xfrm>
          <a:prstGeom prst="rect">
            <a:avLst/>
          </a:prstGeom>
          <a:noFill/>
        </p:spPr>
        <p:txBody>
          <a:bodyPr wrap="square">
            <a:spAutoFit/>
          </a:bodyPr>
          <a:lstStyle/>
          <a:p>
            <a:pPr marL="742950" lvl="1" indent="-285750">
              <a:buFont typeface="Arial" panose="020B0604020202020204" pitchFamily="34" charset="0"/>
              <a:buChar char="•"/>
            </a:pPr>
            <a:r>
              <a:rPr lang="en-US"/>
              <a:t>Overall Diameter = 3.5 [in] </a:t>
            </a:r>
          </a:p>
        </p:txBody>
      </p:sp>
    </p:spTree>
    <p:extLst>
      <p:ext uri="{BB962C8B-B14F-4D97-AF65-F5344CB8AC3E}">
        <p14:creationId xmlns:p14="http://schemas.microsoft.com/office/powerpoint/2010/main" val="2993158681"/>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46205-F415-63ED-42DE-C46EE474CB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2A2994-7318-D06B-1652-CD6D2755B6E7}"/>
              </a:ext>
            </a:extLst>
          </p:cNvPr>
          <p:cNvSpPr>
            <a:spLocks noGrp="1"/>
          </p:cNvSpPr>
          <p:nvPr>
            <p:ph type="title"/>
          </p:nvPr>
        </p:nvSpPr>
        <p:spPr/>
        <p:txBody>
          <a:bodyPr/>
          <a:lstStyle/>
          <a:p>
            <a:r>
              <a:rPr lang="en-US"/>
              <a:t>BP2 Learnings</a:t>
            </a:r>
          </a:p>
        </p:txBody>
      </p:sp>
      <p:sp>
        <p:nvSpPr>
          <p:cNvPr id="4" name="Text Placeholder 3">
            <a:extLst>
              <a:ext uri="{FF2B5EF4-FFF2-40B4-BE49-F238E27FC236}">
                <a16:creationId xmlns:a16="http://schemas.microsoft.com/office/drawing/2014/main" id="{2A6B1624-9D1E-4131-AEF2-290A4E3A349D}"/>
              </a:ext>
            </a:extLst>
          </p:cNvPr>
          <p:cNvSpPr>
            <a:spLocks noGrp="1"/>
          </p:cNvSpPr>
          <p:nvPr>
            <p:ph type="body" sz="quarter" idx="13"/>
          </p:nvPr>
        </p:nvSpPr>
        <p:spPr/>
        <p:txBody>
          <a:bodyPr/>
          <a:lstStyle/>
          <a:p>
            <a:r>
              <a:rPr lang="en-US"/>
              <a:t>BP2 Pump Curve -&gt; Flowrate Issue Solved!</a:t>
            </a:r>
          </a:p>
        </p:txBody>
      </p:sp>
      <p:graphicFrame>
        <p:nvGraphicFramePr>
          <p:cNvPr id="9" name="Table 8">
            <a:extLst>
              <a:ext uri="{FF2B5EF4-FFF2-40B4-BE49-F238E27FC236}">
                <a16:creationId xmlns:a16="http://schemas.microsoft.com/office/drawing/2014/main" id="{E44562B2-6670-C7B7-5417-5B4FC36D9180}"/>
              </a:ext>
            </a:extLst>
          </p:cNvPr>
          <p:cNvGraphicFramePr>
            <a:graphicFrameLocks noGrp="1"/>
          </p:cNvGraphicFramePr>
          <p:nvPr>
            <p:extLst>
              <p:ext uri="{D42A27DB-BD31-4B8C-83A1-F6EECF244321}">
                <p14:modId xmlns:p14="http://schemas.microsoft.com/office/powerpoint/2010/main" val="3042351362"/>
              </p:ext>
            </p:extLst>
          </p:nvPr>
        </p:nvGraphicFramePr>
        <p:xfrm>
          <a:off x="540595" y="5182198"/>
          <a:ext cx="11110810" cy="741680"/>
        </p:xfrm>
        <a:graphic>
          <a:graphicData uri="http://schemas.openxmlformats.org/drawingml/2006/table">
            <a:tbl>
              <a:tblPr firstRow="1" bandRow="1">
                <a:tableStyleId>{073A0DAA-6AF3-43AB-8588-CEC1D06C72B9}</a:tableStyleId>
              </a:tblPr>
              <a:tblGrid>
                <a:gridCol w="2222162">
                  <a:extLst>
                    <a:ext uri="{9D8B030D-6E8A-4147-A177-3AD203B41FA5}">
                      <a16:colId xmlns:a16="http://schemas.microsoft.com/office/drawing/2014/main" val="2715555625"/>
                    </a:ext>
                  </a:extLst>
                </a:gridCol>
                <a:gridCol w="2222162">
                  <a:extLst>
                    <a:ext uri="{9D8B030D-6E8A-4147-A177-3AD203B41FA5}">
                      <a16:colId xmlns:a16="http://schemas.microsoft.com/office/drawing/2014/main" val="768990406"/>
                    </a:ext>
                  </a:extLst>
                </a:gridCol>
                <a:gridCol w="2222162">
                  <a:extLst>
                    <a:ext uri="{9D8B030D-6E8A-4147-A177-3AD203B41FA5}">
                      <a16:colId xmlns:a16="http://schemas.microsoft.com/office/drawing/2014/main" val="2518882343"/>
                    </a:ext>
                  </a:extLst>
                </a:gridCol>
                <a:gridCol w="2222162">
                  <a:extLst>
                    <a:ext uri="{9D8B030D-6E8A-4147-A177-3AD203B41FA5}">
                      <a16:colId xmlns:a16="http://schemas.microsoft.com/office/drawing/2014/main" val="3466317459"/>
                    </a:ext>
                  </a:extLst>
                </a:gridCol>
                <a:gridCol w="2222162">
                  <a:extLst>
                    <a:ext uri="{9D8B030D-6E8A-4147-A177-3AD203B41FA5}">
                      <a16:colId xmlns:a16="http://schemas.microsoft.com/office/drawing/2014/main" val="3344871284"/>
                    </a:ext>
                  </a:extLst>
                </a:gridCol>
              </a:tblGrid>
              <a:tr h="370840">
                <a:tc>
                  <a:txBody>
                    <a:bodyPr/>
                    <a:lstStyle/>
                    <a:p>
                      <a:pPr algn="ctr"/>
                      <a:r>
                        <a:rPr lang="en-US"/>
                        <a:t>Head Rise</a:t>
                      </a:r>
                    </a:p>
                  </a:txBody>
                  <a:tcPr anchor="ctr"/>
                </a:tc>
                <a:tc>
                  <a:txBody>
                    <a:bodyPr/>
                    <a:lstStyle/>
                    <a:p>
                      <a:pPr algn="ctr"/>
                      <a:r>
                        <a:rPr lang="en-US"/>
                        <a:t>Flow Rate</a:t>
                      </a:r>
                    </a:p>
                  </a:txBody>
                  <a:tcPr anchor="ctr"/>
                </a:tc>
                <a:tc>
                  <a:txBody>
                    <a:bodyPr/>
                    <a:lstStyle/>
                    <a:p>
                      <a:pPr algn="ctr"/>
                      <a:r>
                        <a:rPr lang="en-US"/>
                        <a:t>Mass Flow (Ethanol)</a:t>
                      </a:r>
                    </a:p>
                  </a:txBody>
                  <a:tcPr anchor="ctr"/>
                </a:tc>
                <a:tc>
                  <a:txBody>
                    <a:bodyPr/>
                    <a:lstStyle/>
                    <a:p>
                      <a:pPr algn="ctr"/>
                      <a:r>
                        <a:rPr lang="en-US"/>
                        <a:t>Power</a:t>
                      </a:r>
                    </a:p>
                  </a:txBody>
                  <a:tcPr anchor="ctr"/>
                </a:tc>
                <a:tc>
                  <a:txBody>
                    <a:bodyPr/>
                    <a:lstStyle/>
                    <a:p>
                      <a:pPr algn="ctr"/>
                      <a:r>
                        <a:rPr lang="en-US"/>
                        <a:t>Efficiency</a:t>
                      </a:r>
                    </a:p>
                  </a:txBody>
                  <a:tcPr anchor="ctr"/>
                </a:tc>
                <a:extLst>
                  <a:ext uri="{0D108BD9-81ED-4DB2-BD59-A6C34878D82A}">
                    <a16:rowId xmlns:a16="http://schemas.microsoft.com/office/drawing/2014/main" val="3260178685"/>
                  </a:ext>
                </a:extLst>
              </a:tr>
              <a:tr h="370840">
                <a:tc>
                  <a:txBody>
                    <a:bodyPr/>
                    <a:lstStyle/>
                    <a:p>
                      <a:pPr algn="ctr"/>
                      <a:r>
                        <a:rPr lang="en-US"/>
                        <a:t>175 [psi]</a:t>
                      </a:r>
                    </a:p>
                  </a:txBody>
                  <a:tcPr anchor="ctr"/>
                </a:tc>
                <a:tc>
                  <a:txBody>
                    <a:bodyPr/>
                    <a:lstStyle/>
                    <a:p>
                      <a:pPr algn="ctr"/>
                      <a:r>
                        <a:rPr lang="en-US"/>
                        <a:t>6.2 [GPM]</a:t>
                      </a:r>
                    </a:p>
                  </a:txBody>
                  <a:tcPr anchor="ctr"/>
                </a:tc>
                <a:tc>
                  <a:txBody>
                    <a:bodyPr/>
                    <a:lstStyle/>
                    <a:p>
                      <a:pPr algn="ctr"/>
                      <a:r>
                        <a:rPr lang="en-US"/>
                        <a:t>0.31 [kg/s]</a:t>
                      </a:r>
                    </a:p>
                  </a:txBody>
                  <a:tcPr anchor="ctr"/>
                </a:tc>
                <a:tc>
                  <a:txBody>
                    <a:bodyPr/>
                    <a:lstStyle/>
                    <a:p>
                      <a:pPr algn="ctr"/>
                      <a:r>
                        <a:rPr lang="en-US"/>
                        <a:t>1800 [W]</a:t>
                      </a:r>
                    </a:p>
                  </a:txBody>
                  <a:tcPr anchor="ctr"/>
                </a:tc>
                <a:tc>
                  <a:txBody>
                    <a:bodyPr/>
                    <a:lstStyle/>
                    <a:p>
                      <a:pPr algn="ctr"/>
                      <a:r>
                        <a:rPr lang="en-US"/>
                        <a:t>26.8%</a:t>
                      </a:r>
                    </a:p>
                  </a:txBody>
                  <a:tcPr anchor="ctr"/>
                </a:tc>
                <a:extLst>
                  <a:ext uri="{0D108BD9-81ED-4DB2-BD59-A6C34878D82A}">
                    <a16:rowId xmlns:a16="http://schemas.microsoft.com/office/drawing/2014/main" val="233778334"/>
                  </a:ext>
                </a:extLst>
              </a:tr>
            </a:tbl>
          </a:graphicData>
        </a:graphic>
      </p:graphicFrame>
      <p:sp>
        <p:nvSpPr>
          <p:cNvPr id="7" name="Footer Placeholder 2">
            <a:extLst>
              <a:ext uri="{FF2B5EF4-FFF2-40B4-BE49-F238E27FC236}">
                <a16:creationId xmlns:a16="http://schemas.microsoft.com/office/drawing/2014/main" id="{3B479530-5764-1CB4-3D6B-51EA65551EEB}"/>
              </a:ext>
            </a:extLst>
          </p:cNvPr>
          <p:cNvSpPr>
            <a:spLocks noGrp="1"/>
          </p:cNvSpPr>
          <p:nvPr>
            <p:ph type="ftr" sz="quarter" idx="16"/>
          </p:nvPr>
        </p:nvSpPr>
        <p:spPr>
          <a:xfrm>
            <a:off x="7491867" y="6358302"/>
            <a:ext cx="4114800" cy="366183"/>
          </a:xfrm>
        </p:spPr>
        <p:txBody>
          <a:bodyPr/>
          <a:lstStyle/>
          <a:p>
            <a:r>
              <a:rPr lang="en-US" sz="900">
                <a:latin typeface="Source Sans Pro"/>
                <a:ea typeface="Source Sans Pro"/>
              </a:rPr>
              <a:t>ARCHERFISH CDR</a:t>
            </a:r>
            <a:endParaRPr lang="en-US"/>
          </a:p>
        </p:txBody>
      </p:sp>
      <p:sp>
        <p:nvSpPr>
          <p:cNvPr id="10" name="Slide Number Placeholder 3">
            <a:extLst>
              <a:ext uri="{FF2B5EF4-FFF2-40B4-BE49-F238E27FC236}">
                <a16:creationId xmlns:a16="http://schemas.microsoft.com/office/drawing/2014/main" id="{B8610B44-D04E-600A-7B65-1B2E2844D32A}"/>
              </a:ext>
            </a:extLst>
          </p:cNvPr>
          <p:cNvSpPr>
            <a:spLocks noGrp="1"/>
          </p:cNvSpPr>
          <p:nvPr>
            <p:ph type="sldNum" sz="quarter" idx="17"/>
          </p:nvPr>
        </p:nvSpPr>
        <p:spPr>
          <a:xfrm>
            <a:off x="11379199" y="6358302"/>
            <a:ext cx="544856" cy="366183"/>
          </a:xfrm>
        </p:spPr>
        <p:txBody>
          <a:bodyPr/>
          <a:lstStyle/>
          <a:p>
            <a:r>
              <a:rPr lang="en-US"/>
              <a:t>/   </a:t>
            </a:r>
            <a:fld id="{6C7E6F33-74EE-5541-8108-8353B402F8C1}" type="slidenum">
              <a:rPr lang="en-US" smtClean="0"/>
              <a:pPr/>
              <a:t>17</a:t>
            </a:fld>
            <a:endParaRPr lang="en-US"/>
          </a:p>
        </p:txBody>
      </p:sp>
      <p:sp>
        <p:nvSpPr>
          <p:cNvPr id="5" name="Text Placeholder 1">
            <a:extLst>
              <a:ext uri="{FF2B5EF4-FFF2-40B4-BE49-F238E27FC236}">
                <a16:creationId xmlns:a16="http://schemas.microsoft.com/office/drawing/2014/main" id="{4787F9E5-8B78-286B-B19F-062400C5C3A7}"/>
              </a:ext>
            </a:extLst>
          </p:cNvPr>
          <p:cNvSpPr txBox="1">
            <a:spLocks/>
          </p:cNvSpPr>
          <p:nvPr/>
        </p:nvSpPr>
        <p:spPr>
          <a:xfrm>
            <a:off x="1368070" y="4633672"/>
            <a:ext cx="4019708" cy="347531"/>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lgn="ctr">
              <a:buNone/>
            </a:pPr>
            <a:r>
              <a:rPr lang="en-US" sz="1400" b="1">
                <a:ea typeface="Source Sans Pro"/>
              </a:rPr>
              <a:t>Fig 1.3 </a:t>
            </a:r>
            <a:r>
              <a:rPr lang="en-US" sz="1400">
                <a:ea typeface="Source Sans Pro"/>
              </a:rPr>
              <a:t>BP2 Efficiency Curve</a:t>
            </a:r>
          </a:p>
        </p:txBody>
      </p:sp>
      <p:sp>
        <p:nvSpPr>
          <p:cNvPr id="6" name="Text Placeholder 1">
            <a:extLst>
              <a:ext uri="{FF2B5EF4-FFF2-40B4-BE49-F238E27FC236}">
                <a16:creationId xmlns:a16="http://schemas.microsoft.com/office/drawing/2014/main" id="{BED97405-D3EB-F6D5-AED2-CD909F91BDEE}"/>
              </a:ext>
            </a:extLst>
          </p:cNvPr>
          <p:cNvSpPr txBox="1">
            <a:spLocks/>
          </p:cNvSpPr>
          <p:nvPr/>
        </p:nvSpPr>
        <p:spPr>
          <a:xfrm>
            <a:off x="6804222" y="4633672"/>
            <a:ext cx="4019708" cy="347531"/>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lgn="ctr">
              <a:buNone/>
            </a:pPr>
            <a:r>
              <a:rPr lang="en-US" sz="1400" b="1">
                <a:ea typeface="Source Sans Pro"/>
              </a:rPr>
              <a:t>Fig 1.4 </a:t>
            </a:r>
            <a:r>
              <a:rPr lang="en-US" sz="1400">
                <a:ea typeface="Source Sans Pro"/>
              </a:rPr>
              <a:t>BP2 Pump Curve</a:t>
            </a:r>
          </a:p>
        </p:txBody>
      </p:sp>
      <p:graphicFrame>
        <p:nvGraphicFramePr>
          <p:cNvPr id="11" name="Chart 10">
            <a:extLst>
              <a:ext uri="{FF2B5EF4-FFF2-40B4-BE49-F238E27FC236}">
                <a16:creationId xmlns:a16="http://schemas.microsoft.com/office/drawing/2014/main" id="{869CEDFB-2657-08DB-F65B-5AB3D37B2C91}"/>
              </a:ext>
            </a:extLst>
          </p:cNvPr>
          <p:cNvGraphicFramePr>
            <a:graphicFrameLocks/>
          </p:cNvGraphicFramePr>
          <p:nvPr>
            <p:extLst>
              <p:ext uri="{D42A27DB-BD31-4B8C-83A1-F6EECF244321}">
                <p14:modId xmlns:p14="http://schemas.microsoft.com/office/powerpoint/2010/main" val="4283416396"/>
              </p:ext>
            </p:extLst>
          </p:nvPr>
        </p:nvGraphicFramePr>
        <p:xfrm>
          <a:off x="6337004" y="1660314"/>
          <a:ext cx="4751362" cy="287830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4C12408A-8CDC-BBC2-AC2B-FF2CF6B165B7}"/>
              </a:ext>
            </a:extLst>
          </p:cNvPr>
          <p:cNvGraphicFramePr>
            <a:graphicFrameLocks/>
          </p:cNvGraphicFramePr>
          <p:nvPr>
            <p:extLst>
              <p:ext uri="{D42A27DB-BD31-4B8C-83A1-F6EECF244321}">
                <p14:modId xmlns:p14="http://schemas.microsoft.com/office/powerpoint/2010/main" val="4099289907"/>
              </p:ext>
            </p:extLst>
          </p:nvPr>
        </p:nvGraphicFramePr>
        <p:xfrm>
          <a:off x="930398" y="1660313"/>
          <a:ext cx="4406403" cy="28783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66189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02A805A-FBA3-E3B3-5FD3-22ED980B8316}"/>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80F565B5-EEF7-2B9F-2DB0-2FD4B10908ED}"/>
              </a:ext>
            </a:extLst>
          </p:cNvPr>
          <p:cNvSpPr>
            <a:spLocks noGrp="1"/>
          </p:cNvSpPr>
          <p:nvPr>
            <p:ph type="sldNum" sz="quarter" idx="17"/>
          </p:nvPr>
        </p:nvSpPr>
        <p:spPr/>
        <p:txBody>
          <a:bodyPr/>
          <a:lstStyle/>
          <a:p>
            <a:r>
              <a:rPr lang="en-US"/>
              <a:t>/   </a:t>
            </a:r>
            <a:fld id="{6C7E6F33-74EE-5541-8108-8353B402F8C1}" type="slidenum">
              <a:rPr lang="en-US" smtClean="0"/>
              <a:pPr/>
              <a:t>18</a:t>
            </a:fld>
            <a:endParaRPr lang="en-US"/>
          </a:p>
        </p:txBody>
      </p:sp>
      <p:sp>
        <p:nvSpPr>
          <p:cNvPr id="5" name="Title 4">
            <a:extLst>
              <a:ext uri="{FF2B5EF4-FFF2-40B4-BE49-F238E27FC236}">
                <a16:creationId xmlns:a16="http://schemas.microsoft.com/office/drawing/2014/main" id="{06C5C836-5E60-85F0-1583-29EDC4664B0E}"/>
              </a:ext>
            </a:extLst>
          </p:cNvPr>
          <p:cNvSpPr>
            <a:spLocks noGrp="1"/>
          </p:cNvSpPr>
          <p:nvPr>
            <p:ph type="title"/>
          </p:nvPr>
        </p:nvSpPr>
        <p:spPr/>
        <p:txBody>
          <a:bodyPr/>
          <a:lstStyle/>
          <a:p>
            <a:r>
              <a:rPr lang="en-US">
                <a:latin typeface="Munistic"/>
              </a:rPr>
              <a:t>Integrated Design</a:t>
            </a:r>
            <a:endParaRPr lang="en-US"/>
          </a:p>
        </p:txBody>
      </p:sp>
      <p:sp>
        <p:nvSpPr>
          <p:cNvPr id="6" name="Text Placeholder 5">
            <a:extLst>
              <a:ext uri="{FF2B5EF4-FFF2-40B4-BE49-F238E27FC236}">
                <a16:creationId xmlns:a16="http://schemas.microsoft.com/office/drawing/2014/main" id="{450026E9-05F7-416C-B3F8-8B097EF28FC6}"/>
              </a:ext>
            </a:extLst>
          </p:cNvPr>
          <p:cNvSpPr>
            <a:spLocks noGrp="1"/>
          </p:cNvSpPr>
          <p:nvPr>
            <p:ph type="body" sz="quarter" idx="13"/>
          </p:nvPr>
        </p:nvSpPr>
        <p:spPr/>
        <p:txBody>
          <a:bodyPr/>
          <a:lstStyle/>
          <a:p>
            <a:r>
              <a:rPr lang="en-US" sz="1850">
                <a:ea typeface="Source Sans Pro"/>
                <a:cs typeface="Calibri"/>
              </a:rPr>
              <a:t>AP1 -&gt; Actual Design Views</a:t>
            </a:r>
            <a:endParaRPr lang="en-US"/>
          </a:p>
        </p:txBody>
      </p:sp>
      <p:pic>
        <p:nvPicPr>
          <p:cNvPr id="7" name="Picture 6" descr="A drawing of a metal object&#10;&#10;AI-generated content may be incorrect.">
            <a:extLst>
              <a:ext uri="{FF2B5EF4-FFF2-40B4-BE49-F238E27FC236}">
                <a16:creationId xmlns:a16="http://schemas.microsoft.com/office/drawing/2014/main" id="{A8EB8B41-2C44-45D4-89AB-47C63281C249}"/>
              </a:ext>
            </a:extLst>
          </p:cNvPr>
          <p:cNvPicPr>
            <a:picLocks noChangeAspect="1"/>
          </p:cNvPicPr>
          <p:nvPr/>
        </p:nvPicPr>
        <p:blipFill>
          <a:blip r:embed="rId3"/>
          <a:stretch>
            <a:fillRect/>
          </a:stretch>
        </p:blipFill>
        <p:spPr>
          <a:xfrm>
            <a:off x="295742" y="1338146"/>
            <a:ext cx="2662863" cy="2490440"/>
          </a:xfrm>
          <a:prstGeom prst="rect">
            <a:avLst/>
          </a:prstGeom>
        </p:spPr>
      </p:pic>
      <p:pic>
        <p:nvPicPr>
          <p:cNvPr id="8" name="Picture 7">
            <a:extLst>
              <a:ext uri="{FF2B5EF4-FFF2-40B4-BE49-F238E27FC236}">
                <a16:creationId xmlns:a16="http://schemas.microsoft.com/office/drawing/2014/main" id="{1FB31800-A05E-B9F6-DFBA-4F212876AC80}"/>
              </a:ext>
            </a:extLst>
          </p:cNvPr>
          <p:cNvPicPr>
            <a:picLocks noChangeAspect="1"/>
          </p:cNvPicPr>
          <p:nvPr/>
        </p:nvPicPr>
        <p:blipFill>
          <a:blip r:embed="rId4"/>
          <a:stretch>
            <a:fillRect/>
          </a:stretch>
        </p:blipFill>
        <p:spPr>
          <a:xfrm>
            <a:off x="3584399" y="1342792"/>
            <a:ext cx="3418713" cy="4887951"/>
          </a:xfrm>
          <a:prstGeom prst="rect">
            <a:avLst/>
          </a:prstGeom>
        </p:spPr>
      </p:pic>
      <p:pic>
        <p:nvPicPr>
          <p:cNvPr id="9" name="Picture 8" descr="A drawing of a machine&#10;&#10;AI-generated content may be incorrect.">
            <a:extLst>
              <a:ext uri="{FF2B5EF4-FFF2-40B4-BE49-F238E27FC236}">
                <a16:creationId xmlns:a16="http://schemas.microsoft.com/office/drawing/2014/main" id="{353ABF5D-6A3E-3F5E-35E8-03E4D121529E}"/>
              </a:ext>
            </a:extLst>
          </p:cNvPr>
          <p:cNvPicPr>
            <a:picLocks noChangeAspect="1"/>
          </p:cNvPicPr>
          <p:nvPr/>
        </p:nvPicPr>
        <p:blipFill>
          <a:blip r:embed="rId5"/>
          <a:stretch>
            <a:fillRect/>
          </a:stretch>
        </p:blipFill>
        <p:spPr>
          <a:xfrm>
            <a:off x="295742" y="3977267"/>
            <a:ext cx="2858583" cy="2016513"/>
          </a:xfrm>
          <a:prstGeom prst="rect">
            <a:avLst/>
          </a:prstGeom>
        </p:spPr>
      </p:pic>
      <p:pic>
        <p:nvPicPr>
          <p:cNvPr id="10" name="Picture 9">
            <a:extLst>
              <a:ext uri="{FF2B5EF4-FFF2-40B4-BE49-F238E27FC236}">
                <a16:creationId xmlns:a16="http://schemas.microsoft.com/office/drawing/2014/main" id="{25585152-FFA1-4C42-7294-3581BCEB4AC4}"/>
              </a:ext>
            </a:extLst>
          </p:cNvPr>
          <p:cNvPicPr>
            <a:picLocks noChangeAspect="1"/>
          </p:cNvPicPr>
          <p:nvPr/>
        </p:nvPicPr>
        <p:blipFill>
          <a:blip r:embed="rId6"/>
          <a:stretch>
            <a:fillRect/>
          </a:stretch>
        </p:blipFill>
        <p:spPr>
          <a:xfrm>
            <a:off x="8351544" y="1342793"/>
            <a:ext cx="3419014" cy="2611245"/>
          </a:xfrm>
          <a:prstGeom prst="rect">
            <a:avLst/>
          </a:prstGeom>
        </p:spPr>
      </p:pic>
      <p:sp>
        <p:nvSpPr>
          <p:cNvPr id="11" name="TextBox 10">
            <a:extLst>
              <a:ext uri="{FF2B5EF4-FFF2-40B4-BE49-F238E27FC236}">
                <a16:creationId xmlns:a16="http://schemas.microsoft.com/office/drawing/2014/main" id="{0EC687C4-C737-1ACC-A6DF-7C58060890AB}"/>
              </a:ext>
            </a:extLst>
          </p:cNvPr>
          <p:cNvSpPr txBox="1"/>
          <p:nvPr/>
        </p:nvSpPr>
        <p:spPr>
          <a:xfrm>
            <a:off x="8499049" y="3961209"/>
            <a:ext cx="3409648" cy="2757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1CC2B9DA-76A6-63A9-BAAE-67B0E6221B7A}"/>
              </a:ext>
            </a:extLst>
          </p:cNvPr>
          <p:cNvSpPr txBox="1"/>
          <p:nvPr/>
        </p:nvSpPr>
        <p:spPr>
          <a:xfrm>
            <a:off x="8473979" y="3973744"/>
            <a:ext cx="34973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FIG 1.8    </a:t>
            </a:r>
            <a:r>
              <a:rPr lang="en-US">
                <a:ea typeface="Calibri"/>
                <a:cs typeface="Calibri"/>
              </a:rPr>
              <a:t>AP1 Impeller Chamber</a:t>
            </a:r>
          </a:p>
        </p:txBody>
      </p:sp>
      <p:sp>
        <p:nvSpPr>
          <p:cNvPr id="13" name="TextBox 12">
            <a:extLst>
              <a:ext uri="{FF2B5EF4-FFF2-40B4-BE49-F238E27FC236}">
                <a16:creationId xmlns:a16="http://schemas.microsoft.com/office/drawing/2014/main" id="{E8C0F6AE-B445-46AB-923E-9636A139FBFD}"/>
              </a:ext>
            </a:extLst>
          </p:cNvPr>
          <p:cNvSpPr txBox="1"/>
          <p:nvPr/>
        </p:nvSpPr>
        <p:spPr>
          <a:xfrm>
            <a:off x="3511686" y="6361963"/>
            <a:ext cx="34973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FIG 1.5    </a:t>
            </a:r>
            <a:r>
              <a:rPr lang="en-US">
                <a:ea typeface="Calibri"/>
                <a:cs typeface="Calibri"/>
              </a:rPr>
              <a:t>AP1 Section View</a:t>
            </a:r>
          </a:p>
        </p:txBody>
      </p:sp>
      <p:sp>
        <p:nvSpPr>
          <p:cNvPr id="14" name="TextBox 13">
            <a:extLst>
              <a:ext uri="{FF2B5EF4-FFF2-40B4-BE49-F238E27FC236}">
                <a16:creationId xmlns:a16="http://schemas.microsoft.com/office/drawing/2014/main" id="{3869C1AF-3853-939E-A14C-7A075356EDB7}"/>
              </a:ext>
            </a:extLst>
          </p:cNvPr>
          <p:cNvSpPr txBox="1"/>
          <p:nvPr/>
        </p:nvSpPr>
        <p:spPr>
          <a:xfrm>
            <a:off x="292727" y="5990256"/>
            <a:ext cx="322790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FIG 1.7   </a:t>
            </a:r>
            <a:r>
              <a:rPr lang="en-US">
                <a:ea typeface="Calibri"/>
                <a:cs typeface="Calibri"/>
              </a:rPr>
              <a:t> AP1 Impeller housing </a:t>
            </a:r>
          </a:p>
        </p:txBody>
      </p:sp>
      <p:sp>
        <p:nvSpPr>
          <p:cNvPr id="15" name="TextBox 14">
            <a:extLst>
              <a:ext uri="{FF2B5EF4-FFF2-40B4-BE49-F238E27FC236}">
                <a16:creationId xmlns:a16="http://schemas.microsoft.com/office/drawing/2014/main" id="{FC0E4715-57D7-A2D1-4C11-5DBF07F940C0}"/>
              </a:ext>
            </a:extLst>
          </p:cNvPr>
          <p:cNvSpPr txBox="1"/>
          <p:nvPr/>
        </p:nvSpPr>
        <p:spPr>
          <a:xfrm>
            <a:off x="292725" y="3787888"/>
            <a:ext cx="3023469" cy="36933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Fig 1.6    </a:t>
            </a:r>
            <a:r>
              <a:rPr lang="en-US">
                <a:ea typeface="Calibri"/>
                <a:cs typeface="Calibri"/>
              </a:rPr>
              <a:t>AP1 Full Assembly</a:t>
            </a:r>
            <a:endParaRPr lang="en-US"/>
          </a:p>
        </p:txBody>
      </p:sp>
      <p:cxnSp>
        <p:nvCxnSpPr>
          <p:cNvPr id="16" name="Straight Arrow Connector 15">
            <a:extLst>
              <a:ext uri="{FF2B5EF4-FFF2-40B4-BE49-F238E27FC236}">
                <a16:creationId xmlns:a16="http://schemas.microsoft.com/office/drawing/2014/main" id="{1F962CCB-43F9-1C8D-CDE2-6B1E74A220A2}"/>
              </a:ext>
            </a:extLst>
          </p:cNvPr>
          <p:cNvCxnSpPr/>
          <p:nvPr/>
        </p:nvCxnSpPr>
        <p:spPr>
          <a:xfrm flipH="1" flipV="1">
            <a:off x="5449158" y="3514045"/>
            <a:ext cx="723665" cy="9975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7" name="TextBox 16">
            <a:extLst>
              <a:ext uri="{FF2B5EF4-FFF2-40B4-BE49-F238E27FC236}">
                <a16:creationId xmlns:a16="http://schemas.microsoft.com/office/drawing/2014/main" id="{9890725B-3A66-1029-97CB-FEB1712FDDC2}"/>
              </a:ext>
            </a:extLst>
          </p:cNvPr>
          <p:cNvSpPr txBox="1"/>
          <p:nvPr/>
        </p:nvSpPr>
        <p:spPr>
          <a:xfrm>
            <a:off x="6283949" y="3109668"/>
            <a:ext cx="12034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AP1 Impeller</a:t>
            </a:r>
          </a:p>
        </p:txBody>
      </p:sp>
      <p:cxnSp>
        <p:nvCxnSpPr>
          <p:cNvPr id="18" name="Straight Arrow Connector 17">
            <a:extLst>
              <a:ext uri="{FF2B5EF4-FFF2-40B4-BE49-F238E27FC236}">
                <a16:creationId xmlns:a16="http://schemas.microsoft.com/office/drawing/2014/main" id="{1A2C46B2-7788-EE6F-70AF-D45E668F9C66}"/>
              </a:ext>
            </a:extLst>
          </p:cNvPr>
          <p:cNvCxnSpPr>
            <a:cxnSpLocks/>
          </p:cNvCxnSpPr>
          <p:nvPr/>
        </p:nvCxnSpPr>
        <p:spPr>
          <a:xfrm flipH="1" flipV="1">
            <a:off x="5811572" y="2612654"/>
            <a:ext cx="565690" cy="610846"/>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20" name="TextBox 19">
            <a:extLst>
              <a:ext uri="{FF2B5EF4-FFF2-40B4-BE49-F238E27FC236}">
                <a16:creationId xmlns:a16="http://schemas.microsoft.com/office/drawing/2014/main" id="{10A8B7BA-BD16-60D1-D016-5EA3D1171AF4}"/>
              </a:ext>
            </a:extLst>
          </p:cNvPr>
          <p:cNvSpPr txBox="1"/>
          <p:nvPr/>
        </p:nvSpPr>
        <p:spPr>
          <a:xfrm>
            <a:off x="6098095" y="3472082"/>
            <a:ext cx="12034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Seal-Plunger</a:t>
            </a:r>
            <a:endParaRPr lang="en-US"/>
          </a:p>
        </p:txBody>
      </p:sp>
      <p:sp>
        <p:nvSpPr>
          <p:cNvPr id="21" name="Rectangle 20">
            <a:extLst>
              <a:ext uri="{FF2B5EF4-FFF2-40B4-BE49-F238E27FC236}">
                <a16:creationId xmlns:a16="http://schemas.microsoft.com/office/drawing/2014/main" id="{08C12016-460E-911A-6D26-C829B3109FB0}"/>
              </a:ext>
            </a:extLst>
          </p:cNvPr>
          <p:cNvSpPr/>
          <p:nvPr/>
        </p:nvSpPr>
        <p:spPr>
          <a:xfrm>
            <a:off x="5027593" y="2754188"/>
            <a:ext cx="131916" cy="651691"/>
          </a:xfrm>
          <a:prstGeom prst="rect">
            <a:avLst/>
          </a:prstGeom>
          <a:noFill/>
          <a:ln>
            <a:solidFill>
              <a:srgbClr val="FFFF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C20F5B3-FF5D-AC0C-5CDD-D4EE2A3ED377}"/>
              </a:ext>
            </a:extLst>
          </p:cNvPr>
          <p:cNvSpPr/>
          <p:nvPr/>
        </p:nvSpPr>
        <p:spPr>
          <a:xfrm>
            <a:off x="5371422" y="2754188"/>
            <a:ext cx="141208" cy="660984"/>
          </a:xfrm>
          <a:prstGeom prst="rect">
            <a:avLst/>
          </a:prstGeom>
          <a:noFill/>
          <a:ln>
            <a:solidFill>
              <a:srgbClr val="FFFF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131AEF2-F6E2-E2D6-1F47-6CB1BEC06746}"/>
              </a:ext>
            </a:extLst>
          </p:cNvPr>
          <p:cNvSpPr/>
          <p:nvPr/>
        </p:nvSpPr>
        <p:spPr>
          <a:xfrm>
            <a:off x="5362127" y="3562649"/>
            <a:ext cx="141210" cy="503007"/>
          </a:xfrm>
          <a:prstGeom prst="rect">
            <a:avLst/>
          </a:prstGeom>
          <a:noFill/>
          <a:ln>
            <a:solidFill>
              <a:srgbClr val="00B0F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2A887E5-4FD0-7895-16EB-D1772806B62A}"/>
              </a:ext>
            </a:extLst>
          </p:cNvPr>
          <p:cNvSpPr/>
          <p:nvPr/>
        </p:nvSpPr>
        <p:spPr>
          <a:xfrm>
            <a:off x="5018297" y="3562649"/>
            <a:ext cx="141210" cy="503007"/>
          </a:xfrm>
          <a:prstGeom prst="rect">
            <a:avLst/>
          </a:prstGeom>
          <a:noFill/>
          <a:ln>
            <a:solidFill>
              <a:srgbClr val="00B0F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5C1CAEB-DBB3-815E-152C-C6E64C0FC6E7}"/>
              </a:ext>
            </a:extLst>
          </p:cNvPr>
          <p:cNvSpPr/>
          <p:nvPr/>
        </p:nvSpPr>
        <p:spPr>
          <a:xfrm>
            <a:off x="7070321" y="1957202"/>
            <a:ext cx="119835" cy="137811"/>
          </a:xfrm>
          <a:prstGeom prst="rect">
            <a:avLst/>
          </a:prstGeom>
          <a:solidFill>
            <a:srgbClr val="00AF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DEB9BA7-3952-501F-933C-8703AD2E0784}"/>
              </a:ext>
            </a:extLst>
          </p:cNvPr>
          <p:cNvSpPr/>
          <p:nvPr/>
        </p:nvSpPr>
        <p:spPr>
          <a:xfrm>
            <a:off x="7070321" y="1715592"/>
            <a:ext cx="119835" cy="137811"/>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36D43C7-8BAD-C4B8-F597-BBE362E04045}"/>
              </a:ext>
            </a:extLst>
          </p:cNvPr>
          <p:cNvSpPr txBox="1"/>
          <p:nvPr/>
        </p:nvSpPr>
        <p:spPr>
          <a:xfrm>
            <a:off x="7194632" y="1622838"/>
            <a:ext cx="12034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Dynamic Seal</a:t>
            </a:r>
            <a:endParaRPr lang="en-US"/>
          </a:p>
        </p:txBody>
      </p:sp>
      <p:sp>
        <p:nvSpPr>
          <p:cNvPr id="31" name="TextBox 30">
            <a:extLst>
              <a:ext uri="{FF2B5EF4-FFF2-40B4-BE49-F238E27FC236}">
                <a16:creationId xmlns:a16="http://schemas.microsoft.com/office/drawing/2014/main" id="{7A98BA6E-807B-4818-42B6-3A0735196777}"/>
              </a:ext>
            </a:extLst>
          </p:cNvPr>
          <p:cNvSpPr txBox="1"/>
          <p:nvPr/>
        </p:nvSpPr>
        <p:spPr>
          <a:xfrm>
            <a:off x="7194632" y="1864447"/>
            <a:ext cx="12034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Calibri"/>
                <a:cs typeface="Calibri"/>
              </a:rPr>
              <a:t>Spring</a:t>
            </a:r>
            <a:endParaRPr lang="en-US"/>
          </a:p>
        </p:txBody>
      </p:sp>
    </p:spTree>
    <p:extLst>
      <p:ext uri="{BB962C8B-B14F-4D97-AF65-F5344CB8AC3E}">
        <p14:creationId xmlns:p14="http://schemas.microsoft.com/office/powerpoint/2010/main" val="13865325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C1AB2-4A36-E8F2-9530-4B1DC754C9B0}"/>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14EC323C-AAC9-0CCB-DCC1-FCACFD641758}"/>
              </a:ext>
            </a:extLst>
          </p:cNvPr>
          <p:cNvSpPr txBox="1"/>
          <p:nvPr/>
        </p:nvSpPr>
        <p:spPr>
          <a:xfrm>
            <a:off x="8518769" y="5617308"/>
            <a:ext cx="6096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aseline="0">
                <a:solidFill>
                  <a:srgbClr val="154734"/>
                </a:solidFill>
                <a:latin typeface="Calibri"/>
              </a:rPr>
              <a:t>Motor</a:t>
            </a:r>
            <a:endParaRPr lang="en-US"/>
          </a:p>
          <a:p>
            <a:pPr algn="ctr"/>
            <a:endParaRPr lang="en-US"/>
          </a:p>
        </p:txBody>
      </p:sp>
      <p:sp>
        <p:nvSpPr>
          <p:cNvPr id="2" name="Text Placeholder 1">
            <a:extLst>
              <a:ext uri="{FF2B5EF4-FFF2-40B4-BE49-F238E27FC236}">
                <a16:creationId xmlns:a16="http://schemas.microsoft.com/office/drawing/2014/main" id="{40660055-1D9F-90E5-3706-6CEBA638C6CE}"/>
              </a:ext>
            </a:extLst>
          </p:cNvPr>
          <p:cNvSpPr>
            <a:spLocks noGrp="1"/>
          </p:cNvSpPr>
          <p:nvPr>
            <p:ph type="body" sz="quarter" idx="15"/>
          </p:nvPr>
        </p:nvSpPr>
        <p:spPr>
          <a:xfrm>
            <a:off x="232507" y="1969476"/>
            <a:ext cx="4468537" cy="4082247"/>
          </a:xfrm>
        </p:spPr>
        <p:txBody>
          <a:bodyPr vert="horz" lIns="91440" tIns="45720" rIns="91440" bIns="45720" numCol="1" spcCol="457200" rtlCol="0" anchor="t">
            <a:noAutofit/>
          </a:bodyPr>
          <a:lstStyle/>
          <a:p>
            <a:pPr marL="121285" indent="0">
              <a:buNone/>
            </a:pPr>
            <a:r>
              <a:rPr lang="en-US" sz="1850" b="1">
                <a:ea typeface="Source Sans Pro"/>
              </a:rPr>
              <a:t>Integrate with bottom of fuel bulkhead</a:t>
            </a:r>
            <a:endParaRPr lang="en-US" sz="1850">
              <a:ea typeface="Source Sans Pro"/>
            </a:endParaRPr>
          </a:p>
          <a:p>
            <a:pPr marL="666115" indent="-285750"/>
            <a:r>
              <a:rPr lang="en-US" sz="1850">
                <a:ea typeface="Source Sans Pro"/>
              </a:rPr>
              <a:t>Blind threaded hole w/ thread locker (2</a:t>
            </a:r>
            <a:r>
              <a:rPr lang="en-US" sz="1850" baseline="30000">
                <a:ea typeface="Source Sans Pro"/>
              </a:rPr>
              <a:t>nd</a:t>
            </a:r>
            <a:r>
              <a:rPr lang="en-US" sz="1850">
                <a:ea typeface="Source Sans Pro"/>
              </a:rPr>
              <a:t> retention) on bulkhead</a:t>
            </a:r>
            <a:endParaRPr lang="en-US" sz="1850">
              <a:ea typeface="Source Sans Pro"/>
              <a:cs typeface="Calibri"/>
            </a:endParaRPr>
          </a:p>
          <a:p>
            <a:pPr marL="666115" indent="-285750"/>
            <a:r>
              <a:rPr lang="en-US" sz="1850">
                <a:ea typeface="Source Sans Pro"/>
              </a:rPr>
              <a:t>Nut with threaded rod (x6)</a:t>
            </a:r>
            <a:endParaRPr lang="en-US" sz="1850">
              <a:ea typeface="Source Sans Pro"/>
              <a:cs typeface="Calibri"/>
            </a:endParaRPr>
          </a:p>
          <a:p>
            <a:pPr marL="380365" indent="0">
              <a:buNone/>
            </a:pPr>
            <a:endParaRPr lang="en-US" sz="700">
              <a:cs typeface="Calibri" panose="020F0502020204030204"/>
            </a:endParaRPr>
          </a:p>
          <a:p>
            <a:pPr marL="121285" indent="0">
              <a:buNone/>
            </a:pPr>
            <a:r>
              <a:rPr lang="en-US" sz="1850" b="1">
                <a:ea typeface="Source Sans Pro"/>
              </a:rPr>
              <a:t>Will also interface with electronics mounts</a:t>
            </a:r>
            <a:endParaRPr lang="en-US" sz="1850" b="1">
              <a:ea typeface="Source Sans Pro"/>
              <a:cs typeface="Calibri"/>
            </a:endParaRPr>
          </a:p>
          <a:p>
            <a:pPr marL="666115" indent="-285750"/>
            <a:r>
              <a:rPr lang="en-US" sz="1850">
                <a:ea typeface="Source Sans Pro"/>
              </a:rPr>
              <a:t>Motor Controller / Batteries </a:t>
            </a:r>
            <a:endParaRPr lang="en-US" sz="1850">
              <a:ea typeface="Source Sans Pro"/>
              <a:cs typeface="Calibri"/>
            </a:endParaRPr>
          </a:p>
          <a:p>
            <a:pPr marL="666115" indent="-285750"/>
            <a:r>
              <a:rPr lang="en-US" sz="1850">
                <a:ea typeface="Source Sans Pro"/>
              </a:rPr>
              <a:t>Mounts attached to spacer or directly to pump casing/bulkhead</a:t>
            </a:r>
            <a:endParaRPr lang="en-US" sz="1850">
              <a:ea typeface="Source Sans Pro"/>
              <a:cs typeface="Calibri"/>
            </a:endParaRPr>
          </a:p>
          <a:p>
            <a:pPr marL="742315" lvl="1" indent="-285750">
              <a:buFont typeface="Arial" panose="020B0604020202020204" pitchFamily="34" charset="0"/>
              <a:buChar char="•"/>
            </a:pPr>
            <a:endParaRPr lang="en-US">
              <a:cs typeface="Calibri" panose="020F0502020204030204"/>
            </a:endParaRPr>
          </a:p>
        </p:txBody>
      </p:sp>
      <p:sp>
        <p:nvSpPr>
          <p:cNvPr id="3" name="Title 2">
            <a:extLst>
              <a:ext uri="{FF2B5EF4-FFF2-40B4-BE49-F238E27FC236}">
                <a16:creationId xmlns:a16="http://schemas.microsoft.com/office/drawing/2014/main" id="{0520EDCE-D08A-28B0-FA24-C770C7C4EAC8}"/>
              </a:ext>
            </a:extLst>
          </p:cNvPr>
          <p:cNvSpPr>
            <a:spLocks noGrp="1"/>
          </p:cNvSpPr>
          <p:nvPr>
            <p:ph type="title"/>
          </p:nvPr>
        </p:nvSpPr>
        <p:spPr/>
        <p:txBody>
          <a:bodyPr/>
          <a:lstStyle/>
          <a:p>
            <a:r>
              <a:rPr lang="en-US"/>
              <a:t>Pump Mounting</a:t>
            </a:r>
          </a:p>
        </p:txBody>
      </p:sp>
      <p:sp>
        <p:nvSpPr>
          <p:cNvPr id="4" name="Text Placeholder 3">
            <a:extLst>
              <a:ext uri="{FF2B5EF4-FFF2-40B4-BE49-F238E27FC236}">
                <a16:creationId xmlns:a16="http://schemas.microsoft.com/office/drawing/2014/main" id="{A59944BD-165A-D5D5-05AF-1E797BB0271C}"/>
              </a:ext>
            </a:extLst>
          </p:cNvPr>
          <p:cNvSpPr>
            <a:spLocks noGrp="1"/>
          </p:cNvSpPr>
          <p:nvPr>
            <p:ph type="body" sz="quarter" idx="13"/>
          </p:nvPr>
        </p:nvSpPr>
        <p:spPr/>
        <p:txBody>
          <a:bodyPr/>
          <a:lstStyle/>
          <a:p>
            <a:r>
              <a:rPr lang="en-US" sz="1850">
                <a:ea typeface="Source Sans Pro"/>
              </a:rPr>
              <a:t>Plan for Integration</a:t>
            </a:r>
            <a:endParaRPr lang="en-US" sz="1850">
              <a:ea typeface="Source Sans Pro"/>
              <a:cs typeface="Calibri"/>
            </a:endParaRPr>
          </a:p>
        </p:txBody>
      </p:sp>
      <p:sp>
        <p:nvSpPr>
          <p:cNvPr id="6" name="Footer Placeholder 2">
            <a:extLst>
              <a:ext uri="{FF2B5EF4-FFF2-40B4-BE49-F238E27FC236}">
                <a16:creationId xmlns:a16="http://schemas.microsoft.com/office/drawing/2014/main" id="{743BE77E-7F7D-B209-0B9C-17FD4AE51461}"/>
              </a:ext>
            </a:extLst>
          </p:cNvPr>
          <p:cNvSpPr>
            <a:spLocks noGrp="1"/>
          </p:cNvSpPr>
          <p:nvPr>
            <p:ph type="ftr" sz="quarter" idx="16"/>
          </p:nvPr>
        </p:nvSpPr>
        <p:spPr>
          <a:xfrm>
            <a:off x="7491867" y="6351113"/>
            <a:ext cx="4114800" cy="366183"/>
          </a:xfrm>
        </p:spPr>
        <p:txBody>
          <a:bodyPr/>
          <a:lstStyle/>
          <a:p>
            <a:r>
              <a:rPr lang="en-US" sz="900">
                <a:latin typeface="Source Sans Pro"/>
                <a:ea typeface="Source Sans Pro"/>
              </a:rPr>
              <a:t>ARCHERFISH CDR</a:t>
            </a:r>
            <a:endParaRPr lang="en-US"/>
          </a:p>
        </p:txBody>
      </p:sp>
      <p:sp>
        <p:nvSpPr>
          <p:cNvPr id="8" name="Slide Number Placeholder 3">
            <a:extLst>
              <a:ext uri="{FF2B5EF4-FFF2-40B4-BE49-F238E27FC236}">
                <a16:creationId xmlns:a16="http://schemas.microsoft.com/office/drawing/2014/main" id="{9C7CE609-282C-CA8B-B679-63C243069E8B}"/>
              </a:ext>
            </a:extLst>
          </p:cNvPr>
          <p:cNvSpPr>
            <a:spLocks noGrp="1"/>
          </p:cNvSpPr>
          <p:nvPr>
            <p:ph type="sldNum" sz="quarter" idx="17"/>
          </p:nvPr>
        </p:nvSpPr>
        <p:spPr>
          <a:xfrm>
            <a:off x="11379199" y="6351113"/>
            <a:ext cx="544856" cy="366183"/>
          </a:xfrm>
        </p:spPr>
        <p:txBody>
          <a:bodyPr/>
          <a:lstStyle/>
          <a:p>
            <a:r>
              <a:rPr lang="en-US"/>
              <a:t>/   </a:t>
            </a:r>
            <a:fld id="{6C7E6F33-74EE-5541-8108-8353B402F8C1}" type="slidenum">
              <a:rPr lang="en-US" smtClean="0"/>
              <a:pPr/>
              <a:t>19</a:t>
            </a:fld>
            <a:endParaRPr lang="en-US"/>
          </a:p>
        </p:txBody>
      </p:sp>
      <p:pic>
        <p:nvPicPr>
          <p:cNvPr id="27" name="Picture 26" descr="A drawing of a machine&#10;&#10;AI-generated content may be incorrect.">
            <a:extLst>
              <a:ext uri="{FF2B5EF4-FFF2-40B4-BE49-F238E27FC236}">
                <a16:creationId xmlns:a16="http://schemas.microsoft.com/office/drawing/2014/main" id="{C85E9FA5-155E-EFA8-F03A-7B5A788DED3F}"/>
              </a:ext>
            </a:extLst>
          </p:cNvPr>
          <p:cNvPicPr>
            <a:picLocks noChangeAspect="1"/>
          </p:cNvPicPr>
          <p:nvPr/>
        </p:nvPicPr>
        <p:blipFill>
          <a:blip r:embed="rId4"/>
          <a:stretch>
            <a:fillRect/>
          </a:stretch>
        </p:blipFill>
        <p:spPr>
          <a:xfrm>
            <a:off x="9828702" y="3187578"/>
            <a:ext cx="2225675" cy="2270613"/>
          </a:xfrm>
          <a:prstGeom prst="rect">
            <a:avLst/>
          </a:prstGeom>
        </p:spPr>
      </p:pic>
      <p:sp>
        <p:nvSpPr>
          <p:cNvPr id="28" name="TextBox 27">
            <a:extLst>
              <a:ext uri="{FF2B5EF4-FFF2-40B4-BE49-F238E27FC236}">
                <a16:creationId xmlns:a16="http://schemas.microsoft.com/office/drawing/2014/main" id="{43587BD9-AFF8-238C-CCAE-866AAB673FCE}"/>
              </a:ext>
            </a:extLst>
          </p:cNvPr>
          <p:cNvSpPr txBox="1"/>
          <p:nvPr/>
        </p:nvSpPr>
        <p:spPr>
          <a:xfrm>
            <a:off x="9368693" y="5627077"/>
            <a:ext cx="446453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baseline="0">
                <a:solidFill>
                  <a:srgbClr val="154734"/>
                </a:solidFill>
                <a:latin typeface="Calibri"/>
              </a:rPr>
              <a:t>FIG </a:t>
            </a:r>
            <a:r>
              <a:rPr lang="en-US" sz="1600" b="1">
                <a:solidFill>
                  <a:srgbClr val="154734"/>
                </a:solidFill>
                <a:latin typeface="Calibri"/>
              </a:rPr>
              <a:t>1.10</a:t>
            </a:r>
            <a:r>
              <a:rPr lang="en-US" sz="1600" b="1" baseline="0">
                <a:solidFill>
                  <a:srgbClr val="154734"/>
                </a:solidFill>
                <a:latin typeface="Calibri"/>
              </a:rPr>
              <a:t> </a:t>
            </a:r>
            <a:r>
              <a:rPr lang="en-US" sz="1600" baseline="0">
                <a:solidFill>
                  <a:srgbClr val="154734"/>
                </a:solidFill>
                <a:latin typeface="Calibri"/>
              </a:rPr>
              <a:t> </a:t>
            </a:r>
            <a:r>
              <a:rPr lang="en-US" sz="1600">
                <a:solidFill>
                  <a:srgbClr val="154734"/>
                </a:solidFill>
                <a:latin typeface="Calibri"/>
              </a:rPr>
              <a:t>Isometric Mount View</a:t>
            </a:r>
            <a:endParaRPr lang="en-US" sz="1600">
              <a:ea typeface="Calibri"/>
              <a:cs typeface="Calibri"/>
            </a:endParaRPr>
          </a:p>
          <a:p>
            <a:pPr algn="ctr"/>
            <a:endParaRPr lang="en-US" sz="1600">
              <a:ea typeface="Calibri"/>
              <a:cs typeface="Calibri"/>
            </a:endParaRPr>
          </a:p>
        </p:txBody>
      </p:sp>
      <p:sp>
        <p:nvSpPr>
          <p:cNvPr id="30" name="TextBox 29">
            <a:extLst>
              <a:ext uri="{FF2B5EF4-FFF2-40B4-BE49-F238E27FC236}">
                <a16:creationId xmlns:a16="http://schemas.microsoft.com/office/drawing/2014/main" id="{2A6FB811-9BB6-51AC-B9A5-EBA1B27BD234}"/>
              </a:ext>
            </a:extLst>
          </p:cNvPr>
          <p:cNvSpPr txBox="1"/>
          <p:nvPr/>
        </p:nvSpPr>
        <p:spPr>
          <a:xfrm>
            <a:off x="5197231" y="5920154"/>
            <a:ext cx="6096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baseline="0">
                <a:solidFill>
                  <a:srgbClr val="154734"/>
                </a:solidFill>
                <a:latin typeface="Calibri"/>
              </a:rPr>
              <a:t>FIG </a:t>
            </a:r>
            <a:r>
              <a:rPr lang="en-US" sz="1600" b="1">
                <a:solidFill>
                  <a:srgbClr val="154734"/>
                </a:solidFill>
                <a:latin typeface="Calibri"/>
              </a:rPr>
              <a:t>1.9</a:t>
            </a:r>
            <a:r>
              <a:rPr lang="en-US" sz="1600" b="1" baseline="0">
                <a:solidFill>
                  <a:srgbClr val="154734"/>
                </a:solidFill>
                <a:latin typeface="Calibri"/>
              </a:rPr>
              <a:t> </a:t>
            </a:r>
            <a:r>
              <a:rPr lang="en-US" sz="1600" baseline="0">
                <a:solidFill>
                  <a:srgbClr val="154734"/>
                </a:solidFill>
                <a:latin typeface="Calibri"/>
              </a:rPr>
              <a:t> </a:t>
            </a:r>
            <a:r>
              <a:rPr lang="en-US" sz="1600">
                <a:solidFill>
                  <a:srgbClr val="154734"/>
                </a:solidFill>
                <a:latin typeface="Calibri"/>
              </a:rPr>
              <a:t>Mounting</a:t>
            </a:r>
            <a:r>
              <a:rPr lang="en-US" sz="1600" baseline="0">
                <a:solidFill>
                  <a:srgbClr val="154734"/>
                </a:solidFill>
                <a:latin typeface="Calibri"/>
              </a:rPr>
              <a:t> </a:t>
            </a:r>
            <a:r>
              <a:rPr lang="en-US" sz="1600">
                <a:solidFill>
                  <a:srgbClr val="154734"/>
                </a:solidFill>
                <a:latin typeface="Calibri"/>
              </a:rPr>
              <a:t>Section View</a:t>
            </a:r>
            <a:r>
              <a:rPr sz="1600">
                <a:latin typeface="Calibri"/>
                <a:ea typeface="Calibri"/>
                <a:cs typeface="Calibri"/>
              </a:rPr>
              <a:t>​</a:t>
            </a:r>
            <a:endParaRPr lang="en-US">
              <a:ea typeface="Calibri" panose="020F0502020204030204"/>
              <a:cs typeface="Calibri" panose="020F0502020204030204"/>
            </a:endParaRPr>
          </a:p>
          <a:p>
            <a:pPr algn="ctr"/>
            <a:endParaRPr lang="en-US"/>
          </a:p>
        </p:txBody>
      </p:sp>
      <p:sp>
        <p:nvSpPr>
          <p:cNvPr id="42" name="TextBox 41">
            <a:extLst>
              <a:ext uri="{FF2B5EF4-FFF2-40B4-BE49-F238E27FC236}">
                <a16:creationId xmlns:a16="http://schemas.microsoft.com/office/drawing/2014/main" id="{EF1F2700-CD57-682C-671D-3208EE97C2E1}"/>
              </a:ext>
            </a:extLst>
          </p:cNvPr>
          <p:cNvSpPr txBox="1"/>
          <p:nvPr/>
        </p:nvSpPr>
        <p:spPr>
          <a:xfrm>
            <a:off x="9691077" y="1543539"/>
            <a:ext cx="1035539"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ea typeface="Calibri"/>
                <a:cs typeface="Calibri"/>
              </a:rPr>
              <a:t>Fuel Bulkhead</a:t>
            </a:r>
          </a:p>
          <a:p>
            <a:pPr algn="ctr"/>
            <a:endParaRPr lang="en-US"/>
          </a:p>
        </p:txBody>
      </p:sp>
      <p:sp>
        <p:nvSpPr>
          <p:cNvPr id="45" name="TextBox 44">
            <a:extLst>
              <a:ext uri="{FF2B5EF4-FFF2-40B4-BE49-F238E27FC236}">
                <a16:creationId xmlns:a16="http://schemas.microsoft.com/office/drawing/2014/main" id="{71AF4C3E-A1B0-67A7-199C-341938898D77}"/>
              </a:ext>
            </a:extLst>
          </p:cNvPr>
          <p:cNvSpPr txBox="1"/>
          <p:nvPr/>
        </p:nvSpPr>
        <p:spPr>
          <a:xfrm>
            <a:off x="8870462" y="2735384"/>
            <a:ext cx="6096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Threaded rod (x6)</a:t>
            </a:r>
          </a:p>
          <a:p>
            <a:pPr algn="ctr"/>
            <a:endParaRPr lang="en-US"/>
          </a:p>
        </p:txBody>
      </p:sp>
      <p:pic>
        <p:nvPicPr>
          <p:cNvPr id="47" name="Picture 46" descr="A close-up of a machine&#10;&#10;AI-generated content may be incorrect.">
            <a:extLst>
              <a:ext uri="{FF2B5EF4-FFF2-40B4-BE49-F238E27FC236}">
                <a16:creationId xmlns:a16="http://schemas.microsoft.com/office/drawing/2014/main" id="{BF72DAD6-26A3-4848-40F8-D5E8B2D85AE5}"/>
              </a:ext>
            </a:extLst>
          </p:cNvPr>
          <p:cNvPicPr>
            <a:picLocks noChangeAspect="1"/>
          </p:cNvPicPr>
          <p:nvPr/>
        </p:nvPicPr>
        <p:blipFill>
          <a:blip r:embed="rId5"/>
          <a:stretch>
            <a:fillRect/>
          </a:stretch>
        </p:blipFill>
        <p:spPr>
          <a:xfrm>
            <a:off x="4828809" y="1337896"/>
            <a:ext cx="3696922" cy="4436208"/>
          </a:xfrm>
          <a:prstGeom prst="rect">
            <a:avLst/>
          </a:prstGeom>
        </p:spPr>
      </p:pic>
      <p:sp>
        <p:nvSpPr>
          <p:cNvPr id="48" name="Arrow: Right 47">
            <a:extLst>
              <a:ext uri="{FF2B5EF4-FFF2-40B4-BE49-F238E27FC236}">
                <a16:creationId xmlns:a16="http://schemas.microsoft.com/office/drawing/2014/main" id="{AD30F5C2-8C81-3168-A7FC-DFCDA74E4A0E}"/>
              </a:ext>
            </a:extLst>
          </p:cNvPr>
          <p:cNvSpPr/>
          <p:nvPr/>
        </p:nvSpPr>
        <p:spPr>
          <a:xfrm rot="9540000">
            <a:off x="7494881" y="3148137"/>
            <a:ext cx="1399082"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C00000"/>
              </a:solidFill>
              <a:ea typeface="Calibri"/>
              <a:cs typeface="Calibri"/>
            </a:endParaRPr>
          </a:p>
        </p:txBody>
      </p:sp>
      <p:sp>
        <p:nvSpPr>
          <p:cNvPr id="49" name="Arrow: Right 48">
            <a:extLst>
              <a:ext uri="{FF2B5EF4-FFF2-40B4-BE49-F238E27FC236}">
                <a16:creationId xmlns:a16="http://schemas.microsoft.com/office/drawing/2014/main" id="{F7737BDF-DD5D-1262-61F4-109A444FE29B}"/>
              </a:ext>
            </a:extLst>
          </p:cNvPr>
          <p:cNvSpPr/>
          <p:nvPr/>
        </p:nvSpPr>
        <p:spPr>
          <a:xfrm rot="10800000">
            <a:off x="8466578" y="1717030"/>
            <a:ext cx="1223237"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C00000"/>
              </a:solidFill>
              <a:ea typeface="Calibri"/>
              <a:cs typeface="Calibri"/>
            </a:endParaRPr>
          </a:p>
        </p:txBody>
      </p:sp>
      <p:sp>
        <p:nvSpPr>
          <p:cNvPr id="50" name="Arrow: Right 49">
            <a:extLst>
              <a:ext uri="{FF2B5EF4-FFF2-40B4-BE49-F238E27FC236}">
                <a16:creationId xmlns:a16="http://schemas.microsoft.com/office/drawing/2014/main" id="{EFACC8E4-D76F-BF27-E6C9-1D046E46A0D1}"/>
              </a:ext>
            </a:extLst>
          </p:cNvPr>
          <p:cNvSpPr/>
          <p:nvPr/>
        </p:nvSpPr>
        <p:spPr>
          <a:xfrm rot="9480000">
            <a:off x="7527440" y="4002366"/>
            <a:ext cx="910622" cy="3309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C00000"/>
              </a:solidFill>
              <a:ea typeface="Calibri"/>
              <a:cs typeface="Calibri"/>
            </a:endParaRPr>
          </a:p>
        </p:txBody>
      </p:sp>
      <p:sp>
        <p:nvSpPr>
          <p:cNvPr id="51" name="TextBox 50">
            <a:extLst>
              <a:ext uri="{FF2B5EF4-FFF2-40B4-BE49-F238E27FC236}">
                <a16:creationId xmlns:a16="http://schemas.microsoft.com/office/drawing/2014/main" id="{5F8E0A42-59C9-01E8-E6D1-B62746308363}"/>
              </a:ext>
            </a:extLst>
          </p:cNvPr>
          <p:cNvSpPr txBox="1"/>
          <p:nvPr/>
        </p:nvSpPr>
        <p:spPr>
          <a:xfrm>
            <a:off x="8557846" y="3839309"/>
            <a:ext cx="1436078"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154734"/>
                </a:solidFill>
                <a:latin typeface="Calibri"/>
              </a:rPr>
              <a:t>Nut </a:t>
            </a:r>
            <a:r>
              <a:rPr lang="en-US" sz="1600" baseline="0">
                <a:solidFill>
                  <a:srgbClr val="154734"/>
                </a:solidFill>
                <a:latin typeface="Calibri"/>
              </a:rPr>
              <a:t>(x6)</a:t>
            </a:r>
            <a:endParaRPr lang="en-US"/>
          </a:p>
          <a:p>
            <a:pPr algn="ctr"/>
            <a:endParaRPr lang="en-US"/>
          </a:p>
        </p:txBody>
      </p:sp>
      <p:sp>
        <p:nvSpPr>
          <p:cNvPr id="7" name="Arrow: Right 6">
            <a:extLst>
              <a:ext uri="{FF2B5EF4-FFF2-40B4-BE49-F238E27FC236}">
                <a16:creationId xmlns:a16="http://schemas.microsoft.com/office/drawing/2014/main" id="{0CB47791-A26F-CD4A-E338-C76F1274CF34}"/>
              </a:ext>
            </a:extLst>
          </p:cNvPr>
          <p:cNvSpPr/>
          <p:nvPr/>
        </p:nvSpPr>
        <p:spPr>
          <a:xfrm rot="10800000">
            <a:off x="8466577" y="1717030"/>
            <a:ext cx="1223237" cy="3602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C00000"/>
              </a:solidFill>
              <a:ea typeface="Calibri"/>
              <a:cs typeface="Calibri"/>
            </a:endParaRPr>
          </a:p>
        </p:txBody>
      </p:sp>
      <p:sp>
        <p:nvSpPr>
          <p:cNvPr id="9" name="Arrow: Right 8">
            <a:extLst>
              <a:ext uri="{FF2B5EF4-FFF2-40B4-BE49-F238E27FC236}">
                <a16:creationId xmlns:a16="http://schemas.microsoft.com/office/drawing/2014/main" id="{F875A609-7B7B-6FB7-A4CE-4CBB47CC0491}"/>
              </a:ext>
            </a:extLst>
          </p:cNvPr>
          <p:cNvSpPr/>
          <p:nvPr/>
        </p:nvSpPr>
        <p:spPr>
          <a:xfrm rot="10320000">
            <a:off x="7494462" y="4751417"/>
            <a:ext cx="1184161" cy="3309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C00000"/>
              </a:solidFill>
              <a:ea typeface="Calibri"/>
              <a:cs typeface="Calibri"/>
            </a:endParaRPr>
          </a:p>
        </p:txBody>
      </p:sp>
      <p:sp>
        <p:nvSpPr>
          <p:cNvPr id="10" name="TextBox 9">
            <a:extLst>
              <a:ext uri="{FF2B5EF4-FFF2-40B4-BE49-F238E27FC236}">
                <a16:creationId xmlns:a16="http://schemas.microsoft.com/office/drawing/2014/main" id="{7CB98ABB-A0DF-8C2B-7D18-35E5587434CC}"/>
              </a:ext>
            </a:extLst>
          </p:cNvPr>
          <p:cNvSpPr txBox="1"/>
          <p:nvPr/>
        </p:nvSpPr>
        <p:spPr>
          <a:xfrm>
            <a:off x="8723923" y="4493847"/>
            <a:ext cx="60960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a:cs typeface="Calibri"/>
              </a:rPr>
              <a:t>Motor</a:t>
            </a:r>
          </a:p>
          <a:p>
            <a:r>
              <a:rPr lang="en-US" sz="1600">
                <a:ea typeface="Calibri"/>
                <a:cs typeface="Calibri"/>
              </a:rPr>
              <a:t>Mount</a:t>
            </a:r>
          </a:p>
          <a:p>
            <a:pPr algn="ctr"/>
            <a:endParaRPr lang="en-US">
              <a:ea typeface="Calibri" panose="020F0502020204030204"/>
              <a:cs typeface="Calibri" panose="020F0502020204030204"/>
            </a:endParaRPr>
          </a:p>
        </p:txBody>
      </p:sp>
      <p:sp>
        <p:nvSpPr>
          <p:cNvPr id="11" name="Arrow: Right 10">
            <a:extLst>
              <a:ext uri="{FF2B5EF4-FFF2-40B4-BE49-F238E27FC236}">
                <a16:creationId xmlns:a16="http://schemas.microsoft.com/office/drawing/2014/main" id="{86893A45-7492-E3B6-A656-A381F7CD2A18}"/>
              </a:ext>
            </a:extLst>
          </p:cNvPr>
          <p:cNvSpPr/>
          <p:nvPr/>
        </p:nvSpPr>
        <p:spPr>
          <a:xfrm rot="10800000">
            <a:off x="7338573" y="5619752"/>
            <a:ext cx="1203698" cy="3016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rgbClr val="C00000"/>
              </a:solidFill>
              <a:ea typeface="Calibri"/>
              <a:cs typeface="Calibri"/>
            </a:endParaRPr>
          </a:p>
        </p:txBody>
      </p:sp>
    </p:spTree>
    <p:extLst>
      <p:ext uri="{BB962C8B-B14F-4D97-AF65-F5344CB8AC3E}">
        <p14:creationId xmlns:p14="http://schemas.microsoft.com/office/powerpoint/2010/main" val="371650710"/>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0F3D1-2023-5089-9803-8A8955666DF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60B6AFE-F7A3-6BDD-5C02-89421D8BA773}"/>
              </a:ext>
            </a:extLst>
          </p:cNvPr>
          <p:cNvSpPr>
            <a:spLocks noGrp="1"/>
          </p:cNvSpPr>
          <p:nvPr>
            <p:ph type="body" sz="quarter" idx="15"/>
          </p:nvPr>
        </p:nvSpPr>
        <p:spPr>
          <a:xfrm>
            <a:off x="838199" y="1969476"/>
            <a:ext cx="6653668" cy="4033401"/>
          </a:xfrm>
        </p:spPr>
        <p:txBody>
          <a:bodyPr numCol="1"/>
          <a:lstStyle/>
          <a:p>
            <a:pPr marL="121916" indent="0">
              <a:buNone/>
            </a:pPr>
            <a:r>
              <a:rPr lang="en-US" b="1"/>
              <a:t>Key Features</a:t>
            </a:r>
          </a:p>
          <a:p>
            <a:r>
              <a:rPr lang="en-US" b="1"/>
              <a:t>PWM</a:t>
            </a:r>
            <a:r>
              <a:rPr lang="en-US"/>
              <a:t> </a:t>
            </a:r>
            <a:r>
              <a:rPr lang="en-US" b="1"/>
              <a:t>Command</a:t>
            </a:r>
            <a:r>
              <a:rPr lang="en-US"/>
              <a:t> from Engine Controller (0-100% RPM)</a:t>
            </a:r>
          </a:p>
          <a:p>
            <a:r>
              <a:rPr lang="en-US" b="1"/>
              <a:t>FOC Motor Controller </a:t>
            </a:r>
            <a:r>
              <a:rPr lang="en-US"/>
              <a:t>– Motor Curve Optimized Automatically</a:t>
            </a:r>
          </a:p>
          <a:p>
            <a:r>
              <a:rPr lang="en-US" b="1"/>
              <a:t>XT60</a:t>
            </a:r>
            <a:r>
              <a:rPr lang="en-US"/>
              <a:t>: 60A continuous, 180A peak</a:t>
            </a:r>
          </a:p>
          <a:p>
            <a:r>
              <a:rPr lang="en-US" b="1"/>
              <a:t>Battery</a:t>
            </a:r>
            <a:r>
              <a:rPr lang="en-US"/>
              <a:t>:</a:t>
            </a:r>
          </a:p>
          <a:p>
            <a:pPr marL="742939" lvl="1" indent="-285750">
              <a:buFont typeface="Arial" panose="020B0604020202020204" pitchFamily="34" charset="0"/>
              <a:buChar char="•"/>
            </a:pPr>
            <a:r>
              <a:rPr lang="en-US"/>
              <a:t>2x Drone batteries in series – 2x 6s (22.2V each)</a:t>
            </a:r>
          </a:p>
          <a:p>
            <a:pPr marL="742939" lvl="1" indent="-285750">
              <a:buFont typeface="Arial" panose="020B0604020202020204" pitchFamily="34" charset="0"/>
              <a:buChar char="•"/>
            </a:pPr>
            <a:r>
              <a:rPr lang="en-US"/>
              <a:t>Size: </a:t>
            </a:r>
            <a:r>
              <a:rPr lang="en-US" b="1"/>
              <a:t>5000 </a:t>
            </a:r>
            <a:r>
              <a:rPr lang="en-US" b="1" err="1"/>
              <a:t>mAh</a:t>
            </a:r>
            <a:r>
              <a:rPr lang="en-US" b="1"/>
              <a:t> minimum </a:t>
            </a:r>
            <a:r>
              <a:rPr lang="en-US"/>
              <a:t>– uses ~12% of capacity for 10s spin at 10000W. </a:t>
            </a:r>
          </a:p>
          <a:p>
            <a:pPr marL="742939" lvl="1" indent="-285750">
              <a:buFont typeface="Arial" panose="020B0604020202020204" pitchFamily="34" charset="0"/>
              <a:buChar char="•"/>
            </a:pPr>
            <a:r>
              <a:rPr lang="en-US"/>
              <a:t>C rating: &gt;= 50 (for worst case of 200A)</a:t>
            </a:r>
          </a:p>
          <a:p>
            <a:r>
              <a:rPr lang="en-US" b="1"/>
              <a:t>Weight: </a:t>
            </a:r>
            <a:r>
              <a:rPr lang="en-US"/>
              <a:t>&lt;= 6  </a:t>
            </a:r>
            <a:r>
              <a:rPr lang="en-US" err="1"/>
              <a:t>lbs</a:t>
            </a:r>
            <a:r>
              <a:rPr lang="en-US"/>
              <a:t> (Motor + Controller + Batteries + Mounts)</a:t>
            </a:r>
          </a:p>
        </p:txBody>
      </p:sp>
      <p:sp>
        <p:nvSpPr>
          <p:cNvPr id="3" name="Title 2">
            <a:extLst>
              <a:ext uri="{FF2B5EF4-FFF2-40B4-BE49-F238E27FC236}">
                <a16:creationId xmlns:a16="http://schemas.microsoft.com/office/drawing/2014/main" id="{646BF8B0-83DE-F5D8-B0CD-151467088DCF}"/>
              </a:ext>
            </a:extLst>
          </p:cNvPr>
          <p:cNvSpPr>
            <a:spLocks noGrp="1"/>
          </p:cNvSpPr>
          <p:nvPr>
            <p:ph type="title"/>
          </p:nvPr>
        </p:nvSpPr>
        <p:spPr/>
        <p:txBody>
          <a:bodyPr/>
          <a:lstStyle/>
          <a:p>
            <a:r>
              <a:rPr lang="en-US"/>
              <a:t>Pump Electronics</a:t>
            </a:r>
          </a:p>
        </p:txBody>
      </p:sp>
      <p:sp>
        <p:nvSpPr>
          <p:cNvPr id="4" name="Text Placeholder 3">
            <a:extLst>
              <a:ext uri="{FF2B5EF4-FFF2-40B4-BE49-F238E27FC236}">
                <a16:creationId xmlns:a16="http://schemas.microsoft.com/office/drawing/2014/main" id="{98A40D0B-8268-7A53-864F-72EF48C2A79D}"/>
              </a:ext>
            </a:extLst>
          </p:cNvPr>
          <p:cNvSpPr>
            <a:spLocks noGrp="1"/>
          </p:cNvSpPr>
          <p:nvPr>
            <p:ph type="body" sz="quarter" idx="13"/>
          </p:nvPr>
        </p:nvSpPr>
        <p:spPr/>
        <p:txBody>
          <a:bodyPr/>
          <a:lstStyle/>
          <a:p>
            <a:r>
              <a:rPr lang="en-US"/>
              <a:t>Wiring Diagram</a:t>
            </a:r>
          </a:p>
        </p:txBody>
      </p:sp>
      <p:sp>
        <p:nvSpPr>
          <p:cNvPr id="8" name="Footer Placeholder 2">
            <a:extLst>
              <a:ext uri="{FF2B5EF4-FFF2-40B4-BE49-F238E27FC236}">
                <a16:creationId xmlns:a16="http://schemas.microsoft.com/office/drawing/2014/main" id="{9ADB865F-5CDC-EC95-BEEB-A45FD2A81D17}"/>
              </a:ext>
            </a:extLst>
          </p:cNvPr>
          <p:cNvSpPr>
            <a:spLocks noGrp="1"/>
          </p:cNvSpPr>
          <p:nvPr>
            <p:ph type="ftr" sz="quarter" idx="16"/>
          </p:nvPr>
        </p:nvSpPr>
        <p:spPr>
          <a:xfrm>
            <a:off x="7491867" y="6337861"/>
            <a:ext cx="4114800" cy="366183"/>
          </a:xfrm>
        </p:spPr>
        <p:txBody>
          <a:bodyPr/>
          <a:lstStyle/>
          <a:p>
            <a:r>
              <a:rPr lang="en-US" sz="900">
                <a:latin typeface="Source Sans Pro"/>
                <a:ea typeface="Source Sans Pro"/>
              </a:rPr>
              <a:t>ARCHERFISH CDR</a:t>
            </a:r>
            <a:endParaRPr lang="en-US"/>
          </a:p>
        </p:txBody>
      </p:sp>
      <p:sp>
        <p:nvSpPr>
          <p:cNvPr id="10" name="Slide Number Placeholder 3">
            <a:extLst>
              <a:ext uri="{FF2B5EF4-FFF2-40B4-BE49-F238E27FC236}">
                <a16:creationId xmlns:a16="http://schemas.microsoft.com/office/drawing/2014/main" id="{C4F95780-71EC-209B-739C-03A128459555}"/>
              </a:ext>
            </a:extLst>
          </p:cNvPr>
          <p:cNvSpPr>
            <a:spLocks noGrp="1"/>
          </p:cNvSpPr>
          <p:nvPr>
            <p:ph type="sldNum" sz="quarter" idx="17"/>
          </p:nvPr>
        </p:nvSpPr>
        <p:spPr>
          <a:xfrm>
            <a:off x="11379199" y="6337861"/>
            <a:ext cx="544856" cy="366183"/>
          </a:xfrm>
        </p:spPr>
        <p:txBody>
          <a:bodyPr/>
          <a:lstStyle/>
          <a:p>
            <a:r>
              <a:rPr lang="en-US"/>
              <a:t>/   </a:t>
            </a:r>
            <a:fld id="{6C7E6F33-74EE-5541-8108-8353B402F8C1}" type="slidenum">
              <a:rPr lang="en-US" smtClean="0"/>
              <a:pPr/>
              <a:t>20</a:t>
            </a:fld>
            <a:endParaRPr lang="en-US"/>
          </a:p>
        </p:txBody>
      </p:sp>
      <p:pic>
        <p:nvPicPr>
          <p:cNvPr id="9" name="Picture 8">
            <a:extLst>
              <a:ext uri="{FF2B5EF4-FFF2-40B4-BE49-F238E27FC236}">
                <a16:creationId xmlns:a16="http://schemas.microsoft.com/office/drawing/2014/main" id="{A1A0F94D-A701-2394-BE41-5B23A402867E}"/>
              </a:ext>
            </a:extLst>
          </p:cNvPr>
          <p:cNvPicPr>
            <a:picLocks noChangeAspect="1"/>
          </p:cNvPicPr>
          <p:nvPr/>
        </p:nvPicPr>
        <p:blipFill>
          <a:blip r:embed="rId4"/>
          <a:srcRect/>
          <a:stretch/>
        </p:blipFill>
        <p:spPr>
          <a:xfrm>
            <a:off x="7866516" y="2259056"/>
            <a:ext cx="3629025" cy="3162300"/>
          </a:xfrm>
          <a:prstGeom prst="rect">
            <a:avLst/>
          </a:prstGeom>
        </p:spPr>
      </p:pic>
      <p:sp>
        <p:nvSpPr>
          <p:cNvPr id="11" name="Text Placeholder 1">
            <a:extLst>
              <a:ext uri="{FF2B5EF4-FFF2-40B4-BE49-F238E27FC236}">
                <a16:creationId xmlns:a16="http://schemas.microsoft.com/office/drawing/2014/main" id="{ABFA3BC7-1FF4-9648-CBFE-A02B18AABEDA}"/>
              </a:ext>
            </a:extLst>
          </p:cNvPr>
          <p:cNvSpPr txBox="1">
            <a:spLocks/>
          </p:cNvSpPr>
          <p:nvPr/>
        </p:nvSpPr>
        <p:spPr>
          <a:xfrm>
            <a:off x="7060280" y="5532077"/>
            <a:ext cx="4977974" cy="347531"/>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lgn="ctr">
              <a:buNone/>
            </a:pPr>
            <a:r>
              <a:rPr lang="en-US" sz="1400" b="1">
                <a:ea typeface="Source Sans Pro"/>
              </a:rPr>
              <a:t>Fig 1.11 </a:t>
            </a:r>
            <a:r>
              <a:rPr lang="en-US" sz="1400">
                <a:ea typeface="Source Sans Pro"/>
              </a:rPr>
              <a:t>Flight Pump Wiring Diagram</a:t>
            </a:r>
          </a:p>
        </p:txBody>
      </p:sp>
    </p:spTree>
    <p:extLst>
      <p:ext uri="{BB962C8B-B14F-4D97-AF65-F5344CB8AC3E}">
        <p14:creationId xmlns:p14="http://schemas.microsoft.com/office/powerpoint/2010/main" val="2985440215"/>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6741240-6CE6-7396-B2CC-26548AE8C393}"/>
              </a:ext>
            </a:extLst>
          </p:cNvPr>
          <p:cNvSpPr>
            <a:spLocks noGrp="1"/>
          </p:cNvSpPr>
          <p:nvPr>
            <p:ph type="body" sz="quarter" idx="15"/>
          </p:nvPr>
        </p:nvSpPr>
        <p:spPr>
          <a:xfrm>
            <a:off x="838198" y="1969476"/>
            <a:ext cx="7681688" cy="4033401"/>
          </a:xfrm>
        </p:spPr>
        <p:txBody>
          <a:bodyPr numCol="1"/>
          <a:lstStyle/>
          <a:p>
            <a:r>
              <a:rPr lang="en-US" b="1"/>
              <a:t>Design – </a:t>
            </a:r>
            <a:r>
              <a:rPr lang="en-US"/>
              <a:t>Update design with feedback</a:t>
            </a:r>
            <a:endParaRPr lang="en-US" b="1"/>
          </a:p>
          <a:p>
            <a:endParaRPr lang="en-US" b="1"/>
          </a:p>
          <a:p>
            <a:r>
              <a:rPr lang="en-US" b="1"/>
              <a:t>Manufacture – </a:t>
            </a:r>
            <a:r>
              <a:rPr lang="en-US"/>
              <a:t>Casing, Impeller, Mounting, etc.</a:t>
            </a:r>
          </a:p>
          <a:p>
            <a:endParaRPr lang="en-US"/>
          </a:p>
          <a:p>
            <a:r>
              <a:rPr lang="en-US" b="1"/>
              <a:t>Testing – </a:t>
            </a:r>
            <a:r>
              <a:rPr lang="en-US"/>
              <a:t>Test AP1 (Pump curve + Integrated Hot Fire Test)</a:t>
            </a:r>
          </a:p>
          <a:p>
            <a:endParaRPr lang="en-US"/>
          </a:p>
        </p:txBody>
      </p:sp>
      <p:sp>
        <p:nvSpPr>
          <p:cNvPr id="3" name="Title 2">
            <a:extLst>
              <a:ext uri="{FF2B5EF4-FFF2-40B4-BE49-F238E27FC236}">
                <a16:creationId xmlns:a16="http://schemas.microsoft.com/office/drawing/2014/main" id="{EBDC1874-5114-CC06-DD69-826C8CF8DAA0}"/>
              </a:ext>
            </a:extLst>
          </p:cNvPr>
          <p:cNvSpPr>
            <a:spLocks noGrp="1"/>
          </p:cNvSpPr>
          <p:nvPr>
            <p:ph type="title"/>
          </p:nvPr>
        </p:nvSpPr>
        <p:spPr/>
        <p:txBody>
          <a:bodyPr/>
          <a:lstStyle/>
          <a:p>
            <a:r>
              <a:rPr lang="en-US"/>
              <a:t>Future Steps</a:t>
            </a:r>
          </a:p>
        </p:txBody>
      </p:sp>
      <p:sp>
        <p:nvSpPr>
          <p:cNvPr id="4" name="Text Placeholder 3">
            <a:extLst>
              <a:ext uri="{FF2B5EF4-FFF2-40B4-BE49-F238E27FC236}">
                <a16:creationId xmlns:a16="http://schemas.microsoft.com/office/drawing/2014/main" id="{B8EC1DF6-9461-026C-BC2C-74ABB8D9D8C6}"/>
              </a:ext>
            </a:extLst>
          </p:cNvPr>
          <p:cNvSpPr>
            <a:spLocks noGrp="1"/>
          </p:cNvSpPr>
          <p:nvPr>
            <p:ph type="body" sz="quarter" idx="13"/>
          </p:nvPr>
        </p:nvSpPr>
        <p:spPr/>
        <p:txBody>
          <a:bodyPr/>
          <a:lstStyle/>
          <a:p>
            <a:r>
              <a:rPr lang="en-US"/>
              <a:t>To-Do</a:t>
            </a:r>
          </a:p>
        </p:txBody>
      </p:sp>
      <p:sp>
        <p:nvSpPr>
          <p:cNvPr id="6" name="Footer Placeholder 2">
            <a:extLst>
              <a:ext uri="{FF2B5EF4-FFF2-40B4-BE49-F238E27FC236}">
                <a16:creationId xmlns:a16="http://schemas.microsoft.com/office/drawing/2014/main" id="{C10EA329-2C60-E694-0612-5F1B3A05BA04}"/>
              </a:ext>
            </a:extLst>
          </p:cNvPr>
          <p:cNvSpPr>
            <a:spLocks noGrp="1"/>
          </p:cNvSpPr>
          <p:nvPr>
            <p:ph type="ftr" sz="quarter" idx="16"/>
          </p:nvPr>
        </p:nvSpPr>
        <p:spPr>
          <a:xfrm>
            <a:off x="7491867" y="6351113"/>
            <a:ext cx="4114800" cy="366183"/>
          </a:xfrm>
        </p:spPr>
        <p:txBody>
          <a:bodyPr/>
          <a:lstStyle/>
          <a:p>
            <a:r>
              <a:rPr lang="en-US" sz="900">
                <a:latin typeface="Source Sans Pro"/>
                <a:ea typeface="Source Sans Pro"/>
              </a:rPr>
              <a:t>ARCHERFISH CDR</a:t>
            </a:r>
            <a:endParaRPr lang="en-US"/>
          </a:p>
        </p:txBody>
      </p:sp>
      <p:sp>
        <p:nvSpPr>
          <p:cNvPr id="8" name="Slide Number Placeholder 3">
            <a:extLst>
              <a:ext uri="{FF2B5EF4-FFF2-40B4-BE49-F238E27FC236}">
                <a16:creationId xmlns:a16="http://schemas.microsoft.com/office/drawing/2014/main" id="{9F49F17D-4704-933B-55C7-2501A8F39AD8}"/>
              </a:ext>
            </a:extLst>
          </p:cNvPr>
          <p:cNvSpPr>
            <a:spLocks noGrp="1"/>
          </p:cNvSpPr>
          <p:nvPr>
            <p:ph type="sldNum" sz="quarter" idx="17"/>
          </p:nvPr>
        </p:nvSpPr>
        <p:spPr>
          <a:xfrm>
            <a:off x="11379199" y="6351113"/>
            <a:ext cx="544856" cy="366183"/>
          </a:xfrm>
        </p:spPr>
        <p:txBody>
          <a:bodyPr/>
          <a:lstStyle/>
          <a:p>
            <a:r>
              <a:rPr lang="en-US"/>
              <a:t>/   </a:t>
            </a:r>
            <a:fld id="{6C7E6F33-74EE-5541-8108-8353B402F8C1}" type="slidenum">
              <a:rPr lang="en-US" smtClean="0"/>
              <a:pPr/>
              <a:t>21</a:t>
            </a:fld>
            <a:endParaRPr lang="en-US"/>
          </a:p>
        </p:txBody>
      </p:sp>
      <p:sp>
        <p:nvSpPr>
          <p:cNvPr id="5" name="Text Placeholder 1">
            <a:extLst>
              <a:ext uri="{FF2B5EF4-FFF2-40B4-BE49-F238E27FC236}">
                <a16:creationId xmlns:a16="http://schemas.microsoft.com/office/drawing/2014/main" id="{8AC74330-75A0-1112-6B97-B36E11F02E91}"/>
              </a:ext>
            </a:extLst>
          </p:cNvPr>
          <p:cNvSpPr txBox="1">
            <a:spLocks/>
          </p:cNvSpPr>
          <p:nvPr/>
        </p:nvSpPr>
        <p:spPr>
          <a:xfrm>
            <a:off x="8338457" y="5655346"/>
            <a:ext cx="3550104" cy="347531"/>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lgn="ctr">
              <a:buNone/>
            </a:pPr>
            <a:r>
              <a:rPr lang="en-US" sz="1400" b="1">
                <a:ea typeface="Source Sans Pro"/>
              </a:rPr>
              <a:t>Fig 1.12 </a:t>
            </a:r>
            <a:r>
              <a:rPr lang="en-US" sz="1400">
                <a:ea typeface="Source Sans Pro"/>
              </a:rPr>
              <a:t>BP2 Integrated for Testing</a:t>
            </a:r>
          </a:p>
        </p:txBody>
      </p:sp>
      <p:pic>
        <p:nvPicPr>
          <p:cNvPr id="7" name="Picture 2">
            <a:extLst>
              <a:ext uri="{FF2B5EF4-FFF2-40B4-BE49-F238E27FC236}">
                <a16:creationId xmlns:a16="http://schemas.microsoft.com/office/drawing/2014/main" id="{9C8A971C-8C32-2C44-D101-E682DE93C6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52867" y="1690787"/>
            <a:ext cx="2921284" cy="3895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634345"/>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CE59A-627E-5D4A-12C3-F991E3E08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AD536-CCF8-5902-CEFA-2D593325364B}"/>
              </a:ext>
            </a:extLst>
          </p:cNvPr>
          <p:cNvSpPr>
            <a:spLocks noGrp="1"/>
          </p:cNvSpPr>
          <p:nvPr>
            <p:ph type="title"/>
          </p:nvPr>
        </p:nvSpPr>
        <p:spPr>
          <a:xfrm>
            <a:off x="672347" y="504496"/>
            <a:ext cx="10712828" cy="2200604"/>
          </a:xfrm>
        </p:spPr>
        <p:txBody>
          <a:bodyPr/>
          <a:lstStyle/>
          <a:p>
            <a:r>
              <a:rPr lang="en-US">
                <a:latin typeface="Munistic"/>
              </a:rPr>
              <a:t>Fluids – Bulkheads and Tanks</a:t>
            </a:r>
            <a:endParaRPr lang="en-US"/>
          </a:p>
        </p:txBody>
      </p:sp>
      <p:sp>
        <p:nvSpPr>
          <p:cNvPr id="3" name="Text Placeholder 2">
            <a:extLst>
              <a:ext uri="{FF2B5EF4-FFF2-40B4-BE49-F238E27FC236}">
                <a16:creationId xmlns:a16="http://schemas.microsoft.com/office/drawing/2014/main" id="{02C94B6B-9FF9-A090-444C-9F0DE12B9A3F}"/>
              </a:ext>
            </a:extLst>
          </p:cNvPr>
          <p:cNvSpPr>
            <a:spLocks noGrp="1"/>
          </p:cNvSpPr>
          <p:nvPr>
            <p:ph type="body" sz="quarter" idx="11"/>
          </p:nvPr>
        </p:nvSpPr>
        <p:spPr>
          <a:xfrm>
            <a:off x="672347" y="3086671"/>
            <a:ext cx="7931903" cy="342329"/>
          </a:xfrm>
        </p:spPr>
        <p:txBody>
          <a:bodyPr/>
          <a:lstStyle/>
          <a:p>
            <a:r>
              <a:rPr lang="en-US" sz="1850">
                <a:ea typeface="Source Sans Pro"/>
              </a:rPr>
              <a:t>Presented by: Devin Chen, Gustavo Chavez, Joshua Chung, Sloan Robbins</a:t>
            </a:r>
            <a:endParaRPr lang="en-US" sz="1850">
              <a:ea typeface="Source Sans Pro"/>
              <a:cs typeface="Calibri"/>
            </a:endParaRPr>
          </a:p>
        </p:txBody>
      </p:sp>
    </p:spTree>
    <p:extLst>
      <p:ext uri="{BB962C8B-B14F-4D97-AF65-F5344CB8AC3E}">
        <p14:creationId xmlns:p14="http://schemas.microsoft.com/office/powerpoint/2010/main" val="1315831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C6E9C58-93D3-50C8-33E9-A86D7C7ED069}"/>
              </a:ext>
            </a:extLst>
          </p:cNvPr>
          <p:cNvSpPr>
            <a:spLocks noGrp="1"/>
          </p:cNvSpPr>
          <p:nvPr>
            <p:ph type="ftr" sz="quarter" idx="16"/>
          </p:nvPr>
        </p:nvSpPr>
        <p:spPr>
          <a:xfrm>
            <a:off x="7491867" y="6379688"/>
            <a:ext cx="4114800" cy="366183"/>
          </a:xfrm>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46AD6ED6-0403-F372-A3CB-37D3C00972C7}"/>
              </a:ext>
            </a:extLst>
          </p:cNvPr>
          <p:cNvSpPr>
            <a:spLocks noGrp="1"/>
          </p:cNvSpPr>
          <p:nvPr>
            <p:ph type="sldNum" sz="quarter" idx="17"/>
          </p:nvPr>
        </p:nvSpPr>
        <p:spPr/>
        <p:txBody>
          <a:bodyPr/>
          <a:lstStyle/>
          <a:p>
            <a:r>
              <a:rPr lang="en-US"/>
              <a:t>/   </a:t>
            </a:r>
            <a:fld id="{6C7E6F33-74EE-5541-8108-8353B402F8C1}" type="slidenum">
              <a:rPr lang="en-US" smtClean="0"/>
              <a:pPr/>
              <a:t>23</a:t>
            </a:fld>
            <a:endParaRPr lang="en-US"/>
          </a:p>
        </p:txBody>
      </p:sp>
      <p:sp>
        <p:nvSpPr>
          <p:cNvPr id="5" name="Title 4">
            <a:extLst>
              <a:ext uri="{FF2B5EF4-FFF2-40B4-BE49-F238E27FC236}">
                <a16:creationId xmlns:a16="http://schemas.microsoft.com/office/drawing/2014/main" id="{452A16E1-BEE9-8197-0B90-7D6BBB394438}"/>
              </a:ext>
            </a:extLst>
          </p:cNvPr>
          <p:cNvSpPr>
            <a:spLocks noGrp="1"/>
          </p:cNvSpPr>
          <p:nvPr>
            <p:ph type="title"/>
          </p:nvPr>
        </p:nvSpPr>
        <p:spPr>
          <a:xfrm>
            <a:off x="411043" y="410325"/>
            <a:ext cx="6500585" cy="625567"/>
          </a:xfrm>
        </p:spPr>
        <p:txBody>
          <a:bodyPr/>
          <a:lstStyle/>
          <a:p>
            <a:r>
              <a:rPr lang="en-US">
                <a:latin typeface="Munistic"/>
              </a:rPr>
              <a:t>Bulkhead Requirements</a:t>
            </a:r>
            <a:endParaRPr lang="en-US"/>
          </a:p>
        </p:txBody>
      </p:sp>
      <p:sp>
        <p:nvSpPr>
          <p:cNvPr id="6" name="Text Placeholder 5">
            <a:extLst>
              <a:ext uri="{FF2B5EF4-FFF2-40B4-BE49-F238E27FC236}">
                <a16:creationId xmlns:a16="http://schemas.microsoft.com/office/drawing/2014/main" id="{3C1AFB80-5EAF-A3B0-824C-836DE3FEC970}"/>
              </a:ext>
            </a:extLst>
          </p:cNvPr>
          <p:cNvSpPr>
            <a:spLocks noGrp="1"/>
          </p:cNvSpPr>
          <p:nvPr>
            <p:ph type="body" sz="quarter" idx="13"/>
          </p:nvPr>
        </p:nvSpPr>
        <p:spPr>
          <a:xfrm>
            <a:off x="6911516" y="410325"/>
            <a:ext cx="4673962" cy="625567"/>
          </a:xfrm>
        </p:spPr>
        <p:txBody>
          <a:bodyPr/>
          <a:lstStyle/>
          <a:p>
            <a:r>
              <a:rPr lang="en-US" sz="1850">
                <a:ea typeface="Source Sans Pro"/>
                <a:cs typeface="Calibri"/>
              </a:rPr>
              <a:t>Design Criteria</a:t>
            </a:r>
            <a:endParaRPr lang="en-US"/>
          </a:p>
        </p:txBody>
      </p:sp>
      <p:pic>
        <p:nvPicPr>
          <p:cNvPr id="10" name="Picture 9" descr="A drawing of a cylinder&#10;&#10;AI-generated content may be incorrect.">
            <a:extLst>
              <a:ext uri="{FF2B5EF4-FFF2-40B4-BE49-F238E27FC236}">
                <a16:creationId xmlns:a16="http://schemas.microsoft.com/office/drawing/2014/main" id="{294AAFD3-7797-5282-8DB5-3A95679EDEE8}"/>
              </a:ext>
            </a:extLst>
          </p:cNvPr>
          <p:cNvPicPr>
            <a:picLocks noChangeAspect="1"/>
          </p:cNvPicPr>
          <p:nvPr/>
        </p:nvPicPr>
        <p:blipFill>
          <a:blip r:embed="rId3"/>
          <a:stretch>
            <a:fillRect/>
          </a:stretch>
        </p:blipFill>
        <p:spPr>
          <a:xfrm>
            <a:off x="8042984" y="1075649"/>
            <a:ext cx="3991147" cy="4782457"/>
          </a:xfrm>
          <a:prstGeom prst="rect">
            <a:avLst/>
          </a:prstGeom>
        </p:spPr>
      </p:pic>
      <p:graphicFrame>
        <p:nvGraphicFramePr>
          <p:cNvPr id="13" name="Table 12">
            <a:extLst>
              <a:ext uri="{FF2B5EF4-FFF2-40B4-BE49-F238E27FC236}">
                <a16:creationId xmlns:a16="http://schemas.microsoft.com/office/drawing/2014/main" id="{74ACFDE7-575C-09AD-2664-C6EBEA3EB6CF}"/>
              </a:ext>
            </a:extLst>
          </p:cNvPr>
          <p:cNvGraphicFramePr>
            <a:graphicFrameLocks noGrp="1"/>
          </p:cNvGraphicFramePr>
          <p:nvPr>
            <p:extLst>
              <p:ext uri="{D42A27DB-BD31-4B8C-83A1-F6EECF244321}">
                <p14:modId xmlns:p14="http://schemas.microsoft.com/office/powerpoint/2010/main" val="3134098925"/>
              </p:ext>
            </p:extLst>
          </p:nvPr>
        </p:nvGraphicFramePr>
        <p:xfrm>
          <a:off x="111512" y="1338146"/>
          <a:ext cx="7932883" cy="4127411"/>
        </p:xfrm>
        <a:graphic>
          <a:graphicData uri="http://schemas.openxmlformats.org/drawingml/2006/table">
            <a:tbl>
              <a:tblPr firstRow="1" bandRow="1">
                <a:tableStyleId>{073A0DAA-6AF3-43AB-8588-CEC1D06C72B9}</a:tableStyleId>
              </a:tblPr>
              <a:tblGrid>
                <a:gridCol w="629920">
                  <a:extLst>
                    <a:ext uri="{9D8B030D-6E8A-4147-A177-3AD203B41FA5}">
                      <a16:colId xmlns:a16="http://schemas.microsoft.com/office/drawing/2014/main" val="3089745894"/>
                    </a:ext>
                  </a:extLst>
                </a:gridCol>
                <a:gridCol w="3249126">
                  <a:extLst>
                    <a:ext uri="{9D8B030D-6E8A-4147-A177-3AD203B41FA5}">
                      <a16:colId xmlns:a16="http://schemas.microsoft.com/office/drawing/2014/main" val="2003570306"/>
                    </a:ext>
                  </a:extLst>
                </a:gridCol>
                <a:gridCol w="2773679">
                  <a:extLst>
                    <a:ext uri="{9D8B030D-6E8A-4147-A177-3AD203B41FA5}">
                      <a16:colId xmlns:a16="http://schemas.microsoft.com/office/drawing/2014/main" val="621346601"/>
                    </a:ext>
                  </a:extLst>
                </a:gridCol>
                <a:gridCol w="1280158">
                  <a:extLst>
                    <a:ext uri="{9D8B030D-6E8A-4147-A177-3AD203B41FA5}">
                      <a16:colId xmlns:a16="http://schemas.microsoft.com/office/drawing/2014/main" val="156879667"/>
                    </a:ext>
                  </a:extLst>
                </a:gridCol>
              </a:tblGrid>
              <a:tr h="365759">
                <a:tc>
                  <a:txBody>
                    <a:bodyPr/>
                    <a:lstStyle/>
                    <a:p>
                      <a:r>
                        <a:rPr lang="en-US"/>
                        <a:t>RBS</a:t>
                      </a:r>
                    </a:p>
                  </a:txBody>
                  <a:tcPr/>
                </a:tc>
                <a:tc>
                  <a:txBody>
                    <a:bodyPr/>
                    <a:lstStyle/>
                    <a:p>
                      <a:r>
                        <a:rPr lang="en-US"/>
                        <a:t>Requirement</a:t>
                      </a:r>
                    </a:p>
                  </a:txBody>
                  <a:tcPr/>
                </a:tc>
                <a:tc>
                  <a:txBody>
                    <a:bodyPr/>
                    <a:lstStyle/>
                    <a:p>
                      <a:r>
                        <a:rPr lang="en-US"/>
                        <a:t>Rationale</a:t>
                      </a:r>
                    </a:p>
                  </a:txBody>
                  <a:tcPr/>
                </a:tc>
                <a:tc>
                  <a:txBody>
                    <a:bodyPr/>
                    <a:lstStyle/>
                    <a:p>
                      <a:pPr lvl="0">
                        <a:buNone/>
                      </a:pPr>
                      <a:r>
                        <a:rPr lang="en-US"/>
                        <a:t>Verification</a:t>
                      </a:r>
                    </a:p>
                  </a:txBody>
                  <a:tcPr/>
                </a:tc>
                <a:extLst>
                  <a:ext uri="{0D108BD9-81ED-4DB2-BD59-A6C34878D82A}">
                    <a16:rowId xmlns:a16="http://schemas.microsoft.com/office/drawing/2014/main" val="643055058"/>
                  </a:ext>
                </a:extLst>
              </a:tr>
              <a:tr h="988530">
                <a:tc>
                  <a:txBody>
                    <a:bodyPr/>
                    <a:lstStyle/>
                    <a:p>
                      <a:r>
                        <a:rPr lang="en-US" sz="1300">
                          <a:solidFill>
                            <a:srgbClr val="000000"/>
                          </a:solidFill>
                        </a:rPr>
                        <a:t>1</a:t>
                      </a:r>
                    </a:p>
                  </a:txBody>
                  <a:tcPr/>
                </a:tc>
                <a:tc>
                  <a:txBody>
                    <a:bodyPr/>
                    <a:lstStyle/>
                    <a:p>
                      <a:pPr lvl="0" algn="l">
                        <a:lnSpc>
                          <a:spcPct val="100000"/>
                        </a:lnSpc>
                        <a:spcBef>
                          <a:spcPts val="0"/>
                        </a:spcBef>
                        <a:spcAft>
                          <a:spcPts val="0"/>
                        </a:spcAft>
                        <a:buNone/>
                      </a:pPr>
                      <a:r>
                        <a:rPr lang="en-US" sz="1300" b="0" i="0" u="none" strike="noStrike" noProof="0">
                          <a:solidFill>
                            <a:srgbClr val="000000"/>
                          </a:solidFill>
                          <a:effectLst/>
                        </a:rPr>
                        <a:t>Design OX tank for 750 psi MEOP (1500 psi for FS 2) </a:t>
                      </a:r>
                      <a:endParaRPr lang="en-US"/>
                    </a:p>
                    <a:p>
                      <a:pPr lvl="0" algn="l">
                        <a:lnSpc>
                          <a:spcPct val="100000"/>
                        </a:lnSpc>
                        <a:spcBef>
                          <a:spcPts val="0"/>
                        </a:spcBef>
                        <a:spcAft>
                          <a:spcPts val="0"/>
                        </a:spcAft>
                        <a:buNone/>
                      </a:pPr>
                      <a:r>
                        <a:rPr lang="en-US" sz="1300" b="0" i="0" u="none" strike="noStrike" noProof="0">
                          <a:solidFill>
                            <a:srgbClr val="000000"/>
                          </a:solidFill>
                          <a:effectLst/>
                        </a:rPr>
                        <a:t>Fuel tank for 100 psi MEOP (200 psi for FS 2)</a:t>
                      </a:r>
                      <a:endParaRPr lang="en-US"/>
                    </a:p>
                    <a:p>
                      <a:pPr lvl="0" algn="l">
                        <a:lnSpc>
                          <a:spcPct val="100000"/>
                        </a:lnSpc>
                        <a:spcBef>
                          <a:spcPts val="0"/>
                        </a:spcBef>
                        <a:spcAft>
                          <a:spcPts val="0"/>
                        </a:spcAft>
                        <a:buNone/>
                      </a:pPr>
                      <a:r>
                        <a:rPr lang="en-US" sz="1300" b="0" i="0" u="none" strike="noStrike" noProof="0">
                          <a:solidFill>
                            <a:srgbClr val="000000"/>
                          </a:solidFill>
                          <a:effectLst/>
                        </a:rPr>
                        <a:t>GN2 tank for 100 psi MEOP (200 psi for FS 2). </a:t>
                      </a:r>
                      <a:endParaRPr lang="en-US"/>
                    </a:p>
                    <a:p>
                      <a:pPr lvl="0" algn="l">
                        <a:lnSpc>
                          <a:spcPct val="100000"/>
                        </a:lnSpc>
                        <a:spcBef>
                          <a:spcPts val="0"/>
                        </a:spcBef>
                        <a:spcAft>
                          <a:spcPts val="0"/>
                        </a:spcAft>
                        <a:buNone/>
                      </a:pPr>
                      <a:r>
                        <a:rPr lang="en-US" sz="1300" b="0" i="0" u="none" strike="noStrike" noProof="0">
                          <a:solidFill>
                            <a:srgbClr val="000000"/>
                          </a:solidFill>
                          <a:effectLst/>
                        </a:rPr>
                        <a:t>This means that the bulkhead will also have to be rated to these pressure with a factor safety of 2</a:t>
                      </a:r>
                      <a:endParaRPr lang="en-US"/>
                    </a:p>
                  </a:txBody>
                  <a:tcPr marL="7620" marR="7620" marT="7620" marB="0"/>
                </a:tc>
                <a:tc>
                  <a:txBody>
                    <a:bodyPr/>
                    <a:lstStyle/>
                    <a:p>
                      <a:pPr lvl="0" algn="l">
                        <a:buNone/>
                      </a:pPr>
                      <a:r>
                        <a:rPr lang="en-US" sz="1300" b="0" i="0" u="none" strike="noStrike" noProof="0">
                          <a:solidFill>
                            <a:srgbClr val="000000"/>
                          </a:solidFill>
                          <a:effectLst/>
                          <a:latin typeface="Aptos Narrow"/>
                        </a:rPr>
                        <a:t>This is to ensure that the pressure vessel will be able to withstand pressures than may result from unexpected temperature </a:t>
                      </a:r>
                      <a:r>
                        <a:rPr lang="en-US" sz="1300" b="0" i="0" u="none" strike="noStrike" noProof="0">
                          <a:solidFill>
                            <a:srgbClr val="000000"/>
                          </a:solidFill>
                          <a:effectLst/>
                        </a:rPr>
                        <a:t>fluctuations which would allow for higher-than-normal pressures. </a:t>
                      </a:r>
                      <a:endParaRPr lang="en-US" sz="1300" b="0" i="0" u="none" strike="noStrike" noProof="0">
                        <a:solidFill>
                          <a:srgbClr val="000000"/>
                        </a:solidFill>
                        <a:effectLst/>
                        <a:latin typeface="Aptos Narrow"/>
                      </a:endParaRPr>
                    </a:p>
                  </a:txBody>
                  <a:tcPr marL="7620" marR="7620" marT="7620" marB="0"/>
                </a:tc>
                <a:tc>
                  <a:txBody>
                    <a:bodyPr/>
                    <a:lstStyle/>
                    <a:p>
                      <a:pPr lvl="0" algn="l">
                        <a:buNone/>
                      </a:pPr>
                      <a:r>
                        <a:rPr lang="en-US" sz="1300" b="0" i="0" u="none" strike="noStrike" noProof="0">
                          <a:solidFill>
                            <a:srgbClr val="000000"/>
                          </a:solidFill>
                          <a:effectLst/>
                          <a:latin typeface="Aptos Narrow"/>
                        </a:rPr>
                        <a:t> SolidWorks FEA, Hand Calculations, and pressure vessel testing </a:t>
                      </a:r>
                    </a:p>
                  </a:txBody>
                  <a:tcPr marL="7620" marR="7620" marT="7620" marB="0"/>
                </a:tc>
                <a:extLst>
                  <a:ext uri="{0D108BD9-81ED-4DB2-BD59-A6C34878D82A}">
                    <a16:rowId xmlns:a16="http://schemas.microsoft.com/office/drawing/2014/main" val="2414361062"/>
                  </a:ext>
                </a:extLst>
              </a:tr>
              <a:tr h="1128420">
                <a:tc>
                  <a:txBody>
                    <a:bodyPr/>
                    <a:lstStyle/>
                    <a:p>
                      <a:r>
                        <a:rPr lang="en-US" sz="1300">
                          <a:solidFill>
                            <a:srgbClr val="000000"/>
                          </a:solidFill>
                        </a:rPr>
                        <a:t>2</a:t>
                      </a:r>
                    </a:p>
                  </a:txBody>
                  <a:tcPr/>
                </a:tc>
                <a:tc>
                  <a:txBody>
                    <a:bodyPr/>
                    <a:lstStyle/>
                    <a:p>
                      <a:pPr lvl="0" algn="l">
                        <a:buNone/>
                      </a:pPr>
                      <a:r>
                        <a:rPr lang="en-US" sz="1300" b="0" i="0" u="none" strike="noStrike" noProof="0">
                          <a:solidFill>
                            <a:srgbClr val="000000"/>
                          </a:solidFill>
                          <a:effectLst/>
                          <a:latin typeface="Aptos Narrow"/>
                        </a:rPr>
                        <a:t>All Bulkheads are to be manufactured out of 6061 T6 Aluminum and need to be manufactured in house</a:t>
                      </a:r>
                    </a:p>
                  </a:txBody>
                  <a:tcPr marL="7620" marR="7620" marT="7620" marB="0"/>
                </a:tc>
                <a:tc>
                  <a:txBody>
                    <a:bodyPr/>
                    <a:lstStyle/>
                    <a:p>
                      <a:pPr lvl="0" algn="l">
                        <a:buNone/>
                      </a:pPr>
                      <a:r>
                        <a:rPr lang="en-US" sz="1300" b="0" i="0" u="none" strike="noStrike" noProof="0">
                          <a:solidFill>
                            <a:srgbClr val="000000"/>
                          </a:solidFill>
                          <a:effectLst/>
                          <a:latin typeface="Aptos Narrow"/>
                        </a:rPr>
                        <a:t> The material constraint is due to 6061-T6 aluminum being lightweight while being strong enough to </a:t>
                      </a:r>
                      <a:r>
                        <a:rPr lang="en-US" sz="1300" b="0" i="0" u="none" strike="noStrike" noProof="0">
                          <a:solidFill>
                            <a:srgbClr val="000000"/>
                          </a:solidFill>
                          <a:effectLst/>
                        </a:rPr>
                        <a:t>withstand </a:t>
                      </a:r>
                      <a:r>
                        <a:rPr lang="en-US" sz="1300" b="0" i="0" u="none" strike="noStrike" noProof="0">
                          <a:solidFill>
                            <a:srgbClr val="000000"/>
                          </a:solidFill>
                          <a:effectLst/>
                          <a:latin typeface="Aptos Narrow"/>
                        </a:rPr>
                        <a:t>the pressures in the system, they are also much more affordable than other material that have these properties.  </a:t>
                      </a:r>
                      <a:endParaRPr lang="en-US" sz="1300" b="0" i="0" u="none" strike="noStrike" noProof="0" err="1">
                        <a:solidFill>
                          <a:srgbClr val="000000"/>
                        </a:solidFill>
                        <a:effectLst/>
                        <a:latin typeface="Aptos Narrow"/>
                      </a:endParaRPr>
                    </a:p>
                  </a:txBody>
                  <a:tcPr marL="7620" marR="7620" marT="7620" marB="0"/>
                </a:tc>
                <a:tc>
                  <a:txBody>
                    <a:bodyPr/>
                    <a:lstStyle/>
                    <a:p>
                      <a:pPr lvl="0" algn="l">
                        <a:buNone/>
                      </a:pPr>
                      <a:endParaRPr lang="en-US" sz="1300" b="0" i="0" u="none" strike="noStrike" noProof="0">
                        <a:solidFill>
                          <a:srgbClr val="000000"/>
                        </a:solidFill>
                        <a:effectLst/>
                        <a:latin typeface="Aptos Narrow"/>
                      </a:endParaRPr>
                    </a:p>
                  </a:txBody>
                  <a:tcPr marL="7620" marR="7620" marT="7620" marB="0"/>
                </a:tc>
                <a:extLst>
                  <a:ext uri="{0D108BD9-81ED-4DB2-BD59-A6C34878D82A}">
                    <a16:rowId xmlns:a16="http://schemas.microsoft.com/office/drawing/2014/main" val="1847058879"/>
                  </a:ext>
                </a:extLst>
              </a:tr>
              <a:tr h="596849">
                <a:tc>
                  <a:txBody>
                    <a:bodyPr/>
                    <a:lstStyle/>
                    <a:p>
                      <a:pPr lvl="0">
                        <a:buNone/>
                      </a:pPr>
                      <a:r>
                        <a:rPr lang="en-US" sz="1300">
                          <a:solidFill>
                            <a:srgbClr val="000000"/>
                          </a:solidFill>
                        </a:rPr>
                        <a:t>3</a:t>
                      </a:r>
                    </a:p>
                  </a:txBody>
                  <a:tcPr/>
                </a:tc>
                <a:tc>
                  <a:txBody>
                    <a:bodyPr/>
                    <a:lstStyle/>
                    <a:p>
                      <a:pPr lvl="0" algn="l">
                        <a:buNone/>
                      </a:pPr>
                      <a:r>
                        <a:rPr lang="en-US" sz="1300" b="0" i="0" u="none" strike="noStrike" noProof="0">
                          <a:solidFill>
                            <a:srgbClr val="000000"/>
                          </a:solidFill>
                          <a:effectLst/>
                          <a:latin typeface="Aptos Narrow"/>
                        </a:rPr>
                        <a:t>All bulkhead should meet or safely be below the allowable weight so that the thrust to weight ratio of  </a:t>
                      </a:r>
                      <a:r>
                        <a:rPr lang="en-US" sz="1300" b="0" i="0" u="none" strike="noStrike" noProof="0">
                          <a:solidFill>
                            <a:srgbClr val="000000"/>
                          </a:solidFill>
                          <a:effectLst/>
                        </a:rPr>
                        <a:t>4.51</a:t>
                      </a:r>
                      <a:endParaRPr lang="en-US" sz="1300" b="0" i="0" u="none" strike="noStrike" noProof="0">
                        <a:solidFill>
                          <a:srgbClr val="000000"/>
                        </a:solidFill>
                        <a:effectLst/>
                        <a:latin typeface="Aptos Narrow"/>
                      </a:endParaRPr>
                    </a:p>
                  </a:txBody>
                  <a:tcPr marL="7620" marR="7620" marT="7620" marB="0"/>
                </a:tc>
                <a:tc>
                  <a:txBody>
                    <a:bodyPr/>
                    <a:lstStyle/>
                    <a:p>
                      <a:pPr lvl="0" algn="l">
                        <a:buNone/>
                      </a:pPr>
                      <a:r>
                        <a:rPr lang="en-US" sz="1300" b="0" i="0" u="none" strike="noStrike" noProof="0">
                          <a:solidFill>
                            <a:srgbClr val="000000"/>
                          </a:solidFill>
                          <a:effectLst/>
                        </a:rPr>
                        <a:t>A too low of a TWR leads to stability issues during launch and flight</a:t>
                      </a:r>
                    </a:p>
                  </a:txBody>
                  <a:tcPr marL="7620" marR="7620" marT="7620" marB="0"/>
                </a:tc>
                <a:tc>
                  <a:txBody>
                    <a:bodyPr/>
                    <a:lstStyle/>
                    <a:p>
                      <a:pPr lvl="0" algn="l">
                        <a:buNone/>
                      </a:pPr>
                      <a:endParaRPr lang="en-US" sz="1300" b="0" i="0" u="none" strike="noStrike" noProof="0">
                        <a:solidFill>
                          <a:srgbClr val="000000"/>
                        </a:solidFill>
                        <a:effectLst/>
                        <a:latin typeface="Aptos Narrow"/>
                      </a:endParaRPr>
                    </a:p>
                  </a:txBody>
                  <a:tcPr marL="7620" marR="7620" marT="7620" marB="0"/>
                </a:tc>
                <a:extLst>
                  <a:ext uri="{0D108BD9-81ED-4DB2-BD59-A6C34878D82A}">
                    <a16:rowId xmlns:a16="http://schemas.microsoft.com/office/drawing/2014/main" val="4074238505"/>
                  </a:ext>
                </a:extLst>
              </a:tr>
              <a:tr h="568871">
                <a:tc>
                  <a:txBody>
                    <a:bodyPr/>
                    <a:lstStyle/>
                    <a:p>
                      <a:pPr lvl="0">
                        <a:buNone/>
                      </a:pPr>
                      <a:r>
                        <a:rPr lang="en-US" sz="1300">
                          <a:solidFill>
                            <a:srgbClr val="000000"/>
                          </a:solidFill>
                        </a:rPr>
                        <a:t>4</a:t>
                      </a:r>
                    </a:p>
                  </a:txBody>
                  <a:tcPr/>
                </a:tc>
                <a:tc>
                  <a:txBody>
                    <a:bodyPr/>
                    <a:lstStyle/>
                    <a:p>
                      <a:pPr lvl="0" algn="l">
                        <a:buNone/>
                      </a:pPr>
                      <a:r>
                        <a:rPr lang="en-US" sz="1300" b="0" i="0" u="none" strike="noStrike" noProof="0">
                          <a:solidFill>
                            <a:srgbClr val="000000"/>
                          </a:solidFill>
                          <a:effectLst/>
                          <a:latin typeface="Aptos Narrow"/>
                        </a:rPr>
                        <a:t> All bulkheads must have a tab in the middle </a:t>
                      </a:r>
                    </a:p>
                  </a:txBody>
                  <a:tcPr marL="7620" marR="7620" marT="7620" marB="0"/>
                </a:tc>
                <a:tc>
                  <a:txBody>
                    <a:bodyPr/>
                    <a:lstStyle/>
                    <a:p>
                      <a:pPr lvl="0" algn="l">
                        <a:buNone/>
                      </a:pPr>
                      <a:r>
                        <a:rPr lang="en-US" sz="1300" b="0" i="0" u="none" strike="noStrike" noProof="0">
                          <a:solidFill>
                            <a:srgbClr val="000000"/>
                          </a:solidFill>
                          <a:effectLst/>
                        </a:rPr>
                        <a:t>Provides space for check values to ensure no gases/ liquids will mix. </a:t>
                      </a:r>
                      <a:endParaRPr lang="en-US"/>
                    </a:p>
                  </a:txBody>
                  <a:tcPr marL="7620" marR="7620" marT="7620" marB="0"/>
                </a:tc>
                <a:tc>
                  <a:txBody>
                    <a:bodyPr/>
                    <a:lstStyle/>
                    <a:p>
                      <a:pPr lvl="0" algn="l">
                        <a:buNone/>
                      </a:pPr>
                      <a:endParaRPr lang="en-US" sz="1300" b="0" i="0" u="none" strike="noStrike" noProof="0">
                        <a:solidFill>
                          <a:srgbClr val="000000"/>
                        </a:solidFill>
                        <a:effectLst/>
                        <a:latin typeface="Aptos Narrow"/>
                      </a:endParaRPr>
                    </a:p>
                  </a:txBody>
                  <a:tcPr marL="7620" marR="7620" marT="7620" marB="0"/>
                </a:tc>
                <a:extLst>
                  <a:ext uri="{0D108BD9-81ED-4DB2-BD59-A6C34878D82A}">
                    <a16:rowId xmlns:a16="http://schemas.microsoft.com/office/drawing/2014/main" val="3313582001"/>
                  </a:ext>
                </a:extLst>
              </a:tr>
            </a:tbl>
          </a:graphicData>
        </a:graphic>
      </p:graphicFrame>
      <p:sp>
        <p:nvSpPr>
          <p:cNvPr id="7" name="TextBox 6">
            <a:extLst>
              <a:ext uri="{FF2B5EF4-FFF2-40B4-BE49-F238E27FC236}">
                <a16:creationId xmlns:a16="http://schemas.microsoft.com/office/drawing/2014/main" id="{E5D936E0-73E1-B1F6-5839-231F8A29E05D}"/>
              </a:ext>
            </a:extLst>
          </p:cNvPr>
          <p:cNvSpPr txBox="1"/>
          <p:nvPr/>
        </p:nvSpPr>
        <p:spPr>
          <a:xfrm>
            <a:off x="9246220" y="5947317"/>
            <a:ext cx="20350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a:t>
            </a:r>
            <a:r>
              <a:rPr lang="en-US" sz="1400" b="1">
                <a:solidFill>
                  <a:srgbClr val="154734"/>
                </a:solidFill>
                <a:latin typeface="Calibri"/>
              </a:rPr>
              <a:t>.1 Tank Assembly</a:t>
            </a:r>
            <a:endParaRPr lang="en-US"/>
          </a:p>
          <a:p>
            <a:pPr algn="ctr"/>
            <a:endParaRPr lang="en-US"/>
          </a:p>
        </p:txBody>
      </p:sp>
    </p:spTree>
    <p:extLst>
      <p:ext uri="{BB962C8B-B14F-4D97-AF65-F5344CB8AC3E}">
        <p14:creationId xmlns:p14="http://schemas.microsoft.com/office/powerpoint/2010/main" val="3569563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9EA1E4-39EC-9C4D-EBEC-0A3B3E886D33}"/>
              </a:ext>
            </a:extLst>
          </p:cNvPr>
          <p:cNvSpPr>
            <a:spLocks noGrp="1"/>
          </p:cNvSpPr>
          <p:nvPr>
            <p:ph type="ftr" sz="quarter" idx="16"/>
          </p:nvPr>
        </p:nvSpPr>
        <p:spPr/>
        <p:txBody>
          <a:bodyPr/>
          <a:lstStyle/>
          <a:p>
            <a:r>
              <a:rPr lang="en-US"/>
              <a:t>ARCHERFISH CDR</a:t>
            </a:r>
          </a:p>
        </p:txBody>
      </p:sp>
      <p:sp>
        <p:nvSpPr>
          <p:cNvPr id="4" name="Slide Number Placeholder 3">
            <a:extLst>
              <a:ext uri="{FF2B5EF4-FFF2-40B4-BE49-F238E27FC236}">
                <a16:creationId xmlns:a16="http://schemas.microsoft.com/office/drawing/2014/main" id="{2564E315-AC1C-2192-1693-F4C069C81C5C}"/>
              </a:ext>
            </a:extLst>
          </p:cNvPr>
          <p:cNvSpPr>
            <a:spLocks noGrp="1"/>
          </p:cNvSpPr>
          <p:nvPr>
            <p:ph type="sldNum" sz="quarter" idx="17"/>
          </p:nvPr>
        </p:nvSpPr>
        <p:spPr/>
        <p:txBody>
          <a:bodyPr/>
          <a:lstStyle/>
          <a:p>
            <a:r>
              <a:rPr lang="en-US"/>
              <a:t>/   </a:t>
            </a:r>
            <a:fld id="{6C7E6F33-74EE-5541-8108-8353B402F8C1}" type="slidenum">
              <a:rPr lang="en-US" smtClean="0"/>
              <a:pPr/>
              <a:t>24</a:t>
            </a:fld>
            <a:endParaRPr lang="en-US"/>
          </a:p>
        </p:txBody>
      </p:sp>
      <p:sp>
        <p:nvSpPr>
          <p:cNvPr id="5" name="Title 4">
            <a:extLst>
              <a:ext uri="{FF2B5EF4-FFF2-40B4-BE49-F238E27FC236}">
                <a16:creationId xmlns:a16="http://schemas.microsoft.com/office/drawing/2014/main" id="{93E6188C-CDE0-61F4-0C87-02EE16AFB50E}"/>
              </a:ext>
            </a:extLst>
          </p:cNvPr>
          <p:cNvSpPr>
            <a:spLocks noGrp="1"/>
          </p:cNvSpPr>
          <p:nvPr>
            <p:ph type="title"/>
          </p:nvPr>
        </p:nvSpPr>
        <p:spPr/>
        <p:txBody>
          <a:bodyPr/>
          <a:lstStyle/>
          <a:p>
            <a:r>
              <a:rPr lang="en-US"/>
              <a:t>Bulkheads </a:t>
            </a:r>
          </a:p>
        </p:txBody>
      </p:sp>
      <p:sp>
        <p:nvSpPr>
          <p:cNvPr id="6" name="Text Placeholder 5">
            <a:extLst>
              <a:ext uri="{FF2B5EF4-FFF2-40B4-BE49-F238E27FC236}">
                <a16:creationId xmlns:a16="http://schemas.microsoft.com/office/drawing/2014/main" id="{C304F7CA-792A-2EE3-DD98-60D7FFD6C513}"/>
              </a:ext>
            </a:extLst>
          </p:cNvPr>
          <p:cNvSpPr>
            <a:spLocks noGrp="1"/>
          </p:cNvSpPr>
          <p:nvPr>
            <p:ph type="body" sz="quarter" idx="13"/>
          </p:nvPr>
        </p:nvSpPr>
        <p:spPr/>
        <p:txBody>
          <a:bodyPr/>
          <a:lstStyle/>
          <a:p>
            <a:r>
              <a:rPr lang="en-US"/>
              <a:t>FEA Approach</a:t>
            </a:r>
          </a:p>
        </p:txBody>
      </p:sp>
      <p:pic>
        <p:nvPicPr>
          <p:cNvPr id="7" name="Picture 6" descr="A blue circular object with text and a screen&#10;&#10;AI-generated content may be incorrect.">
            <a:extLst>
              <a:ext uri="{FF2B5EF4-FFF2-40B4-BE49-F238E27FC236}">
                <a16:creationId xmlns:a16="http://schemas.microsoft.com/office/drawing/2014/main" id="{CA25F004-9DF2-93F7-3609-9B23DABD4495}"/>
              </a:ext>
            </a:extLst>
          </p:cNvPr>
          <p:cNvPicPr>
            <a:picLocks noChangeAspect="1"/>
          </p:cNvPicPr>
          <p:nvPr/>
        </p:nvPicPr>
        <p:blipFill>
          <a:blip r:embed="rId2"/>
          <a:srcRect l="7801" t="3475" r="35536" b="5816"/>
          <a:stretch>
            <a:fillRect/>
          </a:stretch>
        </p:blipFill>
        <p:spPr>
          <a:xfrm>
            <a:off x="406959" y="1513204"/>
            <a:ext cx="3488877" cy="3058796"/>
          </a:xfrm>
          <a:prstGeom prst="rect">
            <a:avLst/>
          </a:prstGeom>
        </p:spPr>
      </p:pic>
      <p:pic>
        <p:nvPicPr>
          <p:cNvPr id="11" name="Picture 10" descr="A blue circular object with text and a screen&#10;&#10;AI-generated content may be incorrect.">
            <a:extLst>
              <a:ext uri="{FF2B5EF4-FFF2-40B4-BE49-F238E27FC236}">
                <a16:creationId xmlns:a16="http://schemas.microsoft.com/office/drawing/2014/main" id="{25CAAA24-3E17-AE70-EBA4-AF84558F9E86}"/>
              </a:ext>
            </a:extLst>
          </p:cNvPr>
          <p:cNvPicPr>
            <a:picLocks noChangeAspect="1"/>
          </p:cNvPicPr>
          <p:nvPr/>
        </p:nvPicPr>
        <p:blipFill>
          <a:blip r:embed="rId2"/>
          <a:srcRect l="66110" t="7411" r="3961" b="59703"/>
          <a:stretch>
            <a:fillRect/>
          </a:stretch>
        </p:blipFill>
        <p:spPr>
          <a:xfrm>
            <a:off x="3895836" y="1891998"/>
            <a:ext cx="3498196" cy="2301208"/>
          </a:xfrm>
          <a:prstGeom prst="rect">
            <a:avLst/>
          </a:prstGeom>
        </p:spPr>
      </p:pic>
      <p:sp>
        <p:nvSpPr>
          <p:cNvPr id="19" name="TextBox 18">
            <a:extLst>
              <a:ext uri="{FF2B5EF4-FFF2-40B4-BE49-F238E27FC236}">
                <a16:creationId xmlns:a16="http://schemas.microsoft.com/office/drawing/2014/main" id="{94A5D94A-984B-E605-55A4-C5BF275FCE8A}"/>
              </a:ext>
            </a:extLst>
          </p:cNvPr>
          <p:cNvSpPr txBox="1"/>
          <p:nvPr/>
        </p:nvSpPr>
        <p:spPr>
          <a:xfrm>
            <a:off x="2532109" y="4642196"/>
            <a:ext cx="296981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a:t>
            </a:r>
            <a:r>
              <a:rPr lang="en-US" sz="1400" b="1">
                <a:solidFill>
                  <a:srgbClr val="154734"/>
                </a:solidFill>
                <a:latin typeface="Calibri"/>
              </a:rPr>
              <a:t>2 OX Sample Bulkhead Mesh</a:t>
            </a:r>
            <a:endParaRPr lang="en-US"/>
          </a:p>
          <a:p>
            <a:pPr algn="ctr"/>
            <a:endParaRPr lang="en-US"/>
          </a:p>
        </p:txBody>
      </p:sp>
      <p:sp>
        <p:nvSpPr>
          <p:cNvPr id="8" name="TextBox 7">
            <a:extLst>
              <a:ext uri="{FF2B5EF4-FFF2-40B4-BE49-F238E27FC236}">
                <a16:creationId xmlns:a16="http://schemas.microsoft.com/office/drawing/2014/main" id="{D4FDA5DC-D206-5966-4F4A-E82368450CF3}"/>
              </a:ext>
            </a:extLst>
          </p:cNvPr>
          <p:cNvSpPr txBox="1"/>
          <p:nvPr/>
        </p:nvSpPr>
        <p:spPr>
          <a:xfrm>
            <a:off x="7615910" y="1614008"/>
            <a:ext cx="4222196" cy="4524315"/>
          </a:xfrm>
          <a:prstGeom prst="rect">
            <a:avLst/>
          </a:prstGeom>
          <a:noFill/>
        </p:spPr>
        <p:txBody>
          <a:bodyPr wrap="square" rtlCol="0">
            <a:spAutoFit/>
          </a:bodyPr>
          <a:lstStyle/>
          <a:p>
            <a:pPr marL="285750" indent="-285750">
              <a:buFont typeface="Arial" panose="020B0604020202020204" pitchFamily="34" charset="0"/>
              <a:buChar char="•"/>
            </a:pPr>
            <a:r>
              <a:rPr lang="en-US"/>
              <a:t>Sufficiently high mesh quality to capture stress concentrations.</a:t>
            </a:r>
          </a:p>
          <a:p>
            <a:endParaRPr lang="en-US"/>
          </a:p>
          <a:p>
            <a:pPr marL="285750" indent="-285750">
              <a:buFont typeface="Arial" panose="020B0604020202020204" pitchFamily="34" charset="0"/>
              <a:buChar char="•"/>
            </a:pPr>
            <a:r>
              <a:rPr lang="en-US"/>
              <a:t>Simulated at pressures far higher than application for safety. (e.g., 1500psi for a bulkhead with 750psi tank pressure)</a:t>
            </a:r>
          </a:p>
          <a:p>
            <a:endParaRPr lang="en-US"/>
          </a:p>
          <a:p>
            <a:pPr marL="285750" indent="-285750">
              <a:buFont typeface="Arial" panose="020B0604020202020204" pitchFamily="34" charset="0"/>
              <a:buChar char="•"/>
            </a:pPr>
            <a:r>
              <a:rPr lang="en-US"/>
              <a:t>Simulated with maximum von Mises scale being a full order of magnitude lower than actual yield strength.</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Bulkheads under 2 pressures simulated with both pressures individually and together, highest stress result shown.</a:t>
            </a:r>
          </a:p>
          <a:p>
            <a:endParaRPr lang="en-US"/>
          </a:p>
          <a:p>
            <a:pPr marL="285750" indent="-285750">
              <a:buFont typeface="Arial" panose="020B0604020202020204" pitchFamily="34" charset="0"/>
              <a:buChar char="•"/>
            </a:pPr>
            <a:r>
              <a:rPr lang="en-US"/>
              <a:t>0.0015in maximum displacement</a:t>
            </a:r>
          </a:p>
        </p:txBody>
      </p:sp>
    </p:spTree>
    <p:extLst>
      <p:ext uri="{BB962C8B-B14F-4D97-AF65-F5344CB8AC3E}">
        <p14:creationId xmlns:p14="http://schemas.microsoft.com/office/powerpoint/2010/main" val="3346315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46BA71-696A-D4B7-B3E3-52096FC260B8}"/>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7780FE55-036B-39E6-0446-71511FF0B00C}"/>
              </a:ext>
            </a:extLst>
          </p:cNvPr>
          <p:cNvSpPr>
            <a:spLocks noGrp="1"/>
          </p:cNvSpPr>
          <p:nvPr>
            <p:ph type="sldNum" sz="quarter" idx="17"/>
          </p:nvPr>
        </p:nvSpPr>
        <p:spPr/>
        <p:txBody>
          <a:bodyPr/>
          <a:lstStyle/>
          <a:p>
            <a:r>
              <a:rPr lang="en-US"/>
              <a:t>/   </a:t>
            </a:r>
            <a:fld id="{6C7E6F33-74EE-5541-8108-8353B402F8C1}" type="slidenum">
              <a:rPr lang="en-US" smtClean="0"/>
              <a:pPr/>
              <a:t>25</a:t>
            </a:fld>
            <a:endParaRPr lang="en-US"/>
          </a:p>
        </p:txBody>
      </p:sp>
      <p:sp>
        <p:nvSpPr>
          <p:cNvPr id="5" name="Title 4">
            <a:extLst>
              <a:ext uri="{FF2B5EF4-FFF2-40B4-BE49-F238E27FC236}">
                <a16:creationId xmlns:a16="http://schemas.microsoft.com/office/drawing/2014/main" id="{5B5F537F-6AEB-296A-0649-AFF0DFCF4F7D}"/>
              </a:ext>
            </a:extLst>
          </p:cNvPr>
          <p:cNvSpPr>
            <a:spLocks noGrp="1"/>
          </p:cNvSpPr>
          <p:nvPr>
            <p:ph type="title"/>
          </p:nvPr>
        </p:nvSpPr>
        <p:spPr>
          <a:xfrm>
            <a:off x="531848" y="483304"/>
            <a:ext cx="5564152" cy="625567"/>
          </a:xfrm>
        </p:spPr>
        <p:txBody>
          <a:bodyPr/>
          <a:lstStyle/>
          <a:p>
            <a:r>
              <a:rPr lang="en-US">
                <a:latin typeface="Munistic"/>
              </a:rPr>
              <a:t>Bulkheads OX</a:t>
            </a:r>
            <a:endParaRPr lang="en-US"/>
          </a:p>
        </p:txBody>
      </p:sp>
      <p:sp>
        <p:nvSpPr>
          <p:cNvPr id="6" name="Text Placeholder 5">
            <a:extLst>
              <a:ext uri="{FF2B5EF4-FFF2-40B4-BE49-F238E27FC236}">
                <a16:creationId xmlns:a16="http://schemas.microsoft.com/office/drawing/2014/main" id="{A4CE1E08-0DF7-32A1-E22F-8A521E436E85}"/>
              </a:ext>
            </a:extLst>
          </p:cNvPr>
          <p:cNvSpPr>
            <a:spLocks noGrp="1"/>
          </p:cNvSpPr>
          <p:nvPr>
            <p:ph type="body" sz="quarter" idx="13"/>
          </p:nvPr>
        </p:nvSpPr>
        <p:spPr>
          <a:xfrm>
            <a:off x="6096000" y="483304"/>
            <a:ext cx="5674660" cy="625567"/>
          </a:xfrm>
        </p:spPr>
        <p:txBody>
          <a:bodyPr/>
          <a:lstStyle/>
          <a:p>
            <a:r>
              <a:rPr lang="en-US" sz="2400">
                <a:ea typeface="Source Sans Pro"/>
                <a:cs typeface="Calibri"/>
              </a:rPr>
              <a:t>CAD/FEA</a:t>
            </a:r>
            <a:endParaRPr lang="en-US" sz="2400"/>
          </a:p>
        </p:txBody>
      </p:sp>
      <p:pic>
        <p:nvPicPr>
          <p:cNvPr id="13" name="Picture 12" descr="A screen shot of a graph&#10;&#10;AI-generated content may be incorrect.">
            <a:extLst>
              <a:ext uri="{FF2B5EF4-FFF2-40B4-BE49-F238E27FC236}">
                <a16:creationId xmlns:a16="http://schemas.microsoft.com/office/drawing/2014/main" id="{20298A05-EC52-93D3-83FC-1A025038A028}"/>
              </a:ext>
            </a:extLst>
          </p:cNvPr>
          <p:cNvPicPr>
            <a:picLocks noChangeAspect="1"/>
          </p:cNvPicPr>
          <p:nvPr/>
        </p:nvPicPr>
        <p:blipFill>
          <a:blip r:embed="rId4"/>
          <a:stretch>
            <a:fillRect/>
          </a:stretch>
        </p:blipFill>
        <p:spPr>
          <a:xfrm>
            <a:off x="9806633" y="481784"/>
            <a:ext cx="2381582" cy="5782482"/>
          </a:xfrm>
          <a:prstGeom prst="rect">
            <a:avLst/>
          </a:prstGeom>
        </p:spPr>
      </p:pic>
      <p:sp>
        <p:nvSpPr>
          <p:cNvPr id="14" name="TextBox 13">
            <a:extLst>
              <a:ext uri="{FF2B5EF4-FFF2-40B4-BE49-F238E27FC236}">
                <a16:creationId xmlns:a16="http://schemas.microsoft.com/office/drawing/2014/main" id="{DF5225DB-20A4-F484-555F-C7932F1B34A3}"/>
              </a:ext>
            </a:extLst>
          </p:cNvPr>
          <p:cNvSpPr txBox="1"/>
          <p:nvPr/>
        </p:nvSpPr>
        <p:spPr>
          <a:xfrm>
            <a:off x="6388827" y="4797365"/>
            <a:ext cx="3283040" cy="1754326"/>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Constrained on face meeting tank</a:t>
            </a:r>
          </a:p>
          <a:p>
            <a:pPr marL="285750" indent="-285750">
              <a:buFont typeface="Arial" panose="020B0604020202020204" pitchFamily="34" charset="0"/>
              <a:buChar char="•"/>
            </a:pPr>
            <a:r>
              <a:rPr lang="en-US"/>
              <a:t>Tested @ 1500psi internal pressure</a:t>
            </a:r>
            <a:endParaRPr lang="en-US">
              <a:ea typeface="Calibri"/>
              <a:cs typeface="Calibri"/>
            </a:endParaRPr>
          </a:p>
          <a:p>
            <a:endParaRPr lang="en-US">
              <a:ea typeface="Calibri"/>
              <a:cs typeface="Calibri"/>
            </a:endParaRPr>
          </a:p>
          <a:p>
            <a:pPr marL="285750" indent="-285750">
              <a:buFont typeface="Arial" panose="020B0604020202020204" pitchFamily="34" charset="0"/>
              <a:buChar char="•"/>
            </a:pPr>
            <a:endParaRPr lang="en-US"/>
          </a:p>
        </p:txBody>
      </p:sp>
      <p:sp>
        <p:nvSpPr>
          <p:cNvPr id="8" name="TextBox 7">
            <a:extLst>
              <a:ext uri="{FF2B5EF4-FFF2-40B4-BE49-F238E27FC236}">
                <a16:creationId xmlns:a16="http://schemas.microsoft.com/office/drawing/2014/main" id="{A8EB6677-776C-EEBE-B5C0-495441FABBDA}"/>
              </a:ext>
            </a:extLst>
          </p:cNvPr>
          <p:cNvSpPr txBox="1"/>
          <p:nvPr/>
        </p:nvSpPr>
        <p:spPr>
          <a:xfrm>
            <a:off x="1043097" y="4124493"/>
            <a:ext cx="217724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Dimensions:</a:t>
            </a:r>
          </a:p>
          <a:p>
            <a:r>
              <a:rPr lang="en-US">
                <a:ea typeface="Calibri"/>
                <a:cs typeface="Calibri"/>
              </a:rPr>
              <a:t>Height: 1.75 in</a:t>
            </a:r>
          </a:p>
          <a:p>
            <a:r>
              <a:rPr lang="en-US">
                <a:ea typeface="Calibri"/>
                <a:cs typeface="Calibri"/>
              </a:rPr>
              <a:t>Width: 5.75 in OD</a:t>
            </a:r>
          </a:p>
          <a:p>
            <a:endParaRPr lang="en-US">
              <a:ea typeface="Calibri"/>
              <a:cs typeface="Calibri"/>
            </a:endParaRPr>
          </a:p>
          <a:p>
            <a:r>
              <a:rPr lang="en-US">
                <a:ea typeface="Calibri"/>
                <a:cs typeface="Calibri"/>
              </a:rPr>
              <a:t>Mass = 3.52 lbs.</a:t>
            </a:r>
            <a:endParaRPr lang="en-US">
              <a:solidFill>
                <a:srgbClr val="000000"/>
              </a:solidFill>
              <a:ea typeface="Calibri"/>
              <a:cs typeface="Calibri"/>
            </a:endParaRPr>
          </a:p>
          <a:p>
            <a:endParaRPr lang="en-US">
              <a:ea typeface="Calibri"/>
              <a:cs typeface="Calibri"/>
            </a:endParaRPr>
          </a:p>
        </p:txBody>
      </p:sp>
      <p:sp>
        <p:nvSpPr>
          <p:cNvPr id="16" name="TextBox 15">
            <a:extLst>
              <a:ext uri="{FF2B5EF4-FFF2-40B4-BE49-F238E27FC236}">
                <a16:creationId xmlns:a16="http://schemas.microsoft.com/office/drawing/2014/main" id="{D9432238-AD66-55CC-1B11-E646D6A3F062}"/>
              </a:ext>
            </a:extLst>
          </p:cNvPr>
          <p:cNvSpPr txBox="1"/>
          <p:nvPr/>
        </p:nvSpPr>
        <p:spPr>
          <a:xfrm>
            <a:off x="6889100" y="4321717"/>
            <a:ext cx="248213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a:t>
            </a:r>
            <a:r>
              <a:rPr lang="en-US" sz="1400" b="1">
                <a:solidFill>
                  <a:srgbClr val="154734"/>
                </a:solidFill>
                <a:latin typeface="Calibri"/>
              </a:rPr>
              <a:t>.4 OX Bulkhead FEA</a:t>
            </a:r>
            <a:endParaRPr lang="en-US"/>
          </a:p>
          <a:p>
            <a:pPr algn="ctr"/>
            <a:endParaRPr lang="en-US"/>
          </a:p>
        </p:txBody>
      </p:sp>
      <p:sp>
        <p:nvSpPr>
          <p:cNvPr id="21" name="TextBox 20">
            <a:extLst>
              <a:ext uri="{FF2B5EF4-FFF2-40B4-BE49-F238E27FC236}">
                <a16:creationId xmlns:a16="http://schemas.microsoft.com/office/drawing/2014/main" id="{34C512FA-9224-F08B-EC4A-86FB64F0EB13}"/>
              </a:ext>
            </a:extLst>
          </p:cNvPr>
          <p:cNvSpPr txBox="1"/>
          <p:nvPr/>
        </p:nvSpPr>
        <p:spPr>
          <a:xfrm>
            <a:off x="1478492" y="3539718"/>
            <a:ext cx="288853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2.3</a:t>
            </a:r>
            <a:r>
              <a:rPr lang="en-US" sz="1400" b="1">
                <a:solidFill>
                  <a:srgbClr val="154734"/>
                </a:solidFill>
                <a:latin typeface="Calibri"/>
              </a:rPr>
              <a:t> OX Bulkhead Model</a:t>
            </a:r>
            <a:endParaRPr lang="en-US"/>
          </a:p>
          <a:p>
            <a:pPr algn="ctr"/>
            <a:endParaRPr lang="en-US"/>
          </a:p>
        </p:txBody>
      </p:sp>
      <p:pic>
        <p:nvPicPr>
          <p:cNvPr id="11" name="Picture 10">
            <a:extLst>
              <a:ext uri="{FF2B5EF4-FFF2-40B4-BE49-F238E27FC236}">
                <a16:creationId xmlns:a16="http://schemas.microsoft.com/office/drawing/2014/main" id="{4399342E-17E3-3A0A-1428-43A1C05BD3A5}"/>
              </a:ext>
            </a:extLst>
          </p:cNvPr>
          <p:cNvPicPr>
            <a:picLocks noChangeAspect="1"/>
          </p:cNvPicPr>
          <p:nvPr/>
        </p:nvPicPr>
        <p:blipFill>
          <a:blip r:embed="rId5"/>
          <a:stretch>
            <a:fillRect/>
          </a:stretch>
        </p:blipFill>
        <p:spPr>
          <a:xfrm>
            <a:off x="2823028" y="1496290"/>
            <a:ext cx="2423886" cy="1939540"/>
          </a:xfrm>
          <a:prstGeom prst="rect">
            <a:avLst/>
          </a:prstGeom>
        </p:spPr>
      </p:pic>
      <p:pic>
        <p:nvPicPr>
          <p:cNvPr id="18" name="Picture 17">
            <a:extLst>
              <a:ext uri="{FF2B5EF4-FFF2-40B4-BE49-F238E27FC236}">
                <a16:creationId xmlns:a16="http://schemas.microsoft.com/office/drawing/2014/main" id="{EFD781FA-7D46-FD4E-D77F-26CD7BEF1B87}"/>
              </a:ext>
            </a:extLst>
          </p:cNvPr>
          <p:cNvPicPr>
            <a:picLocks noChangeAspect="1"/>
          </p:cNvPicPr>
          <p:nvPr/>
        </p:nvPicPr>
        <p:blipFill>
          <a:blip r:embed="rId6"/>
          <a:stretch>
            <a:fillRect/>
          </a:stretch>
        </p:blipFill>
        <p:spPr>
          <a:xfrm>
            <a:off x="589905" y="1403901"/>
            <a:ext cx="2233123" cy="1914381"/>
          </a:xfrm>
          <a:prstGeom prst="rect">
            <a:avLst/>
          </a:prstGeom>
        </p:spPr>
      </p:pic>
      <p:pic>
        <p:nvPicPr>
          <p:cNvPr id="2" name="Picture 1" descr="A drawing of a circular object&#10;&#10;AI-generated content may be incorrect.">
            <a:extLst>
              <a:ext uri="{FF2B5EF4-FFF2-40B4-BE49-F238E27FC236}">
                <a16:creationId xmlns:a16="http://schemas.microsoft.com/office/drawing/2014/main" id="{E3D7DD76-3975-6519-7204-47FF1707A664}"/>
              </a:ext>
            </a:extLst>
          </p:cNvPr>
          <p:cNvPicPr>
            <a:picLocks noChangeAspect="1"/>
          </p:cNvPicPr>
          <p:nvPr/>
        </p:nvPicPr>
        <p:blipFill>
          <a:blip r:embed="rId7"/>
          <a:srcRect l="7890" t="5720" r="6158" b="7449"/>
          <a:stretch>
            <a:fillRect/>
          </a:stretch>
        </p:blipFill>
        <p:spPr>
          <a:xfrm>
            <a:off x="5877877" y="1241743"/>
            <a:ext cx="3423379" cy="3124090"/>
          </a:xfrm>
          <a:prstGeom prst="rect">
            <a:avLst/>
          </a:prstGeom>
        </p:spPr>
      </p:pic>
      <p:cxnSp>
        <p:nvCxnSpPr>
          <p:cNvPr id="10" name="Straight Arrow Connector 9">
            <a:extLst>
              <a:ext uri="{FF2B5EF4-FFF2-40B4-BE49-F238E27FC236}">
                <a16:creationId xmlns:a16="http://schemas.microsoft.com/office/drawing/2014/main" id="{D0ECBE66-259A-E39C-C2C0-3DA847B38D61}"/>
              </a:ext>
            </a:extLst>
          </p:cNvPr>
          <p:cNvCxnSpPr>
            <a:cxnSpLocks/>
          </p:cNvCxnSpPr>
          <p:nvPr/>
        </p:nvCxnSpPr>
        <p:spPr>
          <a:xfrm flipH="1" flipV="1">
            <a:off x="7589520" y="2946399"/>
            <a:ext cx="0" cy="1178560"/>
          </a:xfrm>
          <a:prstGeom prst="straightConnector1">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64169C1-7BE0-2418-62DF-D0BC96DEDD72}"/>
              </a:ext>
            </a:extLst>
          </p:cNvPr>
          <p:cNvSpPr txBox="1"/>
          <p:nvPr/>
        </p:nvSpPr>
        <p:spPr>
          <a:xfrm>
            <a:off x="7943015" y="3535344"/>
            <a:ext cx="99568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highlight>
                  <a:srgbClr val="F2F0F0"/>
                </a:highlight>
                <a:ea typeface="Calibri"/>
                <a:cs typeface="Calibri"/>
              </a:rPr>
              <a:t>1500 psi</a:t>
            </a:r>
          </a:p>
        </p:txBody>
      </p:sp>
    </p:spTree>
    <p:extLst>
      <p:ext uri="{BB962C8B-B14F-4D97-AF65-F5344CB8AC3E}">
        <p14:creationId xmlns:p14="http://schemas.microsoft.com/office/powerpoint/2010/main" val="2607926893"/>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B0428-10F9-2781-1098-A2C52E77A23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E1E5D26-0B20-EEDA-B296-63F56AC1A41F}"/>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AC088CC5-8E9C-065A-9433-FEBF269A3306}"/>
              </a:ext>
            </a:extLst>
          </p:cNvPr>
          <p:cNvSpPr>
            <a:spLocks noGrp="1"/>
          </p:cNvSpPr>
          <p:nvPr>
            <p:ph type="sldNum" sz="quarter" idx="17"/>
          </p:nvPr>
        </p:nvSpPr>
        <p:spPr/>
        <p:txBody>
          <a:bodyPr/>
          <a:lstStyle/>
          <a:p>
            <a:r>
              <a:rPr lang="en-US"/>
              <a:t>/   </a:t>
            </a:r>
            <a:fld id="{6C7E6F33-74EE-5541-8108-8353B402F8C1}" type="slidenum">
              <a:rPr lang="en-US" smtClean="0"/>
              <a:pPr/>
              <a:t>26</a:t>
            </a:fld>
            <a:endParaRPr lang="en-US"/>
          </a:p>
        </p:txBody>
      </p:sp>
      <p:sp>
        <p:nvSpPr>
          <p:cNvPr id="5" name="Title 4">
            <a:extLst>
              <a:ext uri="{FF2B5EF4-FFF2-40B4-BE49-F238E27FC236}">
                <a16:creationId xmlns:a16="http://schemas.microsoft.com/office/drawing/2014/main" id="{93FABCEC-6F39-1DD6-65EE-D217C1624975}"/>
              </a:ext>
            </a:extLst>
          </p:cNvPr>
          <p:cNvSpPr>
            <a:spLocks noGrp="1"/>
          </p:cNvSpPr>
          <p:nvPr>
            <p:ph type="title"/>
          </p:nvPr>
        </p:nvSpPr>
        <p:spPr>
          <a:xfrm>
            <a:off x="531848" y="484667"/>
            <a:ext cx="5564152" cy="625567"/>
          </a:xfrm>
        </p:spPr>
        <p:txBody>
          <a:bodyPr/>
          <a:lstStyle/>
          <a:p>
            <a:r>
              <a:rPr lang="en-US">
                <a:latin typeface="Munistic"/>
              </a:rPr>
              <a:t>Bulkheads OX/GN2</a:t>
            </a:r>
            <a:endParaRPr lang="en-US"/>
          </a:p>
        </p:txBody>
      </p:sp>
      <p:sp>
        <p:nvSpPr>
          <p:cNvPr id="6" name="Text Placeholder 5">
            <a:extLst>
              <a:ext uri="{FF2B5EF4-FFF2-40B4-BE49-F238E27FC236}">
                <a16:creationId xmlns:a16="http://schemas.microsoft.com/office/drawing/2014/main" id="{A7747F2B-6A0C-1543-FCE7-35A73EC16C86}"/>
              </a:ext>
            </a:extLst>
          </p:cNvPr>
          <p:cNvSpPr>
            <a:spLocks noGrp="1"/>
          </p:cNvSpPr>
          <p:nvPr>
            <p:ph type="body" sz="quarter" idx="13"/>
          </p:nvPr>
        </p:nvSpPr>
        <p:spPr>
          <a:xfrm>
            <a:off x="6123878" y="484667"/>
            <a:ext cx="5674660" cy="625567"/>
          </a:xfrm>
        </p:spPr>
        <p:txBody>
          <a:bodyPr/>
          <a:lstStyle/>
          <a:p>
            <a:r>
              <a:rPr lang="en-US" sz="2400">
                <a:ea typeface="Source Sans Pro"/>
                <a:cs typeface="Calibri"/>
              </a:rPr>
              <a:t>CAD/FEA</a:t>
            </a:r>
            <a:endParaRPr lang="en-US" sz="2400">
              <a:cs typeface="Calibri"/>
            </a:endParaRPr>
          </a:p>
        </p:txBody>
      </p:sp>
      <p:pic>
        <p:nvPicPr>
          <p:cNvPr id="11" name="Picture 10" descr="A screen shot of a graph&#10;&#10;AI-generated content may be incorrect.">
            <a:extLst>
              <a:ext uri="{FF2B5EF4-FFF2-40B4-BE49-F238E27FC236}">
                <a16:creationId xmlns:a16="http://schemas.microsoft.com/office/drawing/2014/main" id="{0773294A-F02E-19CE-1FC7-B084D0E37C25}"/>
              </a:ext>
            </a:extLst>
          </p:cNvPr>
          <p:cNvPicPr>
            <a:picLocks noChangeAspect="1"/>
          </p:cNvPicPr>
          <p:nvPr/>
        </p:nvPicPr>
        <p:blipFill>
          <a:blip r:embed="rId4"/>
          <a:stretch>
            <a:fillRect/>
          </a:stretch>
        </p:blipFill>
        <p:spPr>
          <a:xfrm>
            <a:off x="9652319" y="482254"/>
            <a:ext cx="2381582" cy="5782482"/>
          </a:xfrm>
          <a:prstGeom prst="rect">
            <a:avLst/>
          </a:prstGeom>
        </p:spPr>
      </p:pic>
      <p:sp>
        <p:nvSpPr>
          <p:cNvPr id="12" name="TextBox 11">
            <a:extLst>
              <a:ext uri="{FF2B5EF4-FFF2-40B4-BE49-F238E27FC236}">
                <a16:creationId xmlns:a16="http://schemas.microsoft.com/office/drawing/2014/main" id="{21F087B1-426C-387D-6404-A57BE397BCFB}"/>
              </a:ext>
            </a:extLst>
          </p:cNvPr>
          <p:cNvSpPr txBox="1"/>
          <p:nvPr/>
        </p:nvSpPr>
        <p:spPr>
          <a:xfrm>
            <a:off x="6300946" y="4913694"/>
            <a:ext cx="3464136" cy="92333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Constrained on faces meeting tanks</a:t>
            </a:r>
          </a:p>
          <a:p>
            <a:pPr marL="285750" indent="-285750">
              <a:buFont typeface="Arial" panose="020B0604020202020204" pitchFamily="34" charset="0"/>
              <a:buChar char="•"/>
            </a:pPr>
            <a:r>
              <a:rPr lang="en-US"/>
              <a:t>Tested @ 1500psi</a:t>
            </a:r>
          </a:p>
        </p:txBody>
      </p:sp>
      <p:sp>
        <p:nvSpPr>
          <p:cNvPr id="10" name="TextBox 9">
            <a:extLst>
              <a:ext uri="{FF2B5EF4-FFF2-40B4-BE49-F238E27FC236}">
                <a16:creationId xmlns:a16="http://schemas.microsoft.com/office/drawing/2014/main" id="{7A889431-EBC0-A1FB-803E-6B5A88158CE9}"/>
              </a:ext>
            </a:extLst>
          </p:cNvPr>
          <p:cNvSpPr txBox="1"/>
          <p:nvPr/>
        </p:nvSpPr>
        <p:spPr>
          <a:xfrm>
            <a:off x="756638" y="4144829"/>
            <a:ext cx="177766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Dimensions:</a:t>
            </a:r>
          </a:p>
          <a:p>
            <a:r>
              <a:rPr lang="en-US">
                <a:ea typeface="Calibri"/>
                <a:cs typeface="Calibri"/>
              </a:rPr>
              <a:t>Height: 3.6255 in</a:t>
            </a:r>
          </a:p>
          <a:p>
            <a:r>
              <a:rPr lang="en-US">
                <a:ea typeface="Calibri"/>
                <a:cs typeface="Calibri"/>
              </a:rPr>
              <a:t>Width: 6.00 in OD</a:t>
            </a:r>
          </a:p>
          <a:p>
            <a:endParaRPr lang="en-US">
              <a:ea typeface="Calibri"/>
              <a:cs typeface="Calibri"/>
            </a:endParaRPr>
          </a:p>
          <a:p>
            <a:r>
              <a:rPr lang="en-US">
                <a:ea typeface="Calibri"/>
                <a:cs typeface="Calibri"/>
              </a:rPr>
              <a:t>Mass = 5.02 lbs.</a:t>
            </a:r>
            <a:endParaRPr lang="en-US">
              <a:solidFill>
                <a:srgbClr val="000000"/>
              </a:solidFill>
              <a:ea typeface="Calibri"/>
              <a:cs typeface="Calibri"/>
            </a:endParaRPr>
          </a:p>
          <a:p>
            <a:endParaRPr lang="en-US">
              <a:ea typeface="Calibri"/>
              <a:cs typeface="Calibri"/>
            </a:endParaRPr>
          </a:p>
        </p:txBody>
      </p:sp>
      <p:sp>
        <p:nvSpPr>
          <p:cNvPr id="22" name="TextBox 21">
            <a:extLst>
              <a:ext uri="{FF2B5EF4-FFF2-40B4-BE49-F238E27FC236}">
                <a16:creationId xmlns:a16="http://schemas.microsoft.com/office/drawing/2014/main" id="{3982CEE4-D58D-9376-A512-3D98F0AEC98B}"/>
              </a:ext>
            </a:extLst>
          </p:cNvPr>
          <p:cNvSpPr txBox="1"/>
          <p:nvPr/>
        </p:nvSpPr>
        <p:spPr>
          <a:xfrm>
            <a:off x="6482700" y="4575717"/>
            <a:ext cx="35590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a:t>
            </a:r>
            <a:r>
              <a:rPr lang="en-US" sz="1400" b="1">
                <a:solidFill>
                  <a:srgbClr val="154734"/>
                </a:solidFill>
                <a:latin typeface="Calibri"/>
              </a:rPr>
              <a:t> 2.6 OX and GN2 Bulkhead FEA</a:t>
            </a:r>
            <a:endParaRPr lang="en-US"/>
          </a:p>
          <a:p>
            <a:pPr algn="ctr"/>
            <a:endParaRPr lang="en-US"/>
          </a:p>
        </p:txBody>
      </p:sp>
      <p:sp>
        <p:nvSpPr>
          <p:cNvPr id="24" name="TextBox 23">
            <a:extLst>
              <a:ext uri="{FF2B5EF4-FFF2-40B4-BE49-F238E27FC236}">
                <a16:creationId xmlns:a16="http://schemas.microsoft.com/office/drawing/2014/main" id="{951E412C-4ECD-FC6B-DEDE-C0F452729556}"/>
              </a:ext>
            </a:extLst>
          </p:cNvPr>
          <p:cNvSpPr txBox="1"/>
          <p:nvPr/>
        </p:nvSpPr>
        <p:spPr>
          <a:xfrm>
            <a:off x="933693" y="3842732"/>
            <a:ext cx="35590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a:t>
            </a:r>
            <a:r>
              <a:rPr lang="en-US" sz="1400" b="1">
                <a:solidFill>
                  <a:srgbClr val="154734"/>
                </a:solidFill>
                <a:latin typeface="Calibri"/>
              </a:rPr>
              <a:t>.5 OX and GN2 Bulkhead Model</a:t>
            </a:r>
            <a:endParaRPr lang="en-US"/>
          </a:p>
          <a:p>
            <a:pPr algn="ctr"/>
            <a:endParaRPr lang="en-US"/>
          </a:p>
        </p:txBody>
      </p:sp>
      <p:pic>
        <p:nvPicPr>
          <p:cNvPr id="7" name="Picture 6">
            <a:extLst>
              <a:ext uri="{FF2B5EF4-FFF2-40B4-BE49-F238E27FC236}">
                <a16:creationId xmlns:a16="http://schemas.microsoft.com/office/drawing/2014/main" id="{E98896BC-CC44-D816-DC62-195100E43A6C}"/>
              </a:ext>
            </a:extLst>
          </p:cNvPr>
          <p:cNvPicPr>
            <a:picLocks noChangeAspect="1"/>
          </p:cNvPicPr>
          <p:nvPr/>
        </p:nvPicPr>
        <p:blipFill>
          <a:blip r:embed="rId5"/>
          <a:stretch>
            <a:fillRect/>
          </a:stretch>
        </p:blipFill>
        <p:spPr>
          <a:xfrm>
            <a:off x="348715" y="1199415"/>
            <a:ext cx="2474907" cy="2643318"/>
          </a:xfrm>
          <a:prstGeom prst="rect">
            <a:avLst/>
          </a:prstGeom>
        </p:spPr>
      </p:pic>
      <p:pic>
        <p:nvPicPr>
          <p:cNvPr id="17" name="Picture 16">
            <a:extLst>
              <a:ext uri="{FF2B5EF4-FFF2-40B4-BE49-F238E27FC236}">
                <a16:creationId xmlns:a16="http://schemas.microsoft.com/office/drawing/2014/main" id="{97E2447E-F98E-A9E6-5AD1-CFE9BAC4222D}"/>
              </a:ext>
            </a:extLst>
          </p:cNvPr>
          <p:cNvPicPr>
            <a:picLocks noChangeAspect="1"/>
          </p:cNvPicPr>
          <p:nvPr/>
        </p:nvPicPr>
        <p:blipFill>
          <a:blip r:embed="rId6"/>
          <a:stretch>
            <a:fillRect/>
          </a:stretch>
        </p:blipFill>
        <p:spPr>
          <a:xfrm>
            <a:off x="2803109" y="1199415"/>
            <a:ext cx="2582782" cy="2643316"/>
          </a:xfrm>
          <a:prstGeom prst="rect">
            <a:avLst/>
          </a:prstGeom>
        </p:spPr>
      </p:pic>
      <p:pic>
        <p:nvPicPr>
          <p:cNvPr id="2" name="Picture 1">
            <a:extLst>
              <a:ext uri="{FF2B5EF4-FFF2-40B4-BE49-F238E27FC236}">
                <a16:creationId xmlns:a16="http://schemas.microsoft.com/office/drawing/2014/main" id="{476EB09C-A03D-2086-D50D-FFA3D2FB6508}"/>
              </a:ext>
            </a:extLst>
          </p:cNvPr>
          <p:cNvPicPr>
            <a:picLocks noChangeAspect="1"/>
          </p:cNvPicPr>
          <p:nvPr/>
        </p:nvPicPr>
        <p:blipFill>
          <a:blip r:embed="rId7"/>
          <a:stretch>
            <a:fillRect/>
          </a:stretch>
        </p:blipFill>
        <p:spPr>
          <a:xfrm>
            <a:off x="5819775" y="1488758"/>
            <a:ext cx="3834130" cy="2651125"/>
          </a:xfrm>
          <a:prstGeom prst="rect">
            <a:avLst/>
          </a:prstGeom>
        </p:spPr>
      </p:pic>
      <p:cxnSp>
        <p:nvCxnSpPr>
          <p:cNvPr id="8" name="Straight Arrow Connector 7">
            <a:extLst>
              <a:ext uri="{FF2B5EF4-FFF2-40B4-BE49-F238E27FC236}">
                <a16:creationId xmlns:a16="http://schemas.microsoft.com/office/drawing/2014/main" id="{A1A26368-2824-B4B2-71BF-59EB9335E976}"/>
              </a:ext>
            </a:extLst>
          </p:cNvPr>
          <p:cNvCxnSpPr/>
          <p:nvPr/>
        </p:nvCxnSpPr>
        <p:spPr>
          <a:xfrm flipV="1">
            <a:off x="7924800" y="3759200"/>
            <a:ext cx="0" cy="751840"/>
          </a:xfrm>
          <a:prstGeom prst="straightConnector1">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B4052E5-3072-7F6E-C575-C75EC8D8F7AB}"/>
              </a:ext>
            </a:extLst>
          </p:cNvPr>
          <p:cNvCxnSpPr>
            <a:cxnSpLocks/>
          </p:cNvCxnSpPr>
          <p:nvPr/>
        </p:nvCxnSpPr>
        <p:spPr>
          <a:xfrm flipH="1">
            <a:off x="7924800" y="1493520"/>
            <a:ext cx="10160" cy="904240"/>
          </a:xfrm>
          <a:prstGeom prst="straightConnector1">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7">
            <a:extLst>
              <a:ext uri="{FF2B5EF4-FFF2-40B4-BE49-F238E27FC236}">
                <a16:creationId xmlns:a16="http://schemas.microsoft.com/office/drawing/2014/main" id="{0B46E8AE-A66C-2399-CF57-E60891337B3F}"/>
              </a:ext>
            </a:extLst>
          </p:cNvPr>
          <p:cNvSpPr txBox="1"/>
          <p:nvPr/>
        </p:nvSpPr>
        <p:spPr>
          <a:xfrm>
            <a:off x="8036560" y="1310640"/>
            <a:ext cx="99568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00000"/>
                </a:solidFill>
                <a:ea typeface="Calibri"/>
                <a:cs typeface="Calibri"/>
              </a:rPr>
              <a:t>1500 psi</a:t>
            </a:r>
          </a:p>
        </p:txBody>
      </p:sp>
      <p:sp>
        <p:nvSpPr>
          <p:cNvPr id="21" name="TextBox 19">
            <a:extLst>
              <a:ext uri="{FF2B5EF4-FFF2-40B4-BE49-F238E27FC236}">
                <a16:creationId xmlns:a16="http://schemas.microsoft.com/office/drawing/2014/main" id="{613BBB78-E7CB-DE1E-673C-4B17A42823A6}"/>
              </a:ext>
            </a:extLst>
          </p:cNvPr>
          <p:cNvSpPr txBox="1"/>
          <p:nvPr/>
        </p:nvSpPr>
        <p:spPr>
          <a:xfrm>
            <a:off x="7976482" y="4252651"/>
            <a:ext cx="99568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00000"/>
                </a:solidFill>
                <a:highlight>
                  <a:srgbClr val="F2F0F0"/>
                </a:highlight>
                <a:ea typeface="Calibri"/>
                <a:cs typeface="Calibri"/>
              </a:rPr>
              <a:t>200 psi</a:t>
            </a:r>
          </a:p>
        </p:txBody>
      </p:sp>
    </p:spTree>
    <p:extLst>
      <p:ext uri="{BB962C8B-B14F-4D97-AF65-F5344CB8AC3E}">
        <p14:creationId xmlns:p14="http://schemas.microsoft.com/office/powerpoint/2010/main" val="390278356"/>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F60A7-88FD-363D-DF46-083C3A6039B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9BA80AF-5B63-6408-0C01-5F8F3308D562}"/>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D0567C6D-95E3-FF0E-879B-6C865C8D2422}"/>
              </a:ext>
            </a:extLst>
          </p:cNvPr>
          <p:cNvSpPr>
            <a:spLocks noGrp="1"/>
          </p:cNvSpPr>
          <p:nvPr>
            <p:ph type="sldNum" sz="quarter" idx="17"/>
          </p:nvPr>
        </p:nvSpPr>
        <p:spPr/>
        <p:txBody>
          <a:bodyPr/>
          <a:lstStyle/>
          <a:p>
            <a:r>
              <a:rPr lang="en-US"/>
              <a:t>/   </a:t>
            </a:r>
            <a:fld id="{6C7E6F33-74EE-5541-8108-8353B402F8C1}" type="slidenum">
              <a:rPr lang="en-US" smtClean="0"/>
              <a:pPr/>
              <a:t>27</a:t>
            </a:fld>
            <a:endParaRPr lang="en-US"/>
          </a:p>
        </p:txBody>
      </p:sp>
      <p:sp>
        <p:nvSpPr>
          <p:cNvPr id="5" name="Title 4">
            <a:extLst>
              <a:ext uri="{FF2B5EF4-FFF2-40B4-BE49-F238E27FC236}">
                <a16:creationId xmlns:a16="http://schemas.microsoft.com/office/drawing/2014/main" id="{0301B2DD-257A-BB9C-8A8A-D7A1005F9E61}"/>
              </a:ext>
            </a:extLst>
          </p:cNvPr>
          <p:cNvSpPr>
            <a:spLocks noGrp="1"/>
          </p:cNvSpPr>
          <p:nvPr>
            <p:ph type="title"/>
          </p:nvPr>
        </p:nvSpPr>
        <p:spPr>
          <a:xfrm>
            <a:off x="257528" y="442664"/>
            <a:ext cx="5838472" cy="625567"/>
          </a:xfrm>
        </p:spPr>
        <p:txBody>
          <a:bodyPr/>
          <a:lstStyle/>
          <a:p>
            <a:r>
              <a:rPr lang="en-US">
                <a:latin typeface="Munistic"/>
              </a:rPr>
              <a:t>Bulkheads GN2/Fuel</a:t>
            </a:r>
            <a:endParaRPr lang="en-US"/>
          </a:p>
        </p:txBody>
      </p:sp>
      <p:sp>
        <p:nvSpPr>
          <p:cNvPr id="6" name="Text Placeholder 5">
            <a:extLst>
              <a:ext uri="{FF2B5EF4-FFF2-40B4-BE49-F238E27FC236}">
                <a16:creationId xmlns:a16="http://schemas.microsoft.com/office/drawing/2014/main" id="{FE0F6054-3DA0-AC82-0F98-DDB9F1F5721F}"/>
              </a:ext>
            </a:extLst>
          </p:cNvPr>
          <p:cNvSpPr>
            <a:spLocks noGrp="1"/>
          </p:cNvSpPr>
          <p:nvPr>
            <p:ph type="body" sz="quarter" idx="13"/>
          </p:nvPr>
        </p:nvSpPr>
        <p:spPr>
          <a:xfrm>
            <a:off x="6096000" y="442664"/>
            <a:ext cx="5674660" cy="625567"/>
          </a:xfrm>
        </p:spPr>
        <p:txBody>
          <a:bodyPr/>
          <a:lstStyle/>
          <a:p>
            <a:r>
              <a:rPr lang="en-US" sz="2400">
                <a:ea typeface="Source Sans Pro"/>
                <a:cs typeface="Calibri"/>
              </a:rPr>
              <a:t>CAD/FEA</a:t>
            </a:r>
            <a:endParaRPr lang="en-US" sz="2400"/>
          </a:p>
        </p:txBody>
      </p:sp>
      <p:pic>
        <p:nvPicPr>
          <p:cNvPr id="16" name="Picture 15" descr="A screen shot of a graph&#10;&#10;AI-generated content may be incorrect.">
            <a:extLst>
              <a:ext uri="{FF2B5EF4-FFF2-40B4-BE49-F238E27FC236}">
                <a16:creationId xmlns:a16="http://schemas.microsoft.com/office/drawing/2014/main" id="{8B15BB95-4B95-E214-B43A-25AFD27D520E}"/>
              </a:ext>
            </a:extLst>
          </p:cNvPr>
          <p:cNvPicPr>
            <a:picLocks noChangeAspect="1"/>
          </p:cNvPicPr>
          <p:nvPr/>
        </p:nvPicPr>
        <p:blipFill>
          <a:blip r:embed="rId4"/>
          <a:stretch>
            <a:fillRect/>
          </a:stretch>
        </p:blipFill>
        <p:spPr>
          <a:xfrm>
            <a:off x="9810418" y="446319"/>
            <a:ext cx="2381582" cy="5782482"/>
          </a:xfrm>
          <a:prstGeom prst="rect">
            <a:avLst/>
          </a:prstGeom>
        </p:spPr>
      </p:pic>
      <p:sp>
        <p:nvSpPr>
          <p:cNvPr id="17" name="TextBox 16">
            <a:extLst>
              <a:ext uri="{FF2B5EF4-FFF2-40B4-BE49-F238E27FC236}">
                <a16:creationId xmlns:a16="http://schemas.microsoft.com/office/drawing/2014/main" id="{37FD7027-3E7B-8385-7B1F-460B7B53BA2E}"/>
              </a:ext>
            </a:extLst>
          </p:cNvPr>
          <p:cNvSpPr txBox="1"/>
          <p:nvPr/>
        </p:nvSpPr>
        <p:spPr>
          <a:xfrm>
            <a:off x="6090930" y="5425877"/>
            <a:ext cx="3719984" cy="92333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Constrained on faces meeting tanks</a:t>
            </a:r>
          </a:p>
          <a:p>
            <a:pPr marL="285750" indent="-285750">
              <a:buFont typeface="Arial" panose="020B0604020202020204" pitchFamily="34" charset="0"/>
              <a:buChar char="•"/>
            </a:pPr>
            <a:r>
              <a:rPr lang="en-US"/>
              <a:t>Tested @ 200psi</a:t>
            </a:r>
          </a:p>
        </p:txBody>
      </p:sp>
      <p:sp>
        <p:nvSpPr>
          <p:cNvPr id="9" name="TextBox 8">
            <a:extLst>
              <a:ext uri="{FF2B5EF4-FFF2-40B4-BE49-F238E27FC236}">
                <a16:creationId xmlns:a16="http://schemas.microsoft.com/office/drawing/2014/main" id="{FFA0D110-0DF8-BC50-E495-01B2FCAA27A7}"/>
              </a:ext>
            </a:extLst>
          </p:cNvPr>
          <p:cNvSpPr txBox="1"/>
          <p:nvPr/>
        </p:nvSpPr>
        <p:spPr>
          <a:xfrm>
            <a:off x="1069183" y="4021996"/>
            <a:ext cx="194356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Dimensions:</a:t>
            </a:r>
          </a:p>
          <a:p>
            <a:r>
              <a:rPr lang="en-US">
                <a:ea typeface="Calibri"/>
                <a:cs typeface="Calibri"/>
              </a:rPr>
              <a:t>Height: 2.587  in</a:t>
            </a:r>
          </a:p>
          <a:p>
            <a:r>
              <a:rPr lang="en-US">
                <a:ea typeface="Calibri"/>
                <a:cs typeface="Calibri"/>
              </a:rPr>
              <a:t>Width: 6.00 in OD</a:t>
            </a:r>
          </a:p>
          <a:p>
            <a:endParaRPr lang="en-US">
              <a:ea typeface="Calibri"/>
              <a:cs typeface="Calibri"/>
            </a:endParaRPr>
          </a:p>
          <a:p>
            <a:r>
              <a:rPr lang="en-US">
                <a:ea typeface="Calibri"/>
                <a:cs typeface="Calibri"/>
              </a:rPr>
              <a:t>Mass = 3.19 lbs.</a:t>
            </a:r>
            <a:endParaRPr lang="en-US">
              <a:solidFill>
                <a:srgbClr val="000000"/>
              </a:solidFill>
              <a:ea typeface="Calibri"/>
              <a:cs typeface="Calibri"/>
            </a:endParaRPr>
          </a:p>
          <a:p>
            <a:endParaRPr lang="en-US">
              <a:ea typeface="Calibri"/>
              <a:cs typeface="Calibri"/>
            </a:endParaRPr>
          </a:p>
        </p:txBody>
      </p:sp>
      <p:sp>
        <p:nvSpPr>
          <p:cNvPr id="21" name="TextBox 20">
            <a:extLst>
              <a:ext uri="{FF2B5EF4-FFF2-40B4-BE49-F238E27FC236}">
                <a16:creationId xmlns:a16="http://schemas.microsoft.com/office/drawing/2014/main" id="{8F848EF6-A173-8EEA-EA79-B5BAFA8103F3}"/>
              </a:ext>
            </a:extLst>
          </p:cNvPr>
          <p:cNvSpPr txBox="1"/>
          <p:nvPr/>
        </p:nvSpPr>
        <p:spPr>
          <a:xfrm>
            <a:off x="6442060" y="5134517"/>
            <a:ext cx="35590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2.8</a:t>
            </a:r>
            <a:r>
              <a:rPr lang="en-US" sz="1400" b="1">
                <a:solidFill>
                  <a:srgbClr val="154734"/>
                </a:solidFill>
                <a:latin typeface="Calibri"/>
              </a:rPr>
              <a:t> GN2 and Fuel Bulkhead FEA</a:t>
            </a:r>
            <a:endParaRPr lang="en-US"/>
          </a:p>
          <a:p>
            <a:pPr algn="ctr"/>
            <a:endParaRPr lang="en-US"/>
          </a:p>
        </p:txBody>
      </p:sp>
      <p:sp>
        <p:nvSpPr>
          <p:cNvPr id="24" name="TextBox 23">
            <a:extLst>
              <a:ext uri="{FF2B5EF4-FFF2-40B4-BE49-F238E27FC236}">
                <a16:creationId xmlns:a16="http://schemas.microsoft.com/office/drawing/2014/main" id="{60443AA3-41F1-C8CE-F43C-D0143C087FF6}"/>
              </a:ext>
            </a:extLst>
          </p:cNvPr>
          <p:cNvSpPr txBox="1"/>
          <p:nvPr/>
        </p:nvSpPr>
        <p:spPr>
          <a:xfrm>
            <a:off x="751316" y="3729608"/>
            <a:ext cx="35590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2.7</a:t>
            </a:r>
            <a:r>
              <a:rPr lang="en-US" sz="1400" b="1">
                <a:solidFill>
                  <a:srgbClr val="154734"/>
                </a:solidFill>
                <a:latin typeface="Calibri"/>
              </a:rPr>
              <a:t> OX and GN2 Bulkhead Model</a:t>
            </a:r>
            <a:endParaRPr lang="en-US"/>
          </a:p>
          <a:p>
            <a:pPr algn="ctr"/>
            <a:endParaRPr lang="en-US"/>
          </a:p>
        </p:txBody>
      </p:sp>
      <p:pic>
        <p:nvPicPr>
          <p:cNvPr id="7" name="Picture 6">
            <a:extLst>
              <a:ext uri="{FF2B5EF4-FFF2-40B4-BE49-F238E27FC236}">
                <a16:creationId xmlns:a16="http://schemas.microsoft.com/office/drawing/2014/main" id="{EA207647-BF77-1F4B-5C3E-B2BB6C4EE15A}"/>
              </a:ext>
            </a:extLst>
          </p:cNvPr>
          <p:cNvPicPr>
            <a:picLocks noChangeAspect="1"/>
          </p:cNvPicPr>
          <p:nvPr/>
        </p:nvPicPr>
        <p:blipFill>
          <a:blip r:embed="rId5"/>
          <a:stretch>
            <a:fillRect/>
          </a:stretch>
        </p:blipFill>
        <p:spPr>
          <a:xfrm>
            <a:off x="2820438" y="1171697"/>
            <a:ext cx="2979952" cy="2582437"/>
          </a:xfrm>
          <a:prstGeom prst="rect">
            <a:avLst/>
          </a:prstGeom>
        </p:spPr>
      </p:pic>
      <p:pic>
        <p:nvPicPr>
          <p:cNvPr id="2" name="Picture 1" descr="A close-up of a circular object&#10;&#10;AI-generated content may be incorrect.">
            <a:extLst>
              <a:ext uri="{FF2B5EF4-FFF2-40B4-BE49-F238E27FC236}">
                <a16:creationId xmlns:a16="http://schemas.microsoft.com/office/drawing/2014/main" id="{BA16895E-5DD9-D3D9-00AE-833474F8EE53}"/>
              </a:ext>
            </a:extLst>
          </p:cNvPr>
          <p:cNvPicPr>
            <a:picLocks noChangeAspect="1"/>
          </p:cNvPicPr>
          <p:nvPr/>
        </p:nvPicPr>
        <p:blipFill>
          <a:blip r:embed="rId6"/>
          <a:srcRect l="8246" t="295" r="3148" b="128"/>
          <a:stretch>
            <a:fillRect/>
          </a:stretch>
        </p:blipFill>
        <p:spPr>
          <a:xfrm>
            <a:off x="88582" y="1066079"/>
            <a:ext cx="2739269" cy="2663190"/>
          </a:xfrm>
          <a:prstGeom prst="rect">
            <a:avLst/>
          </a:prstGeom>
        </p:spPr>
      </p:pic>
      <p:pic>
        <p:nvPicPr>
          <p:cNvPr id="8" name="Picture 7" descr="A blue and white drawing of a circular object&#10;&#10;AI-generated content may be incorrect.">
            <a:extLst>
              <a:ext uri="{FF2B5EF4-FFF2-40B4-BE49-F238E27FC236}">
                <a16:creationId xmlns:a16="http://schemas.microsoft.com/office/drawing/2014/main" id="{AF91C797-5209-7C1B-F49E-8B83CCFF7D5F}"/>
              </a:ext>
            </a:extLst>
          </p:cNvPr>
          <p:cNvPicPr>
            <a:picLocks noChangeAspect="1"/>
          </p:cNvPicPr>
          <p:nvPr/>
        </p:nvPicPr>
        <p:blipFill>
          <a:blip r:embed="rId7"/>
          <a:srcRect l="12735" t="6345" r="6667" b="-325"/>
          <a:stretch>
            <a:fillRect/>
          </a:stretch>
        </p:blipFill>
        <p:spPr>
          <a:xfrm>
            <a:off x="6095476" y="1715257"/>
            <a:ext cx="3719093" cy="2589462"/>
          </a:xfrm>
          <a:prstGeom prst="rect">
            <a:avLst/>
          </a:prstGeom>
        </p:spPr>
      </p:pic>
      <p:cxnSp>
        <p:nvCxnSpPr>
          <p:cNvPr id="14" name="Straight Arrow Connector 13">
            <a:extLst>
              <a:ext uri="{FF2B5EF4-FFF2-40B4-BE49-F238E27FC236}">
                <a16:creationId xmlns:a16="http://schemas.microsoft.com/office/drawing/2014/main" id="{D01807FC-ADC4-9917-63B6-78B268819A81}"/>
              </a:ext>
            </a:extLst>
          </p:cNvPr>
          <p:cNvCxnSpPr/>
          <p:nvPr/>
        </p:nvCxnSpPr>
        <p:spPr>
          <a:xfrm flipV="1">
            <a:off x="7955280" y="3799840"/>
            <a:ext cx="0" cy="751840"/>
          </a:xfrm>
          <a:prstGeom prst="straightConnector1">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A055F1F-DA4C-CE5E-8538-E27D8941A292}"/>
              </a:ext>
            </a:extLst>
          </p:cNvPr>
          <p:cNvCxnSpPr/>
          <p:nvPr/>
        </p:nvCxnSpPr>
        <p:spPr>
          <a:xfrm flipH="1">
            <a:off x="7955280" y="1259840"/>
            <a:ext cx="0" cy="843280"/>
          </a:xfrm>
          <a:prstGeom prst="straightConnector1">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14">
            <a:extLst>
              <a:ext uri="{FF2B5EF4-FFF2-40B4-BE49-F238E27FC236}">
                <a16:creationId xmlns:a16="http://schemas.microsoft.com/office/drawing/2014/main" id="{74DDC48B-F6B9-252B-7B86-14F4E7C7E4F4}"/>
              </a:ext>
            </a:extLst>
          </p:cNvPr>
          <p:cNvSpPr txBox="1"/>
          <p:nvPr/>
        </p:nvSpPr>
        <p:spPr>
          <a:xfrm>
            <a:off x="8117840" y="1148080"/>
            <a:ext cx="99568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00000"/>
                </a:solidFill>
                <a:ea typeface="Calibri"/>
                <a:cs typeface="Calibri"/>
              </a:rPr>
              <a:t>200 psi</a:t>
            </a:r>
          </a:p>
        </p:txBody>
      </p:sp>
      <p:sp>
        <p:nvSpPr>
          <p:cNvPr id="23" name="TextBox 18">
            <a:extLst>
              <a:ext uri="{FF2B5EF4-FFF2-40B4-BE49-F238E27FC236}">
                <a16:creationId xmlns:a16="http://schemas.microsoft.com/office/drawing/2014/main" id="{79D06F4E-4CB0-BE6C-7848-FB2DC5D9D2F4}"/>
              </a:ext>
            </a:extLst>
          </p:cNvPr>
          <p:cNvSpPr txBox="1"/>
          <p:nvPr/>
        </p:nvSpPr>
        <p:spPr>
          <a:xfrm>
            <a:off x="7950922" y="4289101"/>
            <a:ext cx="99568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00000"/>
                </a:solidFill>
                <a:highlight>
                  <a:srgbClr val="F2F0F0"/>
                </a:highlight>
                <a:ea typeface="Calibri"/>
                <a:cs typeface="Calibri"/>
              </a:rPr>
              <a:t>200 psi</a:t>
            </a:r>
          </a:p>
        </p:txBody>
      </p:sp>
    </p:spTree>
    <p:extLst>
      <p:ext uri="{BB962C8B-B14F-4D97-AF65-F5344CB8AC3E}">
        <p14:creationId xmlns:p14="http://schemas.microsoft.com/office/powerpoint/2010/main" val="757481636"/>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3378770-FDF8-9F16-3820-FB63FEAEA740}"/>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6D1E3445-E9E4-4374-CF01-9086BD65E0BD}"/>
              </a:ext>
            </a:extLst>
          </p:cNvPr>
          <p:cNvSpPr>
            <a:spLocks noGrp="1"/>
          </p:cNvSpPr>
          <p:nvPr>
            <p:ph type="sldNum" sz="quarter" idx="17"/>
          </p:nvPr>
        </p:nvSpPr>
        <p:spPr/>
        <p:txBody>
          <a:bodyPr/>
          <a:lstStyle/>
          <a:p>
            <a:r>
              <a:rPr lang="en-US"/>
              <a:t>/   </a:t>
            </a:r>
            <a:fld id="{6C7E6F33-74EE-5541-8108-8353B402F8C1}" type="slidenum">
              <a:rPr lang="en-US" smtClean="0"/>
              <a:pPr/>
              <a:t>28</a:t>
            </a:fld>
            <a:endParaRPr lang="en-US"/>
          </a:p>
        </p:txBody>
      </p:sp>
      <p:sp>
        <p:nvSpPr>
          <p:cNvPr id="5" name="Title 4">
            <a:extLst>
              <a:ext uri="{FF2B5EF4-FFF2-40B4-BE49-F238E27FC236}">
                <a16:creationId xmlns:a16="http://schemas.microsoft.com/office/drawing/2014/main" id="{B7B56EB0-C338-BCC7-00B7-EFCCBCFA0FCB}"/>
              </a:ext>
            </a:extLst>
          </p:cNvPr>
          <p:cNvSpPr>
            <a:spLocks noGrp="1"/>
          </p:cNvSpPr>
          <p:nvPr>
            <p:ph type="title"/>
          </p:nvPr>
        </p:nvSpPr>
        <p:spPr>
          <a:xfrm>
            <a:off x="379448" y="412184"/>
            <a:ext cx="6342027" cy="625567"/>
          </a:xfrm>
        </p:spPr>
        <p:txBody>
          <a:bodyPr/>
          <a:lstStyle/>
          <a:p>
            <a:r>
              <a:rPr lang="en-US">
                <a:latin typeface="Munistic"/>
              </a:rPr>
              <a:t>Bulkhead Bottom Fuel</a:t>
            </a:r>
            <a:endParaRPr lang="en-US"/>
          </a:p>
        </p:txBody>
      </p:sp>
      <p:sp>
        <p:nvSpPr>
          <p:cNvPr id="6" name="Text Placeholder 5">
            <a:extLst>
              <a:ext uri="{FF2B5EF4-FFF2-40B4-BE49-F238E27FC236}">
                <a16:creationId xmlns:a16="http://schemas.microsoft.com/office/drawing/2014/main" id="{7CD93C5A-4E1C-642D-A468-A0709CCE4411}"/>
              </a:ext>
            </a:extLst>
          </p:cNvPr>
          <p:cNvSpPr>
            <a:spLocks noGrp="1"/>
          </p:cNvSpPr>
          <p:nvPr>
            <p:ph type="body" sz="quarter" idx="13"/>
          </p:nvPr>
        </p:nvSpPr>
        <p:spPr>
          <a:xfrm>
            <a:off x="6732905" y="412184"/>
            <a:ext cx="4865035" cy="625567"/>
          </a:xfrm>
        </p:spPr>
        <p:txBody>
          <a:bodyPr/>
          <a:lstStyle/>
          <a:p>
            <a:r>
              <a:rPr lang="en-US" sz="1850">
                <a:ea typeface="Source Sans Pro"/>
                <a:cs typeface="Calibri"/>
              </a:rPr>
              <a:t>CAD/FEA</a:t>
            </a:r>
            <a:endParaRPr lang="en-US">
              <a:ea typeface="Source Sans Pro"/>
            </a:endParaRPr>
          </a:p>
        </p:txBody>
      </p:sp>
      <p:pic>
        <p:nvPicPr>
          <p:cNvPr id="9" name="Picture 8" descr="A screen shot of a graph&#10;&#10;AI-generated content may be incorrect.">
            <a:extLst>
              <a:ext uri="{FF2B5EF4-FFF2-40B4-BE49-F238E27FC236}">
                <a16:creationId xmlns:a16="http://schemas.microsoft.com/office/drawing/2014/main" id="{3DA6BECD-8B39-6323-A1D8-B293BC441C4E}"/>
              </a:ext>
            </a:extLst>
          </p:cNvPr>
          <p:cNvPicPr>
            <a:picLocks noChangeAspect="1"/>
          </p:cNvPicPr>
          <p:nvPr/>
        </p:nvPicPr>
        <p:blipFill>
          <a:blip r:embed="rId3"/>
          <a:stretch>
            <a:fillRect/>
          </a:stretch>
        </p:blipFill>
        <p:spPr>
          <a:xfrm>
            <a:off x="9733241" y="358534"/>
            <a:ext cx="2381582" cy="5782482"/>
          </a:xfrm>
          <a:prstGeom prst="rect">
            <a:avLst/>
          </a:prstGeom>
        </p:spPr>
      </p:pic>
      <p:sp>
        <p:nvSpPr>
          <p:cNvPr id="11" name="TextBox 10">
            <a:extLst>
              <a:ext uri="{FF2B5EF4-FFF2-40B4-BE49-F238E27FC236}">
                <a16:creationId xmlns:a16="http://schemas.microsoft.com/office/drawing/2014/main" id="{DF16A629-8608-CFE5-1EEA-093D6E72A8C9}"/>
              </a:ext>
            </a:extLst>
          </p:cNvPr>
          <p:cNvSpPr txBox="1"/>
          <p:nvPr/>
        </p:nvSpPr>
        <p:spPr>
          <a:xfrm>
            <a:off x="6522720" y="5057117"/>
            <a:ext cx="3211920" cy="1477328"/>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a:t>Constrained on face meeting tank</a:t>
            </a:r>
          </a:p>
          <a:p>
            <a:pPr marL="285750" indent="-285750">
              <a:buFont typeface="Arial" panose="020B0604020202020204" pitchFamily="34" charset="0"/>
              <a:buChar char="•"/>
            </a:pPr>
            <a:r>
              <a:rPr lang="en-US"/>
              <a:t>Tested @ 200psi</a:t>
            </a:r>
            <a:endParaRPr lang="en-US">
              <a:ea typeface="Calibri"/>
              <a:cs typeface="Calibri"/>
            </a:endParaRPr>
          </a:p>
          <a:p>
            <a:pPr marL="285750" indent="-285750">
              <a:buFont typeface="Arial" panose="020B0604020202020204" pitchFamily="34" charset="0"/>
              <a:buChar char="•"/>
            </a:pPr>
            <a:endParaRPr lang="en-US"/>
          </a:p>
          <a:p>
            <a:pPr marL="285750" indent="-285750">
              <a:buFont typeface="Arial" panose="020B0604020202020204" pitchFamily="34" charset="0"/>
              <a:buChar char="•"/>
            </a:pPr>
            <a:endParaRPr lang="en-US"/>
          </a:p>
        </p:txBody>
      </p:sp>
      <p:sp>
        <p:nvSpPr>
          <p:cNvPr id="14" name="TextBox 13">
            <a:extLst>
              <a:ext uri="{FF2B5EF4-FFF2-40B4-BE49-F238E27FC236}">
                <a16:creationId xmlns:a16="http://schemas.microsoft.com/office/drawing/2014/main" id="{1FCB9B23-0C5B-3A54-B010-6B67B3D00957}"/>
              </a:ext>
            </a:extLst>
          </p:cNvPr>
          <p:cNvSpPr txBox="1"/>
          <p:nvPr/>
        </p:nvSpPr>
        <p:spPr>
          <a:xfrm>
            <a:off x="1076819" y="4179954"/>
            <a:ext cx="192324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Dimensions:</a:t>
            </a:r>
          </a:p>
          <a:p>
            <a:r>
              <a:rPr lang="en-US">
                <a:ea typeface="Calibri"/>
                <a:cs typeface="Calibri"/>
              </a:rPr>
              <a:t>Height: 2.587 in</a:t>
            </a:r>
          </a:p>
          <a:p>
            <a:r>
              <a:rPr lang="en-US">
                <a:ea typeface="Calibri"/>
                <a:cs typeface="Calibri"/>
              </a:rPr>
              <a:t>Width: 6.00 in OD</a:t>
            </a:r>
          </a:p>
          <a:p>
            <a:endParaRPr lang="en-US">
              <a:ea typeface="Calibri"/>
              <a:cs typeface="Calibri"/>
            </a:endParaRPr>
          </a:p>
          <a:p>
            <a:r>
              <a:rPr lang="en-US">
                <a:ea typeface="Calibri"/>
                <a:cs typeface="Calibri"/>
              </a:rPr>
              <a:t>Mass = 2.54 lbs.</a:t>
            </a:r>
            <a:endParaRPr lang="en-US">
              <a:solidFill>
                <a:srgbClr val="000000"/>
              </a:solidFill>
              <a:ea typeface="Calibri"/>
              <a:cs typeface="Calibri"/>
            </a:endParaRPr>
          </a:p>
          <a:p>
            <a:endParaRPr lang="en-US">
              <a:ea typeface="Calibri"/>
              <a:cs typeface="Calibri"/>
            </a:endParaRPr>
          </a:p>
        </p:txBody>
      </p:sp>
      <p:sp>
        <p:nvSpPr>
          <p:cNvPr id="19" name="TextBox 18">
            <a:extLst>
              <a:ext uri="{FF2B5EF4-FFF2-40B4-BE49-F238E27FC236}">
                <a16:creationId xmlns:a16="http://schemas.microsoft.com/office/drawing/2014/main" id="{28647BEF-6565-B6D9-E361-54CC7A3E4F51}"/>
              </a:ext>
            </a:extLst>
          </p:cNvPr>
          <p:cNvSpPr txBox="1"/>
          <p:nvPr/>
        </p:nvSpPr>
        <p:spPr>
          <a:xfrm>
            <a:off x="6594460" y="4809397"/>
            <a:ext cx="35590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2.10</a:t>
            </a:r>
            <a:r>
              <a:rPr lang="en-US" sz="1400" b="1">
                <a:solidFill>
                  <a:srgbClr val="154734"/>
                </a:solidFill>
                <a:latin typeface="Calibri"/>
              </a:rPr>
              <a:t> Fuel Bottom Bulkhead FEA</a:t>
            </a:r>
            <a:endParaRPr lang="en-US"/>
          </a:p>
          <a:p>
            <a:pPr algn="ctr"/>
            <a:endParaRPr lang="en-US"/>
          </a:p>
        </p:txBody>
      </p:sp>
      <p:sp>
        <p:nvSpPr>
          <p:cNvPr id="23" name="TextBox 22">
            <a:extLst>
              <a:ext uri="{FF2B5EF4-FFF2-40B4-BE49-F238E27FC236}">
                <a16:creationId xmlns:a16="http://schemas.microsoft.com/office/drawing/2014/main" id="{C18B9920-3C08-91A8-A15C-99587971B5EB}"/>
              </a:ext>
            </a:extLst>
          </p:cNvPr>
          <p:cNvSpPr txBox="1"/>
          <p:nvPr/>
        </p:nvSpPr>
        <p:spPr>
          <a:xfrm>
            <a:off x="1123065" y="3599256"/>
            <a:ext cx="35590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2.9</a:t>
            </a:r>
            <a:r>
              <a:rPr lang="en-US" sz="1400" b="1">
                <a:solidFill>
                  <a:srgbClr val="154734"/>
                </a:solidFill>
                <a:latin typeface="Calibri"/>
              </a:rPr>
              <a:t> GN2 and Fuel Bulkhead Model</a:t>
            </a:r>
            <a:endParaRPr lang="en-US"/>
          </a:p>
          <a:p>
            <a:pPr algn="ctr"/>
            <a:endParaRPr lang="en-US"/>
          </a:p>
        </p:txBody>
      </p:sp>
      <p:pic>
        <p:nvPicPr>
          <p:cNvPr id="20" name="Picture 19">
            <a:extLst>
              <a:ext uri="{FF2B5EF4-FFF2-40B4-BE49-F238E27FC236}">
                <a16:creationId xmlns:a16="http://schemas.microsoft.com/office/drawing/2014/main" id="{2DC94152-355A-80A9-9C9D-57EEE204BA36}"/>
              </a:ext>
            </a:extLst>
          </p:cNvPr>
          <p:cNvPicPr>
            <a:picLocks noChangeAspect="1"/>
          </p:cNvPicPr>
          <p:nvPr/>
        </p:nvPicPr>
        <p:blipFill>
          <a:blip r:embed="rId4"/>
          <a:stretch>
            <a:fillRect/>
          </a:stretch>
        </p:blipFill>
        <p:spPr>
          <a:xfrm>
            <a:off x="2786360" y="1404443"/>
            <a:ext cx="2621380" cy="2194813"/>
          </a:xfrm>
          <a:prstGeom prst="rect">
            <a:avLst/>
          </a:prstGeom>
        </p:spPr>
      </p:pic>
      <p:pic>
        <p:nvPicPr>
          <p:cNvPr id="22" name="Picture 21">
            <a:extLst>
              <a:ext uri="{FF2B5EF4-FFF2-40B4-BE49-F238E27FC236}">
                <a16:creationId xmlns:a16="http://schemas.microsoft.com/office/drawing/2014/main" id="{6BE6D050-920B-3F88-A308-60D27BD6851B}"/>
              </a:ext>
            </a:extLst>
          </p:cNvPr>
          <p:cNvPicPr>
            <a:picLocks noChangeAspect="1"/>
          </p:cNvPicPr>
          <p:nvPr/>
        </p:nvPicPr>
        <p:blipFill>
          <a:blip r:embed="rId5"/>
          <a:stretch>
            <a:fillRect/>
          </a:stretch>
        </p:blipFill>
        <p:spPr>
          <a:xfrm>
            <a:off x="456616" y="1303525"/>
            <a:ext cx="2406884" cy="2295731"/>
          </a:xfrm>
          <a:prstGeom prst="rect">
            <a:avLst/>
          </a:prstGeom>
        </p:spPr>
      </p:pic>
      <p:pic>
        <p:nvPicPr>
          <p:cNvPr id="2" name="Picture 1" descr="A blue and white circular object&#10;&#10;AI-generated content may be incorrect.">
            <a:extLst>
              <a:ext uri="{FF2B5EF4-FFF2-40B4-BE49-F238E27FC236}">
                <a16:creationId xmlns:a16="http://schemas.microsoft.com/office/drawing/2014/main" id="{28BD3929-09C2-E98C-5B44-0194123A0E89}"/>
              </a:ext>
            </a:extLst>
          </p:cNvPr>
          <p:cNvPicPr>
            <a:picLocks noChangeAspect="1"/>
          </p:cNvPicPr>
          <p:nvPr/>
        </p:nvPicPr>
        <p:blipFill>
          <a:blip r:embed="rId6"/>
          <a:srcRect l="1509" t="6641" r="549" b="2710"/>
          <a:stretch>
            <a:fillRect/>
          </a:stretch>
        </p:blipFill>
        <p:spPr>
          <a:xfrm>
            <a:off x="5408295" y="1614821"/>
            <a:ext cx="4321762" cy="2757989"/>
          </a:xfrm>
          <a:prstGeom prst="rect">
            <a:avLst/>
          </a:prstGeom>
        </p:spPr>
      </p:pic>
      <p:cxnSp>
        <p:nvCxnSpPr>
          <p:cNvPr id="7" name="Straight Arrow Connector 6">
            <a:extLst>
              <a:ext uri="{FF2B5EF4-FFF2-40B4-BE49-F238E27FC236}">
                <a16:creationId xmlns:a16="http://schemas.microsoft.com/office/drawing/2014/main" id="{E2054FB3-F954-8408-AA5C-2AF87DB0CFBB}"/>
              </a:ext>
            </a:extLst>
          </p:cNvPr>
          <p:cNvCxnSpPr/>
          <p:nvPr/>
        </p:nvCxnSpPr>
        <p:spPr>
          <a:xfrm flipH="1">
            <a:off x="7528560" y="1097280"/>
            <a:ext cx="10160" cy="833120"/>
          </a:xfrm>
          <a:prstGeom prst="straightConnector1">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15">
            <a:extLst>
              <a:ext uri="{FF2B5EF4-FFF2-40B4-BE49-F238E27FC236}">
                <a16:creationId xmlns:a16="http://schemas.microsoft.com/office/drawing/2014/main" id="{08421833-A49C-30DA-EED4-23C5240F7738}"/>
              </a:ext>
            </a:extLst>
          </p:cNvPr>
          <p:cNvSpPr txBox="1"/>
          <p:nvPr/>
        </p:nvSpPr>
        <p:spPr>
          <a:xfrm>
            <a:off x="6482080" y="1148080"/>
            <a:ext cx="99568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000000"/>
                </a:solidFill>
                <a:ea typeface="Calibri"/>
                <a:cs typeface="Calibri"/>
              </a:rPr>
              <a:t>200 psi</a:t>
            </a:r>
          </a:p>
        </p:txBody>
      </p:sp>
    </p:spTree>
    <p:extLst>
      <p:ext uri="{BB962C8B-B14F-4D97-AF65-F5344CB8AC3E}">
        <p14:creationId xmlns:p14="http://schemas.microsoft.com/office/powerpoint/2010/main" val="2843633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E52D101A-7F7A-8A4A-4E27-109A9AF0FF34}"/>
                  </a:ext>
                </a:extLst>
              </p:cNvPr>
              <p:cNvSpPr>
                <a:spLocks noGrp="1"/>
              </p:cNvSpPr>
              <p:nvPr>
                <p:ph type="body" sz="quarter" idx="15"/>
              </p:nvPr>
            </p:nvSpPr>
            <p:spPr>
              <a:xfrm>
                <a:off x="902594" y="1709475"/>
                <a:ext cx="5193406" cy="4817044"/>
              </a:xfrm>
              <a:effectLst/>
            </p:spPr>
            <p:txBody>
              <a:bodyPr vert="horz" lIns="91440" tIns="45720" rIns="91440" bIns="45720" numCol="2" spcCol="457200" rtlCol="0" anchor="t">
                <a:noAutofit/>
              </a:bodyPr>
              <a:lstStyle/>
              <a:p>
                <a:pPr marL="121920" indent="0">
                  <a:buNone/>
                </a:pPr>
                <a:r>
                  <a:rPr lang="en-US" sz="2000">
                    <a:solidFill>
                      <a:srgbClr val="000000"/>
                    </a:solidFill>
                    <a:latin typeface="Calibri"/>
                    <a:ea typeface="Calibri"/>
                    <a:cs typeface="Courier New"/>
                  </a:rPr>
                  <a:t>Shear Stress (Num Bolts):</a:t>
                </a:r>
              </a:p>
              <a:p>
                <a:pPr marL="121920" indent="0">
                  <a:buNone/>
                </a:pPr>
                <a14:m>
                  <m:oMathPara xmlns:m="http://schemas.openxmlformats.org/officeDocument/2006/math">
                    <m:oMathParaPr>
                      <m:jc m:val="left"/>
                    </m:oMathParaPr>
                    <m:oMath xmlns:m="http://schemas.openxmlformats.org/officeDocument/2006/math">
                      <m:f>
                        <m:fPr>
                          <m:ctrlPr>
                            <a:rPr lang="en-US" sz="2000" i="1" smtClean="0">
                              <a:solidFill>
                                <a:srgbClr val="000000"/>
                              </a:solidFill>
                              <a:latin typeface="Cambria Math" panose="02040503050406030204" pitchFamily="18" charset="0"/>
                              <a:ea typeface="Calibri"/>
                              <a:cs typeface="Courier New"/>
                            </a:rPr>
                          </m:ctrlPr>
                        </m:fPr>
                        <m:num>
                          <m:f>
                            <m:fPr>
                              <m:ctrlPr>
                                <a:rPr lang="en-US" sz="2000" i="1" smtClean="0">
                                  <a:solidFill>
                                    <a:srgbClr val="000000"/>
                                  </a:solidFill>
                                  <a:latin typeface="Cambria Math" panose="02040503050406030204" pitchFamily="18" charset="0"/>
                                  <a:ea typeface="Calibri"/>
                                  <a:cs typeface="Courier New"/>
                                </a:rPr>
                              </m:ctrlPr>
                            </m:fPr>
                            <m:num>
                              <m:r>
                                <a:rPr lang="en-US" sz="2000" i="1" smtClean="0">
                                  <a:solidFill>
                                    <a:srgbClr val="000000"/>
                                  </a:solidFill>
                                  <a:latin typeface="Cambria Math" panose="02040503050406030204" pitchFamily="18" charset="0"/>
                                  <a:ea typeface="Cambria Math" panose="02040503050406030204" pitchFamily="18" charset="0"/>
                                  <a:cs typeface="Courier New"/>
                                </a:rPr>
                                <m:t>𝜋</m:t>
                              </m:r>
                            </m:num>
                            <m:den>
                              <m:r>
                                <a:rPr lang="en-US" sz="2000" b="0" i="1" smtClean="0">
                                  <a:solidFill>
                                    <a:srgbClr val="000000"/>
                                  </a:solidFill>
                                  <a:latin typeface="Cambria Math" panose="02040503050406030204" pitchFamily="18" charset="0"/>
                                  <a:ea typeface="Calibri"/>
                                  <a:cs typeface="Courier New"/>
                                </a:rPr>
                                <m:t>4</m:t>
                              </m:r>
                            </m:den>
                          </m:f>
                          <m:r>
                            <a:rPr lang="en-US" sz="2000" b="0" i="1" smtClean="0">
                              <a:solidFill>
                                <a:srgbClr val="000000"/>
                              </a:solidFill>
                              <a:latin typeface="Cambria Math" panose="02040503050406030204" pitchFamily="18" charset="0"/>
                              <a:ea typeface="Calibri"/>
                              <a:cs typeface="Courier New"/>
                            </a:rPr>
                            <m:t>∗(</m:t>
                          </m:r>
                          <m:sSup>
                            <m:sSupPr>
                              <m:ctrlPr>
                                <a:rPr lang="en-US" sz="2000" b="0" i="1" smtClean="0">
                                  <a:solidFill>
                                    <a:srgbClr val="000000"/>
                                  </a:solidFill>
                                  <a:latin typeface="Cambria Math" panose="02040503050406030204" pitchFamily="18" charset="0"/>
                                  <a:ea typeface="Calibri"/>
                                  <a:cs typeface="Courier New"/>
                                </a:rPr>
                              </m:ctrlPr>
                            </m:sSupPr>
                            <m:e>
                              <m:r>
                                <a:rPr lang="en-US" sz="2000" b="0" i="1" smtClean="0">
                                  <a:solidFill>
                                    <a:srgbClr val="000000"/>
                                  </a:solidFill>
                                  <a:latin typeface="Cambria Math" panose="02040503050406030204" pitchFamily="18" charset="0"/>
                                  <a:ea typeface="Calibri"/>
                                  <a:cs typeface="Courier New"/>
                                </a:rPr>
                                <m:t>𝐼𝐷</m:t>
                              </m:r>
                            </m:e>
                            <m:sup>
                              <m:r>
                                <a:rPr lang="en-US" sz="2000" b="0" i="1" smtClean="0">
                                  <a:solidFill>
                                    <a:srgbClr val="000000"/>
                                  </a:solidFill>
                                  <a:latin typeface="Cambria Math" panose="02040503050406030204" pitchFamily="18" charset="0"/>
                                  <a:ea typeface="Calibri"/>
                                  <a:cs typeface="Courier New"/>
                                </a:rPr>
                                <m:t>2</m:t>
                              </m:r>
                            </m:sup>
                          </m:sSup>
                          <m:r>
                            <a:rPr lang="en-US" sz="2000" b="0" i="1" smtClean="0">
                              <a:solidFill>
                                <a:srgbClr val="000000"/>
                              </a:solidFill>
                              <a:latin typeface="Cambria Math" panose="02040503050406030204" pitchFamily="18" charset="0"/>
                              <a:ea typeface="Calibri"/>
                              <a:cs typeface="Courier New"/>
                            </a:rPr>
                            <m:t>∗</m:t>
                          </m:r>
                          <m:sSub>
                            <m:sSubPr>
                              <m:ctrlPr>
                                <a:rPr lang="en-US" sz="2000" b="0" i="1" smtClean="0">
                                  <a:solidFill>
                                    <a:srgbClr val="000000"/>
                                  </a:solidFill>
                                  <a:latin typeface="Cambria Math" panose="02040503050406030204" pitchFamily="18" charset="0"/>
                                  <a:ea typeface="Calibri"/>
                                  <a:cs typeface="Courier New"/>
                                </a:rPr>
                              </m:ctrlPr>
                            </m:sSubPr>
                            <m:e>
                              <m:r>
                                <a:rPr lang="en-US" sz="2000" b="0" i="1" smtClean="0">
                                  <a:solidFill>
                                    <a:srgbClr val="000000"/>
                                  </a:solidFill>
                                  <a:latin typeface="Cambria Math" panose="02040503050406030204" pitchFamily="18" charset="0"/>
                                  <a:ea typeface="Calibri"/>
                                  <a:cs typeface="Courier New"/>
                                </a:rPr>
                                <m:t>𝑀𝐸𝑂𝑃</m:t>
                              </m:r>
                            </m:e>
                            <m:sub>
                              <m:r>
                                <a:rPr lang="en-US" sz="2000" b="0" i="1" smtClean="0">
                                  <a:solidFill>
                                    <a:srgbClr val="000000"/>
                                  </a:solidFill>
                                  <a:latin typeface="Cambria Math" panose="02040503050406030204" pitchFamily="18" charset="0"/>
                                  <a:ea typeface="Calibri"/>
                                  <a:cs typeface="Courier New"/>
                                </a:rPr>
                                <m:t>𝑡𝑎𝑛𝑘</m:t>
                              </m:r>
                            </m:sub>
                          </m:sSub>
                          <m:r>
                            <a:rPr lang="en-US" sz="2000" b="0" i="1" smtClean="0">
                              <a:solidFill>
                                <a:srgbClr val="000000"/>
                              </a:solidFill>
                              <a:latin typeface="Cambria Math" panose="02040503050406030204" pitchFamily="18" charset="0"/>
                              <a:ea typeface="Calibri"/>
                              <a:cs typeface="Courier New"/>
                            </a:rPr>
                            <m:t>)</m:t>
                          </m:r>
                        </m:num>
                        <m:den>
                          <m:f>
                            <m:fPr>
                              <m:ctrlPr>
                                <a:rPr lang="en-US" sz="2000" i="1" smtClean="0">
                                  <a:solidFill>
                                    <a:srgbClr val="000000"/>
                                  </a:solidFill>
                                  <a:latin typeface="Cambria Math" panose="02040503050406030204" pitchFamily="18" charset="0"/>
                                  <a:ea typeface="Calibri"/>
                                  <a:cs typeface="Courier New"/>
                                </a:rPr>
                              </m:ctrlPr>
                            </m:fPr>
                            <m:num>
                              <m:r>
                                <a:rPr lang="en-US" sz="2000" b="0" i="1" smtClean="0">
                                  <a:solidFill>
                                    <a:srgbClr val="000000"/>
                                  </a:solidFill>
                                  <a:latin typeface="Cambria Math" panose="02040503050406030204" pitchFamily="18" charset="0"/>
                                  <a:ea typeface="Calibri"/>
                                  <a:cs typeface="Courier New"/>
                                </a:rPr>
                                <m:t>0.75 ∗</m:t>
                              </m:r>
                              <m:sSub>
                                <m:sSubPr>
                                  <m:ctrlPr>
                                    <a:rPr lang="en-US" sz="2000" b="0" i="1" smtClean="0">
                                      <a:solidFill>
                                        <a:srgbClr val="000000"/>
                                      </a:solidFill>
                                      <a:latin typeface="Cambria Math" panose="02040503050406030204" pitchFamily="18" charset="0"/>
                                      <a:ea typeface="Calibri"/>
                                      <a:cs typeface="Courier New"/>
                                    </a:rPr>
                                  </m:ctrlPr>
                                </m:sSubPr>
                                <m:e>
                                  <m:r>
                                    <a:rPr lang="en-US" sz="2000" b="0" i="1" smtClean="0">
                                      <a:solidFill>
                                        <a:srgbClr val="000000"/>
                                      </a:solidFill>
                                      <a:latin typeface="Cambria Math" panose="02040503050406030204" pitchFamily="18" charset="0"/>
                                      <a:ea typeface="Calibri"/>
                                      <a:cs typeface="Courier New"/>
                                    </a:rPr>
                                    <m:t>𝑈𝑇𝑆</m:t>
                                  </m:r>
                                </m:e>
                                <m:sub>
                                  <m:r>
                                    <a:rPr lang="en-US" sz="2000" b="0" i="1" smtClean="0">
                                      <a:solidFill>
                                        <a:srgbClr val="000000"/>
                                      </a:solidFill>
                                      <a:latin typeface="Cambria Math" panose="02040503050406030204" pitchFamily="18" charset="0"/>
                                      <a:ea typeface="Calibri"/>
                                      <a:cs typeface="Courier New"/>
                                    </a:rPr>
                                    <m:t>𝑏𝑜𝑙𝑡</m:t>
                                  </m:r>
                                </m:sub>
                              </m:sSub>
                            </m:num>
                            <m:den>
                              <m:r>
                                <a:rPr lang="en-US" sz="2000" b="0" i="1" smtClean="0">
                                  <a:solidFill>
                                    <a:srgbClr val="000000"/>
                                  </a:solidFill>
                                  <a:latin typeface="Cambria Math" panose="02040503050406030204" pitchFamily="18" charset="0"/>
                                  <a:ea typeface="Calibri"/>
                                  <a:cs typeface="Courier New"/>
                                </a:rPr>
                                <m:t>𝐹𝑆</m:t>
                              </m:r>
                              <m:r>
                                <a:rPr lang="en-US" sz="2000" b="0" i="1" smtClean="0">
                                  <a:solidFill>
                                    <a:srgbClr val="000000"/>
                                  </a:solidFill>
                                  <a:latin typeface="Cambria Math" panose="02040503050406030204" pitchFamily="18" charset="0"/>
                                  <a:ea typeface="Calibri"/>
                                  <a:cs typeface="Courier New"/>
                                </a:rPr>
                                <m:t>∗ </m:t>
                              </m:r>
                              <m:f>
                                <m:fPr>
                                  <m:ctrlPr>
                                    <a:rPr lang="en-US" sz="2000" b="0" i="1" smtClean="0">
                                      <a:solidFill>
                                        <a:srgbClr val="000000"/>
                                      </a:solidFill>
                                      <a:latin typeface="Cambria Math" panose="02040503050406030204" pitchFamily="18" charset="0"/>
                                      <a:ea typeface="Calibri"/>
                                      <a:cs typeface="Courier New"/>
                                    </a:rPr>
                                  </m:ctrlPr>
                                </m:fPr>
                                <m:num>
                                  <m:r>
                                    <a:rPr lang="en-US" sz="2000" b="0" i="1" smtClean="0">
                                      <a:solidFill>
                                        <a:srgbClr val="000000"/>
                                      </a:solidFill>
                                      <a:latin typeface="Cambria Math" panose="02040503050406030204" pitchFamily="18" charset="0"/>
                                      <a:ea typeface="Cambria Math" panose="02040503050406030204" pitchFamily="18" charset="0"/>
                                      <a:cs typeface="Courier New"/>
                                    </a:rPr>
                                    <m:t>𝜋</m:t>
                                  </m:r>
                                </m:num>
                                <m:den>
                                  <m:r>
                                    <a:rPr lang="en-US" sz="2000" b="0" i="1" smtClean="0">
                                      <a:solidFill>
                                        <a:srgbClr val="000000"/>
                                      </a:solidFill>
                                      <a:latin typeface="Cambria Math" panose="02040503050406030204" pitchFamily="18" charset="0"/>
                                      <a:ea typeface="Calibri"/>
                                      <a:cs typeface="Courier New"/>
                                    </a:rPr>
                                    <m:t>4</m:t>
                                  </m:r>
                                </m:den>
                              </m:f>
                              <m:r>
                                <a:rPr lang="en-US" sz="2000" b="0" i="1" smtClean="0">
                                  <a:solidFill>
                                    <a:srgbClr val="000000"/>
                                  </a:solidFill>
                                  <a:latin typeface="Cambria Math" panose="02040503050406030204" pitchFamily="18" charset="0"/>
                                  <a:ea typeface="Calibri"/>
                                  <a:cs typeface="Courier New"/>
                                </a:rPr>
                                <m:t>∗(</m:t>
                              </m:r>
                              <m:sSup>
                                <m:sSupPr>
                                  <m:ctrlPr>
                                    <a:rPr lang="en-US" sz="2000" b="0" i="1" smtClean="0">
                                      <a:solidFill>
                                        <a:srgbClr val="000000"/>
                                      </a:solidFill>
                                      <a:latin typeface="Cambria Math" panose="02040503050406030204" pitchFamily="18" charset="0"/>
                                      <a:ea typeface="Calibri"/>
                                      <a:cs typeface="Courier New"/>
                                    </a:rPr>
                                  </m:ctrlPr>
                                </m:sSupPr>
                                <m:e>
                                  <m:sSub>
                                    <m:sSubPr>
                                      <m:ctrlPr>
                                        <a:rPr lang="en-US" sz="2000" b="0" i="1" smtClean="0">
                                          <a:solidFill>
                                            <a:srgbClr val="000000"/>
                                          </a:solidFill>
                                          <a:latin typeface="Cambria Math" panose="02040503050406030204" pitchFamily="18" charset="0"/>
                                          <a:ea typeface="Calibri"/>
                                          <a:cs typeface="Courier New"/>
                                        </a:rPr>
                                      </m:ctrlPr>
                                    </m:sSubPr>
                                    <m:e>
                                      <m:r>
                                        <a:rPr lang="en-US" sz="2000" b="0" i="1" smtClean="0">
                                          <a:solidFill>
                                            <a:srgbClr val="000000"/>
                                          </a:solidFill>
                                          <a:latin typeface="Cambria Math" panose="02040503050406030204" pitchFamily="18" charset="0"/>
                                          <a:ea typeface="Calibri"/>
                                          <a:cs typeface="Courier New"/>
                                        </a:rPr>
                                        <m:t>𝐷</m:t>
                                      </m:r>
                                    </m:e>
                                    <m:sub>
                                      <m:r>
                                        <a:rPr lang="en-US" sz="2000" b="0" i="1" smtClean="0">
                                          <a:solidFill>
                                            <a:srgbClr val="000000"/>
                                          </a:solidFill>
                                          <a:latin typeface="Cambria Math" panose="02040503050406030204" pitchFamily="18" charset="0"/>
                                          <a:ea typeface="Calibri"/>
                                          <a:cs typeface="Courier New"/>
                                        </a:rPr>
                                        <m:t>𝑏𝑜𝑙𝑡</m:t>
                                      </m:r>
                                      <m:r>
                                        <a:rPr lang="en-US" sz="2000" b="0" i="1" smtClean="0">
                                          <a:solidFill>
                                            <a:srgbClr val="000000"/>
                                          </a:solidFill>
                                          <a:latin typeface="Cambria Math" panose="02040503050406030204" pitchFamily="18" charset="0"/>
                                          <a:ea typeface="Calibri"/>
                                          <a:cs typeface="Courier New"/>
                                        </a:rPr>
                                        <m:t>, </m:t>
                                      </m:r>
                                      <m:r>
                                        <a:rPr lang="en-US" sz="2000" b="0" i="1" smtClean="0">
                                          <a:solidFill>
                                            <a:srgbClr val="000000"/>
                                          </a:solidFill>
                                          <a:latin typeface="Cambria Math" panose="02040503050406030204" pitchFamily="18" charset="0"/>
                                          <a:ea typeface="Calibri"/>
                                          <a:cs typeface="Courier New"/>
                                        </a:rPr>
                                        <m:t>𝑚𝑖𝑛𝑜𝑟</m:t>
                                      </m:r>
                                    </m:sub>
                                  </m:sSub>
                                </m:e>
                                <m:sup>
                                  <m:r>
                                    <a:rPr lang="en-US" sz="2000" b="0" i="1" smtClean="0">
                                      <a:solidFill>
                                        <a:srgbClr val="000000"/>
                                      </a:solidFill>
                                      <a:latin typeface="Cambria Math" panose="02040503050406030204" pitchFamily="18" charset="0"/>
                                      <a:ea typeface="Calibri"/>
                                      <a:cs typeface="Courier New"/>
                                    </a:rPr>
                                    <m:t>2</m:t>
                                  </m:r>
                                </m:sup>
                              </m:sSup>
                              <m:r>
                                <a:rPr lang="en-US" sz="2000" b="0" i="1" smtClean="0">
                                  <a:solidFill>
                                    <a:srgbClr val="000000"/>
                                  </a:solidFill>
                                  <a:latin typeface="Cambria Math" panose="02040503050406030204" pitchFamily="18" charset="0"/>
                                  <a:ea typeface="Calibri"/>
                                  <a:cs typeface="Courier New"/>
                                </a:rPr>
                                <m:t>)</m:t>
                              </m:r>
                            </m:den>
                          </m:f>
                        </m:den>
                      </m:f>
                      <m:r>
                        <a:rPr lang="en-US" sz="2000" b="0" i="1" smtClean="0">
                          <a:solidFill>
                            <a:srgbClr val="000000"/>
                          </a:solidFill>
                          <a:latin typeface="Cambria Math" panose="02040503050406030204" pitchFamily="18" charset="0"/>
                          <a:ea typeface="Calibri"/>
                          <a:cs typeface="Courier New"/>
                        </a:rPr>
                        <m:t>=</m:t>
                      </m:r>
                      <m:r>
                        <a:rPr lang="en-US" sz="2000" b="0" i="1" smtClean="0">
                          <a:solidFill>
                            <a:srgbClr val="000000"/>
                          </a:solidFill>
                          <a:latin typeface="Cambria Math" panose="02040503050406030204" pitchFamily="18" charset="0"/>
                          <a:ea typeface="Calibri"/>
                          <a:cs typeface="Courier New"/>
                        </a:rPr>
                        <m:t>𝑛𝑢𝑚</m:t>
                      </m:r>
                      <m:r>
                        <a:rPr lang="en-US" sz="2000" b="0" i="1" smtClean="0">
                          <a:solidFill>
                            <a:srgbClr val="000000"/>
                          </a:solidFill>
                          <a:latin typeface="Cambria Math" panose="02040503050406030204" pitchFamily="18" charset="0"/>
                          <a:ea typeface="Calibri"/>
                          <a:cs typeface="Courier New"/>
                        </a:rPr>
                        <m:t> </m:t>
                      </m:r>
                      <m:r>
                        <a:rPr lang="en-US" sz="2000" b="0" i="1" smtClean="0">
                          <a:solidFill>
                            <a:srgbClr val="000000"/>
                          </a:solidFill>
                          <a:latin typeface="Cambria Math" panose="02040503050406030204" pitchFamily="18" charset="0"/>
                          <a:ea typeface="Calibri"/>
                          <a:cs typeface="Courier New"/>
                        </a:rPr>
                        <m:t>𝑏𝑜𝑙𝑡𝑠</m:t>
                      </m:r>
                    </m:oMath>
                  </m:oMathPara>
                </a14:m>
                <a:endParaRPr lang="en-US" sz="2000">
                  <a:solidFill>
                    <a:srgbClr val="000000"/>
                  </a:solidFill>
                  <a:ea typeface="+mn-lt"/>
                  <a:cs typeface="Courier New"/>
                </a:endParaRPr>
              </a:p>
              <a:p>
                <a:pPr marL="121920" indent="0">
                  <a:buNone/>
                </a:pPr>
                <a:endParaRPr lang="en-US" sz="2000">
                  <a:solidFill>
                    <a:srgbClr val="000000"/>
                  </a:solidFill>
                  <a:ea typeface="+mn-lt"/>
                  <a:cs typeface="Courier New"/>
                </a:endParaRPr>
              </a:p>
              <a:p>
                <a:pPr marL="121920" indent="0">
                  <a:buNone/>
                </a:pPr>
                <a:r>
                  <a:rPr lang="en-US" sz="2000">
                    <a:solidFill>
                      <a:srgbClr val="000000"/>
                    </a:solidFill>
                    <a:ea typeface="+mn-lt"/>
                    <a:cs typeface="Courier New"/>
                  </a:rPr>
                  <a:t>Bolts Used:</a:t>
                </a:r>
              </a:p>
              <a:p>
                <a:pPr marL="121920" indent="0">
                  <a:buNone/>
                </a:pPr>
                <a:r>
                  <a:rPr lang="en-US" sz="2000">
                    <a:solidFill>
                      <a:srgbClr val="000000"/>
                    </a:solidFill>
                    <a:ea typeface="+mn-lt"/>
                    <a:cs typeface="Courier New"/>
                  </a:rPr>
                  <a:t>3/8-16 Grade 8 Steel Bolts</a:t>
                </a:r>
              </a:p>
              <a:p>
                <a:pPr marL="121920" indent="0">
                  <a:buNone/>
                </a:pPr>
                <a:r>
                  <a:rPr lang="en-US" sz="2000">
                    <a:solidFill>
                      <a:srgbClr val="000000"/>
                    </a:solidFill>
                    <a:ea typeface="+mn-lt"/>
                    <a:cs typeface="Courier New"/>
                  </a:rPr>
                  <a:t>5/8in long</a:t>
                </a:r>
              </a:p>
              <a:p>
                <a:pPr marL="121920" indent="0">
                  <a:buNone/>
                </a:pPr>
                <a:endParaRPr lang="en-US" sz="2000">
                  <a:solidFill>
                    <a:srgbClr val="000000"/>
                  </a:solidFill>
                  <a:ea typeface="+mn-lt"/>
                  <a:cs typeface="Courier New"/>
                </a:endParaRPr>
              </a:p>
            </p:txBody>
          </p:sp>
        </mc:Choice>
        <mc:Fallback xmlns="">
          <p:sp>
            <p:nvSpPr>
              <p:cNvPr id="2" name="Text Placeholder 1">
                <a:extLst>
                  <a:ext uri="{FF2B5EF4-FFF2-40B4-BE49-F238E27FC236}">
                    <a16:creationId xmlns:a16="http://schemas.microsoft.com/office/drawing/2014/main" id="{E52D101A-7F7A-8A4A-4E27-109A9AF0FF34}"/>
                  </a:ext>
                </a:extLst>
              </p:cNvPr>
              <p:cNvSpPr>
                <a:spLocks noGrp="1" noRot="1" noChangeAspect="1" noMove="1" noResize="1" noEditPoints="1" noAdjustHandles="1" noChangeArrowheads="1" noChangeShapeType="1" noTextEdit="1"/>
              </p:cNvSpPr>
              <p:nvPr>
                <p:ph type="body" sz="quarter" idx="15"/>
              </p:nvPr>
            </p:nvSpPr>
            <p:spPr>
              <a:xfrm>
                <a:off x="902594" y="1709475"/>
                <a:ext cx="5193406" cy="4817044"/>
              </a:xfrm>
              <a:blipFill>
                <a:blip r:embed="rId4"/>
                <a:stretch>
                  <a:fillRect t="-632"/>
                </a:stretch>
              </a:blipFill>
              <a:effectLst/>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EFF81B18-1F75-83F5-5AFD-FB922EA6F140}"/>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B3E5C83E-F922-6DCC-DB1C-FDFDE123D1DF}"/>
              </a:ext>
            </a:extLst>
          </p:cNvPr>
          <p:cNvSpPr>
            <a:spLocks noGrp="1"/>
          </p:cNvSpPr>
          <p:nvPr>
            <p:ph type="sldNum" sz="quarter" idx="17"/>
          </p:nvPr>
        </p:nvSpPr>
        <p:spPr/>
        <p:txBody>
          <a:bodyPr/>
          <a:lstStyle/>
          <a:p>
            <a:r>
              <a:rPr lang="en-US"/>
              <a:t>/   </a:t>
            </a:r>
            <a:fld id="{6C7E6F33-74EE-5541-8108-8353B402F8C1}" type="slidenum">
              <a:rPr lang="en-US" smtClean="0"/>
              <a:pPr/>
              <a:t>29</a:t>
            </a:fld>
            <a:endParaRPr lang="en-US"/>
          </a:p>
        </p:txBody>
      </p:sp>
      <p:sp>
        <p:nvSpPr>
          <p:cNvPr id="5" name="Title 4">
            <a:extLst>
              <a:ext uri="{FF2B5EF4-FFF2-40B4-BE49-F238E27FC236}">
                <a16:creationId xmlns:a16="http://schemas.microsoft.com/office/drawing/2014/main" id="{7DF24668-E277-9504-565C-13A947B2E49B}"/>
              </a:ext>
            </a:extLst>
          </p:cNvPr>
          <p:cNvSpPr>
            <a:spLocks noGrp="1"/>
          </p:cNvSpPr>
          <p:nvPr>
            <p:ph type="title"/>
          </p:nvPr>
        </p:nvSpPr>
        <p:spPr/>
        <p:txBody>
          <a:bodyPr/>
          <a:lstStyle/>
          <a:p>
            <a:r>
              <a:rPr lang="en-US">
                <a:latin typeface="Munistic"/>
              </a:rPr>
              <a:t>Bulkhead Calcs</a:t>
            </a:r>
            <a:endParaRPr lang="en-US"/>
          </a:p>
        </p:txBody>
      </p:sp>
      <p:sp>
        <p:nvSpPr>
          <p:cNvPr id="6" name="Text Placeholder 5">
            <a:extLst>
              <a:ext uri="{FF2B5EF4-FFF2-40B4-BE49-F238E27FC236}">
                <a16:creationId xmlns:a16="http://schemas.microsoft.com/office/drawing/2014/main" id="{45C242F8-5154-53C5-EA79-00D89A072497}"/>
              </a:ext>
            </a:extLst>
          </p:cNvPr>
          <p:cNvSpPr>
            <a:spLocks noGrp="1"/>
          </p:cNvSpPr>
          <p:nvPr>
            <p:ph type="body" sz="quarter" idx="13"/>
          </p:nvPr>
        </p:nvSpPr>
        <p:spPr/>
        <p:txBody>
          <a:bodyPr/>
          <a:lstStyle/>
          <a:p>
            <a:r>
              <a:rPr lang="en-US" sz="2400">
                <a:ea typeface="Source Sans Pro"/>
                <a:cs typeface="Calibri"/>
              </a:rPr>
              <a:t>Bolts</a:t>
            </a:r>
            <a:endParaRPr lang="en-US" sz="2400">
              <a:cs typeface="Calibri"/>
            </a:endParaRPr>
          </a:p>
        </p:txBody>
      </p:sp>
      <p:sp>
        <p:nvSpPr>
          <p:cNvPr id="8" name="TextBox 7">
            <a:extLst>
              <a:ext uri="{FF2B5EF4-FFF2-40B4-BE49-F238E27FC236}">
                <a16:creationId xmlns:a16="http://schemas.microsoft.com/office/drawing/2014/main" id="{36996968-D51B-FFBD-89AE-42EE164215D2}"/>
              </a:ext>
            </a:extLst>
          </p:cNvPr>
          <p:cNvSpPr txBox="1"/>
          <p:nvPr/>
        </p:nvSpPr>
        <p:spPr>
          <a:xfrm>
            <a:off x="8856668" y="1709238"/>
            <a:ext cx="2802264"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900">
                <a:ea typeface="+mn-lt"/>
                <a:cs typeface="+mn-lt"/>
                <a:hlinkClick r:id="rId5"/>
              </a:rPr>
              <a:t>https://www.mcmaster.com/92620A621/</a:t>
            </a:r>
            <a:endParaRPr lang="en-US">
              <a:ea typeface="+mn-lt"/>
              <a:cs typeface="+mn-lt"/>
            </a:endParaRPr>
          </a:p>
        </p:txBody>
      </p:sp>
      <p:sp>
        <p:nvSpPr>
          <p:cNvPr id="9" name="Text Placeholder 1">
            <a:extLst>
              <a:ext uri="{FF2B5EF4-FFF2-40B4-BE49-F238E27FC236}">
                <a16:creationId xmlns:a16="http://schemas.microsoft.com/office/drawing/2014/main" id="{EB1182AE-734F-830D-13F8-EE08408D445B}"/>
              </a:ext>
            </a:extLst>
          </p:cNvPr>
          <p:cNvSpPr txBox="1">
            <a:spLocks/>
          </p:cNvSpPr>
          <p:nvPr/>
        </p:nvSpPr>
        <p:spPr>
          <a:xfrm>
            <a:off x="5033215" y="1705676"/>
            <a:ext cx="6994712" cy="4817044"/>
          </a:xfrm>
          <a:prstGeom prst="rect">
            <a:avLst/>
          </a:prstGeom>
          <a:effectLst/>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920" indent="0">
              <a:buFont typeface="Arial" panose="020B0604020202020204" pitchFamily="34" charset="0"/>
              <a:buNone/>
            </a:pPr>
            <a:r>
              <a:rPr lang="en-US" sz="2000">
                <a:solidFill>
                  <a:srgbClr val="000000"/>
                </a:solidFill>
                <a:latin typeface="Calibri"/>
                <a:ea typeface="Calibri"/>
                <a:cs typeface="Courier New"/>
              </a:rPr>
              <a:t>Num Ox Bulkhead bolts: 10.2002 --&gt; 12 bolts</a:t>
            </a:r>
          </a:p>
          <a:p>
            <a:pPr marL="121920" indent="0">
              <a:buFont typeface="Arial" panose="020B0604020202020204" pitchFamily="34" charset="0"/>
              <a:buNone/>
            </a:pPr>
            <a:r>
              <a:rPr lang="en-US" sz="2000">
                <a:solidFill>
                  <a:srgbClr val="000000"/>
                </a:solidFill>
                <a:latin typeface="Calibri"/>
                <a:ea typeface="Calibri"/>
                <a:cs typeface="Courier New"/>
              </a:rPr>
              <a:t>Num Fuel Bulkhead bolts: 1.3327 --&gt; 8 bolts</a:t>
            </a:r>
          </a:p>
          <a:p>
            <a:pPr marL="121920" indent="0">
              <a:buFont typeface="Arial" panose="020B0604020202020204" pitchFamily="34" charset="0"/>
              <a:buNone/>
            </a:pPr>
            <a:r>
              <a:rPr lang="en-US" sz="2000">
                <a:solidFill>
                  <a:srgbClr val="000000"/>
                </a:solidFill>
                <a:latin typeface="Calibri"/>
                <a:ea typeface="Calibri"/>
                <a:cs typeface="Courier New"/>
              </a:rPr>
              <a:t>Num Air Bulkhead bolts: 1.3327 --&gt; 8 bolts</a:t>
            </a:r>
          </a:p>
        </p:txBody>
      </p:sp>
      <p:pic>
        <p:nvPicPr>
          <p:cNvPr id="12" name="Picture 11" descr="A grey circular object with holes&#10;&#10;AI-generated content may be incorrect.">
            <a:extLst>
              <a:ext uri="{FF2B5EF4-FFF2-40B4-BE49-F238E27FC236}">
                <a16:creationId xmlns:a16="http://schemas.microsoft.com/office/drawing/2014/main" id="{CA48013E-E2B3-CAD2-8178-BE2F021D9E9A}"/>
              </a:ext>
            </a:extLst>
          </p:cNvPr>
          <p:cNvPicPr>
            <a:picLocks noChangeAspect="1"/>
          </p:cNvPicPr>
          <p:nvPr/>
        </p:nvPicPr>
        <p:blipFill>
          <a:blip r:embed="rId6"/>
          <a:stretch>
            <a:fillRect/>
          </a:stretch>
        </p:blipFill>
        <p:spPr>
          <a:xfrm>
            <a:off x="7785245" y="3006150"/>
            <a:ext cx="4244196" cy="2890420"/>
          </a:xfrm>
          <a:prstGeom prst="rect">
            <a:avLst/>
          </a:prstGeom>
        </p:spPr>
      </p:pic>
      <p:pic>
        <p:nvPicPr>
          <p:cNvPr id="14" name="Picture 13" descr="A close-up of a bolt&#10;&#10;AI-generated content may be incorrect.">
            <a:extLst>
              <a:ext uri="{FF2B5EF4-FFF2-40B4-BE49-F238E27FC236}">
                <a16:creationId xmlns:a16="http://schemas.microsoft.com/office/drawing/2014/main" id="{CD245545-6566-24F2-FD63-D091756E2D1F}"/>
              </a:ext>
            </a:extLst>
          </p:cNvPr>
          <p:cNvPicPr>
            <a:picLocks noChangeAspect="1"/>
          </p:cNvPicPr>
          <p:nvPr/>
        </p:nvPicPr>
        <p:blipFill>
          <a:blip r:embed="rId7"/>
          <a:stretch>
            <a:fillRect/>
          </a:stretch>
        </p:blipFill>
        <p:spPr>
          <a:xfrm>
            <a:off x="3912281" y="4447602"/>
            <a:ext cx="2236222" cy="1682648"/>
          </a:xfrm>
          <a:prstGeom prst="rect">
            <a:avLst/>
          </a:prstGeom>
        </p:spPr>
      </p:pic>
      <p:sp>
        <p:nvSpPr>
          <p:cNvPr id="10" name="TextBox 9">
            <a:extLst>
              <a:ext uri="{FF2B5EF4-FFF2-40B4-BE49-F238E27FC236}">
                <a16:creationId xmlns:a16="http://schemas.microsoft.com/office/drawing/2014/main" id="{CD1B2FAE-4B87-5AFA-8024-444D8F2ED0E5}"/>
              </a:ext>
            </a:extLst>
          </p:cNvPr>
          <p:cNvSpPr txBox="1"/>
          <p:nvPr/>
        </p:nvSpPr>
        <p:spPr>
          <a:xfrm>
            <a:off x="8535020" y="5896517"/>
            <a:ext cx="35590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2.1</a:t>
            </a:r>
            <a:r>
              <a:rPr lang="en-US" sz="1400" b="1">
                <a:solidFill>
                  <a:srgbClr val="154734"/>
                </a:solidFill>
                <a:latin typeface="Calibri"/>
              </a:rPr>
              <a:t>2 OX and GN2 Bulkhead Model</a:t>
            </a:r>
            <a:endParaRPr lang="en-US"/>
          </a:p>
          <a:p>
            <a:pPr algn="ctr"/>
            <a:endParaRPr lang="en-US"/>
          </a:p>
        </p:txBody>
      </p:sp>
      <p:sp>
        <p:nvSpPr>
          <p:cNvPr id="11" name="TextBox 10">
            <a:extLst>
              <a:ext uri="{FF2B5EF4-FFF2-40B4-BE49-F238E27FC236}">
                <a16:creationId xmlns:a16="http://schemas.microsoft.com/office/drawing/2014/main" id="{5BDC7AFE-A60C-920E-7462-706231B56F9F}"/>
              </a:ext>
            </a:extLst>
          </p:cNvPr>
          <p:cNvSpPr txBox="1"/>
          <p:nvPr/>
        </p:nvSpPr>
        <p:spPr>
          <a:xfrm>
            <a:off x="4206859" y="5947317"/>
            <a:ext cx="21874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a:t>
            </a:r>
            <a:r>
              <a:rPr lang="en-US" sz="1400" b="1">
                <a:solidFill>
                  <a:srgbClr val="154734"/>
                </a:solidFill>
                <a:latin typeface="Calibri"/>
              </a:rPr>
              <a:t>.11 Grade 8 Steel Bolt</a:t>
            </a:r>
            <a:endParaRPr lang="en-US"/>
          </a:p>
          <a:p>
            <a:pPr algn="ctr"/>
            <a:endParaRPr lang="en-US"/>
          </a:p>
        </p:txBody>
      </p:sp>
    </p:spTree>
    <p:extLst>
      <p:ext uri="{BB962C8B-B14F-4D97-AF65-F5344CB8AC3E}">
        <p14:creationId xmlns:p14="http://schemas.microsoft.com/office/powerpoint/2010/main" val="3587909100"/>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8C361-3B00-2850-3273-1423665D89E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55499147-6DA9-6002-E25E-1156F62AD78C}"/>
                  </a:ext>
                </a:extLst>
              </p:cNvPr>
              <p:cNvSpPr>
                <a:spLocks noGrp="1"/>
              </p:cNvSpPr>
              <p:nvPr>
                <p:ph type="body" sz="quarter" idx="15"/>
              </p:nvPr>
            </p:nvSpPr>
            <p:spPr>
              <a:xfrm>
                <a:off x="908344" y="1747280"/>
                <a:ext cx="9598630" cy="4817044"/>
              </a:xfrm>
              <a:effectLst/>
            </p:spPr>
            <p:txBody>
              <a:bodyPr vert="horz" lIns="91440" tIns="45720" rIns="91440" bIns="45720" numCol="2" spcCol="457200" rtlCol="0" anchor="t">
                <a:noAutofit/>
              </a:bodyPr>
              <a:lstStyle/>
              <a:p>
                <a:pPr marL="121920" indent="0">
                  <a:buNone/>
                </a:pPr>
                <a:r>
                  <a:rPr lang="en-US" sz="2000">
                    <a:solidFill>
                      <a:srgbClr val="000000"/>
                    </a:solidFill>
                    <a:ea typeface="Calibri"/>
                    <a:cs typeface="Courier New"/>
                  </a:rPr>
                  <a:t>Tear Out Stress(Tank Wall):</a:t>
                </a:r>
                <a:endParaRPr lang="en-US" sz="2000">
                  <a:solidFill>
                    <a:srgbClr val="000000"/>
                  </a:solidFill>
                  <a:ea typeface="+mn-lt"/>
                  <a:cs typeface="+mn-lt"/>
                </a:endParaRPr>
              </a:p>
              <a:p>
                <a:pPr marL="121920" indent="0">
                  <a:buNone/>
                </a:pPr>
                <a14:m>
                  <m:oMathPara xmlns:m="http://schemas.openxmlformats.org/officeDocument/2006/math">
                    <m:oMathParaPr>
                      <m:jc m:val="centerGroup"/>
                    </m:oMathParaPr>
                    <m:oMath xmlns:m="http://schemas.openxmlformats.org/officeDocument/2006/math">
                      <m:f>
                        <m:fPr>
                          <m:ctrlPr>
                            <a:rPr lang="en-US" sz="2000" i="1" smtClean="0">
                              <a:solidFill>
                                <a:srgbClr val="000000"/>
                              </a:solidFill>
                              <a:latin typeface="Cambria Math" panose="02040503050406030204" pitchFamily="18" charset="0"/>
                              <a:ea typeface="+mn-lt"/>
                              <a:cs typeface="+mn-lt"/>
                            </a:rPr>
                          </m:ctrlPr>
                        </m:fPr>
                        <m:num>
                          <m:sSub>
                            <m:sSubPr>
                              <m:ctrlPr>
                                <a:rPr lang="en-US" sz="2000" i="1" smtClean="0">
                                  <a:solidFill>
                                    <a:srgbClr val="000000"/>
                                  </a:solidFill>
                                  <a:latin typeface="Cambria Math" panose="02040503050406030204" pitchFamily="18" charset="0"/>
                                  <a:ea typeface="+mn-lt"/>
                                  <a:cs typeface="+mn-lt"/>
                                </a:rPr>
                              </m:ctrlPr>
                            </m:sSubPr>
                            <m:e>
                              <m:r>
                                <a:rPr lang="en-US" sz="2000" b="0" i="1" smtClean="0">
                                  <a:solidFill>
                                    <a:srgbClr val="000000"/>
                                  </a:solidFill>
                                  <a:latin typeface="Cambria Math" panose="02040503050406030204" pitchFamily="18" charset="0"/>
                                  <a:ea typeface="+mn-lt"/>
                                  <a:cs typeface="+mn-lt"/>
                                </a:rPr>
                                <m:t>𝐷</m:t>
                              </m:r>
                            </m:e>
                            <m:sub>
                              <m:r>
                                <a:rPr lang="en-US" sz="2000" b="0" i="1" smtClean="0">
                                  <a:solidFill>
                                    <a:srgbClr val="000000"/>
                                  </a:solidFill>
                                  <a:latin typeface="Cambria Math" panose="02040503050406030204" pitchFamily="18" charset="0"/>
                                  <a:ea typeface="+mn-lt"/>
                                  <a:cs typeface="+mn-lt"/>
                                </a:rPr>
                                <m:t>𝑏𝑜𝑙𝑡</m:t>
                              </m:r>
                              <m:r>
                                <a:rPr lang="en-US" sz="2000" b="0" i="1" smtClean="0">
                                  <a:solidFill>
                                    <a:srgbClr val="000000"/>
                                  </a:solidFill>
                                  <a:latin typeface="Cambria Math" panose="02040503050406030204" pitchFamily="18" charset="0"/>
                                  <a:ea typeface="+mn-lt"/>
                                  <a:cs typeface="+mn-lt"/>
                                </a:rPr>
                                <m:t>,</m:t>
                              </m:r>
                              <m:r>
                                <a:rPr lang="en-US" sz="2000" b="0" i="1" smtClean="0">
                                  <a:solidFill>
                                    <a:srgbClr val="000000"/>
                                  </a:solidFill>
                                  <a:latin typeface="Cambria Math" panose="02040503050406030204" pitchFamily="18" charset="0"/>
                                  <a:ea typeface="+mn-lt"/>
                                  <a:cs typeface="+mn-lt"/>
                                </a:rPr>
                                <m:t>𝑚𝑖𝑛𝑜𝑟</m:t>
                              </m:r>
                            </m:sub>
                          </m:sSub>
                        </m:num>
                        <m:den>
                          <m:r>
                            <a:rPr lang="en-US" sz="2000" b="0" i="1" smtClean="0">
                              <a:solidFill>
                                <a:srgbClr val="000000"/>
                              </a:solidFill>
                              <a:latin typeface="Cambria Math" panose="02040503050406030204" pitchFamily="18" charset="0"/>
                              <a:ea typeface="+mn-lt"/>
                              <a:cs typeface="+mn-lt"/>
                            </a:rPr>
                            <m:t>2</m:t>
                          </m:r>
                        </m:den>
                      </m:f>
                      <m:r>
                        <a:rPr lang="en-US" sz="2000" b="0" i="1" smtClean="0">
                          <a:solidFill>
                            <a:srgbClr val="000000"/>
                          </a:solidFill>
                          <a:latin typeface="Cambria Math" panose="02040503050406030204" pitchFamily="18" charset="0"/>
                          <a:ea typeface="+mn-lt"/>
                          <a:cs typeface="+mn-lt"/>
                        </a:rPr>
                        <m:t>+</m:t>
                      </m:r>
                      <m:f>
                        <m:fPr>
                          <m:ctrlPr>
                            <a:rPr lang="en-US" sz="2000" b="0" i="1" smtClean="0">
                              <a:solidFill>
                                <a:srgbClr val="000000"/>
                              </a:solidFill>
                              <a:latin typeface="Cambria Math" panose="02040503050406030204" pitchFamily="18" charset="0"/>
                              <a:ea typeface="+mn-lt"/>
                              <a:cs typeface="+mn-lt"/>
                            </a:rPr>
                          </m:ctrlPr>
                        </m:fPr>
                        <m:num>
                          <m:f>
                            <m:fPr>
                              <m:ctrlPr>
                                <a:rPr lang="en-US" sz="2000" b="0" i="1" smtClean="0">
                                  <a:solidFill>
                                    <a:srgbClr val="000000"/>
                                  </a:solidFill>
                                  <a:latin typeface="Cambria Math" panose="02040503050406030204" pitchFamily="18" charset="0"/>
                                  <a:ea typeface="+mn-lt"/>
                                  <a:cs typeface="+mn-lt"/>
                                </a:rPr>
                              </m:ctrlPr>
                            </m:fPr>
                            <m:num>
                              <m:r>
                                <a:rPr lang="en-US" sz="2000" b="0" i="1" smtClean="0">
                                  <a:solidFill>
                                    <a:srgbClr val="000000"/>
                                  </a:solidFill>
                                  <a:latin typeface="Cambria Math" panose="02040503050406030204" pitchFamily="18" charset="0"/>
                                  <a:ea typeface="Cambria Math" panose="02040503050406030204" pitchFamily="18" charset="0"/>
                                  <a:cs typeface="+mn-lt"/>
                                </a:rPr>
                                <m:t>𝜋</m:t>
                              </m:r>
                            </m:num>
                            <m:den>
                              <m:r>
                                <a:rPr lang="en-US" sz="2000" b="0" i="1" smtClean="0">
                                  <a:solidFill>
                                    <a:srgbClr val="000000"/>
                                  </a:solidFill>
                                  <a:latin typeface="Cambria Math" panose="02040503050406030204" pitchFamily="18" charset="0"/>
                                  <a:ea typeface="+mn-lt"/>
                                  <a:cs typeface="+mn-lt"/>
                                </a:rPr>
                                <m:t>4</m:t>
                              </m:r>
                            </m:den>
                          </m:f>
                          <m:r>
                            <a:rPr lang="en-US" sz="2000" b="0" i="1" smtClean="0">
                              <a:solidFill>
                                <a:srgbClr val="000000"/>
                              </a:solidFill>
                              <a:latin typeface="Cambria Math" panose="02040503050406030204" pitchFamily="18" charset="0"/>
                              <a:ea typeface="+mn-lt"/>
                              <a:cs typeface="+mn-lt"/>
                            </a:rPr>
                            <m:t>∗</m:t>
                          </m:r>
                          <m:sSup>
                            <m:sSupPr>
                              <m:ctrlPr>
                                <a:rPr lang="en-US" sz="2000" b="0" i="1" smtClean="0">
                                  <a:solidFill>
                                    <a:srgbClr val="000000"/>
                                  </a:solidFill>
                                  <a:latin typeface="Cambria Math" panose="02040503050406030204" pitchFamily="18" charset="0"/>
                                  <a:ea typeface="+mn-lt"/>
                                  <a:cs typeface="+mn-lt"/>
                                </a:rPr>
                              </m:ctrlPr>
                            </m:sSupPr>
                            <m:e>
                              <m:sSub>
                                <m:sSubPr>
                                  <m:ctrlPr>
                                    <a:rPr lang="en-US" sz="2000" b="0" i="1" smtClean="0">
                                      <a:solidFill>
                                        <a:srgbClr val="000000"/>
                                      </a:solidFill>
                                      <a:latin typeface="Cambria Math" panose="02040503050406030204" pitchFamily="18" charset="0"/>
                                      <a:ea typeface="+mn-lt"/>
                                      <a:cs typeface="+mn-lt"/>
                                    </a:rPr>
                                  </m:ctrlPr>
                                </m:sSubPr>
                                <m:e>
                                  <m:r>
                                    <a:rPr lang="en-US" sz="2000" b="0" i="1" smtClean="0">
                                      <a:solidFill>
                                        <a:srgbClr val="000000"/>
                                      </a:solidFill>
                                      <a:latin typeface="Cambria Math" panose="02040503050406030204" pitchFamily="18" charset="0"/>
                                      <a:ea typeface="+mn-lt"/>
                                      <a:cs typeface="+mn-lt"/>
                                    </a:rPr>
                                    <m:t>𝐷</m:t>
                                  </m:r>
                                </m:e>
                                <m:sub>
                                  <m:r>
                                    <a:rPr lang="en-US" sz="2000" b="0" i="1" smtClean="0">
                                      <a:solidFill>
                                        <a:srgbClr val="000000"/>
                                      </a:solidFill>
                                      <a:latin typeface="Cambria Math" panose="02040503050406030204" pitchFamily="18" charset="0"/>
                                      <a:ea typeface="+mn-lt"/>
                                      <a:cs typeface="+mn-lt"/>
                                    </a:rPr>
                                    <m:t>𝑡𝑎𝑛𝑘</m:t>
                                  </m:r>
                                  <m:r>
                                    <a:rPr lang="en-US" sz="2000" b="0" i="1" smtClean="0">
                                      <a:solidFill>
                                        <a:srgbClr val="000000"/>
                                      </a:solidFill>
                                      <a:latin typeface="Cambria Math" panose="02040503050406030204" pitchFamily="18" charset="0"/>
                                      <a:ea typeface="+mn-lt"/>
                                      <a:cs typeface="+mn-lt"/>
                                    </a:rPr>
                                    <m:t>,</m:t>
                                  </m:r>
                                  <m:r>
                                    <a:rPr lang="en-US" sz="2000" b="0" i="1" smtClean="0">
                                      <a:solidFill>
                                        <a:srgbClr val="000000"/>
                                      </a:solidFill>
                                      <a:latin typeface="Cambria Math" panose="02040503050406030204" pitchFamily="18" charset="0"/>
                                      <a:ea typeface="+mn-lt"/>
                                      <a:cs typeface="+mn-lt"/>
                                    </a:rPr>
                                    <m:t>𝑖𝑛𝑛𝑒𝑟</m:t>
                                  </m:r>
                                </m:sub>
                              </m:sSub>
                            </m:e>
                            <m:sup>
                              <m:r>
                                <a:rPr lang="en-US" sz="2000" b="0" i="1" smtClean="0">
                                  <a:solidFill>
                                    <a:srgbClr val="000000"/>
                                  </a:solidFill>
                                  <a:latin typeface="Cambria Math" panose="02040503050406030204" pitchFamily="18" charset="0"/>
                                  <a:ea typeface="+mn-lt"/>
                                  <a:cs typeface="+mn-lt"/>
                                </a:rPr>
                                <m:t>2</m:t>
                              </m:r>
                            </m:sup>
                          </m:sSup>
                          <m:r>
                            <a:rPr lang="en-US" sz="2000" b="0" i="1" smtClean="0">
                              <a:solidFill>
                                <a:srgbClr val="000000"/>
                              </a:solidFill>
                              <a:latin typeface="Cambria Math" panose="02040503050406030204" pitchFamily="18" charset="0"/>
                              <a:ea typeface="+mn-lt"/>
                              <a:cs typeface="+mn-lt"/>
                            </a:rPr>
                            <m:t>∗</m:t>
                          </m:r>
                          <m:r>
                            <a:rPr lang="en-US" sz="2000" b="0" i="1" smtClean="0">
                              <a:solidFill>
                                <a:srgbClr val="000000"/>
                              </a:solidFill>
                              <a:latin typeface="Cambria Math" panose="02040503050406030204" pitchFamily="18" charset="0"/>
                              <a:ea typeface="+mn-lt"/>
                              <a:cs typeface="+mn-lt"/>
                            </a:rPr>
                            <m:t>𝑀𝐸𝑂𝑃</m:t>
                          </m:r>
                        </m:num>
                        <m:den>
                          <m:r>
                            <a:rPr lang="en-US" sz="2000" b="0" i="1" smtClean="0">
                              <a:solidFill>
                                <a:srgbClr val="000000"/>
                              </a:solidFill>
                              <a:latin typeface="Cambria Math" panose="02040503050406030204" pitchFamily="18" charset="0"/>
                              <a:ea typeface="+mn-lt"/>
                              <a:cs typeface="+mn-lt"/>
                            </a:rPr>
                            <m:t>𝑛𝑢𝑚</m:t>
                          </m:r>
                          <m:r>
                            <a:rPr lang="en-US" sz="2000" b="0" i="1" smtClean="0">
                              <a:solidFill>
                                <a:srgbClr val="000000"/>
                              </a:solidFill>
                              <a:latin typeface="Cambria Math" panose="02040503050406030204" pitchFamily="18" charset="0"/>
                              <a:ea typeface="+mn-lt"/>
                              <a:cs typeface="+mn-lt"/>
                            </a:rPr>
                            <m:t> </m:t>
                          </m:r>
                          <m:r>
                            <a:rPr lang="en-US" sz="2000" b="0" i="1" smtClean="0">
                              <a:solidFill>
                                <a:srgbClr val="000000"/>
                              </a:solidFill>
                              <a:latin typeface="Cambria Math" panose="02040503050406030204" pitchFamily="18" charset="0"/>
                              <a:ea typeface="+mn-lt"/>
                              <a:cs typeface="+mn-lt"/>
                            </a:rPr>
                            <m:t>𝑏𝑜𝑙𝑡𝑠</m:t>
                          </m:r>
                          <m:r>
                            <a:rPr lang="en-US" sz="2000" b="0" i="1" smtClean="0">
                              <a:solidFill>
                                <a:srgbClr val="000000"/>
                              </a:solidFill>
                              <a:latin typeface="Cambria Math" panose="02040503050406030204" pitchFamily="18" charset="0"/>
                              <a:ea typeface="+mn-lt"/>
                              <a:cs typeface="+mn-lt"/>
                            </a:rPr>
                            <m:t> ∗ </m:t>
                          </m:r>
                          <m:f>
                            <m:fPr>
                              <m:ctrlPr>
                                <a:rPr lang="en-US" sz="2000" b="0" i="1" smtClean="0">
                                  <a:solidFill>
                                    <a:srgbClr val="000000"/>
                                  </a:solidFill>
                                  <a:latin typeface="Cambria Math" panose="02040503050406030204" pitchFamily="18" charset="0"/>
                                  <a:ea typeface="+mn-lt"/>
                                  <a:cs typeface="+mn-lt"/>
                                </a:rPr>
                              </m:ctrlPr>
                            </m:fPr>
                            <m:num>
                              <m:r>
                                <a:rPr lang="en-US" sz="2000" b="0" i="1" smtClean="0">
                                  <a:solidFill>
                                    <a:srgbClr val="000000"/>
                                  </a:solidFill>
                                  <a:latin typeface="Cambria Math" panose="02040503050406030204" pitchFamily="18" charset="0"/>
                                  <a:ea typeface="+mn-lt"/>
                                  <a:cs typeface="+mn-lt"/>
                                </a:rPr>
                                <m:t>𝑈𝑆𝑆</m:t>
                              </m:r>
                            </m:num>
                            <m:den>
                              <m:r>
                                <a:rPr lang="en-US" sz="2000" b="0" i="1" smtClean="0">
                                  <a:solidFill>
                                    <a:srgbClr val="000000"/>
                                  </a:solidFill>
                                  <a:latin typeface="Cambria Math" panose="02040503050406030204" pitchFamily="18" charset="0"/>
                                  <a:ea typeface="+mn-lt"/>
                                  <a:cs typeface="+mn-lt"/>
                                </a:rPr>
                                <m:t>𝐹𝑆</m:t>
                              </m:r>
                            </m:den>
                          </m:f>
                          <m:r>
                            <a:rPr lang="en-US" sz="2000" b="0" i="1" smtClean="0">
                              <a:solidFill>
                                <a:srgbClr val="000000"/>
                              </a:solidFill>
                              <a:latin typeface="Cambria Math" panose="02040503050406030204" pitchFamily="18" charset="0"/>
                              <a:ea typeface="+mn-lt"/>
                              <a:cs typeface="+mn-lt"/>
                            </a:rPr>
                            <m:t>∗2∗</m:t>
                          </m:r>
                          <m:sSub>
                            <m:sSubPr>
                              <m:ctrlPr>
                                <a:rPr lang="en-US" sz="2000" b="0" i="1" smtClean="0">
                                  <a:solidFill>
                                    <a:srgbClr val="000000"/>
                                  </a:solidFill>
                                  <a:latin typeface="Cambria Math" panose="02040503050406030204" pitchFamily="18" charset="0"/>
                                  <a:ea typeface="+mn-lt"/>
                                  <a:cs typeface="+mn-lt"/>
                                </a:rPr>
                              </m:ctrlPr>
                            </m:sSubPr>
                            <m:e>
                              <m:r>
                                <a:rPr lang="en-US" sz="2000" b="0" i="1" smtClean="0">
                                  <a:solidFill>
                                    <a:srgbClr val="000000"/>
                                  </a:solidFill>
                                  <a:latin typeface="Cambria Math" panose="02040503050406030204" pitchFamily="18" charset="0"/>
                                  <a:ea typeface="+mn-lt"/>
                                  <a:cs typeface="+mn-lt"/>
                                </a:rPr>
                                <m:t>𝑡</m:t>
                              </m:r>
                            </m:e>
                            <m:sub>
                              <m:r>
                                <a:rPr lang="en-US" sz="2000" b="0" i="1" smtClean="0">
                                  <a:solidFill>
                                    <a:srgbClr val="000000"/>
                                  </a:solidFill>
                                  <a:latin typeface="Cambria Math" panose="02040503050406030204" pitchFamily="18" charset="0"/>
                                  <a:ea typeface="+mn-lt"/>
                                  <a:cs typeface="+mn-lt"/>
                                </a:rPr>
                                <m:t>𝑡𝑎𝑛𝑘</m:t>
                              </m:r>
                            </m:sub>
                          </m:sSub>
                        </m:den>
                      </m:f>
                      <m:r>
                        <a:rPr lang="en-US" sz="2000" b="0" i="1" smtClean="0">
                          <a:solidFill>
                            <a:srgbClr val="000000"/>
                          </a:solidFill>
                          <a:latin typeface="Cambria Math" panose="02040503050406030204" pitchFamily="18" charset="0"/>
                          <a:ea typeface="+mn-lt"/>
                          <a:cs typeface="+mn-lt"/>
                        </a:rPr>
                        <m:t>=</m:t>
                      </m:r>
                      <m:sSub>
                        <m:sSubPr>
                          <m:ctrlPr>
                            <a:rPr lang="en-US" sz="2000" b="0" i="1" smtClean="0">
                              <a:solidFill>
                                <a:srgbClr val="000000"/>
                              </a:solidFill>
                              <a:latin typeface="Cambria Math" panose="02040503050406030204" pitchFamily="18" charset="0"/>
                              <a:ea typeface="+mn-lt"/>
                              <a:cs typeface="+mn-lt"/>
                            </a:rPr>
                          </m:ctrlPr>
                        </m:sSubPr>
                        <m:e>
                          <m:r>
                            <a:rPr lang="en-US" sz="2000" b="0" i="1" smtClean="0">
                              <a:solidFill>
                                <a:srgbClr val="000000"/>
                              </a:solidFill>
                              <a:latin typeface="Cambria Math" panose="02040503050406030204" pitchFamily="18" charset="0"/>
                              <a:ea typeface="+mn-lt"/>
                              <a:cs typeface="+mn-lt"/>
                            </a:rPr>
                            <m:t>𝐵𝑜𝑙𝑡</m:t>
                          </m:r>
                          <m:r>
                            <a:rPr lang="en-US" sz="2000" b="0" i="1" smtClean="0">
                              <a:solidFill>
                                <a:srgbClr val="000000"/>
                              </a:solidFill>
                              <a:latin typeface="Cambria Math" panose="02040503050406030204" pitchFamily="18" charset="0"/>
                              <a:ea typeface="+mn-lt"/>
                              <a:cs typeface="+mn-lt"/>
                            </a:rPr>
                            <m:t> </m:t>
                          </m:r>
                          <m:r>
                            <a:rPr lang="en-US" sz="2000" b="0" i="1" smtClean="0">
                              <a:solidFill>
                                <a:srgbClr val="000000"/>
                              </a:solidFill>
                              <a:latin typeface="Cambria Math" panose="02040503050406030204" pitchFamily="18" charset="0"/>
                              <a:ea typeface="+mn-lt"/>
                              <a:cs typeface="+mn-lt"/>
                            </a:rPr>
                            <m:t>𝑃𝑜𝑠</m:t>
                          </m:r>
                        </m:e>
                        <m:sub>
                          <m:r>
                            <a:rPr lang="en-US" sz="2000" b="0" i="1" smtClean="0">
                              <a:solidFill>
                                <a:srgbClr val="000000"/>
                              </a:solidFill>
                              <a:latin typeface="Cambria Math" panose="02040503050406030204" pitchFamily="18" charset="0"/>
                              <a:ea typeface="+mn-lt"/>
                              <a:cs typeface="+mn-lt"/>
                            </a:rPr>
                            <m:t>𝑡𝑎𝑛𝑘</m:t>
                          </m:r>
                        </m:sub>
                      </m:sSub>
                    </m:oMath>
                  </m:oMathPara>
                </a14:m>
                <a:endParaRPr lang="en-US" sz="2000">
                  <a:solidFill>
                    <a:srgbClr val="000000"/>
                  </a:solidFill>
                  <a:ea typeface="+mn-lt"/>
                  <a:cs typeface="+mn-lt"/>
                </a:endParaRPr>
              </a:p>
              <a:p>
                <a:pPr marL="121920" indent="0">
                  <a:buNone/>
                </a:pPr>
                <a:r>
                  <a:rPr lang="en-US" sz="2000">
                    <a:solidFill>
                      <a:srgbClr val="000000"/>
                    </a:solidFill>
                    <a:latin typeface="Calibri"/>
                    <a:ea typeface="Calibri"/>
                    <a:cs typeface="Courier New"/>
                  </a:rPr>
                  <a:t>Tear Out Stress(Bulkhead):</a:t>
                </a:r>
                <a:endParaRPr lang="en-US" sz="2000">
                  <a:latin typeface="Calibri"/>
                  <a:cs typeface="Calibri"/>
                </a:endParaRPr>
              </a:p>
              <a:p>
                <a:pPr marL="121920" indent="0">
                  <a:buNone/>
                </a:pPr>
                <a14:m>
                  <m:oMath xmlns:m="http://schemas.openxmlformats.org/officeDocument/2006/math">
                    <m:f>
                      <m:fPr>
                        <m:ctrlPr>
                          <a:rPr lang="en-US" sz="2000" i="1">
                            <a:solidFill>
                              <a:srgbClr val="000000"/>
                            </a:solidFill>
                            <a:latin typeface="Cambria Math" panose="02040503050406030204" pitchFamily="18" charset="0"/>
                            <a:ea typeface="+mn-lt"/>
                            <a:cs typeface="+mn-lt"/>
                          </a:rPr>
                        </m:ctrlPr>
                      </m:fPr>
                      <m:num>
                        <m:sSub>
                          <m:sSubPr>
                            <m:ctrlPr>
                              <a:rPr lang="en-US" sz="2000" i="1">
                                <a:solidFill>
                                  <a:srgbClr val="000000"/>
                                </a:solidFill>
                                <a:latin typeface="Cambria Math" panose="02040503050406030204" pitchFamily="18" charset="0"/>
                                <a:ea typeface="+mn-lt"/>
                                <a:cs typeface="+mn-lt"/>
                              </a:rPr>
                            </m:ctrlPr>
                          </m:sSubPr>
                          <m:e>
                            <m:r>
                              <a:rPr lang="en-US" sz="2000" i="1">
                                <a:solidFill>
                                  <a:srgbClr val="000000"/>
                                </a:solidFill>
                                <a:latin typeface="Cambria Math" panose="02040503050406030204" pitchFamily="18" charset="0"/>
                                <a:ea typeface="+mn-lt"/>
                                <a:cs typeface="+mn-lt"/>
                              </a:rPr>
                              <m:t>𝐷</m:t>
                            </m:r>
                          </m:e>
                          <m:sub>
                            <m:r>
                              <a:rPr lang="en-US" sz="2000" i="1">
                                <a:solidFill>
                                  <a:srgbClr val="000000"/>
                                </a:solidFill>
                                <a:latin typeface="Cambria Math" panose="02040503050406030204" pitchFamily="18" charset="0"/>
                                <a:ea typeface="+mn-lt"/>
                                <a:cs typeface="+mn-lt"/>
                              </a:rPr>
                              <m:t>𝑏𝑜𝑙𝑡</m:t>
                            </m:r>
                            <m:r>
                              <a:rPr lang="en-US" sz="2000" i="1">
                                <a:solidFill>
                                  <a:srgbClr val="000000"/>
                                </a:solidFill>
                                <a:latin typeface="Cambria Math" panose="02040503050406030204" pitchFamily="18" charset="0"/>
                                <a:ea typeface="+mn-lt"/>
                                <a:cs typeface="+mn-lt"/>
                              </a:rPr>
                              <m:t>,</m:t>
                            </m:r>
                            <m:r>
                              <a:rPr lang="en-US" sz="2000" i="1">
                                <a:solidFill>
                                  <a:srgbClr val="000000"/>
                                </a:solidFill>
                                <a:latin typeface="Cambria Math" panose="02040503050406030204" pitchFamily="18" charset="0"/>
                                <a:ea typeface="+mn-lt"/>
                                <a:cs typeface="+mn-lt"/>
                              </a:rPr>
                              <m:t>𝑚𝑖𝑛𝑜𝑟</m:t>
                            </m:r>
                          </m:sub>
                        </m:sSub>
                      </m:num>
                      <m:den>
                        <m:r>
                          <a:rPr lang="en-US" sz="2000" i="1">
                            <a:solidFill>
                              <a:srgbClr val="000000"/>
                            </a:solidFill>
                            <a:latin typeface="Cambria Math" panose="02040503050406030204" pitchFamily="18" charset="0"/>
                            <a:ea typeface="+mn-lt"/>
                            <a:cs typeface="+mn-lt"/>
                          </a:rPr>
                          <m:t>2</m:t>
                        </m:r>
                      </m:den>
                    </m:f>
                    <m:r>
                      <a:rPr lang="en-US" sz="2000" i="1">
                        <a:solidFill>
                          <a:srgbClr val="000000"/>
                        </a:solidFill>
                        <a:latin typeface="Cambria Math" panose="02040503050406030204" pitchFamily="18" charset="0"/>
                        <a:ea typeface="+mn-lt"/>
                        <a:cs typeface="+mn-lt"/>
                      </a:rPr>
                      <m:t>+</m:t>
                    </m:r>
                    <m:f>
                      <m:fPr>
                        <m:ctrlPr>
                          <a:rPr lang="en-US" sz="2000" i="1">
                            <a:solidFill>
                              <a:srgbClr val="000000"/>
                            </a:solidFill>
                            <a:latin typeface="Cambria Math" panose="02040503050406030204" pitchFamily="18" charset="0"/>
                            <a:ea typeface="+mn-lt"/>
                            <a:cs typeface="+mn-lt"/>
                          </a:rPr>
                        </m:ctrlPr>
                      </m:fPr>
                      <m:num>
                        <m:f>
                          <m:fPr>
                            <m:ctrlPr>
                              <a:rPr lang="en-US" sz="2000" i="1">
                                <a:solidFill>
                                  <a:srgbClr val="000000"/>
                                </a:solidFill>
                                <a:latin typeface="Cambria Math" panose="02040503050406030204" pitchFamily="18" charset="0"/>
                                <a:ea typeface="+mn-lt"/>
                                <a:cs typeface="+mn-lt"/>
                              </a:rPr>
                            </m:ctrlPr>
                          </m:fPr>
                          <m:num>
                            <m:r>
                              <a:rPr lang="en-US" sz="2000" i="1">
                                <a:solidFill>
                                  <a:srgbClr val="000000"/>
                                </a:solidFill>
                                <a:latin typeface="Cambria Math" panose="02040503050406030204" pitchFamily="18" charset="0"/>
                                <a:ea typeface="Cambria Math" panose="02040503050406030204" pitchFamily="18" charset="0"/>
                                <a:cs typeface="+mn-lt"/>
                              </a:rPr>
                              <m:t>𝜋</m:t>
                            </m:r>
                          </m:num>
                          <m:den>
                            <m:r>
                              <a:rPr lang="en-US" sz="2000" i="1">
                                <a:solidFill>
                                  <a:srgbClr val="000000"/>
                                </a:solidFill>
                                <a:latin typeface="Cambria Math" panose="02040503050406030204" pitchFamily="18" charset="0"/>
                                <a:ea typeface="+mn-lt"/>
                                <a:cs typeface="+mn-lt"/>
                              </a:rPr>
                              <m:t>4</m:t>
                            </m:r>
                          </m:den>
                        </m:f>
                        <m:r>
                          <a:rPr lang="en-US" sz="2000" i="1">
                            <a:solidFill>
                              <a:srgbClr val="000000"/>
                            </a:solidFill>
                            <a:latin typeface="Cambria Math" panose="02040503050406030204" pitchFamily="18" charset="0"/>
                            <a:ea typeface="+mn-lt"/>
                            <a:cs typeface="+mn-lt"/>
                          </a:rPr>
                          <m:t>∗</m:t>
                        </m:r>
                        <m:sSup>
                          <m:sSupPr>
                            <m:ctrlPr>
                              <a:rPr lang="en-US" sz="2000" i="1">
                                <a:solidFill>
                                  <a:srgbClr val="000000"/>
                                </a:solidFill>
                                <a:latin typeface="Cambria Math" panose="02040503050406030204" pitchFamily="18" charset="0"/>
                                <a:ea typeface="+mn-lt"/>
                                <a:cs typeface="+mn-lt"/>
                              </a:rPr>
                            </m:ctrlPr>
                          </m:sSupPr>
                          <m:e>
                            <m:sSub>
                              <m:sSubPr>
                                <m:ctrlPr>
                                  <a:rPr lang="en-US" sz="2000" i="1">
                                    <a:solidFill>
                                      <a:srgbClr val="000000"/>
                                    </a:solidFill>
                                    <a:latin typeface="Cambria Math" panose="02040503050406030204" pitchFamily="18" charset="0"/>
                                    <a:ea typeface="+mn-lt"/>
                                    <a:cs typeface="+mn-lt"/>
                                  </a:rPr>
                                </m:ctrlPr>
                              </m:sSubPr>
                              <m:e>
                                <m:r>
                                  <a:rPr lang="en-US" sz="2000" i="1">
                                    <a:solidFill>
                                      <a:srgbClr val="000000"/>
                                    </a:solidFill>
                                    <a:latin typeface="Cambria Math" panose="02040503050406030204" pitchFamily="18" charset="0"/>
                                    <a:ea typeface="+mn-lt"/>
                                    <a:cs typeface="+mn-lt"/>
                                  </a:rPr>
                                  <m:t>𝐷</m:t>
                                </m:r>
                              </m:e>
                              <m:sub>
                                <m:r>
                                  <a:rPr lang="en-US" sz="2000" b="0" i="1" smtClean="0">
                                    <a:solidFill>
                                      <a:srgbClr val="000000"/>
                                    </a:solidFill>
                                    <a:latin typeface="Cambria Math" panose="02040503050406030204" pitchFamily="18" charset="0"/>
                                    <a:ea typeface="+mn-lt"/>
                                    <a:cs typeface="+mn-lt"/>
                                  </a:rPr>
                                  <m:t>𝑏𝑢𝑙𝑘h𝑒𝑎𝑑</m:t>
                                </m:r>
                                <m:r>
                                  <a:rPr lang="en-US" sz="2000" b="0" i="1" smtClean="0">
                                    <a:solidFill>
                                      <a:srgbClr val="000000"/>
                                    </a:solidFill>
                                    <a:latin typeface="Cambria Math" panose="02040503050406030204" pitchFamily="18" charset="0"/>
                                    <a:ea typeface="+mn-lt"/>
                                    <a:cs typeface="+mn-lt"/>
                                  </a:rPr>
                                  <m:t>,</m:t>
                                </m:r>
                                <m:r>
                                  <a:rPr lang="en-US" sz="2000" i="1">
                                    <a:solidFill>
                                      <a:srgbClr val="000000"/>
                                    </a:solidFill>
                                    <a:latin typeface="Cambria Math" panose="02040503050406030204" pitchFamily="18" charset="0"/>
                                    <a:ea typeface="+mn-lt"/>
                                    <a:cs typeface="+mn-lt"/>
                                  </a:rPr>
                                  <m:t>𝑖𝑛𝑛𝑒𝑟</m:t>
                                </m:r>
                              </m:sub>
                            </m:sSub>
                          </m:e>
                          <m:sup>
                            <m:r>
                              <a:rPr lang="en-US" sz="2000" i="1">
                                <a:solidFill>
                                  <a:srgbClr val="000000"/>
                                </a:solidFill>
                                <a:latin typeface="Cambria Math" panose="02040503050406030204" pitchFamily="18" charset="0"/>
                                <a:ea typeface="+mn-lt"/>
                                <a:cs typeface="+mn-lt"/>
                              </a:rPr>
                              <m:t>2</m:t>
                            </m:r>
                          </m:sup>
                        </m:sSup>
                        <m:r>
                          <a:rPr lang="en-US" sz="2000" i="1">
                            <a:solidFill>
                              <a:srgbClr val="000000"/>
                            </a:solidFill>
                            <a:latin typeface="Cambria Math" panose="02040503050406030204" pitchFamily="18" charset="0"/>
                            <a:ea typeface="+mn-lt"/>
                            <a:cs typeface="+mn-lt"/>
                          </a:rPr>
                          <m:t>∗</m:t>
                        </m:r>
                        <m:r>
                          <a:rPr lang="en-US" sz="2000" i="1">
                            <a:solidFill>
                              <a:srgbClr val="000000"/>
                            </a:solidFill>
                            <a:latin typeface="Cambria Math" panose="02040503050406030204" pitchFamily="18" charset="0"/>
                            <a:ea typeface="+mn-lt"/>
                            <a:cs typeface="+mn-lt"/>
                          </a:rPr>
                          <m:t>𝑀𝐸𝑂𝑃</m:t>
                        </m:r>
                      </m:num>
                      <m:den>
                        <m:r>
                          <a:rPr lang="en-US" sz="2000" i="1">
                            <a:solidFill>
                              <a:srgbClr val="000000"/>
                            </a:solidFill>
                            <a:latin typeface="Cambria Math" panose="02040503050406030204" pitchFamily="18" charset="0"/>
                            <a:ea typeface="+mn-lt"/>
                            <a:cs typeface="+mn-lt"/>
                          </a:rPr>
                          <m:t>𝑛𝑢𝑚</m:t>
                        </m:r>
                        <m:r>
                          <a:rPr lang="en-US" sz="2000" i="1">
                            <a:solidFill>
                              <a:srgbClr val="000000"/>
                            </a:solidFill>
                            <a:latin typeface="Cambria Math" panose="02040503050406030204" pitchFamily="18" charset="0"/>
                            <a:ea typeface="+mn-lt"/>
                            <a:cs typeface="+mn-lt"/>
                          </a:rPr>
                          <m:t> </m:t>
                        </m:r>
                        <m:r>
                          <a:rPr lang="en-US" sz="2000" i="1">
                            <a:solidFill>
                              <a:srgbClr val="000000"/>
                            </a:solidFill>
                            <a:latin typeface="Cambria Math" panose="02040503050406030204" pitchFamily="18" charset="0"/>
                            <a:ea typeface="+mn-lt"/>
                            <a:cs typeface="+mn-lt"/>
                          </a:rPr>
                          <m:t>𝑏𝑜𝑙𝑡𝑠</m:t>
                        </m:r>
                        <m:r>
                          <a:rPr lang="en-US" sz="2000" i="1">
                            <a:solidFill>
                              <a:srgbClr val="000000"/>
                            </a:solidFill>
                            <a:latin typeface="Cambria Math" panose="02040503050406030204" pitchFamily="18" charset="0"/>
                            <a:ea typeface="+mn-lt"/>
                            <a:cs typeface="+mn-lt"/>
                          </a:rPr>
                          <m:t> ∗ </m:t>
                        </m:r>
                        <m:f>
                          <m:fPr>
                            <m:ctrlPr>
                              <a:rPr lang="en-US" sz="2000" i="1">
                                <a:solidFill>
                                  <a:srgbClr val="000000"/>
                                </a:solidFill>
                                <a:latin typeface="Cambria Math" panose="02040503050406030204" pitchFamily="18" charset="0"/>
                                <a:ea typeface="+mn-lt"/>
                                <a:cs typeface="+mn-lt"/>
                              </a:rPr>
                            </m:ctrlPr>
                          </m:fPr>
                          <m:num>
                            <m:r>
                              <a:rPr lang="en-US" sz="2000" i="1">
                                <a:solidFill>
                                  <a:srgbClr val="000000"/>
                                </a:solidFill>
                                <a:latin typeface="Cambria Math" panose="02040503050406030204" pitchFamily="18" charset="0"/>
                                <a:ea typeface="+mn-lt"/>
                                <a:cs typeface="+mn-lt"/>
                              </a:rPr>
                              <m:t>𝑈𝑆𝑆</m:t>
                            </m:r>
                          </m:num>
                          <m:den>
                            <m:r>
                              <a:rPr lang="en-US" sz="2000" i="1">
                                <a:solidFill>
                                  <a:srgbClr val="000000"/>
                                </a:solidFill>
                                <a:latin typeface="Cambria Math" panose="02040503050406030204" pitchFamily="18" charset="0"/>
                                <a:ea typeface="+mn-lt"/>
                                <a:cs typeface="+mn-lt"/>
                              </a:rPr>
                              <m:t>𝐹𝑆</m:t>
                            </m:r>
                          </m:den>
                        </m:f>
                        <m:r>
                          <a:rPr lang="en-US" sz="2000" i="1">
                            <a:solidFill>
                              <a:srgbClr val="000000"/>
                            </a:solidFill>
                            <a:latin typeface="Cambria Math" panose="02040503050406030204" pitchFamily="18" charset="0"/>
                            <a:ea typeface="+mn-lt"/>
                            <a:cs typeface="+mn-lt"/>
                          </a:rPr>
                          <m:t>∗2∗</m:t>
                        </m:r>
                        <m:sSub>
                          <m:sSubPr>
                            <m:ctrlPr>
                              <a:rPr lang="en-US" sz="2000" i="1">
                                <a:solidFill>
                                  <a:srgbClr val="000000"/>
                                </a:solidFill>
                                <a:latin typeface="Cambria Math" panose="02040503050406030204" pitchFamily="18" charset="0"/>
                                <a:ea typeface="+mn-lt"/>
                                <a:cs typeface="+mn-lt"/>
                              </a:rPr>
                            </m:ctrlPr>
                          </m:sSubPr>
                          <m:e>
                            <m:r>
                              <a:rPr lang="en-US" sz="2000" b="0" i="1" smtClean="0">
                                <a:solidFill>
                                  <a:srgbClr val="000000"/>
                                </a:solidFill>
                                <a:latin typeface="Cambria Math" panose="02040503050406030204" pitchFamily="18" charset="0"/>
                                <a:ea typeface="+mn-lt"/>
                                <a:cs typeface="+mn-lt"/>
                              </a:rPr>
                              <m:t>𝐿</m:t>
                            </m:r>
                          </m:e>
                          <m:sub>
                            <m:r>
                              <a:rPr lang="en-US" sz="2000" b="0" i="1" smtClean="0">
                                <a:solidFill>
                                  <a:srgbClr val="000000"/>
                                </a:solidFill>
                                <a:latin typeface="Cambria Math" panose="02040503050406030204" pitchFamily="18" charset="0"/>
                                <a:ea typeface="+mn-lt"/>
                                <a:cs typeface="+mn-lt"/>
                              </a:rPr>
                              <m:t>𝑏𝑜𝑙𝑡</m:t>
                            </m:r>
                          </m:sub>
                        </m:sSub>
                      </m:den>
                    </m:f>
                    <m:r>
                      <a:rPr lang="en-US" sz="2000" i="1">
                        <a:solidFill>
                          <a:srgbClr val="000000"/>
                        </a:solidFill>
                        <a:latin typeface="Cambria Math" panose="02040503050406030204" pitchFamily="18" charset="0"/>
                        <a:ea typeface="+mn-lt"/>
                        <a:cs typeface="+mn-lt"/>
                      </a:rPr>
                      <m:t>=</m:t>
                    </m:r>
                    <m:sSub>
                      <m:sSubPr>
                        <m:ctrlPr>
                          <a:rPr lang="en-US" sz="2000" i="1">
                            <a:solidFill>
                              <a:srgbClr val="000000"/>
                            </a:solidFill>
                            <a:latin typeface="Cambria Math" panose="02040503050406030204" pitchFamily="18" charset="0"/>
                            <a:ea typeface="+mn-lt"/>
                            <a:cs typeface="+mn-lt"/>
                          </a:rPr>
                        </m:ctrlPr>
                      </m:sSubPr>
                      <m:e>
                        <m:r>
                          <a:rPr lang="en-US" sz="2000" i="1">
                            <a:solidFill>
                              <a:srgbClr val="000000"/>
                            </a:solidFill>
                            <a:latin typeface="Cambria Math" panose="02040503050406030204" pitchFamily="18" charset="0"/>
                            <a:ea typeface="+mn-lt"/>
                            <a:cs typeface="+mn-lt"/>
                          </a:rPr>
                          <m:t>𝐵𝑜𝑙𝑡</m:t>
                        </m:r>
                        <m:r>
                          <a:rPr lang="en-US" sz="2000" i="1">
                            <a:solidFill>
                              <a:srgbClr val="000000"/>
                            </a:solidFill>
                            <a:latin typeface="Cambria Math" panose="02040503050406030204" pitchFamily="18" charset="0"/>
                            <a:ea typeface="+mn-lt"/>
                            <a:cs typeface="+mn-lt"/>
                          </a:rPr>
                          <m:t> </m:t>
                        </m:r>
                        <m:r>
                          <a:rPr lang="en-US" sz="2000" i="1">
                            <a:solidFill>
                              <a:srgbClr val="000000"/>
                            </a:solidFill>
                            <a:latin typeface="Cambria Math" panose="02040503050406030204" pitchFamily="18" charset="0"/>
                            <a:ea typeface="+mn-lt"/>
                            <a:cs typeface="+mn-lt"/>
                          </a:rPr>
                          <m:t>𝑃𝑜𝑠</m:t>
                        </m:r>
                      </m:e>
                      <m:sub>
                        <m:r>
                          <a:rPr lang="en-US" sz="2000" b="0" i="1" smtClean="0">
                            <a:solidFill>
                              <a:srgbClr val="000000"/>
                            </a:solidFill>
                            <a:latin typeface="Cambria Math" panose="02040503050406030204" pitchFamily="18" charset="0"/>
                            <a:ea typeface="+mn-lt"/>
                            <a:cs typeface="+mn-lt"/>
                          </a:rPr>
                          <m:t>𝑏𝑢𝑙𝑘h𝑒𝑎𝑑</m:t>
                        </m:r>
                      </m:sub>
                    </m:sSub>
                  </m:oMath>
                </a14:m>
                <a:r>
                  <a:rPr lang="en-US" sz="2000">
                    <a:solidFill>
                      <a:srgbClr val="000000"/>
                    </a:solidFill>
                    <a:ea typeface="+mn-lt"/>
                    <a:cs typeface="+mn-lt"/>
                  </a:rPr>
                  <a:t> </a:t>
                </a:r>
              </a:p>
            </p:txBody>
          </p:sp>
        </mc:Choice>
        <mc:Fallback xmlns="">
          <p:sp>
            <p:nvSpPr>
              <p:cNvPr id="2" name="Text Placeholder 1">
                <a:extLst>
                  <a:ext uri="{FF2B5EF4-FFF2-40B4-BE49-F238E27FC236}">
                    <a16:creationId xmlns:a16="http://schemas.microsoft.com/office/drawing/2014/main" id="{55499147-6DA9-6002-E25E-1156F62AD78C}"/>
                  </a:ext>
                </a:extLst>
              </p:cNvPr>
              <p:cNvSpPr>
                <a:spLocks noGrp="1" noRot="1" noChangeAspect="1" noMove="1" noResize="1" noEditPoints="1" noAdjustHandles="1" noChangeArrowheads="1" noChangeShapeType="1" noTextEdit="1"/>
              </p:cNvSpPr>
              <p:nvPr>
                <p:ph type="body" sz="quarter" idx="15"/>
              </p:nvPr>
            </p:nvSpPr>
            <p:spPr>
              <a:xfrm>
                <a:off x="908344" y="1747280"/>
                <a:ext cx="9598630" cy="4817044"/>
              </a:xfrm>
              <a:blipFill>
                <a:blip r:embed="rId4"/>
                <a:stretch>
                  <a:fillRect t="-759"/>
                </a:stretch>
              </a:blipFill>
              <a:effectLst/>
            </p:spPr>
            <p:txBody>
              <a:bodyPr/>
              <a:lstStyle/>
              <a:p>
                <a:r>
                  <a:rPr lang="en-US">
                    <a:noFill/>
                  </a:rPr>
                  <a:t> </a:t>
                </a:r>
              </a:p>
            </p:txBody>
          </p:sp>
        </mc:Fallback>
      </mc:AlternateContent>
      <p:sp>
        <p:nvSpPr>
          <p:cNvPr id="3" name="Footer Placeholder 2">
            <a:extLst>
              <a:ext uri="{FF2B5EF4-FFF2-40B4-BE49-F238E27FC236}">
                <a16:creationId xmlns:a16="http://schemas.microsoft.com/office/drawing/2014/main" id="{0DF2422A-D532-E444-3670-B4F512B15AE3}"/>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CE61FF0D-5804-FA4A-AA40-BA8B786881CF}"/>
              </a:ext>
            </a:extLst>
          </p:cNvPr>
          <p:cNvSpPr>
            <a:spLocks noGrp="1"/>
          </p:cNvSpPr>
          <p:nvPr>
            <p:ph type="sldNum" sz="quarter" idx="17"/>
          </p:nvPr>
        </p:nvSpPr>
        <p:spPr/>
        <p:txBody>
          <a:bodyPr/>
          <a:lstStyle/>
          <a:p>
            <a:r>
              <a:rPr lang="en-US"/>
              <a:t>/   </a:t>
            </a:r>
            <a:fld id="{6C7E6F33-74EE-5541-8108-8353B402F8C1}" type="slidenum">
              <a:rPr lang="en-US" smtClean="0"/>
              <a:pPr/>
              <a:t>30</a:t>
            </a:fld>
            <a:endParaRPr lang="en-US"/>
          </a:p>
        </p:txBody>
      </p:sp>
      <p:sp>
        <p:nvSpPr>
          <p:cNvPr id="5" name="Title 4">
            <a:extLst>
              <a:ext uri="{FF2B5EF4-FFF2-40B4-BE49-F238E27FC236}">
                <a16:creationId xmlns:a16="http://schemas.microsoft.com/office/drawing/2014/main" id="{80225816-0636-43C7-980C-FCB0B5589433}"/>
              </a:ext>
            </a:extLst>
          </p:cNvPr>
          <p:cNvSpPr>
            <a:spLocks noGrp="1"/>
          </p:cNvSpPr>
          <p:nvPr>
            <p:ph type="title"/>
          </p:nvPr>
        </p:nvSpPr>
        <p:spPr/>
        <p:txBody>
          <a:bodyPr/>
          <a:lstStyle/>
          <a:p>
            <a:r>
              <a:rPr lang="en-US">
                <a:latin typeface="Munistic"/>
              </a:rPr>
              <a:t>Bulkhead Calcs</a:t>
            </a:r>
            <a:endParaRPr lang="en-US"/>
          </a:p>
        </p:txBody>
      </p:sp>
      <p:sp>
        <p:nvSpPr>
          <p:cNvPr id="6" name="Text Placeholder 5">
            <a:extLst>
              <a:ext uri="{FF2B5EF4-FFF2-40B4-BE49-F238E27FC236}">
                <a16:creationId xmlns:a16="http://schemas.microsoft.com/office/drawing/2014/main" id="{F6FD2914-6485-6703-4FE4-A4CE7419B775}"/>
              </a:ext>
            </a:extLst>
          </p:cNvPr>
          <p:cNvSpPr>
            <a:spLocks noGrp="1"/>
          </p:cNvSpPr>
          <p:nvPr>
            <p:ph type="body" sz="quarter" idx="13"/>
          </p:nvPr>
        </p:nvSpPr>
        <p:spPr/>
        <p:txBody>
          <a:bodyPr/>
          <a:lstStyle/>
          <a:p>
            <a:r>
              <a:rPr lang="en-US" sz="2400">
                <a:ea typeface="Source Sans Pro"/>
                <a:cs typeface="Calibri"/>
              </a:rPr>
              <a:t>Bolts</a:t>
            </a:r>
            <a:endParaRPr lang="en-US" sz="2400">
              <a:cs typeface="Calibri"/>
            </a:endParaRPr>
          </a:p>
        </p:txBody>
      </p:sp>
      <p:pic>
        <p:nvPicPr>
          <p:cNvPr id="7" name="Picture 6" descr="A drawing of a cylinder&#10;&#10;AI-generated content may be incorrect.">
            <a:extLst>
              <a:ext uri="{FF2B5EF4-FFF2-40B4-BE49-F238E27FC236}">
                <a16:creationId xmlns:a16="http://schemas.microsoft.com/office/drawing/2014/main" id="{334D6DB2-AFE1-2782-4AB0-10B7D810C968}"/>
              </a:ext>
            </a:extLst>
          </p:cNvPr>
          <p:cNvPicPr>
            <a:picLocks noChangeAspect="1"/>
          </p:cNvPicPr>
          <p:nvPr/>
        </p:nvPicPr>
        <p:blipFill>
          <a:blip r:embed="rId5"/>
          <a:srcRect l="14258" t="4286" r="23146" b="20857"/>
          <a:stretch>
            <a:fillRect/>
          </a:stretch>
        </p:blipFill>
        <p:spPr>
          <a:xfrm>
            <a:off x="8948468" y="4210670"/>
            <a:ext cx="3243532" cy="2647330"/>
          </a:xfrm>
          <a:prstGeom prst="rect">
            <a:avLst/>
          </a:prstGeom>
        </p:spPr>
      </p:pic>
      <p:sp>
        <p:nvSpPr>
          <p:cNvPr id="9" name="Text Placeholder 1">
            <a:extLst>
              <a:ext uri="{FF2B5EF4-FFF2-40B4-BE49-F238E27FC236}">
                <a16:creationId xmlns:a16="http://schemas.microsoft.com/office/drawing/2014/main" id="{6F1EC112-07E9-35F5-62EE-BCF5A8E168E3}"/>
              </a:ext>
            </a:extLst>
          </p:cNvPr>
          <p:cNvSpPr txBox="1">
            <a:spLocks/>
          </p:cNvSpPr>
          <p:nvPr/>
        </p:nvSpPr>
        <p:spPr>
          <a:xfrm>
            <a:off x="908343" y="4792488"/>
            <a:ext cx="12249815" cy="4817044"/>
          </a:xfrm>
          <a:prstGeom prst="rect">
            <a:avLst/>
          </a:prstGeom>
          <a:effectLst/>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920" indent="0">
              <a:buFont typeface="Arial" panose="020B0604020202020204" pitchFamily="34" charset="0"/>
              <a:buNone/>
            </a:pPr>
            <a:r>
              <a:rPr lang="en-US" sz="2000">
                <a:solidFill>
                  <a:srgbClr val="000000"/>
                </a:solidFill>
                <a:ea typeface="+mn-lt"/>
                <a:cs typeface="+mn-lt"/>
              </a:rPr>
              <a:t>Tank Wall:    Ox Bulkhead:    Air and Fuel Bulkhead:</a:t>
            </a:r>
          </a:p>
          <a:p>
            <a:pPr marL="121920" indent="0">
              <a:buNone/>
            </a:pPr>
            <a:r>
              <a:rPr lang="en-US" sz="2000">
                <a:solidFill>
                  <a:srgbClr val="000000"/>
                </a:solidFill>
                <a:ea typeface="+mn-lt"/>
                <a:cs typeface="+mn-lt"/>
              </a:rPr>
              <a:t>0.9531in        </a:t>
            </a:r>
            <a:r>
              <a:rPr lang="en-US" sz="2000">
                <a:solidFill>
                  <a:srgbClr val="000000"/>
                </a:solidFill>
                <a:ea typeface="Calibri"/>
                <a:cs typeface="Calibri"/>
              </a:rPr>
              <a:t>0.3983in           0.2156in</a:t>
            </a:r>
            <a:endParaRPr lang="en-US" sz="2000">
              <a:cs typeface="Calibri"/>
            </a:endParaRPr>
          </a:p>
          <a:p>
            <a:pPr marL="121920" indent="0">
              <a:buNone/>
            </a:pPr>
            <a:endParaRPr lang="en-US" sz="2000">
              <a:cs typeface="Calibri"/>
            </a:endParaRPr>
          </a:p>
          <a:p>
            <a:pPr marL="121920" indent="0">
              <a:buFont typeface="Arial" panose="020B0604020202020204" pitchFamily="34" charset="0"/>
              <a:buNone/>
            </a:pPr>
            <a:endParaRPr lang="en-US" sz="2000">
              <a:solidFill>
                <a:srgbClr val="000000"/>
              </a:solidFill>
              <a:latin typeface="Calibri"/>
              <a:ea typeface="Calibri"/>
              <a:cs typeface="Calibri"/>
            </a:endParaRPr>
          </a:p>
        </p:txBody>
      </p:sp>
      <p:pic>
        <p:nvPicPr>
          <p:cNvPr id="13" name="Picture 12" descr="A circular object with a red line&#10;&#10;AI-generated content may be incorrect.">
            <a:extLst>
              <a:ext uri="{FF2B5EF4-FFF2-40B4-BE49-F238E27FC236}">
                <a16:creationId xmlns:a16="http://schemas.microsoft.com/office/drawing/2014/main" id="{5B0F65E0-C2B0-2B7D-4A79-C618A1E6A998}"/>
              </a:ext>
            </a:extLst>
          </p:cNvPr>
          <p:cNvPicPr>
            <a:picLocks noChangeAspect="1"/>
          </p:cNvPicPr>
          <p:nvPr/>
        </p:nvPicPr>
        <p:blipFill>
          <a:blip r:embed="rId6"/>
          <a:stretch>
            <a:fillRect/>
          </a:stretch>
        </p:blipFill>
        <p:spPr>
          <a:xfrm>
            <a:off x="9754357" y="1"/>
            <a:ext cx="2437643" cy="4387758"/>
          </a:xfrm>
          <a:prstGeom prst="rect">
            <a:avLst/>
          </a:prstGeom>
        </p:spPr>
      </p:pic>
      <p:sp>
        <p:nvSpPr>
          <p:cNvPr id="10" name="TextBox 9">
            <a:extLst>
              <a:ext uri="{FF2B5EF4-FFF2-40B4-BE49-F238E27FC236}">
                <a16:creationId xmlns:a16="http://schemas.microsoft.com/office/drawing/2014/main" id="{504C680B-D6D3-DDF5-FC07-DE661E6BE0E4}"/>
              </a:ext>
            </a:extLst>
          </p:cNvPr>
          <p:cNvSpPr txBox="1"/>
          <p:nvPr/>
        </p:nvSpPr>
        <p:spPr>
          <a:xfrm>
            <a:off x="6537093" y="6435493"/>
            <a:ext cx="355909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baseline="0">
                <a:solidFill>
                  <a:srgbClr val="154734"/>
                </a:solidFill>
                <a:latin typeface="Calibri"/>
              </a:rPr>
              <a:t>Fig 2.13</a:t>
            </a:r>
            <a:r>
              <a:rPr lang="en-US" sz="1400" b="1">
                <a:solidFill>
                  <a:srgbClr val="154734"/>
                </a:solidFill>
                <a:latin typeface="Calibri"/>
              </a:rPr>
              <a:t> Bulkhead Bolt Distances</a:t>
            </a:r>
            <a:endParaRPr lang="en-US"/>
          </a:p>
          <a:p>
            <a:pPr algn="ctr"/>
            <a:endParaRPr lang="en-US"/>
          </a:p>
        </p:txBody>
      </p:sp>
    </p:spTree>
    <p:extLst>
      <p:ext uri="{BB962C8B-B14F-4D97-AF65-F5344CB8AC3E}">
        <p14:creationId xmlns:p14="http://schemas.microsoft.com/office/powerpoint/2010/main" val="3483006169"/>
      </p:ext>
    </p:extLst>
  </p:cSld>
  <p:clrMapOvr>
    <a:masterClrMapping/>
  </p:clrMapOvr>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4F1C01-FE77-5A62-8EA4-1F3F119F3DB2}"/>
              </a:ext>
            </a:extLst>
          </p:cNvPr>
          <p:cNvSpPr>
            <a:spLocks noGrp="1"/>
          </p:cNvSpPr>
          <p:nvPr>
            <p:ph type="body" sz="quarter" idx="15"/>
          </p:nvPr>
        </p:nvSpPr>
        <p:spPr>
          <a:xfrm>
            <a:off x="529541" y="1714479"/>
            <a:ext cx="13155767" cy="3979740"/>
          </a:xfrm>
        </p:spPr>
        <p:txBody>
          <a:bodyPr vert="horz" lIns="91440" tIns="45720" rIns="91440" bIns="45720" numCol="2" spcCol="457200" rtlCol="0" anchor="t">
            <a:noAutofit/>
          </a:bodyPr>
          <a:lstStyle/>
          <a:p>
            <a:pPr marL="121920" indent="0">
              <a:buNone/>
            </a:pPr>
            <a:r>
              <a:rPr lang="en-US" sz="2000">
                <a:solidFill>
                  <a:schemeClr val="accent6">
                    <a:lumMod val="10000"/>
                  </a:schemeClr>
                </a:solidFill>
                <a:ea typeface="+mn-lt"/>
                <a:cs typeface="+mn-lt"/>
              </a:rPr>
              <a:t>Series 2-255 O-Rings</a:t>
            </a:r>
          </a:p>
          <a:p>
            <a:pPr marL="121920" indent="0">
              <a:buNone/>
            </a:pPr>
            <a:r>
              <a:rPr lang="en-US" sz="2000">
                <a:solidFill>
                  <a:schemeClr val="accent6">
                    <a:lumMod val="10000"/>
                  </a:schemeClr>
                </a:solidFill>
                <a:ea typeface="+mn-lt"/>
                <a:cs typeface="+mn-lt"/>
              </a:rPr>
              <a:t>Material: Viton®</a:t>
            </a:r>
            <a:endParaRPr lang="en-US">
              <a:solidFill>
                <a:schemeClr val="accent6">
                  <a:lumMod val="10000"/>
                </a:schemeClr>
              </a:solidFill>
            </a:endParaRPr>
          </a:p>
          <a:p>
            <a:pPr marL="121920" indent="0">
              <a:buNone/>
            </a:pPr>
            <a:r>
              <a:rPr lang="en-US" sz="2000">
                <a:solidFill>
                  <a:schemeClr val="accent6">
                    <a:lumMod val="10000"/>
                  </a:schemeClr>
                </a:solidFill>
                <a:latin typeface="Calibri"/>
                <a:ea typeface="Calibri Light"/>
                <a:cs typeface="Calibri Light"/>
              </a:rPr>
              <a:t>Sizing:</a:t>
            </a:r>
          </a:p>
          <a:p>
            <a:pPr marL="742315" lvl="1" indent="-285750">
              <a:buFont typeface="Courier New" panose="020B0604020202020204" pitchFamily="34" charset="0"/>
              <a:buChar char="o"/>
            </a:pPr>
            <a:r>
              <a:rPr lang="en-US" sz="2000">
                <a:solidFill>
                  <a:schemeClr val="accent6">
                    <a:lumMod val="10000"/>
                  </a:schemeClr>
                </a:solidFill>
                <a:ea typeface="Calibri Light"/>
                <a:cs typeface="Calibri Light"/>
              </a:rPr>
              <a:t>OD &gt; 5.75in</a:t>
            </a:r>
          </a:p>
          <a:p>
            <a:pPr marL="742315" lvl="1" indent="-285750">
              <a:buFont typeface="Courier New" panose="020B0604020202020204" pitchFamily="34" charset="0"/>
              <a:buChar char="o"/>
            </a:pPr>
            <a:r>
              <a:rPr lang="en-US" sz="2000">
                <a:solidFill>
                  <a:schemeClr val="accent6">
                    <a:lumMod val="10000"/>
                  </a:schemeClr>
                </a:solidFill>
                <a:ea typeface="Calibri Light"/>
                <a:cs typeface="Calibri Light"/>
              </a:rPr>
              <a:t>ID &lt; 5.75in </a:t>
            </a:r>
            <a:endParaRPr lang="en-US" sz="2000">
              <a:solidFill>
                <a:schemeClr val="accent6">
                  <a:lumMod val="10000"/>
                </a:schemeClr>
              </a:solidFill>
              <a:cs typeface="Courier New"/>
            </a:endParaRPr>
          </a:p>
          <a:p>
            <a:pPr marL="121920" indent="0">
              <a:buNone/>
            </a:pPr>
            <a:endParaRPr lang="en-US" sz="1850">
              <a:latin typeface="Calibri Light"/>
              <a:ea typeface="Calibri Light"/>
              <a:cs typeface="Calibri Light"/>
            </a:endParaRPr>
          </a:p>
        </p:txBody>
      </p:sp>
      <p:sp>
        <p:nvSpPr>
          <p:cNvPr id="3" name="Footer Placeholder 2">
            <a:extLst>
              <a:ext uri="{FF2B5EF4-FFF2-40B4-BE49-F238E27FC236}">
                <a16:creationId xmlns:a16="http://schemas.microsoft.com/office/drawing/2014/main" id="{17804565-0C4F-02C2-8F3E-C0581F545314}"/>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CECC0C82-7E72-F503-B7E1-FD6797D130EF}"/>
              </a:ext>
            </a:extLst>
          </p:cNvPr>
          <p:cNvSpPr>
            <a:spLocks noGrp="1"/>
          </p:cNvSpPr>
          <p:nvPr>
            <p:ph type="sldNum" sz="quarter" idx="17"/>
          </p:nvPr>
        </p:nvSpPr>
        <p:spPr/>
        <p:txBody>
          <a:bodyPr/>
          <a:lstStyle/>
          <a:p>
            <a:r>
              <a:rPr lang="en-US"/>
              <a:t>/   </a:t>
            </a:r>
            <a:fld id="{6C7E6F33-74EE-5541-8108-8353B402F8C1}" type="slidenum">
              <a:rPr lang="en-US" smtClean="0"/>
              <a:pPr/>
              <a:t>31</a:t>
            </a:fld>
            <a:endParaRPr lang="en-US"/>
          </a:p>
        </p:txBody>
      </p:sp>
      <p:sp>
        <p:nvSpPr>
          <p:cNvPr id="5" name="Title 4">
            <a:extLst>
              <a:ext uri="{FF2B5EF4-FFF2-40B4-BE49-F238E27FC236}">
                <a16:creationId xmlns:a16="http://schemas.microsoft.com/office/drawing/2014/main" id="{05096909-A0EF-6CC1-C528-633F0DA485C8}"/>
              </a:ext>
            </a:extLst>
          </p:cNvPr>
          <p:cNvSpPr>
            <a:spLocks noGrp="1"/>
          </p:cNvSpPr>
          <p:nvPr>
            <p:ph type="title"/>
          </p:nvPr>
        </p:nvSpPr>
        <p:spPr/>
        <p:txBody>
          <a:bodyPr/>
          <a:lstStyle/>
          <a:p>
            <a:r>
              <a:rPr lang="en-US">
                <a:latin typeface="Munistic"/>
              </a:rPr>
              <a:t>Bulkheads</a:t>
            </a:r>
            <a:endParaRPr lang="en-US"/>
          </a:p>
        </p:txBody>
      </p:sp>
      <p:sp>
        <p:nvSpPr>
          <p:cNvPr id="6" name="Text Placeholder 5">
            <a:extLst>
              <a:ext uri="{FF2B5EF4-FFF2-40B4-BE49-F238E27FC236}">
                <a16:creationId xmlns:a16="http://schemas.microsoft.com/office/drawing/2014/main" id="{9A7187B9-C7FE-62E8-56A6-D300A1819EF3}"/>
              </a:ext>
            </a:extLst>
          </p:cNvPr>
          <p:cNvSpPr>
            <a:spLocks noGrp="1"/>
          </p:cNvSpPr>
          <p:nvPr>
            <p:ph type="body" sz="quarter" idx="13"/>
          </p:nvPr>
        </p:nvSpPr>
        <p:spPr/>
        <p:txBody>
          <a:bodyPr/>
          <a:lstStyle/>
          <a:p>
            <a:r>
              <a:rPr lang="en-US" sz="2400">
                <a:ea typeface="Source Sans Pro"/>
                <a:cs typeface="Calibri"/>
              </a:rPr>
              <a:t>O-Ring</a:t>
            </a:r>
            <a:endParaRPr lang="en-US" sz="2400">
              <a:cs typeface="Calibri"/>
            </a:endParaRPr>
          </a:p>
        </p:txBody>
      </p:sp>
      <p:graphicFrame>
        <p:nvGraphicFramePr>
          <p:cNvPr id="7" name="Table 6">
            <a:extLst>
              <a:ext uri="{FF2B5EF4-FFF2-40B4-BE49-F238E27FC236}">
                <a16:creationId xmlns:a16="http://schemas.microsoft.com/office/drawing/2014/main" id="{59A0F7C0-0315-5B91-C200-72A6C1350ED8}"/>
              </a:ext>
            </a:extLst>
          </p:cNvPr>
          <p:cNvGraphicFramePr>
            <a:graphicFrameLocks noGrp="1"/>
          </p:cNvGraphicFramePr>
          <p:nvPr>
            <p:extLst>
              <p:ext uri="{D42A27DB-BD31-4B8C-83A1-F6EECF244321}">
                <p14:modId xmlns:p14="http://schemas.microsoft.com/office/powerpoint/2010/main" val="3407077674"/>
              </p:ext>
            </p:extLst>
          </p:nvPr>
        </p:nvGraphicFramePr>
        <p:xfrm>
          <a:off x="3602020" y="1714479"/>
          <a:ext cx="8168640" cy="1483359"/>
        </p:xfrm>
        <a:graphic>
          <a:graphicData uri="http://schemas.openxmlformats.org/drawingml/2006/table">
            <a:tbl>
              <a:tblPr firstRow="1" bandRow="1">
                <a:tableStyleId>{5C22544A-7EE6-4342-B048-85BDC9FD1C3A}</a:tableStyleId>
              </a:tblPr>
              <a:tblGrid>
                <a:gridCol w="2722880">
                  <a:extLst>
                    <a:ext uri="{9D8B030D-6E8A-4147-A177-3AD203B41FA5}">
                      <a16:colId xmlns:a16="http://schemas.microsoft.com/office/drawing/2014/main" val="4270474444"/>
                    </a:ext>
                  </a:extLst>
                </a:gridCol>
                <a:gridCol w="2722880">
                  <a:extLst>
                    <a:ext uri="{9D8B030D-6E8A-4147-A177-3AD203B41FA5}">
                      <a16:colId xmlns:a16="http://schemas.microsoft.com/office/drawing/2014/main" val="226138937"/>
                    </a:ext>
                  </a:extLst>
                </a:gridCol>
                <a:gridCol w="2722880">
                  <a:extLst>
                    <a:ext uri="{9D8B030D-6E8A-4147-A177-3AD203B41FA5}">
                      <a16:colId xmlns:a16="http://schemas.microsoft.com/office/drawing/2014/main" val="2591382902"/>
                    </a:ext>
                  </a:extLst>
                </a:gridCol>
              </a:tblGrid>
              <a:tr h="370840">
                <a:tc>
                  <a:txBody>
                    <a:bodyPr/>
                    <a:lstStyle/>
                    <a:p>
                      <a:r>
                        <a:rPr lang="en-US"/>
                        <a:t>Fractional(in)</a:t>
                      </a:r>
                    </a:p>
                  </a:txBody>
                  <a:tcPr/>
                </a:tc>
                <a:tc>
                  <a:txBody>
                    <a:bodyPr/>
                    <a:lstStyle/>
                    <a:p>
                      <a:r>
                        <a:rPr lang="en-US"/>
                        <a:t>Actual(in)</a:t>
                      </a:r>
                    </a:p>
                  </a:txBody>
                  <a:tcPr/>
                </a:tc>
                <a:tc>
                  <a:txBody>
                    <a:bodyPr/>
                    <a:lstStyle/>
                    <a:p>
                      <a:r>
                        <a:rPr lang="en-US"/>
                        <a:t>Gland Dimension(in)</a:t>
                      </a:r>
                    </a:p>
                  </a:txBody>
                  <a:tcPr/>
                </a:tc>
                <a:extLst>
                  <a:ext uri="{0D108BD9-81ED-4DB2-BD59-A6C34878D82A}">
                    <a16:rowId xmlns:a16="http://schemas.microsoft.com/office/drawing/2014/main" val="3588688702"/>
                  </a:ext>
                </a:extLst>
              </a:tr>
              <a:tr h="370840">
                <a:tc>
                  <a:txBody>
                    <a:bodyPr/>
                    <a:lstStyle/>
                    <a:p>
                      <a:r>
                        <a:rPr lang="en-US"/>
                        <a:t>OD: 5 7/8</a:t>
                      </a:r>
                    </a:p>
                  </a:txBody>
                  <a:tcPr/>
                </a:tc>
                <a:tc>
                  <a:txBody>
                    <a:bodyPr/>
                    <a:lstStyle/>
                    <a:p>
                      <a:r>
                        <a:rPr lang="en-US"/>
                        <a:t>OD: 5.887</a:t>
                      </a:r>
                    </a:p>
                  </a:txBody>
                  <a:tcPr/>
                </a:tc>
                <a:tc>
                  <a:txBody>
                    <a:bodyPr/>
                    <a:lstStyle/>
                    <a:p>
                      <a:r>
                        <a:rPr lang="en-US"/>
                        <a:t>Depth: .115</a:t>
                      </a:r>
                    </a:p>
                  </a:txBody>
                  <a:tcPr/>
                </a:tc>
                <a:extLst>
                  <a:ext uri="{0D108BD9-81ED-4DB2-BD59-A6C34878D82A}">
                    <a16:rowId xmlns:a16="http://schemas.microsoft.com/office/drawing/2014/main" val="1245766972"/>
                  </a:ext>
                </a:extLst>
              </a:tr>
              <a:tr h="370840">
                <a:tc>
                  <a:txBody>
                    <a:bodyPr/>
                    <a:lstStyle/>
                    <a:p>
                      <a:r>
                        <a:rPr lang="en-US"/>
                        <a:t>ID: 5 5/8</a:t>
                      </a:r>
                    </a:p>
                  </a:txBody>
                  <a:tcPr/>
                </a:tc>
                <a:tc>
                  <a:txBody>
                    <a:bodyPr/>
                    <a:lstStyle/>
                    <a:p>
                      <a:r>
                        <a:rPr lang="en-US"/>
                        <a:t>ID: 5.609</a:t>
                      </a:r>
                    </a:p>
                  </a:txBody>
                  <a:tcPr/>
                </a:tc>
                <a:tc>
                  <a:txBody>
                    <a:bodyPr/>
                    <a:lstStyle/>
                    <a:p>
                      <a:r>
                        <a:rPr lang="en-US"/>
                        <a:t>Width: .196</a:t>
                      </a:r>
                    </a:p>
                  </a:txBody>
                  <a:tcPr/>
                </a:tc>
                <a:extLst>
                  <a:ext uri="{0D108BD9-81ED-4DB2-BD59-A6C34878D82A}">
                    <a16:rowId xmlns:a16="http://schemas.microsoft.com/office/drawing/2014/main" val="2405117081"/>
                  </a:ext>
                </a:extLst>
              </a:tr>
              <a:tr h="370839">
                <a:tc>
                  <a:txBody>
                    <a:bodyPr/>
                    <a:lstStyle/>
                    <a:p>
                      <a:pPr lvl="0">
                        <a:buNone/>
                      </a:pPr>
                      <a:r>
                        <a:rPr lang="en-US"/>
                        <a:t>Width: 1/8</a:t>
                      </a:r>
                    </a:p>
                  </a:txBody>
                  <a:tcPr/>
                </a:tc>
                <a:tc>
                  <a:txBody>
                    <a:bodyPr/>
                    <a:lstStyle/>
                    <a:p>
                      <a:pPr lvl="0">
                        <a:buNone/>
                      </a:pPr>
                      <a:r>
                        <a:rPr lang="en-US"/>
                        <a:t>Width: .139</a:t>
                      </a:r>
                    </a:p>
                  </a:txBody>
                  <a:tcPr/>
                </a:tc>
                <a:tc>
                  <a:txBody>
                    <a:bodyPr/>
                    <a:lstStyle/>
                    <a:p>
                      <a:pPr lvl="0">
                        <a:buNone/>
                      </a:pPr>
                      <a:endParaRPr lang="en-US"/>
                    </a:p>
                  </a:txBody>
                  <a:tcPr/>
                </a:tc>
                <a:extLst>
                  <a:ext uri="{0D108BD9-81ED-4DB2-BD59-A6C34878D82A}">
                    <a16:rowId xmlns:a16="http://schemas.microsoft.com/office/drawing/2014/main" val="1451850755"/>
                  </a:ext>
                </a:extLst>
              </a:tr>
            </a:tbl>
          </a:graphicData>
        </a:graphic>
      </p:graphicFrame>
    </p:spTree>
    <p:extLst>
      <p:ext uri="{BB962C8B-B14F-4D97-AF65-F5344CB8AC3E}">
        <p14:creationId xmlns:p14="http://schemas.microsoft.com/office/powerpoint/2010/main" val="628238163"/>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BC1DB1-7358-B797-C156-56B4E762FD15}"/>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2B5CAEA4-B334-6997-E91A-0C2A1B8B969D}"/>
              </a:ext>
            </a:extLst>
          </p:cNvPr>
          <p:cNvSpPr>
            <a:spLocks noGrp="1"/>
          </p:cNvSpPr>
          <p:nvPr>
            <p:ph type="sldNum" sz="quarter" idx="17"/>
          </p:nvPr>
        </p:nvSpPr>
        <p:spPr/>
        <p:txBody>
          <a:bodyPr/>
          <a:lstStyle/>
          <a:p>
            <a:r>
              <a:rPr lang="en-US"/>
              <a:t>/   </a:t>
            </a:r>
            <a:fld id="{6C7E6F33-74EE-5541-8108-8353B402F8C1}" type="slidenum">
              <a:rPr lang="en-US" smtClean="0"/>
              <a:pPr/>
              <a:t>32</a:t>
            </a:fld>
            <a:endParaRPr lang="en-US"/>
          </a:p>
        </p:txBody>
      </p:sp>
      <p:sp>
        <p:nvSpPr>
          <p:cNvPr id="5" name="Title 4">
            <a:extLst>
              <a:ext uri="{FF2B5EF4-FFF2-40B4-BE49-F238E27FC236}">
                <a16:creationId xmlns:a16="http://schemas.microsoft.com/office/drawing/2014/main" id="{22FD020A-2C7E-C276-50C6-235DC10C44B5}"/>
              </a:ext>
            </a:extLst>
          </p:cNvPr>
          <p:cNvSpPr>
            <a:spLocks noGrp="1"/>
          </p:cNvSpPr>
          <p:nvPr>
            <p:ph type="title"/>
          </p:nvPr>
        </p:nvSpPr>
        <p:spPr>
          <a:xfrm>
            <a:off x="531847" y="716984"/>
            <a:ext cx="6589921" cy="625567"/>
          </a:xfrm>
        </p:spPr>
        <p:txBody>
          <a:bodyPr/>
          <a:lstStyle/>
          <a:p>
            <a:r>
              <a:rPr lang="en-US">
                <a:latin typeface="Munistic"/>
              </a:rPr>
              <a:t>Tanks Requirements</a:t>
            </a:r>
            <a:endParaRPr lang="en-US"/>
          </a:p>
        </p:txBody>
      </p:sp>
      <p:sp>
        <p:nvSpPr>
          <p:cNvPr id="9" name="Text Placeholder 5">
            <a:extLst>
              <a:ext uri="{FF2B5EF4-FFF2-40B4-BE49-F238E27FC236}">
                <a16:creationId xmlns:a16="http://schemas.microsoft.com/office/drawing/2014/main" id="{0C8EF93A-EF61-9592-376F-FB472941797A}"/>
              </a:ext>
            </a:extLst>
          </p:cNvPr>
          <p:cNvSpPr txBox="1">
            <a:spLocks/>
          </p:cNvSpPr>
          <p:nvPr/>
        </p:nvSpPr>
        <p:spPr>
          <a:xfrm>
            <a:off x="7042638" y="716984"/>
            <a:ext cx="4634356" cy="625567"/>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ctr">
            <a:noAutofit/>
          </a:bodyPr>
          <a:lstStyle>
            <a:lvl1pPr marL="0" indent="0" algn="l" defTabSz="914377" rtl="0" eaLnBrk="1" latinLnBrk="0" hangingPunct="1">
              <a:lnSpc>
                <a:spcPct val="100000"/>
              </a:lnSpc>
              <a:spcBef>
                <a:spcPts val="1000"/>
              </a:spcBef>
              <a:buSzPct val="75000"/>
              <a:buFont typeface="Arial" panose="020B0604020202020204" pitchFamily="34" charset="0"/>
              <a:buNone/>
              <a:defRPr sz="1867" b="0" i="0" kern="800" cap="none" spc="67"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50">
                <a:ea typeface="Source Sans Pro"/>
                <a:cs typeface="Calibri"/>
              </a:rPr>
              <a:t>Design Criteria</a:t>
            </a:r>
            <a:endParaRPr lang="en-US"/>
          </a:p>
        </p:txBody>
      </p:sp>
      <p:graphicFrame>
        <p:nvGraphicFramePr>
          <p:cNvPr id="7" name="Table 6">
            <a:extLst>
              <a:ext uri="{FF2B5EF4-FFF2-40B4-BE49-F238E27FC236}">
                <a16:creationId xmlns:a16="http://schemas.microsoft.com/office/drawing/2014/main" id="{401B3DD6-4254-0B0B-6FC7-D91A6E6F9696}"/>
              </a:ext>
            </a:extLst>
          </p:cNvPr>
          <p:cNvGraphicFramePr>
            <a:graphicFrameLocks noGrp="1"/>
          </p:cNvGraphicFramePr>
          <p:nvPr>
            <p:extLst>
              <p:ext uri="{D42A27DB-BD31-4B8C-83A1-F6EECF244321}">
                <p14:modId xmlns:p14="http://schemas.microsoft.com/office/powerpoint/2010/main" val="3321377943"/>
              </p:ext>
            </p:extLst>
          </p:nvPr>
        </p:nvGraphicFramePr>
        <p:xfrm>
          <a:off x="2132749" y="1544790"/>
          <a:ext cx="7932883" cy="4105211"/>
        </p:xfrm>
        <a:graphic>
          <a:graphicData uri="http://schemas.openxmlformats.org/drawingml/2006/table">
            <a:tbl>
              <a:tblPr firstRow="1" bandRow="1">
                <a:tableStyleId>{073A0DAA-6AF3-43AB-8588-CEC1D06C72B9}</a:tableStyleId>
              </a:tblPr>
              <a:tblGrid>
                <a:gridCol w="629920">
                  <a:extLst>
                    <a:ext uri="{9D8B030D-6E8A-4147-A177-3AD203B41FA5}">
                      <a16:colId xmlns:a16="http://schemas.microsoft.com/office/drawing/2014/main" val="3089745894"/>
                    </a:ext>
                  </a:extLst>
                </a:gridCol>
                <a:gridCol w="3249126">
                  <a:extLst>
                    <a:ext uri="{9D8B030D-6E8A-4147-A177-3AD203B41FA5}">
                      <a16:colId xmlns:a16="http://schemas.microsoft.com/office/drawing/2014/main" val="2003570306"/>
                    </a:ext>
                  </a:extLst>
                </a:gridCol>
                <a:gridCol w="2773679">
                  <a:extLst>
                    <a:ext uri="{9D8B030D-6E8A-4147-A177-3AD203B41FA5}">
                      <a16:colId xmlns:a16="http://schemas.microsoft.com/office/drawing/2014/main" val="621346601"/>
                    </a:ext>
                  </a:extLst>
                </a:gridCol>
                <a:gridCol w="1280158">
                  <a:extLst>
                    <a:ext uri="{9D8B030D-6E8A-4147-A177-3AD203B41FA5}">
                      <a16:colId xmlns:a16="http://schemas.microsoft.com/office/drawing/2014/main" val="156879667"/>
                    </a:ext>
                  </a:extLst>
                </a:gridCol>
              </a:tblGrid>
              <a:tr h="365759">
                <a:tc>
                  <a:txBody>
                    <a:bodyPr/>
                    <a:lstStyle/>
                    <a:p>
                      <a:r>
                        <a:rPr lang="en-US"/>
                        <a:t>RBS</a:t>
                      </a:r>
                    </a:p>
                  </a:txBody>
                  <a:tcPr/>
                </a:tc>
                <a:tc>
                  <a:txBody>
                    <a:bodyPr/>
                    <a:lstStyle/>
                    <a:p>
                      <a:r>
                        <a:rPr lang="en-US"/>
                        <a:t>Requirement</a:t>
                      </a:r>
                    </a:p>
                  </a:txBody>
                  <a:tcPr/>
                </a:tc>
                <a:tc>
                  <a:txBody>
                    <a:bodyPr/>
                    <a:lstStyle/>
                    <a:p>
                      <a:r>
                        <a:rPr lang="en-US"/>
                        <a:t>Rationale</a:t>
                      </a:r>
                    </a:p>
                  </a:txBody>
                  <a:tcPr/>
                </a:tc>
                <a:tc>
                  <a:txBody>
                    <a:bodyPr/>
                    <a:lstStyle/>
                    <a:p>
                      <a:pPr lvl="0">
                        <a:buNone/>
                      </a:pPr>
                      <a:r>
                        <a:rPr lang="en-US"/>
                        <a:t>Verification</a:t>
                      </a:r>
                    </a:p>
                  </a:txBody>
                  <a:tcPr/>
                </a:tc>
                <a:extLst>
                  <a:ext uri="{0D108BD9-81ED-4DB2-BD59-A6C34878D82A}">
                    <a16:rowId xmlns:a16="http://schemas.microsoft.com/office/drawing/2014/main" val="643055058"/>
                  </a:ext>
                </a:extLst>
              </a:tr>
              <a:tr h="988530">
                <a:tc>
                  <a:txBody>
                    <a:bodyPr/>
                    <a:lstStyle/>
                    <a:p>
                      <a:r>
                        <a:rPr lang="en-US" sz="1300">
                          <a:solidFill>
                            <a:srgbClr val="000000"/>
                          </a:solidFill>
                        </a:rPr>
                        <a:t>1</a:t>
                      </a:r>
                    </a:p>
                  </a:txBody>
                  <a:tcPr/>
                </a:tc>
                <a:tc>
                  <a:txBody>
                    <a:bodyPr/>
                    <a:lstStyle/>
                    <a:p>
                      <a:pPr lvl="0" algn="l">
                        <a:lnSpc>
                          <a:spcPct val="100000"/>
                        </a:lnSpc>
                        <a:spcBef>
                          <a:spcPts val="0"/>
                        </a:spcBef>
                        <a:spcAft>
                          <a:spcPts val="0"/>
                        </a:spcAft>
                        <a:buNone/>
                      </a:pPr>
                      <a:r>
                        <a:rPr lang="en-US" sz="1300" b="0" i="0" u="none" strike="noStrike" noProof="0">
                          <a:solidFill>
                            <a:srgbClr val="000000"/>
                          </a:solidFill>
                          <a:effectLst/>
                        </a:rPr>
                        <a:t>Design OX tank for 750 psi MEOP (1500 psi for FS 2) </a:t>
                      </a:r>
                      <a:endParaRPr lang="en-US"/>
                    </a:p>
                    <a:p>
                      <a:pPr lvl="0" algn="l">
                        <a:lnSpc>
                          <a:spcPct val="100000"/>
                        </a:lnSpc>
                        <a:spcBef>
                          <a:spcPts val="0"/>
                        </a:spcBef>
                        <a:spcAft>
                          <a:spcPts val="0"/>
                        </a:spcAft>
                        <a:buNone/>
                      </a:pPr>
                      <a:r>
                        <a:rPr lang="en-US" sz="1300" b="0" i="0" u="none" strike="noStrike" noProof="0">
                          <a:solidFill>
                            <a:srgbClr val="000000"/>
                          </a:solidFill>
                          <a:effectLst/>
                        </a:rPr>
                        <a:t>Fuel tank for 100 psi MEOP (200 psi for FS 2)</a:t>
                      </a:r>
                      <a:endParaRPr lang="en-US"/>
                    </a:p>
                    <a:p>
                      <a:pPr lvl="0" algn="l">
                        <a:lnSpc>
                          <a:spcPct val="100000"/>
                        </a:lnSpc>
                        <a:spcBef>
                          <a:spcPts val="0"/>
                        </a:spcBef>
                        <a:spcAft>
                          <a:spcPts val="0"/>
                        </a:spcAft>
                        <a:buNone/>
                      </a:pPr>
                      <a:r>
                        <a:rPr lang="en-US" sz="1300" b="0" i="0" u="none" strike="noStrike" noProof="0">
                          <a:solidFill>
                            <a:srgbClr val="000000"/>
                          </a:solidFill>
                          <a:effectLst/>
                        </a:rPr>
                        <a:t>GN2 tank for 100 psi MEOP (200 psi for FS 2). </a:t>
                      </a:r>
                      <a:endParaRPr lang="en-US"/>
                    </a:p>
                    <a:p>
                      <a:pPr lvl="0" algn="l">
                        <a:lnSpc>
                          <a:spcPct val="100000"/>
                        </a:lnSpc>
                        <a:spcBef>
                          <a:spcPts val="0"/>
                        </a:spcBef>
                        <a:spcAft>
                          <a:spcPts val="0"/>
                        </a:spcAft>
                        <a:buNone/>
                      </a:pPr>
                      <a:r>
                        <a:rPr lang="en-US" sz="1300" b="0" i="0" u="none" strike="noStrike" noProof="0">
                          <a:solidFill>
                            <a:srgbClr val="000000"/>
                          </a:solidFill>
                          <a:effectLst/>
                        </a:rPr>
                        <a:t>This means that the bulkhead will also have to be rated to these pressure with a factor safety of 2</a:t>
                      </a:r>
                      <a:endParaRPr lang="en-US"/>
                    </a:p>
                  </a:txBody>
                  <a:tcPr marL="7620" marR="7620" marT="7620" marB="0"/>
                </a:tc>
                <a:tc>
                  <a:txBody>
                    <a:bodyPr/>
                    <a:lstStyle/>
                    <a:p>
                      <a:pPr lvl="0" algn="l">
                        <a:buNone/>
                      </a:pPr>
                      <a:r>
                        <a:rPr lang="en-US" sz="1300" b="0" i="0" u="none" strike="noStrike" noProof="0">
                          <a:solidFill>
                            <a:srgbClr val="000000"/>
                          </a:solidFill>
                          <a:effectLst/>
                          <a:latin typeface="Aptos Narrow"/>
                        </a:rPr>
                        <a:t>This is to ensure that the pressure vessel will be able to withstand pressures than may result from unexpected temperature </a:t>
                      </a:r>
                      <a:r>
                        <a:rPr lang="en-US" sz="1300" b="0" i="0" u="none" strike="noStrike" noProof="0">
                          <a:solidFill>
                            <a:srgbClr val="000000"/>
                          </a:solidFill>
                          <a:effectLst/>
                        </a:rPr>
                        <a:t>fluctuations which would allow for higher-than-normal pressures. </a:t>
                      </a:r>
                      <a:endParaRPr lang="en-US" sz="1300" b="0" i="0" u="none" strike="noStrike" noProof="0">
                        <a:solidFill>
                          <a:srgbClr val="000000"/>
                        </a:solidFill>
                        <a:effectLst/>
                        <a:latin typeface="Aptos Narrow"/>
                      </a:endParaRPr>
                    </a:p>
                  </a:txBody>
                  <a:tcPr marL="7620" marR="7620" marT="7620" marB="0"/>
                </a:tc>
                <a:tc>
                  <a:txBody>
                    <a:bodyPr/>
                    <a:lstStyle/>
                    <a:p>
                      <a:pPr lvl="0" algn="l">
                        <a:buNone/>
                      </a:pPr>
                      <a:r>
                        <a:rPr lang="en-US" sz="1300" b="0" i="0" u="none" strike="noStrike" noProof="0">
                          <a:solidFill>
                            <a:srgbClr val="000000"/>
                          </a:solidFill>
                          <a:effectLst/>
                          <a:latin typeface="Aptos Narrow"/>
                        </a:rPr>
                        <a:t> SolidWorks FEA, Hand Calculations, and pressure vessel testing </a:t>
                      </a:r>
                    </a:p>
                  </a:txBody>
                  <a:tcPr marL="7620" marR="7620" marT="7620" marB="0"/>
                </a:tc>
                <a:extLst>
                  <a:ext uri="{0D108BD9-81ED-4DB2-BD59-A6C34878D82A}">
                    <a16:rowId xmlns:a16="http://schemas.microsoft.com/office/drawing/2014/main" val="2414361062"/>
                  </a:ext>
                </a:extLst>
              </a:tr>
              <a:tr h="1128420">
                <a:tc>
                  <a:txBody>
                    <a:bodyPr/>
                    <a:lstStyle/>
                    <a:p>
                      <a:r>
                        <a:rPr lang="en-US" sz="1300">
                          <a:solidFill>
                            <a:srgbClr val="000000"/>
                          </a:solidFill>
                        </a:rPr>
                        <a:t>2</a:t>
                      </a:r>
                    </a:p>
                  </a:txBody>
                  <a:tcPr/>
                </a:tc>
                <a:tc>
                  <a:txBody>
                    <a:bodyPr/>
                    <a:lstStyle/>
                    <a:p>
                      <a:pPr lvl="0" algn="l">
                        <a:buNone/>
                      </a:pPr>
                      <a:r>
                        <a:rPr lang="en-US" sz="1300" b="0" i="0" u="none" strike="noStrike" noProof="0">
                          <a:solidFill>
                            <a:srgbClr val="000000"/>
                          </a:solidFill>
                          <a:effectLst/>
                          <a:latin typeface="Aptos Narrow"/>
                        </a:rPr>
                        <a:t>Sized to a 10 seconds of burn time</a:t>
                      </a:r>
                    </a:p>
                  </a:txBody>
                  <a:tcPr marL="7620" marR="7620" marT="7620" marB="0"/>
                </a:tc>
                <a:tc>
                  <a:txBody>
                    <a:bodyPr/>
                    <a:lstStyle/>
                    <a:p>
                      <a:pPr lvl="0" algn="l">
                        <a:buNone/>
                      </a:pPr>
                      <a:r>
                        <a:rPr lang="en-US" sz="1300" b="0" i="0" u="none" strike="noStrike" noProof="0">
                          <a:solidFill>
                            <a:srgbClr val="000000"/>
                          </a:solidFill>
                          <a:effectLst/>
                          <a:latin typeface="Aptos Narrow"/>
                        </a:rPr>
                        <a:t>Gives us a basis for how much fuel and OX we need to pressurize too in order to reach 10 seconds.</a:t>
                      </a:r>
                      <a:endParaRPr lang="en-US" sz="1300" b="0" i="0" u="none" strike="noStrike" noProof="0" err="1">
                        <a:solidFill>
                          <a:srgbClr val="000000"/>
                        </a:solidFill>
                        <a:effectLst/>
                        <a:latin typeface="Aptos Narrow"/>
                      </a:endParaRPr>
                    </a:p>
                  </a:txBody>
                  <a:tcPr marL="7620" marR="7620" marT="7620" marB="0"/>
                </a:tc>
                <a:tc>
                  <a:txBody>
                    <a:bodyPr/>
                    <a:lstStyle/>
                    <a:p>
                      <a:pPr lvl="0" algn="l">
                        <a:buNone/>
                      </a:pPr>
                      <a:endParaRPr lang="en-US" sz="1300" b="0" i="0" u="none" strike="noStrike" noProof="0">
                        <a:solidFill>
                          <a:srgbClr val="000000"/>
                        </a:solidFill>
                        <a:effectLst/>
                        <a:latin typeface="Aptos Narrow"/>
                      </a:endParaRPr>
                    </a:p>
                  </a:txBody>
                  <a:tcPr marL="7620" marR="7620" marT="7620" marB="0"/>
                </a:tc>
                <a:extLst>
                  <a:ext uri="{0D108BD9-81ED-4DB2-BD59-A6C34878D82A}">
                    <a16:rowId xmlns:a16="http://schemas.microsoft.com/office/drawing/2014/main" val="1847058879"/>
                  </a:ext>
                </a:extLst>
              </a:tr>
              <a:tr h="596849">
                <a:tc>
                  <a:txBody>
                    <a:bodyPr/>
                    <a:lstStyle/>
                    <a:p>
                      <a:pPr lvl="0">
                        <a:buNone/>
                      </a:pPr>
                      <a:r>
                        <a:rPr lang="en-US" sz="1300">
                          <a:solidFill>
                            <a:srgbClr val="000000"/>
                          </a:solidFill>
                        </a:rPr>
                        <a:t>3</a:t>
                      </a:r>
                    </a:p>
                  </a:txBody>
                  <a:tcPr/>
                </a:tc>
                <a:tc>
                  <a:txBody>
                    <a:bodyPr/>
                    <a:lstStyle/>
                    <a:p>
                      <a:pPr lvl="0" algn="l">
                        <a:buNone/>
                      </a:pPr>
                      <a:r>
                        <a:rPr lang="en-US" sz="1300" b="0" i="0" u="none" strike="noStrike" noProof="0">
                          <a:solidFill>
                            <a:srgbClr val="000000"/>
                          </a:solidFill>
                          <a:effectLst/>
                          <a:latin typeface="Aptos Narrow"/>
                        </a:rPr>
                        <a:t>Static Vent in Ox Tank  (Unknown Hole Size)</a:t>
                      </a:r>
                      <a:endParaRPr lang="en-US" sz="1300" b="0" i="0" u="none" strike="noStrike" noProof="0">
                        <a:solidFill>
                          <a:srgbClr val="000000"/>
                        </a:solidFill>
                        <a:effectLst/>
                      </a:endParaRPr>
                    </a:p>
                  </a:txBody>
                  <a:tcPr marL="7620" marR="7620" marT="7620" marB="0"/>
                </a:tc>
                <a:tc>
                  <a:txBody>
                    <a:bodyPr/>
                    <a:lstStyle/>
                    <a:p>
                      <a:pPr lvl="0" algn="l">
                        <a:buNone/>
                      </a:pPr>
                      <a:r>
                        <a:rPr lang="en-US" sz="1400" b="0" i="0" u="none" strike="noStrike" noProof="0">
                          <a:solidFill>
                            <a:schemeClr val="tx1"/>
                          </a:solidFill>
                          <a:effectLst/>
                          <a:latin typeface="Aptos Narrow"/>
                        </a:rPr>
                        <a:t>Prevents pressure buildup during filling and to provide a constant, controlled way to release excess pressure</a:t>
                      </a:r>
                      <a:endParaRPr lang="en-US" sz="1400">
                        <a:solidFill>
                          <a:schemeClr val="tx1"/>
                        </a:solidFill>
                        <a:latin typeface="Aptos Narrow"/>
                      </a:endParaRPr>
                    </a:p>
                  </a:txBody>
                  <a:tcPr marL="7620" marR="7620" marT="7620" marB="0"/>
                </a:tc>
                <a:tc>
                  <a:txBody>
                    <a:bodyPr/>
                    <a:lstStyle/>
                    <a:p>
                      <a:pPr lvl="0" algn="l">
                        <a:buNone/>
                      </a:pPr>
                      <a:endParaRPr lang="en-US" sz="1300" b="0" i="0" u="none" strike="noStrike" noProof="0">
                        <a:solidFill>
                          <a:srgbClr val="000000"/>
                        </a:solidFill>
                        <a:effectLst/>
                        <a:latin typeface="Aptos Narrow"/>
                      </a:endParaRPr>
                    </a:p>
                  </a:txBody>
                  <a:tcPr marL="7620" marR="7620" marT="7620" marB="0"/>
                </a:tc>
                <a:extLst>
                  <a:ext uri="{0D108BD9-81ED-4DB2-BD59-A6C34878D82A}">
                    <a16:rowId xmlns:a16="http://schemas.microsoft.com/office/drawing/2014/main" val="4074238505"/>
                  </a:ext>
                </a:extLst>
              </a:tr>
              <a:tr h="568871">
                <a:tc>
                  <a:txBody>
                    <a:bodyPr/>
                    <a:lstStyle/>
                    <a:p>
                      <a:pPr lvl="0">
                        <a:buNone/>
                      </a:pPr>
                      <a:r>
                        <a:rPr lang="en-US" sz="1300">
                          <a:solidFill>
                            <a:srgbClr val="000000"/>
                          </a:solidFill>
                        </a:rPr>
                        <a:t>4</a:t>
                      </a:r>
                    </a:p>
                  </a:txBody>
                  <a:tcPr/>
                </a:tc>
                <a:tc>
                  <a:txBody>
                    <a:bodyPr/>
                    <a:lstStyle/>
                    <a:p>
                      <a:pPr lvl="0" algn="l">
                        <a:buNone/>
                      </a:pPr>
                      <a:r>
                        <a:rPr lang="en-US" sz="1300" b="0" i="0" u="none" strike="noStrike" noProof="0">
                          <a:solidFill>
                            <a:srgbClr val="000000"/>
                          </a:solidFill>
                          <a:effectLst/>
                          <a:latin typeface="Aptos Narrow"/>
                        </a:rPr>
                        <a:t> Tank Lengths: OX 14.5", GN2 3.6", Fuel 15.16"</a:t>
                      </a:r>
                    </a:p>
                  </a:txBody>
                  <a:tcPr marL="7620" marR="7620" marT="7620" marB="0"/>
                </a:tc>
                <a:tc>
                  <a:txBody>
                    <a:bodyPr/>
                    <a:lstStyle/>
                    <a:p>
                      <a:pPr lvl="0" algn="l">
                        <a:buNone/>
                      </a:pPr>
                      <a:r>
                        <a:rPr lang="en-US" sz="1300" b="0" i="0" u="none" strike="noStrike" noProof="0">
                          <a:solidFill>
                            <a:srgbClr val="000000"/>
                          </a:solidFill>
                          <a:effectLst/>
                        </a:rPr>
                        <a:t>Lengths used to allow for enough fuel with pressures rated for the tanks.</a:t>
                      </a:r>
                      <a:endParaRPr lang="en-US"/>
                    </a:p>
                  </a:txBody>
                  <a:tcPr marL="7620" marR="7620" marT="7620" marB="0"/>
                </a:tc>
                <a:tc>
                  <a:txBody>
                    <a:bodyPr/>
                    <a:lstStyle/>
                    <a:p>
                      <a:pPr lvl="0" algn="l">
                        <a:buNone/>
                      </a:pPr>
                      <a:r>
                        <a:rPr lang="en-US" sz="1300" b="0" i="0" u="none" strike="noStrike" noProof="0">
                          <a:solidFill>
                            <a:srgbClr val="000000"/>
                          </a:solidFill>
                          <a:effectLst/>
                          <a:latin typeface="Aptos Narrow"/>
                        </a:rPr>
                        <a:t> </a:t>
                      </a:r>
                    </a:p>
                  </a:txBody>
                  <a:tcPr marL="7620" marR="7620" marT="7620" marB="0"/>
                </a:tc>
                <a:extLst>
                  <a:ext uri="{0D108BD9-81ED-4DB2-BD59-A6C34878D82A}">
                    <a16:rowId xmlns:a16="http://schemas.microsoft.com/office/drawing/2014/main" val="3313582001"/>
                  </a:ext>
                </a:extLst>
              </a:tr>
            </a:tbl>
          </a:graphicData>
        </a:graphic>
      </p:graphicFrame>
    </p:spTree>
    <p:extLst>
      <p:ext uri="{BB962C8B-B14F-4D97-AF65-F5344CB8AC3E}">
        <p14:creationId xmlns:p14="http://schemas.microsoft.com/office/powerpoint/2010/main" val="4018759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9474AF4-E5EC-0B6A-FDE1-7735C1B330BB}"/>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BC42D4A0-9027-AA15-50F0-91B1D59BEE07}"/>
              </a:ext>
            </a:extLst>
          </p:cNvPr>
          <p:cNvSpPr>
            <a:spLocks noGrp="1"/>
          </p:cNvSpPr>
          <p:nvPr>
            <p:ph type="sldNum" sz="quarter" idx="17"/>
          </p:nvPr>
        </p:nvSpPr>
        <p:spPr/>
        <p:txBody>
          <a:bodyPr/>
          <a:lstStyle/>
          <a:p>
            <a:r>
              <a:rPr lang="en-US"/>
              <a:t>/   </a:t>
            </a:r>
            <a:fld id="{6C7E6F33-74EE-5541-8108-8353B402F8C1}" type="slidenum">
              <a:rPr lang="en-US" smtClean="0"/>
              <a:pPr/>
              <a:t>33</a:t>
            </a:fld>
            <a:endParaRPr lang="en-US"/>
          </a:p>
        </p:txBody>
      </p:sp>
      <p:sp>
        <p:nvSpPr>
          <p:cNvPr id="5" name="Title 4">
            <a:extLst>
              <a:ext uri="{FF2B5EF4-FFF2-40B4-BE49-F238E27FC236}">
                <a16:creationId xmlns:a16="http://schemas.microsoft.com/office/drawing/2014/main" id="{7B6E5437-AF4B-1D69-C0D1-FB82994244AD}"/>
              </a:ext>
            </a:extLst>
          </p:cNvPr>
          <p:cNvSpPr>
            <a:spLocks noGrp="1"/>
          </p:cNvSpPr>
          <p:nvPr>
            <p:ph type="title"/>
          </p:nvPr>
        </p:nvSpPr>
        <p:spPr/>
        <p:txBody>
          <a:bodyPr/>
          <a:lstStyle/>
          <a:p>
            <a:r>
              <a:rPr lang="en-US">
                <a:latin typeface="Munistic"/>
              </a:rPr>
              <a:t>Tank CAD</a:t>
            </a:r>
            <a:endParaRPr lang="en-US"/>
          </a:p>
        </p:txBody>
      </p:sp>
      <p:sp>
        <p:nvSpPr>
          <p:cNvPr id="6" name="Text Placeholder 5">
            <a:extLst>
              <a:ext uri="{FF2B5EF4-FFF2-40B4-BE49-F238E27FC236}">
                <a16:creationId xmlns:a16="http://schemas.microsoft.com/office/drawing/2014/main" id="{F596FA8F-20A3-222C-8657-E4926562C044}"/>
              </a:ext>
            </a:extLst>
          </p:cNvPr>
          <p:cNvSpPr>
            <a:spLocks noGrp="1"/>
          </p:cNvSpPr>
          <p:nvPr>
            <p:ph type="body" sz="quarter" idx="13"/>
          </p:nvPr>
        </p:nvSpPr>
        <p:spPr/>
        <p:txBody>
          <a:bodyPr/>
          <a:lstStyle/>
          <a:p>
            <a:r>
              <a:rPr lang="en-US" sz="1850">
                <a:ea typeface="Source Sans Pro"/>
                <a:cs typeface="Calibri"/>
              </a:rPr>
              <a:t>OX/Air/Fuel</a:t>
            </a:r>
            <a:endParaRPr lang="en-US" sz="1850">
              <a:cs typeface="Calibri"/>
            </a:endParaRPr>
          </a:p>
        </p:txBody>
      </p:sp>
      <p:sp>
        <p:nvSpPr>
          <p:cNvPr id="10" name="TextBox 9">
            <a:extLst>
              <a:ext uri="{FF2B5EF4-FFF2-40B4-BE49-F238E27FC236}">
                <a16:creationId xmlns:a16="http://schemas.microsoft.com/office/drawing/2014/main" id="{B7684E7F-724D-C157-1B30-39FCBD4B109A}"/>
              </a:ext>
            </a:extLst>
          </p:cNvPr>
          <p:cNvSpPr txBox="1"/>
          <p:nvPr/>
        </p:nvSpPr>
        <p:spPr>
          <a:xfrm>
            <a:off x="6286565" y="5741719"/>
            <a:ext cx="20262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Fig 2.16 Fuel</a:t>
            </a:r>
            <a:r>
              <a:rPr lang="en-US">
                <a:ea typeface="Calibri"/>
                <a:cs typeface="Calibri"/>
              </a:rPr>
              <a:t> Tank</a:t>
            </a:r>
            <a:endParaRPr lang="en-US"/>
          </a:p>
        </p:txBody>
      </p:sp>
      <p:sp>
        <p:nvSpPr>
          <p:cNvPr id="12" name="TextBox 11">
            <a:extLst>
              <a:ext uri="{FF2B5EF4-FFF2-40B4-BE49-F238E27FC236}">
                <a16:creationId xmlns:a16="http://schemas.microsoft.com/office/drawing/2014/main" id="{62056A0C-7D1B-7984-AF61-E24AD7549D42}"/>
              </a:ext>
            </a:extLst>
          </p:cNvPr>
          <p:cNvSpPr txBox="1"/>
          <p:nvPr/>
        </p:nvSpPr>
        <p:spPr>
          <a:xfrm>
            <a:off x="3379841" y="5164378"/>
            <a:ext cx="19550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Fig 2.15 </a:t>
            </a:r>
            <a:r>
              <a:rPr lang="en-US">
                <a:ea typeface="Calibri"/>
                <a:cs typeface="Calibri"/>
              </a:rPr>
              <a:t>GN2 Tank</a:t>
            </a:r>
            <a:endParaRPr lang="en-US"/>
          </a:p>
        </p:txBody>
      </p:sp>
      <p:sp>
        <p:nvSpPr>
          <p:cNvPr id="14" name="TextBox 13">
            <a:extLst>
              <a:ext uri="{FF2B5EF4-FFF2-40B4-BE49-F238E27FC236}">
                <a16:creationId xmlns:a16="http://schemas.microsoft.com/office/drawing/2014/main" id="{D0730F8F-F1E0-10C4-DAD9-0C1A694A6C4A}"/>
              </a:ext>
            </a:extLst>
          </p:cNvPr>
          <p:cNvSpPr txBox="1"/>
          <p:nvPr/>
        </p:nvSpPr>
        <p:spPr>
          <a:xfrm>
            <a:off x="725249" y="5741952"/>
            <a:ext cx="17010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Fig 2.14 </a:t>
            </a:r>
            <a:r>
              <a:rPr lang="en-US">
                <a:ea typeface="Calibri"/>
                <a:cs typeface="Calibri"/>
              </a:rPr>
              <a:t>OX Tank</a:t>
            </a:r>
            <a:endParaRPr lang="en-US"/>
          </a:p>
        </p:txBody>
      </p:sp>
      <p:pic>
        <p:nvPicPr>
          <p:cNvPr id="7" name="Picture 6">
            <a:extLst>
              <a:ext uri="{FF2B5EF4-FFF2-40B4-BE49-F238E27FC236}">
                <a16:creationId xmlns:a16="http://schemas.microsoft.com/office/drawing/2014/main" id="{ADCD1A32-978C-74B3-8CB5-D079C6226551}"/>
              </a:ext>
            </a:extLst>
          </p:cNvPr>
          <p:cNvPicPr>
            <a:picLocks noChangeAspect="1"/>
          </p:cNvPicPr>
          <p:nvPr/>
        </p:nvPicPr>
        <p:blipFill>
          <a:blip r:embed="rId4"/>
          <a:stretch>
            <a:fillRect/>
          </a:stretch>
        </p:blipFill>
        <p:spPr>
          <a:xfrm>
            <a:off x="9235396" y="2424421"/>
            <a:ext cx="1581150" cy="219075"/>
          </a:xfrm>
          <a:prstGeom prst="rect">
            <a:avLst/>
          </a:prstGeom>
        </p:spPr>
      </p:pic>
      <p:pic>
        <p:nvPicPr>
          <p:cNvPr id="15" name="Picture 14">
            <a:extLst>
              <a:ext uri="{FF2B5EF4-FFF2-40B4-BE49-F238E27FC236}">
                <a16:creationId xmlns:a16="http://schemas.microsoft.com/office/drawing/2014/main" id="{B80D6D88-25CF-BBB7-9DA9-8582F535BBE0}"/>
              </a:ext>
            </a:extLst>
          </p:cNvPr>
          <p:cNvPicPr>
            <a:picLocks noChangeAspect="1"/>
          </p:cNvPicPr>
          <p:nvPr/>
        </p:nvPicPr>
        <p:blipFill>
          <a:blip r:embed="rId5"/>
          <a:stretch>
            <a:fillRect/>
          </a:stretch>
        </p:blipFill>
        <p:spPr>
          <a:xfrm>
            <a:off x="8631617" y="1719180"/>
            <a:ext cx="3219450" cy="438150"/>
          </a:xfrm>
          <a:prstGeom prst="rect">
            <a:avLst/>
          </a:prstGeom>
        </p:spPr>
      </p:pic>
      <p:pic>
        <p:nvPicPr>
          <p:cNvPr id="2" name="Picture 1" descr="A black rectangular object with a white background&#10;&#10;AI-generated content may be incorrect.">
            <a:extLst>
              <a:ext uri="{FF2B5EF4-FFF2-40B4-BE49-F238E27FC236}">
                <a16:creationId xmlns:a16="http://schemas.microsoft.com/office/drawing/2014/main" id="{E29B6A3A-F5BA-BE74-BD09-8F0DAFA32BA9}"/>
              </a:ext>
            </a:extLst>
          </p:cNvPr>
          <p:cNvPicPr>
            <a:picLocks noChangeAspect="1"/>
          </p:cNvPicPr>
          <p:nvPr/>
        </p:nvPicPr>
        <p:blipFill>
          <a:blip r:embed="rId6"/>
          <a:srcRect l="-182" t="3569" r="463" b="1044"/>
          <a:stretch>
            <a:fillRect/>
          </a:stretch>
        </p:blipFill>
        <p:spPr>
          <a:xfrm>
            <a:off x="6091496" y="1462213"/>
            <a:ext cx="2069385" cy="4269125"/>
          </a:xfrm>
          <a:prstGeom prst="rect">
            <a:avLst/>
          </a:prstGeom>
        </p:spPr>
      </p:pic>
      <p:pic>
        <p:nvPicPr>
          <p:cNvPr id="8" name="Picture 7" descr="A close-up of a cylinder&#10;&#10;AI-generated content may be incorrect.">
            <a:extLst>
              <a:ext uri="{FF2B5EF4-FFF2-40B4-BE49-F238E27FC236}">
                <a16:creationId xmlns:a16="http://schemas.microsoft.com/office/drawing/2014/main" id="{4DADDD34-DED6-6D13-ACCF-18D5F23E69D1}"/>
              </a:ext>
            </a:extLst>
          </p:cNvPr>
          <p:cNvPicPr>
            <a:picLocks noChangeAspect="1"/>
          </p:cNvPicPr>
          <p:nvPr/>
        </p:nvPicPr>
        <p:blipFill>
          <a:blip r:embed="rId7"/>
          <a:srcRect l="9003" t="5063" r="9925" b="2590"/>
          <a:stretch>
            <a:fillRect/>
          </a:stretch>
        </p:blipFill>
        <p:spPr>
          <a:xfrm>
            <a:off x="789709" y="1466126"/>
            <a:ext cx="1644849" cy="4288305"/>
          </a:xfrm>
          <a:prstGeom prst="rect">
            <a:avLst/>
          </a:prstGeom>
        </p:spPr>
      </p:pic>
      <p:sp>
        <p:nvSpPr>
          <p:cNvPr id="16" name="TextBox 15">
            <a:extLst>
              <a:ext uri="{FF2B5EF4-FFF2-40B4-BE49-F238E27FC236}">
                <a16:creationId xmlns:a16="http://schemas.microsoft.com/office/drawing/2014/main" id="{686E1592-552B-D056-3B0B-F054E0C07EF7}"/>
              </a:ext>
            </a:extLst>
          </p:cNvPr>
          <p:cNvSpPr txBox="1"/>
          <p:nvPr/>
        </p:nvSpPr>
        <p:spPr>
          <a:xfrm>
            <a:off x="9124708" y="2999773"/>
            <a:ext cx="179407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ea typeface="Calibri"/>
                <a:cs typeface="Calibri"/>
              </a:rPr>
              <a:t>Lengths:</a:t>
            </a:r>
          </a:p>
          <a:p>
            <a:r>
              <a:rPr lang="en-US">
                <a:ea typeface="Calibri"/>
                <a:cs typeface="Calibri"/>
              </a:rPr>
              <a:t>OX Tank: 22.5in</a:t>
            </a:r>
          </a:p>
          <a:p>
            <a:r>
              <a:rPr lang="en-US">
                <a:ea typeface="Calibri"/>
                <a:cs typeface="Calibri"/>
              </a:rPr>
              <a:t>GN2 Tank: 6in</a:t>
            </a:r>
            <a:endParaRPr lang="en-US"/>
          </a:p>
          <a:p>
            <a:r>
              <a:rPr lang="en-US">
                <a:ea typeface="Calibri"/>
                <a:cs typeface="Calibri"/>
              </a:rPr>
              <a:t>Fuel Tank: 14.5in</a:t>
            </a:r>
          </a:p>
          <a:p>
            <a:endParaRPr lang="en-US">
              <a:ea typeface="Calibri"/>
              <a:cs typeface="Calibri"/>
            </a:endParaRPr>
          </a:p>
        </p:txBody>
      </p:sp>
      <p:pic>
        <p:nvPicPr>
          <p:cNvPr id="17" name="Picture 16" descr="A drawing of a cylindrical object&#10;&#10;AI-generated content may be incorrect.">
            <a:extLst>
              <a:ext uri="{FF2B5EF4-FFF2-40B4-BE49-F238E27FC236}">
                <a16:creationId xmlns:a16="http://schemas.microsoft.com/office/drawing/2014/main" id="{B249FC6F-1397-4D02-E54D-A287CF105C4C}"/>
              </a:ext>
            </a:extLst>
          </p:cNvPr>
          <p:cNvPicPr>
            <a:picLocks noChangeAspect="1"/>
          </p:cNvPicPr>
          <p:nvPr/>
        </p:nvPicPr>
        <p:blipFill>
          <a:blip r:embed="rId8"/>
          <a:srcRect l="-610" t="4782" r="178"/>
          <a:stretch>
            <a:fillRect/>
          </a:stretch>
        </p:blipFill>
        <p:spPr>
          <a:xfrm>
            <a:off x="2826847" y="1475772"/>
            <a:ext cx="3071377" cy="3684615"/>
          </a:xfrm>
          <a:prstGeom prst="rect">
            <a:avLst/>
          </a:prstGeom>
        </p:spPr>
      </p:pic>
    </p:spTree>
    <p:extLst>
      <p:ext uri="{BB962C8B-B14F-4D97-AF65-F5344CB8AC3E}">
        <p14:creationId xmlns:p14="http://schemas.microsoft.com/office/powerpoint/2010/main" val="1151716731"/>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9E0B8-3456-5C0E-8617-C0008711247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D0A5F9F-4387-DF9E-B5A6-33856FFA9B8D}"/>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100B6871-1E2C-F903-FDC3-362B60F33632}"/>
              </a:ext>
            </a:extLst>
          </p:cNvPr>
          <p:cNvSpPr>
            <a:spLocks noGrp="1"/>
          </p:cNvSpPr>
          <p:nvPr>
            <p:ph type="sldNum" sz="quarter" idx="17"/>
          </p:nvPr>
        </p:nvSpPr>
        <p:spPr/>
        <p:txBody>
          <a:bodyPr/>
          <a:lstStyle/>
          <a:p>
            <a:r>
              <a:rPr lang="en-US"/>
              <a:t>/   </a:t>
            </a:r>
            <a:fld id="{6C7E6F33-74EE-5541-8108-8353B402F8C1}" type="slidenum">
              <a:rPr lang="en-US" smtClean="0"/>
              <a:pPr/>
              <a:t>34</a:t>
            </a:fld>
            <a:endParaRPr lang="en-US"/>
          </a:p>
        </p:txBody>
      </p:sp>
      <p:sp>
        <p:nvSpPr>
          <p:cNvPr id="5" name="Title 4">
            <a:extLst>
              <a:ext uri="{FF2B5EF4-FFF2-40B4-BE49-F238E27FC236}">
                <a16:creationId xmlns:a16="http://schemas.microsoft.com/office/drawing/2014/main" id="{0F1A3CEC-7D94-BE4A-6376-091E725A8D64}"/>
              </a:ext>
            </a:extLst>
          </p:cNvPr>
          <p:cNvSpPr>
            <a:spLocks noGrp="1"/>
          </p:cNvSpPr>
          <p:nvPr>
            <p:ph type="title"/>
          </p:nvPr>
        </p:nvSpPr>
        <p:spPr/>
        <p:txBody>
          <a:bodyPr/>
          <a:lstStyle/>
          <a:p>
            <a:r>
              <a:rPr lang="en-US">
                <a:latin typeface="Munistic"/>
              </a:rPr>
              <a:t>Down Pipe CAD</a:t>
            </a:r>
            <a:endParaRPr lang="en-US"/>
          </a:p>
        </p:txBody>
      </p:sp>
      <p:sp>
        <p:nvSpPr>
          <p:cNvPr id="6" name="Text Placeholder 5">
            <a:extLst>
              <a:ext uri="{FF2B5EF4-FFF2-40B4-BE49-F238E27FC236}">
                <a16:creationId xmlns:a16="http://schemas.microsoft.com/office/drawing/2014/main" id="{0D604271-AB5D-1541-5ABD-96963315BE29}"/>
              </a:ext>
            </a:extLst>
          </p:cNvPr>
          <p:cNvSpPr>
            <a:spLocks noGrp="1"/>
          </p:cNvSpPr>
          <p:nvPr>
            <p:ph type="body" sz="quarter" idx="13"/>
          </p:nvPr>
        </p:nvSpPr>
        <p:spPr/>
        <p:txBody>
          <a:bodyPr/>
          <a:lstStyle/>
          <a:p>
            <a:r>
              <a:rPr lang="en-US" sz="1850">
                <a:ea typeface="Source Sans Pro"/>
                <a:cs typeface="Calibri"/>
              </a:rPr>
              <a:t>OX to Manifold</a:t>
            </a:r>
            <a:endParaRPr lang="en-US" sz="1850">
              <a:cs typeface="Calibri"/>
            </a:endParaRPr>
          </a:p>
        </p:txBody>
      </p:sp>
      <p:sp>
        <p:nvSpPr>
          <p:cNvPr id="16" name="TextBox 15">
            <a:extLst>
              <a:ext uri="{FF2B5EF4-FFF2-40B4-BE49-F238E27FC236}">
                <a16:creationId xmlns:a16="http://schemas.microsoft.com/office/drawing/2014/main" id="{B2F4A7AA-EC60-5167-3F7F-BDAEC8902DC3}"/>
              </a:ext>
            </a:extLst>
          </p:cNvPr>
          <p:cNvSpPr txBox="1"/>
          <p:nvPr/>
        </p:nvSpPr>
        <p:spPr>
          <a:xfrm>
            <a:off x="7043861" y="1717561"/>
            <a:ext cx="441799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OX Down Pipe:</a:t>
            </a:r>
          </a:p>
          <a:p>
            <a:endParaRPr lang="en-US">
              <a:ea typeface="Calibri"/>
              <a:cs typeface="Calibri"/>
            </a:endParaRPr>
          </a:p>
          <a:p>
            <a:r>
              <a:rPr lang="en-US">
                <a:ea typeface="Calibri"/>
                <a:cs typeface="Calibri"/>
              </a:rPr>
              <a:t>Pipe Material: Aluminum Rated for 3200psi</a:t>
            </a:r>
          </a:p>
          <a:p>
            <a:endParaRPr lang="en-US">
              <a:ea typeface="Calibri"/>
              <a:cs typeface="Calibri"/>
            </a:endParaRPr>
          </a:p>
          <a:p>
            <a:r>
              <a:rPr lang="en-US">
                <a:ea typeface="Calibri"/>
                <a:cs typeface="Calibri"/>
              </a:rPr>
              <a:t>Length: 29.5in</a:t>
            </a:r>
          </a:p>
          <a:p>
            <a:endParaRPr lang="en-US">
              <a:ea typeface="Calibri"/>
              <a:cs typeface="Calibri"/>
            </a:endParaRPr>
          </a:p>
          <a:p>
            <a:r>
              <a:rPr lang="en-US">
                <a:ea typeface="Calibri"/>
                <a:cs typeface="Calibri"/>
              </a:rPr>
              <a:t>Fittings: ¼ NPT T Male and 2 Female</a:t>
            </a:r>
          </a:p>
          <a:p>
            <a:endParaRPr lang="en-US">
              <a:ea typeface="Calibri"/>
              <a:cs typeface="Calibri"/>
            </a:endParaRPr>
          </a:p>
          <a:p>
            <a:r>
              <a:rPr lang="en-US">
                <a:ea typeface="Calibri"/>
                <a:cs typeface="Calibri"/>
              </a:rPr>
              <a:t>¼ NPT Female to Swage 3/8 Male Straight</a:t>
            </a:r>
          </a:p>
          <a:p>
            <a:endParaRPr lang="en-US">
              <a:ea typeface="Calibri"/>
              <a:cs typeface="Calibri"/>
            </a:endParaRPr>
          </a:p>
          <a:p>
            <a:r>
              <a:rPr lang="en-US">
                <a:ea typeface="Calibri"/>
                <a:cs typeface="Calibri"/>
              </a:rPr>
              <a:t>¼ NPT Female to Swage 3/8 Male Elbow</a:t>
            </a:r>
          </a:p>
          <a:p>
            <a:endParaRPr lang="en-US">
              <a:ea typeface="Calibri"/>
              <a:cs typeface="Calibri"/>
            </a:endParaRPr>
          </a:p>
          <a:p>
            <a:r>
              <a:rPr lang="en-US">
                <a:ea typeface="Calibri"/>
                <a:cs typeface="Calibri"/>
              </a:rPr>
              <a:t>¼ to ¼ NPT Check Valve: Rated for 3000psi</a:t>
            </a: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a:p>
            <a:endParaRPr lang="en-US">
              <a:ea typeface="Calibri"/>
              <a:cs typeface="Calibri"/>
            </a:endParaRPr>
          </a:p>
        </p:txBody>
      </p:sp>
      <p:pic>
        <p:nvPicPr>
          <p:cNvPr id="9" name="Picture 8" descr="A grey rectangular object with a brown handle&#10;&#10;AI-generated content may be incorrect.">
            <a:extLst>
              <a:ext uri="{FF2B5EF4-FFF2-40B4-BE49-F238E27FC236}">
                <a16:creationId xmlns:a16="http://schemas.microsoft.com/office/drawing/2014/main" id="{FFB52ED3-3BD5-641F-5889-95590357A0C9}"/>
              </a:ext>
            </a:extLst>
          </p:cNvPr>
          <p:cNvPicPr>
            <a:picLocks noChangeAspect="1"/>
          </p:cNvPicPr>
          <p:nvPr/>
        </p:nvPicPr>
        <p:blipFill>
          <a:blip r:embed="rId4"/>
          <a:stretch>
            <a:fillRect/>
          </a:stretch>
        </p:blipFill>
        <p:spPr>
          <a:xfrm>
            <a:off x="367890" y="1458058"/>
            <a:ext cx="1264471" cy="4593981"/>
          </a:xfrm>
          <a:prstGeom prst="rect">
            <a:avLst/>
          </a:prstGeom>
        </p:spPr>
      </p:pic>
      <p:pic>
        <p:nvPicPr>
          <p:cNvPr id="2" name="Picture 1" descr="A grey cylinder with a metal pole&#10;&#10;AI-generated content may be incorrect.">
            <a:extLst>
              <a:ext uri="{FF2B5EF4-FFF2-40B4-BE49-F238E27FC236}">
                <a16:creationId xmlns:a16="http://schemas.microsoft.com/office/drawing/2014/main" id="{B7BA6AA7-37DD-2B90-9FAE-FF18AD55BAC7}"/>
              </a:ext>
            </a:extLst>
          </p:cNvPr>
          <p:cNvPicPr>
            <a:picLocks noChangeAspect="1"/>
          </p:cNvPicPr>
          <p:nvPr/>
        </p:nvPicPr>
        <p:blipFill>
          <a:blip r:embed="rId5"/>
          <a:stretch>
            <a:fillRect/>
          </a:stretch>
        </p:blipFill>
        <p:spPr>
          <a:xfrm>
            <a:off x="370656" y="1459735"/>
            <a:ext cx="1260087" cy="4590362"/>
          </a:xfrm>
          <a:prstGeom prst="rect">
            <a:avLst/>
          </a:prstGeom>
        </p:spPr>
      </p:pic>
      <p:pic>
        <p:nvPicPr>
          <p:cNvPr id="7" name="Picture 6" descr="A close-up of a pipe&#10;&#10;AI-generated content may be incorrect.">
            <a:extLst>
              <a:ext uri="{FF2B5EF4-FFF2-40B4-BE49-F238E27FC236}">
                <a16:creationId xmlns:a16="http://schemas.microsoft.com/office/drawing/2014/main" id="{B1E77824-0E82-B51B-CB62-97AE723F6888}"/>
              </a:ext>
            </a:extLst>
          </p:cNvPr>
          <p:cNvPicPr>
            <a:picLocks noChangeAspect="1"/>
          </p:cNvPicPr>
          <p:nvPr/>
        </p:nvPicPr>
        <p:blipFill>
          <a:blip r:embed="rId6"/>
          <a:stretch>
            <a:fillRect/>
          </a:stretch>
        </p:blipFill>
        <p:spPr>
          <a:xfrm>
            <a:off x="4763474" y="2248589"/>
            <a:ext cx="1737797" cy="2370004"/>
          </a:xfrm>
          <a:prstGeom prst="rect">
            <a:avLst/>
          </a:prstGeom>
        </p:spPr>
      </p:pic>
      <p:pic>
        <p:nvPicPr>
          <p:cNvPr id="8" name="Picture 7" descr="A drawing of a cylinder&#10;&#10;AI-generated content may be incorrect.">
            <a:extLst>
              <a:ext uri="{FF2B5EF4-FFF2-40B4-BE49-F238E27FC236}">
                <a16:creationId xmlns:a16="http://schemas.microsoft.com/office/drawing/2014/main" id="{D6F47CB4-C833-C3E7-CE8B-B62A4C8FB3B6}"/>
              </a:ext>
            </a:extLst>
          </p:cNvPr>
          <p:cNvPicPr>
            <a:picLocks noChangeAspect="1"/>
          </p:cNvPicPr>
          <p:nvPr/>
        </p:nvPicPr>
        <p:blipFill>
          <a:blip r:embed="rId7"/>
          <a:stretch>
            <a:fillRect/>
          </a:stretch>
        </p:blipFill>
        <p:spPr>
          <a:xfrm>
            <a:off x="2093779" y="1674506"/>
            <a:ext cx="2431744" cy="4151638"/>
          </a:xfrm>
          <a:prstGeom prst="rect">
            <a:avLst/>
          </a:prstGeom>
        </p:spPr>
      </p:pic>
      <p:sp>
        <p:nvSpPr>
          <p:cNvPr id="10" name="TextBox 9">
            <a:extLst>
              <a:ext uri="{FF2B5EF4-FFF2-40B4-BE49-F238E27FC236}">
                <a16:creationId xmlns:a16="http://schemas.microsoft.com/office/drawing/2014/main" id="{4317FD5D-F640-4FE5-260A-3E11971CF07C}"/>
              </a:ext>
            </a:extLst>
          </p:cNvPr>
          <p:cNvSpPr txBox="1"/>
          <p:nvPr/>
        </p:nvSpPr>
        <p:spPr>
          <a:xfrm>
            <a:off x="137898" y="5982880"/>
            <a:ext cx="24784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Fig 2.17 Downcomer</a:t>
            </a:r>
            <a:endParaRPr lang="en-US"/>
          </a:p>
        </p:txBody>
      </p:sp>
      <p:sp>
        <p:nvSpPr>
          <p:cNvPr id="12" name="TextBox 11">
            <a:extLst>
              <a:ext uri="{FF2B5EF4-FFF2-40B4-BE49-F238E27FC236}">
                <a16:creationId xmlns:a16="http://schemas.microsoft.com/office/drawing/2014/main" id="{595F9126-6E26-A8B6-A095-4680019EDB15}"/>
              </a:ext>
            </a:extLst>
          </p:cNvPr>
          <p:cNvSpPr txBox="1"/>
          <p:nvPr/>
        </p:nvSpPr>
        <p:spPr>
          <a:xfrm>
            <a:off x="4715461" y="4702146"/>
            <a:ext cx="247848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Fig 2.19 Downcomer Fitting</a:t>
            </a:r>
          </a:p>
        </p:txBody>
      </p:sp>
      <p:sp>
        <p:nvSpPr>
          <p:cNvPr id="14" name="TextBox 13">
            <a:extLst>
              <a:ext uri="{FF2B5EF4-FFF2-40B4-BE49-F238E27FC236}">
                <a16:creationId xmlns:a16="http://schemas.microsoft.com/office/drawing/2014/main" id="{6B3DEE3A-2D93-05AD-9747-3B02C1487DDA}"/>
              </a:ext>
            </a:extLst>
          </p:cNvPr>
          <p:cNvSpPr txBox="1"/>
          <p:nvPr/>
        </p:nvSpPr>
        <p:spPr>
          <a:xfrm>
            <a:off x="2351635" y="5710305"/>
            <a:ext cx="247848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Fig 2.18 Check Valve</a:t>
            </a:r>
            <a:endParaRPr lang="en-US"/>
          </a:p>
        </p:txBody>
      </p:sp>
    </p:spTree>
    <p:extLst>
      <p:ext uri="{BB962C8B-B14F-4D97-AF65-F5344CB8AC3E}">
        <p14:creationId xmlns:p14="http://schemas.microsoft.com/office/powerpoint/2010/main" val="3795771759"/>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76C3B6-B9E3-2944-12B9-276B5D8C315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7EDC00A-CE34-9BCD-07C6-1CEBDD8679DE}"/>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49623329-B857-A9DC-1965-E7A19FA92324}"/>
              </a:ext>
            </a:extLst>
          </p:cNvPr>
          <p:cNvSpPr>
            <a:spLocks noGrp="1"/>
          </p:cNvSpPr>
          <p:nvPr>
            <p:ph type="sldNum" sz="quarter" idx="17"/>
          </p:nvPr>
        </p:nvSpPr>
        <p:spPr/>
        <p:txBody>
          <a:bodyPr/>
          <a:lstStyle/>
          <a:p>
            <a:r>
              <a:rPr lang="en-US"/>
              <a:t>/   </a:t>
            </a:r>
            <a:fld id="{6C7E6F33-74EE-5541-8108-8353B402F8C1}" type="slidenum">
              <a:rPr lang="en-US" smtClean="0"/>
              <a:pPr/>
              <a:t>35</a:t>
            </a:fld>
            <a:endParaRPr lang="en-US"/>
          </a:p>
        </p:txBody>
      </p:sp>
      <p:sp>
        <p:nvSpPr>
          <p:cNvPr id="5" name="Title 4">
            <a:extLst>
              <a:ext uri="{FF2B5EF4-FFF2-40B4-BE49-F238E27FC236}">
                <a16:creationId xmlns:a16="http://schemas.microsoft.com/office/drawing/2014/main" id="{32A0F794-8E90-0912-3FAC-A9C9F2208A4E}"/>
              </a:ext>
            </a:extLst>
          </p:cNvPr>
          <p:cNvSpPr>
            <a:spLocks noGrp="1"/>
          </p:cNvSpPr>
          <p:nvPr>
            <p:ph type="title"/>
          </p:nvPr>
        </p:nvSpPr>
        <p:spPr>
          <a:xfrm>
            <a:off x="531848" y="716984"/>
            <a:ext cx="6342027" cy="625567"/>
          </a:xfrm>
        </p:spPr>
        <p:txBody>
          <a:bodyPr/>
          <a:lstStyle/>
          <a:p>
            <a:r>
              <a:rPr lang="en-US">
                <a:latin typeface="Munistic"/>
              </a:rPr>
              <a:t>Manufacturing</a:t>
            </a:r>
            <a:endParaRPr lang="en-US"/>
          </a:p>
        </p:txBody>
      </p:sp>
      <p:sp>
        <p:nvSpPr>
          <p:cNvPr id="6" name="Text Placeholder 5">
            <a:extLst>
              <a:ext uri="{FF2B5EF4-FFF2-40B4-BE49-F238E27FC236}">
                <a16:creationId xmlns:a16="http://schemas.microsoft.com/office/drawing/2014/main" id="{EBA36B33-CFFC-2CEA-6936-453557CF632F}"/>
              </a:ext>
            </a:extLst>
          </p:cNvPr>
          <p:cNvSpPr>
            <a:spLocks noGrp="1"/>
          </p:cNvSpPr>
          <p:nvPr>
            <p:ph type="body" sz="quarter" idx="13"/>
          </p:nvPr>
        </p:nvSpPr>
        <p:spPr>
          <a:xfrm>
            <a:off x="6905625" y="716984"/>
            <a:ext cx="4865035" cy="625567"/>
          </a:xfrm>
        </p:spPr>
        <p:txBody>
          <a:bodyPr/>
          <a:lstStyle/>
          <a:p>
            <a:r>
              <a:rPr lang="en-US" sz="1850">
                <a:ea typeface="Source Sans Pro"/>
                <a:cs typeface="Calibri"/>
              </a:rPr>
              <a:t>Operations</a:t>
            </a:r>
            <a:endParaRPr lang="en-US"/>
          </a:p>
        </p:txBody>
      </p:sp>
      <p:sp>
        <p:nvSpPr>
          <p:cNvPr id="10" name="TextBox 9">
            <a:extLst>
              <a:ext uri="{FF2B5EF4-FFF2-40B4-BE49-F238E27FC236}">
                <a16:creationId xmlns:a16="http://schemas.microsoft.com/office/drawing/2014/main" id="{B8FC0FD0-5135-B360-DF3E-1672691EDE44}"/>
              </a:ext>
            </a:extLst>
          </p:cNvPr>
          <p:cNvSpPr txBox="1"/>
          <p:nvPr/>
        </p:nvSpPr>
        <p:spPr>
          <a:xfrm>
            <a:off x="1689757" y="1714289"/>
            <a:ext cx="8807976"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The Bulkheads and Tanks will be manufactured in house.</a:t>
            </a:r>
          </a:p>
          <a:p>
            <a:endParaRPr lang="en-US" sz="2400">
              <a:ea typeface="Calibri"/>
              <a:cs typeface="Calibri"/>
            </a:endParaRPr>
          </a:p>
          <a:p>
            <a:r>
              <a:rPr lang="en-US" sz="2400">
                <a:ea typeface="Calibri"/>
                <a:cs typeface="Calibri"/>
              </a:rPr>
              <a:t>We will be using a combination of Mill and Lathe to complete this task. </a:t>
            </a:r>
          </a:p>
          <a:p>
            <a:endParaRPr lang="en-US" sz="2400">
              <a:ea typeface="Calibri"/>
              <a:cs typeface="Calibri"/>
            </a:endParaRPr>
          </a:p>
          <a:p>
            <a:r>
              <a:rPr lang="en-US" sz="2400">
                <a:ea typeface="Calibri"/>
                <a:cs typeface="Calibri"/>
              </a:rPr>
              <a:t>Lathe will  be used for Turning, Boring, Facing</a:t>
            </a:r>
          </a:p>
          <a:p>
            <a:endParaRPr lang="en-US" sz="2400">
              <a:ea typeface="Calibri"/>
              <a:cs typeface="Calibri"/>
            </a:endParaRPr>
          </a:p>
          <a:p>
            <a:r>
              <a:rPr lang="en-US" sz="2400">
                <a:ea typeface="Calibri"/>
                <a:cs typeface="Calibri"/>
              </a:rPr>
              <a:t>Mill will be used for Rotary Vise for Drill, Tap of Side holes, and milling operation</a:t>
            </a:r>
          </a:p>
          <a:p>
            <a:endParaRPr lang="en-US" sz="2400">
              <a:ea typeface="Calibri"/>
              <a:cs typeface="Calibri"/>
            </a:endParaRPr>
          </a:p>
          <a:p>
            <a:r>
              <a:rPr lang="en-US" sz="2400">
                <a:ea typeface="Calibri"/>
                <a:cs typeface="Calibri"/>
              </a:rPr>
              <a:t>If more weight reduction (Isogrids) is needed CNC can also be used</a:t>
            </a:r>
          </a:p>
          <a:p>
            <a:endParaRPr lang="en-US">
              <a:ea typeface="Calibri"/>
              <a:cs typeface="Calibri"/>
            </a:endParaRPr>
          </a:p>
        </p:txBody>
      </p:sp>
    </p:spTree>
    <p:extLst>
      <p:ext uri="{BB962C8B-B14F-4D97-AF65-F5344CB8AC3E}">
        <p14:creationId xmlns:p14="http://schemas.microsoft.com/office/powerpoint/2010/main" val="2656707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2F8D774-A3C9-AF30-6329-21AA6627019A}"/>
              </a:ext>
            </a:extLst>
          </p:cNvPr>
          <p:cNvSpPr>
            <a:spLocks noGrp="1"/>
          </p:cNvSpPr>
          <p:nvPr>
            <p:ph type="ftr" sz="quarter" idx="16"/>
          </p:nvPr>
        </p:nvSpPr>
        <p:spPr/>
        <p:txBody>
          <a:bodyPr/>
          <a:lstStyle/>
          <a:p>
            <a:r>
              <a:rPr lang="en-US" sz="900">
                <a:ea typeface="Source Sans Pro"/>
              </a:rPr>
              <a:t>ARCHERFISH CDR</a:t>
            </a:r>
            <a:endParaRPr lang="en-US" sz="900">
              <a:solidFill>
                <a:srgbClr val="000000"/>
              </a:solidFill>
              <a:ea typeface="Source Sans Pro"/>
            </a:endParaRPr>
          </a:p>
        </p:txBody>
      </p:sp>
      <p:sp>
        <p:nvSpPr>
          <p:cNvPr id="4" name="Slide Number Placeholder 3">
            <a:extLst>
              <a:ext uri="{FF2B5EF4-FFF2-40B4-BE49-F238E27FC236}">
                <a16:creationId xmlns:a16="http://schemas.microsoft.com/office/drawing/2014/main" id="{A62F519E-37C8-AADF-BED8-96906DA71DBD}"/>
              </a:ext>
            </a:extLst>
          </p:cNvPr>
          <p:cNvSpPr>
            <a:spLocks noGrp="1"/>
          </p:cNvSpPr>
          <p:nvPr>
            <p:ph type="sldNum" sz="quarter" idx="17"/>
          </p:nvPr>
        </p:nvSpPr>
        <p:spPr/>
        <p:txBody>
          <a:bodyPr/>
          <a:lstStyle/>
          <a:p>
            <a:r>
              <a:rPr lang="en-US"/>
              <a:t>/   </a:t>
            </a:r>
            <a:fld id="{6C7E6F33-74EE-5541-8108-8353B402F8C1}" type="slidenum">
              <a:rPr lang="en-US" smtClean="0"/>
              <a:pPr/>
              <a:t>36</a:t>
            </a:fld>
            <a:endParaRPr lang="en-US"/>
          </a:p>
        </p:txBody>
      </p:sp>
      <p:sp>
        <p:nvSpPr>
          <p:cNvPr id="5" name="Title 4">
            <a:extLst>
              <a:ext uri="{FF2B5EF4-FFF2-40B4-BE49-F238E27FC236}">
                <a16:creationId xmlns:a16="http://schemas.microsoft.com/office/drawing/2014/main" id="{198D2431-E1F9-E3B5-4639-4BAAC66FFD06}"/>
              </a:ext>
            </a:extLst>
          </p:cNvPr>
          <p:cNvSpPr>
            <a:spLocks noGrp="1"/>
          </p:cNvSpPr>
          <p:nvPr>
            <p:ph type="title"/>
          </p:nvPr>
        </p:nvSpPr>
        <p:spPr>
          <a:xfrm>
            <a:off x="531848" y="716984"/>
            <a:ext cx="6809371" cy="625567"/>
          </a:xfrm>
        </p:spPr>
        <p:txBody>
          <a:bodyPr/>
          <a:lstStyle/>
          <a:p>
            <a:r>
              <a:rPr lang="en-US">
                <a:latin typeface="Munistic"/>
              </a:rPr>
              <a:t>Bulkhead and Tank BOM</a:t>
            </a:r>
            <a:endParaRPr lang="en-US"/>
          </a:p>
        </p:txBody>
      </p:sp>
      <p:graphicFrame>
        <p:nvGraphicFramePr>
          <p:cNvPr id="8" name="Table 7">
            <a:extLst>
              <a:ext uri="{FF2B5EF4-FFF2-40B4-BE49-F238E27FC236}">
                <a16:creationId xmlns:a16="http://schemas.microsoft.com/office/drawing/2014/main" id="{83312CDC-7FE5-4134-38DC-FA782279C209}"/>
              </a:ext>
            </a:extLst>
          </p:cNvPr>
          <p:cNvGraphicFramePr>
            <a:graphicFrameLocks noGrp="1"/>
          </p:cNvGraphicFramePr>
          <p:nvPr>
            <p:extLst>
              <p:ext uri="{D42A27DB-BD31-4B8C-83A1-F6EECF244321}">
                <p14:modId xmlns:p14="http://schemas.microsoft.com/office/powerpoint/2010/main" val="473032652"/>
              </p:ext>
            </p:extLst>
          </p:nvPr>
        </p:nvGraphicFramePr>
        <p:xfrm>
          <a:off x="304800" y="1635760"/>
          <a:ext cx="11297521" cy="3007546"/>
        </p:xfrm>
        <a:graphic>
          <a:graphicData uri="http://schemas.openxmlformats.org/drawingml/2006/table">
            <a:tbl>
              <a:tblPr bandRow="1">
                <a:tableStyleId>{5C22544A-7EE6-4342-B048-85BDC9FD1C3A}</a:tableStyleId>
              </a:tblPr>
              <a:tblGrid>
                <a:gridCol w="555119">
                  <a:extLst>
                    <a:ext uri="{9D8B030D-6E8A-4147-A177-3AD203B41FA5}">
                      <a16:colId xmlns:a16="http://schemas.microsoft.com/office/drawing/2014/main" val="360521789"/>
                    </a:ext>
                  </a:extLst>
                </a:gridCol>
                <a:gridCol w="2720899">
                  <a:extLst>
                    <a:ext uri="{9D8B030D-6E8A-4147-A177-3AD203B41FA5}">
                      <a16:colId xmlns:a16="http://schemas.microsoft.com/office/drawing/2014/main" val="3592925142"/>
                    </a:ext>
                  </a:extLst>
                </a:gridCol>
                <a:gridCol w="1428737">
                  <a:extLst>
                    <a:ext uri="{9D8B030D-6E8A-4147-A177-3AD203B41FA5}">
                      <a16:colId xmlns:a16="http://schemas.microsoft.com/office/drawing/2014/main" val="4284133082"/>
                    </a:ext>
                  </a:extLst>
                </a:gridCol>
                <a:gridCol w="1622465">
                  <a:extLst>
                    <a:ext uri="{9D8B030D-6E8A-4147-A177-3AD203B41FA5}">
                      <a16:colId xmlns:a16="http://schemas.microsoft.com/office/drawing/2014/main" val="1106370287"/>
                    </a:ext>
                  </a:extLst>
                </a:gridCol>
                <a:gridCol w="1329822">
                  <a:extLst>
                    <a:ext uri="{9D8B030D-6E8A-4147-A177-3AD203B41FA5}">
                      <a16:colId xmlns:a16="http://schemas.microsoft.com/office/drawing/2014/main" val="4149231578"/>
                    </a:ext>
                  </a:extLst>
                </a:gridCol>
                <a:gridCol w="901204">
                  <a:extLst>
                    <a:ext uri="{9D8B030D-6E8A-4147-A177-3AD203B41FA5}">
                      <a16:colId xmlns:a16="http://schemas.microsoft.com/office/drawing/2014/main" val="2483966670"/>
                    </a:ext>
                  </a:extLst>
                </a:gridCol>
                <a:gridCol w="783378">
                  <a:extLst>
                    <a:ext uri="{9D8B030D-6E8A-4147-A177-3AD203B41FA5}">
                      <a16:colId xmlns:a16="http://schemas.microsoft.com/office/drawing/2014/main" val="1056265578"/>
                    </a:ext>
                  </a:extLst>
                </a:gridCol>
                <a:gridCol w="824270">
                  <a:extLst>
                    <a:ext uri="{9D8B030D-6E8A-4147-A177-3AD203B41FA5}">
                      <a16:colId xmlns:a16="http://schemas.microsoft.com/office/drawing/2014/main" val="2897210559"/>
                    </a:ext>
                  </a:extLst>
                </a:gridCol>
                <a:gridCol w="1131627">
                  <a:extLst>
                    <a:ext uri="{9D8B030D-6E8A-4147-A177-3AD203B41FA5}">
                      <a16:colId xmlns:a16="http://schemas.microsoft.com/office/drawing/2014/main" val="3220668836"/>
                    </a:ext>
                  </a:extLst>
                </a:gridCol>
              </a:tblGrid>
              <a:tr h="380401">
                <a:tc>
                  <a:txBody>
                    <a:bodyPr/>
                    <a:lstStyle/>
                    <a:p>
                      <a:pPr algn="l" fontAlgn="b"/>
                      <a:endParaRPr lang="en-US" sz="1200" b="0" i="0" u="none" strike="noStrike">
                        <a:solidFill>
                          <a:srgbClr val="154734"/>
                        </a:solidFill>
                        <a:effectLst/>
                        <a:latin typeface="Times New Roman" panose="02020603050405020304" pitchFamily="18" charset="0"/>
                      </a:endParaRP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Description</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Part Number</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Unit Price</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Quantity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Subtotal</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Taxes</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Shipping</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Total</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extLst>
                  <a:ext uri="{0D108BD9-81ED-4DB2-BD59-A6C34878D82A}">
                    <a16:rowId xmlns:a16="http://schemas.microsoft.com/office/drawing/2014/main" val="2229692858"/>
                  </a:ext>
                </a:extLst>
              </a:tr>
              <a:tr h="475502">
                <a:tc>
                  <a:txBody>
                    <a:bodyPr/>
                    <a:lstStyle/>
                    <a:p>
                      <a:pPr algn="l" fontAlgn="b"/>
                      <a:r>
                        <a:rPr lang="en-US" sz="1600" b="0" i="0" u="none" strike="noStrike">
                          <a:solidFill>
                            <a:srgbClr val="000000"/>
                          </a:solidFill>
                          <a:effectLst/>
                          <a:latin typeface="Times New Roman"/>
                        </a:rPr>
                        <a:t>1</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 6in OD 24in Length Stock </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242424"/>
                          </a:solidFill>
                          <a:effectLst/>
                          <a:latin typeface="Aptos Narrow"/>
                        </a:rPr>
                        <a:t>R36</a:t>
                      </a:r>
                      <a:endParaRPr lang="en-US"/>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r>
                        <a:rPr lang="en-US" sz="1600" b="0" i="0" u="none" strike="noStrike" noProof="0">
                          <a:solidFill>
                            <a:srgbClr val="000000"/>
                          </a:solidFill>
                          <a:effectLst/>
                        </a:rPr>
                        <a:t>297.81 </a:t>
                      </a:r>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r>
                        <a:rPr lang="en-US" sz="1600" b="0" i="0" u="none" strike="noStrike" noProof="0">
                          <a:solidFill>
                            <a:srgbClr val="000000"/>
                          </a:solidFill>
                          <a:effectLst/>
                        </a:rPr>
                        <a:t>570.62</a:t>
                      </a:r>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noProof="0">
                          <a:solidFill>
                            <a:srgbClr val="000000"/>
                          </a:solidFill>
                          <a:effectLst/>
                        </a:rPr>
                        <a:t>$26.80</a:t>
                      </a:r>
                      <a:endParaRPr lang="en-US"/>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r>
                        <a:rPr lang="en-US" sz="1600" b="0" i="0" u="none" strike="noStrike" noProof="0">
                          <a:solidFill>
                            <a:srgbClr val="000000"/>
                          </a:solidFill>
                          <a:effectLst/>
                        </a:rPr>
                        <a:t>16.20</a:t>
                      </a:r>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$613.62</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802448835"/>
                  </a:ext>
                </a:extLst>
              </a:tr>
              <a:tr h="713252">
                <a:tc>
                  <a:txBody>
                    <a:bodyPr/>
                    <a:lstStyle/>
                    <a:p>
                      <a:pPr algn="l" fontAlgn="b"/>
                      <a:r>
                        <a:rPr lang="en-US" sz="1600" b="0" i="0" u="none" strike="noStrike">
                          <a:solidFill>
                            <a:srgbClr val="000000"/>
                          </a:solidFill>
                          <a:effectLst/>
                          <a:latin typeface="Times New Roman"/>
                        </a:rPr>
                        <a:t>2</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242424"/>
                          </a:solidFill>
                          <a:effectLst/>
                          <a:latin typeface="Aptos Narrow"/>
                        </a:rPr>
                        <a:t> 6in OD 5.875ID 35 in Length Tubing </a:t>
                      </a:r>
                      <a:endParaRPr lang="en-US"/>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r>
                        <a:rPr lang="en-US" sz="1600" b="0" i="0" u="none" strike="noStrike" noProof="0">
                          <a:solidFill>
                            <a:srgbClr val="000000"/>
                          </a:solidFill>
                          <a:effectLst/>
                        </a:rPr>
                        <a:t>36.41</a:t>
                      </a:r>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r>
                        <a:rPr lang="en-US" sz="1600" b="0" i="0" u="none" strike="noStrike" noProof="0">
                          <a:solidFill>
                            <a:srgbClr val="000000"/>
                          </a:solidFill>
                          <a:effectLst/>
                        </a:rPr>
                        <a:t>96.89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l">
                        <a:buNone/>
                      </a:pPr>
                      <a:r>
                        <a:rPr lang="en-US" sz="1600" b="0" i="0" u="none" strike="noStrike" noProof="0">
                          <a:solidFill>
                            <a:srgbClr val="000000"/>
                          </a:solidFill>
                          <a:effectLst/>
                        </a:rPr>
                        <a:t>$2.64</a:t>
                      </a:r>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noProof="0">
                          <a:solidFill>
                            <a:srgbClr val="000000"/>
                          </a:solidFill>
                          <a:effectLst/>
                        </a:rPr>
                        <a:t>$10.51</a:t>
                      </a:r>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$110.04</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1578019327"/>
                  </a:ext>
                </a:extLst>
              </a:tr>
              <a:tr h="451726">
                <a:tc>
                  <a:txBody>
                    <a:bodyPr/>
                    <a:lstStyle/>
                    <a:p>
                      <a:pPr algn="l" fontAlgn="b"/>
                      <a:r>
                        <a:rPr lang="en-US" sz="1600" b="0" i="0" u="none" strike="noStrike">
                          <a:solidFill>
                            <a:srgbClr val="000000"/>
                          </a:solidFill>
                          <a:effectLst/>
                          <a:latin typeface="Times New Roman"/>
                        </a:rPr>
                        <a:t>3</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242424"/>
                          </a:solidFill>
                          <a:effectLst/>
                          <a:latin typeface="Aptos Narrow"/>
                        </a:rPr>
                        <a:t> Bolts</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noProof="0">
                          <a:solidFill>
                            <a:srgbClr val="242424"/>
                          </a:solidFill>
                          <a:effectLst/>
                        </a:rPr>
                        <a:t>92620A621</a:t>
                      </a:r>
                      <a:endParaRPr lang="en-US"/>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$16.15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2 packs (100)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$32.30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$N/A</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2633894003"/>
                  </a:ext>
                </a:extLst>
              </a:tr>
              <a:tr h="534939">
                <a:tc>
                  <a:txBody>
                    <a:bodyPr/>
                    <a:lstStyle/>
                    <a:p>
                      <a:pPr algn="l" fontAlgn="b"/>
                      <a:r>
                        <a:rPr lang="en-US" sz="1600" b="0" i="0" u="none" strike="noStrike">
                          <a:solidFill>
                            <a:srgbClr val="000000"/>
                          </a:solidFill>
                          <a:effectLst/>
                          <a:latin typeface="Times New Roman"/>
                        </a:rPr>
                        <a:t>4</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242424"/>
                          </a:solidFill>
                          <a:effectLst/>
                          <a:latin typeface="Aptos Narrow"/>
                        </a:rPr>
                        <a:t>O-Rings </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l">
                        <a:lnSpc>
                          <a:spcPct val="100000"/>
                        </a:lnSpc>
                        <a:spcBef>
                          <a:spcPts val="0"/>
                        </a:spcBef>
                        <a:spcAft>
                          <a:spcPts val="0"/>
                        </a:spcAft>
                        <a:buNone/>
                      </a:pPr>
                      <a:r>
                        <a:rPr lang="en-US" sz="1600" b="0" i="0" u="none" strike="noStrike" noProof="0">
                          <a:solidFill>
                            <a:srgbClr val="242424"/>
                          </a:solidFill>
                          <a:effectLst/>
                        </a:rPr>
                        <a:t>9464K554</a:t>
                      </a:r>
                      <a:endParaRPr lang="en-US"/>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$7.62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l">
                        <a:buNone/>
                      </a:pPr>
                      <a:r>
                        <a:rPr lang="en-US" sz="1600" b="0" i="0" u="none" strike="noStrike">
                          <a:solidFill>
                            <a:srgbClr val="000000"/>
                          </a:solidFill>
                          <a:effectLst/>
                          <a:latin typeface="Times New Roman"/>
                        </a:rPr>
                        <a:t>4 packs (8)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$30.48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$4.55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$11.23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$78.56</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2821986693"/>
                  </a:ext>
                </a:extLst>
              </a:tr>
              <a:tr h="451726">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l" fontAlgn="b"/>
                      <a:r>
                        <a:rPr lang="en-US" sz="1600" b="1" i="0" u="sng" strike="noStrike">
                          <a:solidFill>
                            <a:srgbClr val="000000"/>
                          </a:solidFill>
                          <a:effectLst/>
                          <a:latin typeface="Aptos Narrow"/>
                        </a:rPr>
                        <a:t>TOTAL: </a:t>
                      </a:r>
                    </a:p>
                  </a:txBody>
                  <a:tcPr marL="9525" marR="9525" marT="9525" marB="0" anchor="b">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1" i="0" u="sng" strike="noStrike">
                          <a:solidFill>
                            <a:srgbClr val="000000"/>
                          </a:solidFill>
                          <a:effectLst/>
                          <a:latin typeface="Aptos Narrow"/>
                        </a:rPr>
                        <a:t>$802.22</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CBD1CF"/>
                    </a:solidFill>
                  </a:tcPr>
                </a:tc>
                <a:extLst>
                  <a:ext uri="{0D108BD9-81ED-4DB2-BD59-A6C34878D82A}">
                    <a16:rowId xmlns:a16="http://schemas.microsoft.com/office/drawing/2014/main" val="2638035087"/>
                  </a:ext>
                </a:extLst>
              </a:tr>
            </a:tbl>
          </a:graphicData>
        </a:graphic>
      </p:graphicFrame>
    </p:spTree>
    <p:extLst>
      <p:ext uri="{BB962C8B-B14F-4D97-AF65-F5344CB8AC3E}">
        <p14:creationId xmlns:p14="http://schemas.microsoft.com/office/powerpoint/2010/main" val="41653163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E8824-7643-82C3-C0E0-C985C88B5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ED2F9-65E8-20A3-49FA-52A8A0BBAF25}"/>
              </a:ext>
            </a:extLst>
          </p:cNvPr>
          <p:cNvSpPr>
            <a:spLocks noGrp="1"/>
          </p:cNvSpPr>
          <p:nvPr>
            <p:ph type="title"/>
          </p:nvPr>
        </p:nvSpPr>
        <p:spPr>
          <a:xfrm>
            <a:off x="672347" y="305415"/>
            <a:ext cx="10973692" cy="1140836"/>
          </a:xfrm>
        </p:spPr>
        <p:txBody>
          <a:bodyPr/>
          <a:lstStyle/>
          <a:p>
            <a:r>
              <a:rPr lang="en-US">
                <a:latin typeface="Munistic"/>
              </a:rPr>
              <a:t>Fluids – Valves and Injector</a:t>
            </a:r>
            <a:endParaRPr lang="en-US"/>
          </a:p>
        </p:txBody>
      </p:sp>
      <p:sp>
        <p:nvSpPr>
          <p:cNvPr id="3" name="Text Placeholder 2">
            <a:extLst>
              <a:ext uri="{FF2B5EF4-FFF2-40B4-BE49-F238E27FC236}">
                <a16:creationId xmlns:a16="http://schemas.microsoft.com/office/drawing/2014/main" id="{8EA2CBEA-A8DA-AA4A-D7CA-7195F61A6936}"/>
              </a:ext>
            </a:extLst>
          </p:cNvPr>
          <p:cNvSpPr>
            <a:spLocks noGrp="1"/>
          </p:cNvSpPr>
          <p:nvPr>
            <p:ph type="body" sz="quarter" idx="11"/>
          </p:nvPr>
        </p:nvSpPr>
        <p:spPr>
          <a:xfrm>
            <a:off x="672347" y="1540219"/>
            <a:ext cx="4612283" cy="342329"/>
          </a:xfrm>
        </p:spPr>
        <p:txBody>
          <a:bodyPr/>
          <a:lstStyle/>
          <a:p>
            <a:r>
              <a:rPr lang="en-US" sz="1850">
                <a:ea typeface="Source Sans Pro"/>
              </a:rPr>
              <a:t>Presented by: Shiv Patel and Kevin </a:t>
            </a:r>
            <a:r>
              <a:rPr lang="en-US" sz="1850" err="1">
                <a:ea typeface="Source Sans Pro"/>
              </a:rPr>
              <a:t>Quintana</a:t>
            </a:r>
            <a:endParaRPr lang="en-US" sz="1850">
              <a:ea typeface="Source Sans Pro"/>
              <a:cs typeface="Calibri"/>
            </a:endParaRPr>
          </a:p>
        </p:txBody>
      </p:sp>
    </p:spTree>
    <p:extLst>
      <p:ext uri="{BB962C8B-B14F-4D97-AF65-F5344CB8AC3E}">
        <p14:creationId xmlns:p14="http://schemas.microsoft.com/office/powerpoint/2010/main" val="3056065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FF3CC1E-C32F-DB16-A151-711132595EB6}"/>
              </a:ext>
            </a:extLst>
          </p:cNvPr>
          <p:cNvSpPr>
            <a:spLocks noGrp="1"/>
          </p:cNvSpPr>
          <p:nvPr>
            <p:ph type="body" sz="quarter" idx="15"/>
          </p:nvPr>
        </p:nvSpPr>
        <p:spPr/>
        <p:txBody>
          <a:bodyPr vert="horz" lIns="91440" tIns="45720" rIns="91440" bIns="45720" numCol="2" spcCol="457200" rtlCol="0" anchor="t">
            <a:noAutofit/>
          </a:bodyPr>
          <a:lstStyle/>
          <a:p>
            <a:pPr marL="380365" indent="-258445"/>
            <a:r>
              <a:rPr lang="en-US" sz="1850">
                <a:ea typeface="Source Sans Pro"/>
                <a:cs typeface="Calibri"/>
              </a:rPr>
              <a:t>The Injector Valve shall prevent the flow of fluid during Closed state</a:t>
            </a:r>
          </a:p>
          <a:p>
            <a:pPr marL="380365" indent="-258445"/>
            <a:r>
              <a:rPr lang="en-US" sz="1850">
                <a:ea typeface="Source Sans Pro"/>
                <a:cs typeface="Calibri"/>
              </a:rPr>
              <a:t>The Injector Valve shall allow for the flow of fluid during Open State</a:t>
            </a:r>
          </a:p>
          <a:p>
            <a:pPr marL="380365" indent="-258445"/>
            <a:r>
              <a:rPr lang="en-US" sz="1850">
                <a:ea typeface="Source Sans Pro"/>
                <a:cs typeface="Calibri"/>
              </a:rPr>
              <a:t>The Plunger must remain in the system for the duration of the vehicle's flight</a:t>
            </a:r>
            <a:endParaRPr lang="en-US" sz="1850">
              <a:cs typeface="Calibri" panose="020F0502020204030204"/>
            </a:endParaRPr>
          </a:p>
          <a:p>
            <a:pPr marL="380365" indent="-258445"/>
            <a:r>
              <a:rPr lang="en-US" sz="1850">
                <a:ea typeface="Source Sans Pro"/>
                <a:cs typeface="Calibri" panose="020F0502020204030204"/>
              </a:rPr>
              <a:t>Line cutters shall be triggered and allow the Plunger to slide</a:t>
            </a:r>
            <a:endParaRPr lang="en-US" sz="1850">
              <a:cs typeface="Calibri" panose="020F0502020204030204"/>
            </a:endParaRPr>
          </a:p>
          <a:p>
            <a:pPr marL="380365" indent="-258445"/>
            <a:endParaRPr lang="en-US" sz="1850">
              <a:cs typeface="Calibri" panose="020F0502020204030204"/>
            </a:endParaRPr>
          </a:p>
          <a:p>
            <a:pPr marL="380365" indent="-258445"/>
            <a:endParaRPr lang="en-US" sz="1850">
              <a:cs typeface="Calibri" panose="020F0502020204030204"/>
            </a:endParaRPr>
          </a:p>
          <a:p>
            <a:pPr marL="380365" indent="-258445"/>
            <a:endParaRPr lang="en-US" sz="1850">
              <a:cs typeface="Calibri" panose="020F0502020204030204"/>
            </a:endParaRPr>
          </a:p>
        </p:txBody>
      </p:sp>
      <p:sp>
        <p:nvSpPr>
          <p:cNvPr id="3" name="Footer Placeholder 2">
            <a:extLst>
              <a:ext uri="{FF2B5EF4-FFF2-40B4-BE49-F238E27FC236}">
                <a16:creationId xmlns:a16="http://schemas.microsoft.com/office/drawing/2014/main" id="{C526E06F-6C09-E504-8472-44BAC198B0EC}"/>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88EEA416-BA0D-31D3-0F40-FBD59684BFC0}"/>
              </a:ext>
            </a:extLst>
          </p:cNvPr>
          <p:cNvSpPr>
            <a:spLocks noGrp="1"/>
          </p:cNvSpPr>
          <p:nvPr>
            <p:ph type="sldNum" sz="quarter" idx="17"/>
          </p:nvPr>
        </p:nvSpPr>
        <p:spPr/>
        <p:txBody>
          <a:bodyPr/>
          <a:lstStyle/>
          <a:p>
            <a:r>
              <a:rPr lang="en-US"/>
              <a:t>/   </a:t>
            </a:r>
            <a:fld id="{6C7E6F33-74EE-5541-8108-8353B402F8C1}" type="slidenum">
              <a:rPr lang="en-US" smtClean="0"/>
              <a:pPr/>
              <a:t>38</a:t>
            </a:fld>
            <a:endParaRPr lang="en-US"/>
          </a:p>
        </p:txBody>
      </p:sp>
      <p:sp>
        <p:nvSpPr>
          <p:cNvPr id="5" name="Title 4">
            <a:extLst>
              <a:ext uri="{FF2B5EF4-FFF2-40B4-BE49-F238E27FC236}">
                <a16:creationId xmlns:a16="http://schemas.microsoft.com/office/drawing/2014/main" id="{B9BD3676-AAF0-5908-6F72-F159DB5040AC}"/>
              </a:ext>
            </a:extLst>
          </p:cNvPr>
          <p:cNvSpPr>
            <a:spLocks noGrp="1"/>
          </p:cNvSpPr>
          <p:nvPr>
            <p:ph type="title"/>
          </p:nvPr>
        </p:nvSpPr>
        <p:spPr/>
        <p:txBody>
          <a:bodyPr/>
          <a:lstStyle/>
          <a:p>
            <a:r>
              <a:rPr lang="en-US">
                <a:latin typeface="Munistic"/>
              </a:rPr>
              <a:t>Valve Requirements</a:t>
            </a:r>
            <a:endParaRPr lang="en-US"/>
          </a:p>
        </p:txBody>
      </p:sp>
      <p:sp>
        <p:nvSpPr>
          <p:cNvPr id="6" name="Text Placeholder 5">
            <a:extLst>
              <a:ext uri="{FF2B5EF4-FFF2-40B4-BE49-F238E27FC236}">
                <a16:creationId xmlns:a16="http://schemas.microsoft.com/office/drawing/2014/main" id="{F2717C2B-325B-755D-99BD-9CA1B9466306}"/>
              </a:ext>
            </a:extLst>
          </p:cNvPr>
          <p:cNvSpPr>
            <a:spLocks noGrp="1"/>
          </p:cNvSpPr>
          <p:nvPr>
            <p:ph type="body" sz="quarter" idx="13"/>
          </p:nvPr>
        </p:nvSpPr>
        <p:spPr/>
        <p:txBody>
          <a:bodyPr/>
          <a:lstStyle/>
          <a:p>
            <a:r>
              <a:rPr lang="en-US" sz="1850">
                <a:ea typeface="Source Sans Pro"/>
                <a:cs typeface="Calibri"/>
              </a:rPr>
              <a:t>Design Criteria</a:t>
            </a:r>
            <a:endParaRPr lang="en-US"/>
          </a:p>
        </p:txBody>
      </p:sp>
      <p:pic>
        <p:nvPicPr>
          <p:cNvPr id="8" name="Picture 7" descr="A drawing of a circular object&#10;&#10;AI-generated content may be incorrect.">
            <a:extLst>
              <a:ext uri="{FF2B5EF4-FFF2-40B4-BE49-F238E27FC236}">
                <a16:creationId xmlns:a16="http://schemas.microsoft.com/office/drawing/2014/main" id="{017EF83C-58B3-E343-2ADB-96156483E3EE}"/>
              </a:ext>
            </a:extLst>
          </p:cNvPr>
          <p:cNvPicPr>
            <a:picLocks noChangeAspect="1"/>
          </p:cNvPicPr>
          <p:nvPr/>
        </p:nvPicPr>
        <p:blipFill>
          <a:blip r:embed="rId2"/>
          <a:srcRect l="510" t="2561" r="8843" b="2679"/>
          <a:stretch>
            <a:fillRect/>
          </a:stretch>
        </p:blipFill>
        <p:spPr>
          <a:xfrm>
            <a:off x="6634039" y="1640140"/>
            <a:ext cx="4802450" cy="3875053"/>
          </a:xfrm>
          <a:prstGeom prst="rect">
            <a:avLst/>
          </a:prstGeom>
        </p:spPr>
      </p:pic>
      <p:sp>
        <p:nvSpPr>
          <p:cNvPr id="10" name="TextBox 9">
            <a:extLst>
              <a:ext uri="{FF2B5EF4-FFF2-40B4-BE49-F238E27FC236}">
                <a16:creationId xmlns:a16="http://schemas.microsoft.com/office/drawing/2014/main" id="{43A3F399-4FBC-2AD0-157C-D1C925CD1447}"/>
              </a:ext>
            </a:extLst>
          </p:cNvPr>
          <p:cNvSpPr txBox="1"/>
          <p:nvPr/>
        </p:nvSpPr>
        <p:spPr>
          <a:xfrm>
            <a:off x="8254803" y="5510063"/>
            <a:ext cx="15591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Fig. 3.0</a:t>
            </a:r>
          </a:p>
        </p:txBody>
      </p:sp>
    </p:spTree>
    <p:extLst>
      <p:ext uri="{BB962C8B-B14F-4D97-AF65-F5344CB8AC3E}">
        <p14:creationId xmlns:p14="http://schemas.microsoft.com/office/powerpoint/2010/main" val="1623338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B7050-FABE-E48E-6E10-E8372418E47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F87BD8-63B7-7B7E-A796-8DC826FA0375}"/>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01A8EA58-B795-9EB2-8371-26797D3E31D3}"/>
              </a:ext>
            </a:extLst>
          </p:cNvPr>
          <p:cNvSpPr>
            <a:spLocks noGrp="1"/>
          </p:cNvSpPr>
          <p:nvPr>
            <p:ph type="sldNum" sz="quarter" idx="17"/>
          </p:nvPr>
        </p:nvSpPr>
        <p:spPr/>
        <p:txBody>
          <a:bodyPr/>
          <a:lstStyle/>
          <a:p>
            <a:r>
              <a:rPr lang="en-US"/>
              <a:t>/   </a:t>
            </a:r>
            <a:fld id="{6C7E6F33-74EE-5541-8108-8353B402F8C1}" type="slidenum">
              <a:rPr lang="en-US" smtClean="0"/>
              <a:pPr/>
              <a:t>39</a:t>
            </a:fld>
            <a:endParaRPr lang="en-US"/>
          </a:p>
        </p:txBody>
      </p:sp>
      <p:sp>
        <p:nvSpPr>
          <p:cNvPr id="5" name="Title 4">
            <a:extLst>
              <a:ext uri="{FF2B5EF4-FFF2-40B4-BE49-F238E27FC236}">
                <a16:creationId xmlns:a16="http://schemas.microsoft.com/office/drawing/2014/main" id="{B6C5345C-1E90-C0FA-4914-05B68116EA00}"/>
              </a:ext>
            </a:extLst>
          </p:cNvPr>
          <p:cNvSpPr>
            <a:spLocks noGrp="1"/>
          </p:cNvSpPr>
          <p:nvPr>
            <p:ph type="title"/>
          </p:nvPr>
        </p:nvSpPr>
        <p:spPr/>
        <p:txBody>
          <a:bodyPr/>
          <a:lstStyle/>
          <a:p>
            <a:r>
              <a:rPr lang="en-US">
                <a:latin typeface="Munistic"/>
              </a:rPr>
              <a:t>Injector Valves</a:t>
            </a:r>
            <a:endParaRPr lang="en-US"/>
          </a:p>
        </p:txBody>
      </p:sp>
      <p:sp>
        <p:nvSpPr>
          <p:cNvPr id="6" name="Text Placeholder 5">
            <a:extLst>
              <a:ext uri="{FF2B5EF4-FFF2-40B4-BE49-F238E27FC236}">
                <a16:creationId xmlns:a16="http://schemas.microsoft.com/office/drawing/2014/main" id="{62E90991-E5AA-9A25-76AC-B27EFF7F73EF}"/>
              </a:ext>
            </a:extLst>
          </p:cNvPr>
          <p:cNvSpPr>
            <a:spLocks noGrp="1"/>
          </p:cNvSpPr>
          <p:nvPr>
            <p:ph type="body" sz="quarter" idx="13"/>
          </p:nvPr>
        </p:nvSpPr>
        <p:spPr>
          <a:xfrm>
            <a:off x="5249262" y="716984"/>
            <a:ext cx="6809722" cy="625567"/>
          </a:xfrm>
        </p:spPr>
        <p:txBody>
          <a:bodyPr/>
          <a:lstStyle/>
          <a:p>
            <a:r>
              <a:rPr lang="en-US" sz="1850">
                <a:ea typeface="Source Sans Pro"/>
                <a:cs typeface="Calibri"/>
              </a:rPr>
              <a:t>Isometric + Cross-sections Views</a:t>
            </a:r>
            <a:endParaRPr lang="en-US"/>
          </a:p>
        </p:txBody>
      </p:sp>
      <p:sp>
        <p:nvSpPr>
          <p:cNvPr id="9" name="TextBox 8">
            <a:extLst>
              <a:ext uri="{FF2B5EF4-FFF2-40B4-BE49-F238E27FC236}">
                <a16:creationId xmlns:a16="http://schemas.microsoft.com/office/drawing/2014/main" id="{3A0585F6-29F5-7743-210F-7B1821F96736}"/>
              </a:ext>
            </a:extLst>
          </p:cNvPr>
          <p:cNvSpPr txBox="1"/>
          <p:nvPr/>
        </p:nvSpPr>
        <p:spPr>
          <a:xfrm>
            <a:off x="1540158" y="5589791"/>
            <a:ext cx="976639" cy="3772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Fig. 3.1</a:t>
            </a:r>
            <a:endParaRPr lang="en-US"/>
          </a:p>
        </p:txBody>
      </p:sp>
      <p:sp>
        <p:nvSpPr>
          <p:cNvPr id="11" name="TextBox 10">
            <a:extLst>
              <a:ext uri="{FF2B5EF4-FFF2-40B4-BE49-F238E27FC236}">
                <a16:creationId xmlns:a16="http://schemas.microsoft.com/office/drawing/2014/main" id="{E782F264-A1C9-411D-C392-B19FD691230F}"/>
              </a:ext>
            </a:extLst>
          </p:cNvPr>
          <p:cNvSpPr txBox="1"/>
          <p:nvPr/>
        </p:nvSpPr>
        <p:spPr>
          <a:xfrm>
            <a:off x="5316641" y="5592441"/>
            <a:ext cx="15591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Fig. 3.2a</a:t>
            </a:r>
          </a:p>
        </p:txBody>
      </p:sp>
      <p:pic>
        <p:nvPicPr>
          <p:cNvPr id="2" name="Picture 1" descr="A drawing of a circular object&#10;&#10;AI-generated content may be incorrect.">
            <a:extLst>
              <a:ext uri="{FF2B5EF4-FFF2-40B4-BE49-F238E27FC236}">
                <a16:creationId xmlns:a16="http://schemas.microsoft.com/office/drawing/2014/main" id="{3E868FB4-795D-A0A7-F4ED-11487FC0D321}"/>
              </a:ext>
            </a:extLst>
          </p:cNvPr>
          <p:cNvPicPr>
            <a:picLocks noChangeAspect="1"/>
          </p:cNvPicPr>
          <p:nvPr/>
        </p:nvPicPr>
        <p:blipFill>
          <a:blip r:embed="rId2"/>
          <a:srcRect l="510" t="2561" r="8843" b="2679"/>
          <a:stretch>
            <a:fillRect/>
          </a:stretch>
        </p:blipFill>
        <p:spPr>
          <a:xfrm>
            <a:off x="200367" y="2656702"/>
            <a:ext cx="3662883" cy="2982621"/>
          </a:xfrm>
          <a:prstGeom prst="rect">
            <a:avLst/>
          </a:prstGeom>
        </p:spPr>
      </p:pic>
      <p:pic>
        <p:nvPicPr>
          <p:cNvPr id="7" name="Picture 6" descr="A close-up of a machine&#10;&#10;AI-generated content may be incorrect.">
            <a:extLst>
              <a:ext uri="{FF2B5EF4-FFF2-40B4-BE49-F238E27FC236}">
                <a16:creationId xmlns:a16="http://schemas.microsoft.com/office/drawing/2014/main" id="{F4E76A79-4122-AA27-AA99-168AE30DE912}"/>
              </a:ext>
            </a:extLst>
          </p:cNvPr>
          <p:cNvPicPr>
            <a:picLocks noChangeAspect="1"/>
          </p:cNvPicPr>
          <p:nvPr/>
        </p:nvPicPr>
        <p:blipFill>
          <a:blip r:embed="rId3"/>
          <a:srcRect l="-35" t="10893" r="-209" b="77"/>
          <a:stretch>
            <a:fillRect/>
          </a:stretch>
        </p:blipFill>
        <p:spPr>
          <a:xfrm>
            <a:off x="3859340" y="2656702"/>
            <a:ext cx="4316051" cy="2805314"/>
          </a:xfrm>
          <a:prstGeom prst="rect">
            <a:avLst/>
          </a:prstGeom>
        </p:spPr>
      </p:pic>
      <p:pic>
        <p:nvPicPr>
          <p:cNvPr id="12" name="Picture 11" descr="A close-up of a machine&#10;&#10;AI-generated content may be incorrect.">
            <a:extLst>
              <a:ext uri="{FF2B5EF4-FFF2-40B4-BE49-F238E27FC236}">
                <a16:creationId xmlns:a16="http://schemas.microsoft.com/office/drawing/2014/main" id="{C37518F8-BAAE-0391-CC1C-D14FA9F07009}"/>
              </a:ext>
            </a:extLst>
          </p:cNvPr>
          <p:cNvPicPr>
            <a:picLocks noChangeAspect="1"/>
          </p:cNvPicPr>
          <p:nvPr/>
        </p:nvPicPr>
        <p:blipFill>
          <a:blip r:embed="rId4"/>
          <a:srcRect l="5773" t="16775" r="5471" b="2832"/>
          <a:stretch>
            <a:fillRect/>
          </a:stretch>
        </p:blipFill>
        <p:spPr>
          <a:xfrm>
            <a:off x="8174106" y="2656702"/>
            <a:ext cx="3852801" cy="2979347"/>
          </a:xfrm>
          <a:prstGeom prst="rect">
            <a:avLst/>
          </a:prstGeom>
        </p:spPr>
      </p:pic>
      <p:sp>
        <p:nvSpPr>
          <p:cNvPr id="13" name="TextBox 12">
            <a:extLst>
              <a:ext uri="{FF2B5EF4-FFF2-40B4-BE49-F238E27FC236}">
                <a16:creationId xmlns:a16="http://schemas.microsoft.com/office/drawing/2014/main" id="{56F913DF-3304-A831-F504-4650097B36FB}"/>
              </a:ext>
            </a:extLst>
          </p:cNvPr>
          <p:cNvSpPr txBox="1"/>
          <p:nvPr/>
        </p:nvSpPr>
        <p:spPr>
          <a:xfrm>
            <a:off x="9318857" y="5640495"/>
            <a:ext cx="155912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Fig. 3.2b</a:t>
            </a:r>
          </a:p>
        </p:txBody>
      </p:sp>
    </p:spTree>
    <p:extLst>
      <p:ext uri="{BB962C8B-B14F-4D97-AF65-F5344CB8AC3E}">
        <p14:creationId xmlns:p14="http://schemas.microsoft.com/office/powerpoint/2010/main" val="2379873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C7AD365-C0DF-FE65-F1B4-E308DA710840}"/>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4C66A79B-2620-C9AB-5FF9-464AEE9E2D1B}"/>
              </a:ext>
            </a:extLst>
          </p:cNvPr>
          <p:cNvSpPr>
            <a:spLocks noGrp="1"/>
          </p:cNvSpPr>
          <p:nvPr>
            <p:ph type="sldNum" sz="quarter" idx="17"/>
          </p:nvPr>
        </p:nvSpPr>
        <p:spPr/>
        <p:txBody>
          <a:bodyPr/>
          <a:lstStyle/>
          <a:p>
            <a:r>
              <a:rPr lang="en-US"/>
              <a:t>/   </a:t>
            </a:r>
            <a:fld id="{6C7E6F33-74EE-5541-8108-8353B402F8C1}" type="slidenum">
              <a:rPr lang="en-US" smtClean="0"/>
              <a:pPr/>
              <a:t>40</a:t>
            </a:fld>
            <a:endParaRPr lang="en-US"/>
          </a:p>
        </p:txBody>
      </p:sp>
      <p:sp>
        <p:nvSpPr>
          <p:cNvPr id="5" name="Title 4">
            <a:extLst>
              <a:ext uri="{FF2B5EF4-FFF2-40B4-BE49-F238E27FC236}">
                <a16:creationId xmlns:a16="http://schemas.microsoft.com/office/drawing/2014/main" id="{CDDDAC75-D302-912C-C593-E908B7A2F658}"/>
              </a:ext>
            </a:extLst>
          </p:cNvPr>
          <p:cNvSpPr>
            <a:spLocks noGrp="1"/>
          </p:cNvSpPr>
          <p:nvPr>
            <p:ph type="title"/>
          </p:nvPr>
        </p:nvSpPr>
        <p:spPr/>
        <p:txBody>
          <a:bodyPr/>
          <a:lstStyle/>
          <a:p>
            <a:r>
              <a:rPr lang="en-US">
                <a:latin typeface="Munistic"/>
              </a:rPr>
              <a:t>Valves</a:t>
            </a:r>
            <a:endParaRPr lang="en-US"/>
          </a:p>
        </p:txBody>
      </p:sp>
      <p:sp>
        <p:nvSpPr>
          <p:cNvPr id="6" name="Text Placeholder 5">
            <a:extLst>
              <a:ext uri="{FF2B5EF4-FFF2-40B4-BE49-F238E27FC236}">
                <a16:creationId xmlns:a16="http://schemas.microsoft.com/office/drawing/2014/main" id="{CBD9520B-85AD-455A-7D54-F8BAFDC209CF}"/>
              </a:ext>
            </a:extLst>
          </p:cNvPr>
          <p:cNvSpPr>
            <a:spLocks noGrp="1"/>
          </p:cNvSpPr>
          <p:nvPr>
            <p:ph type="body" sz="quarter" idx="13"/>
          </p:nvPr>
        </p:nvSpPr>
        <p:spPr/>
        <p:txBody>
          <a:bodyPr/>
          <a:lstStyle/>
          <a:p>
            <a:r>
              <a:rPr lang="en-US" sz="1850">
                <a:ea typeface="Source Sans Pro"/>
                <a:cs typeface="Calibri"/>
              </a:rPr>
              <a:t>Injector Valves + Manifold</a:t>
            </a:r>
            <a:endParaRPr lang="en-US"/>
          </a:p>
        </p:txBody>
      </p:sp>
      <p:sp>
        <p:nvSpPr>
          <p:cNvPr id="22" name="TextBox 21">
            <a:extLst>
              <a:ext uri="{FF2B5EF4-FFF2-40B4-BE49-F238E27FC236}">
                <a16:creationId xmlns:a16="http://schemas.microsoft.com/office/drawing/2014/main" id="{92C0DAC1-A353-6C53-F0CF-9AAE91D98601}"/>
              </a:ext>
            </a:extLst>
          </p:cNvPr>
          <p:cNvSpPr txBox="1"/>
          <p:nvPr/>
        </p:nvSpPr>
        <p:spPr>
          <a:xfrm>
            <a:off x="5324514" y="3290833"/>
            <a:ext cx="207642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ea typeface="Calibri"/>
                <a:cs typeface="Calibri"/>
              </a:rPr>
              <a:t>Open State</a:t>
            </a:r>
            <a:r>
              <a:rPr lang="en-US">
                <a:ea typeface="Calibri"/>
                <a:cs typeface="Calibri"/>
              </a:rPr>
              <a:t> </a:t>
            </a:r>
          </a:p>
        </p:txBody>
      </p:sp>
      <p:sp>
        <p:nvSpPr>
          <p:cNvPr id="23" name="TextBox 22">
            <a:extLst>
              <a:ext uri="{FF2B5EF4-FFF2-40B4-BE49-F238E27FC236}">
                <a16:creationId xmlns:a16="http://schemas.microsoft.com/office/drawing/2014/main" id="{7E17CD1A-5DDA-795D-73E2-E9A5404368EE}"/>
              </a:ext>
            </a:extLst>
          </p:cNvPr>
          <p:cNvSpPr txBox="1"/>
          <p:nvPr/>
        </p:nvSpPr>
        <p:spPr>
          <a:xfrm>
            <a:off x="363376" y="3039296"/>
            <a:ext cx="372152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a:ea typeface="Calibri"/>
                <a:cs typeface="Calibri"/>
              </a:rPr>
              <a:t>Closed State </a:t>
            </a:r>
            <a:endParaRPr lang="en-US" sz="1600">
              <a:ea typeface="Calibri"/>
              <a:cs typeface="Calibri"/>
            </a:endParaRPr>
          </a:p>
          <a:p>
            <a:pPr algn="ctr"/>
            <a:r>
              <a:rPr lang="en-US" sz="1600" b="1">
                <a:ea typeface="Calibri"/>
                <a:cs typeface="Calibri"/>
              </a:rPr>
              <a:t>(no fluid flow past Plunger)</a:t>
            </a:r>
            <a:endParaRPr lang="en-US" sz="1600">
              <a:ea typeface="Calibri"/>
              <a:cs typeface="Calibri"/>
            </a:endParaRPr>
          </a:p>
        </p:txBody>
      </p:sp>
      <p:sp>
        <p:nvSpPr>
          <p:cNvPr id="8" name="TextBox 7">
            <a:extLst>
              <a:ext uri="{FF2B5EF4-FFF2-40B4-BE49-F238E27FC236}">
                <a16:creationId xmlns:a16="http://schemas.microsoft.com/office/drawing/2014/main" id="{DF01947A-989F-673F-C00E-DF2F876615CA}"/>
              </a:ext>
            </a:extLst>
          </p:cNvPr>
          <p:cNvSpPr txBox="1"/>
          <p:nvPr/>
        </p:nvSpPr>
        <p:spPr>
          <a:xfrm>
            <a:off x="344250" y="1340629"/>
            <a:ext cx="11843133"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400">
                <a:ea typeface="Calibri"/>
                <a:cs typeface="Calibri"/>
              </a:rPr>
              <a:t>Line cutters trigger mechanical transition from Closed to Open State</a:t>
            </a:r>
          </a:p>
          <a:p>
            <a:pPr marL="457200" indent="-457200">
              <a:buFont typeface="Arial"/>
              <a:buChar char="•"/>
            </a:pPr>
            <a:r>
              <a:rPr lang="en-US" sz="2400">
                <a:ea typeface="Calibri"/>
                <a:cs typeface="Calibri"/>
              </a:rPr>
              <a:t>Reducer in place to prevent Plunger from falling off during flight</a:t>
            </a:r>
          </a:p>
          <a:p>
            <a:pPr marL="457200" indent="-457200">
              <a:buFont typeface="Arial"/>
              <a:buChar char="•"/>
            </a:pPr>
            <a:r>
              <a:rPr lang="en-US" sz="2400">
                <a:ea typeface="Calibri"/>
                <a:cs typeface="Calibri"/>
              </a:rPr>
              <a:t>Igniter is in the center, Inlet and Exit ports are offset 0.85" from center</a:t>
            </a:r>
          </a:p>
          <a:p>
            <a:pPr marL="457200" indent="-457200">
              <a:buFont typeface="Arial"/>
              <a:buChar char="•"/>
            </a:pPr>
            <a:r>
              <a:rPr lang="en-US" sz="2400">
                <a:ea typeface="Calibri"/>
                <a:cs typeface="Calibri"/>
              </a:rPr>
              <a:t>5.75" OD, 2.25" Tall, ¼" NPT Ox and Fuel Inlets, Deburred Exit Holes, 6061 Aluminum</a:t>
            </a:r>
          </a:p>
        </p:txBody>
      </p:sp>
      <p:sp>
        <p:nvSpPr>
          <p:cNvPr id="9" name="TextBox 8">
            <a:extLst>
              <a:ext uri="{FF2B5EF4-FFF2-40B4-BE49-F238E27FC236}">
                <a16:creationId xmlns:a16="http://schemas.microsoft.com/office/drawing/2014/main" id="{9FB21BFB-70B5-2FE6-F4C6-36A7AF0162D4}"/>
              </a:ext>
            </a:extLst>
          </p:cNvPr>
          <p:cNvSpPr txBox="1"/>
          <p:nvPr/>
        </p:nvSpPr>
        <p:spPr>
          <a:xfrm>
            <a:off x="217174" y="5965145"/>
            <a:ext cx="39971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Fig. 3.3</a:t>
            </a:r>
          </a:p>
        </p:txBody>
      </p:sp>
      <p:sp>
        <p:nvSpPr>
          <p:cNvPr id="10" name="TextBox 9">
            <a:extLst>
              <a:ext uri="{FF2B5EF4-FFF2-40B4-BE49-F238E27FC236}">
                <a16:creationId xmlns:a16="http://schemas.microsoft.com/office/drawing/2014/main" id="{E225B7CE-C649-2163-4F92-0B29BB74E363}"/>
              </a:ext>
            </a:extLst>
          </p:cNvPr>
          <p:cNvSpPr txBox="1"/>
          <p:nvPr/>
        </p:nvSpPr>
        <p:spPr>
          <a:xfrm>
            <a:off x="4362759" y="6001509"/>
            <a:ext cx="38115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Fig. 3.4</a:t>
            </a:r>
          </a:p>
        </p:txBody>
      </p:sp>
      <p:pic>
        <p:nvPicPr>
          <p:cNvPr id="7" name="Picture 6" descr="A metal cylinder with a wire&#10;&#10;AI-generated content may be incorrect.">
            <a:extLst>
              <a:ext uri="{FF2B5EF4-FFF2-40B4-BE49-F238E27FC236}">
                <a16:creationId xmlns:a16="http://schemas.microsoft.com/office/drawing/2014/main" id="{36938B51-D04A-28ED-1946-1A7DC28DCBF4}"/>
              </a:ext>
            </a:extLst>
          </p:cNvPr>
          <p:cNvPicPr>
            <a:picLocks noChangeAspect="1"/>
          </p:cNvPicPr>
          <p:nvPr/>
        </p:nvPicPr>
        <p:blipFill>
          <a:blip r:embed="rId2"/>
          <a:stretch>
            <a:fillRect/>
          </a:stretch>
        </p:blipFill>
        <p:spPr>
          <a:xfrm>
            <a:off x="8349952" y="4655007"/>
            <a:ext cx="3565173" cy="1341967"/>
          </a:xfrm>
          <a:prstGeom prst="rect">
            <a:avLst/>
          </a:prstGeom>
        </p:spPr>
      </p:pic>
      <p:pic>
        <p:nvPicPr>
          <p:cNvPr id="11" name="Picture 10" descr="A close-up of a machine&#10;&#10;AI-generated content may be incorrect.">
            <a:extLst>
              <a:ext uri="{FF2B5EF4-FFF2-40B4-BE49-F238E27FC236}">
                <a16:creationId xmlns:a16="http://schemas.microsoft.com/office/drawing/2014/main" id="{F37F8CED-37EF-48C0-87DA-8CBBFB335EE1}"/>
              </a:ext>
            </a:extLst>
          </p:cNvPr>
          <p:cNvPicPr>
            <a:picLocks noChangeAspect="1"/>
          </p:cNvPicPr>
          <p:nvPr/>
        </p:nvPicPr>
        <p:blipFill>
          <a:blip r:embed="rId3"/>
          <a:srcRect t="19701" r="-369" b="-59"/>
          <a:stretch>
            <a:fillRect/>
          </a:stretch>
        </p:blipFill>
        <p:spPr>
          <a:xfrm>
            <a:off x="344250" y="3693294"/>
            <a:ext cx="3734230" cy="2213095"/>
          </a:xfrm>
          <a:prstGeom prst="rect">
            <a:avLst/>
          </a:prstGeom>
        </p:spPr>
      </p:pic>
      <p:sp>
        <p:nvSpPr>
          <p:cNvPr id="13" name="TextBox 12">
            <a:extLst>
              <a:ext uri="{FF2B5EF4-FFF2-40B4-BE49-F238E27FC236}">
                <a16:creationId xmlns:a16="http://schemas.microsoft.com/office/drawing/2014/main" id="{F35834A3-1C18-7186-302A-68E7D707350C}"/>
              </a:ext>
            </a:extLst>
          </p:cNvPr>
          <p:cNvSpPr txBox="1"/>
          <p:nvPr/>
        </p:nvSpPr>
        <p:spPr>
          <a:xfrm>
            <a:off x="8303191" y="5967185"/>
            <a:ext cx="354381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Fig. 3.5: Line Cutters</a:t>
            </a:r>
          </a:p>
        </p:txBody>
      </p:sp>
      <p:pic>
        <p:nvPicPr>
          <p:cNvPr id="15" name="Picture 14" descr="A diagram of a machine&#10;&#10;AI-generated content may be incorrect.">
            <a:extLst>
              <a:ext uri="{FF2B5EF4-FFF2-40B4-BE49-F238E27FC236}">
                <a16:creationId xmlns:a16="http://schemas.microsoft.com/office/drawing/2014/main" id="{3316592A-A1D2-C434-2164-14B4D36660DF}"/>
              </a:ext>
            </a:extLst>
          </p:cNvPr>
          <p:cNvPicPr>
            <a:picLocks noChangeAspect="1"/>
          </p:cNvPicPr>
          <p:nvPr/>
        </p:nvPicPr>
        <p:blipFill>
          <a:blip r:embed="rId4"/>
          <a:stretch>
            <a:fillRect/>
          </a:stretch>
        </p:blipFill>
        <p:spPr>
          <a:xfrm>
            <a:off x="4755220" y="3686431"/>
            <a:ext cx="3422969" cy="2395840"/>
          </a:xfrm>
          <a:prstGeom prst="rect">
            <a:avLst/>
          </a:prstGeom>
        </p:spPr>
      </p:pic>
    </p:spTree>
    <p:extLst>
      <p:ext uri="{BB962C8B-B14F-4D97-AF65-F5344CB8AC3E}">
        <p14:creationId xmlns:p14="http://schemas.microsoft.com/office/powerpoint/2010/main" val="19170727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25B08-EACF-DE70-255D-8F64CE68D85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DA5FD19-A37F-2818-B228-54F270484445}"/>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566CE41D-6027-F562-F50A-6521D377346E}"/>
              </a:ext>
            </a:extLst>
          </p:cNvPr>
          <p:cNvSpPr>
            <a:spLocks noGrp="1"/>
          </p:cNvSpPr>
          <p:nvPr>
            <p:ph type="sldNum" sz="quarter" idx="17"/>
          </p:nvPr>
        </p:nvSpPr>
        <p:spPr/>
        <p:txBody>
          <a:bodyPr/>
          <a:lstStyle/>
          <a:p>
            <a:r>
              <a:rPr lang="en-US"/>
              <a:t>/   </a:t>
            </a:r>
            <a:fld id="{6C7E6F33-74EE-5541-8108-8353B402F8C1}" type="slidenum">
              <a:rPr lang="en-US" smtClean="0"/>
              <a:pPr/>
              <a:t>41</a:t>
            </a:fld>
            <a:endParaRPr lang="en-US"/>
          </a:p>
        </p:txBody>
      </p:sp>
      <p:sp>
        <p:nvSpPr>
          <p:cNvPr id="5" name="Title 4">
            <a:extLst>
              <a:ext uri="{FF2B5EF4-FFF2-40B4-BE49-F238E27FC236}">
                <a16:creationId xmlns:a16="http://schemas.microsoft.com/office/drawing/2014/main" id="{2C07AF08-5B55-22CD-A067-EEDA7717BA6D}"/>
              </a:ext>
            </a:extLst>
          </p:cNvPr>
          <p:cNvSpPr>
            <a:spLocks noGrp="1"/>
          </p:cNvSpPr>
          <p:nvPr>
            <p:ph type="title"/>
          </p:nvPr>
        </p:nvSpPr>
        <p:spPr/>
        <p:txBody>
          <a:bodyPr/>
          <a:lstStyle/>
          <a:p>
            <a:r>
              <a:rPr lang="en-US">
                <a:latin typeface="Munistic"/>
              </a:rPr>
              <a:t>Injector Manifold</a:t>
            </a:r>
            <a:endParaRPr lang="en-US"/>
          </a:p>
        </p:txBody>
      </p:sp>
      <p:sp>
        <p:nvSpPr>
          <p:cNvPr id="6" name="Text Placeholder 5">
            <a:extLst>
              <a:ext uri="{FF2B5EF4-FFF2-40B4-BE49-F238E27FC236}">
                <a16:creationId xmlns:a16="http://schemas.microsoft.com/office/drawing/2014/main" id="{B812F6DB-BC7A-3E06-92E1-B9C8698392E9}"/>
              </a:ext>
            </a:extLst>
          </p:cNvPr>
          <p:cNvSpPr>
            <a:spLocks noGrp="1"/>
          </p:cNvSpPr>
          <p:nvPr>
            <p:ph type="body" sz="quarter" idx="13"/>
          </p:nvPr>
        </p:nvSpPr>
        <p:spPr/>
        <p:txBody>
          <a:bodyPr/>
          <a:lstStyle/>
          <a:p>
            <a:r>
              <a:rPr lang="en-US" sz="1850">
                <a:ea typeface="Source Sans Pro"/>
                <a:cs typeface="Calibri"/>
              </a:rPr>
              <a:t>FEA Simulations</a:t>
            </a:r>
            <a:endParaRPr lang="en-US"/>
          </a:p>
        </p:txBody>
      </p:sp>
      <p:sp>
        <p:nvSpPr>
          <p:cNvPr id="9" name="TextBox 8">
            <a:extLst>
              <a:ext uri="{FF2B5EF4-FFF2-40B4-BE49-F238E27FC236}">
                <a16:creationId xmlns:a16="http://schemas.microsoft.com/office/drawing/2014/main" id="{0171AE32-401B-535C-1C96-754A3B00D873}"/>
              </a:ext>
            </a:extLst>
          </p:cNvPr>
          <p:cNvSpPr txBox="1"/>
          <p:nvPr/>
        </p:nvSpPr>
        <p:spPr>
          <a:xfrm>
            <a:off x="990011" y="5860923"/>
            <a:ext cx="399717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Fig. 3.6</a:t>
            </a:r>
          </a:p>
        </p:txBody>
      </p:sp>
      <p:sp>
        <p:nvSpPr>
          <p:cNvPr id="10" name="TextBox 9">
            <a:extLst>
              <a:ext uri="{FF2B5EF4-FFF2-40B4-BE49-F238E27FC236}">
                <a16:creationId xmlns:a16="http://schemas.microsoft.com/office/drawing/2014/main" id="{20B711FD-D93D-356E-91C2-4B64BFBF5E2B}"/>
              </a:ext>
            </a:extLst>
          </p:cNvPr>
          <p:cNvSpPr txBox="1"/>
          <p:nvPr/>
        </p:nvSpPr>
        <p:spPr>
          <a:xfrm>
            <a:off x="6863081" y="5859631"/>
            <a:ext cx="38115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Calibri"/>
                <a:cs typeface="Calibri"/>
              </a:rPr>
              <a:t>Fig. 3.7</a:t>
            </a:r>
          </a:p>
        </p:txBody>
      </p:sp>
      <p:pic>
        <p:nvPicPr>
          <p:cNvPr id="11" name="Picture 10" descr="A multicolored object with a diagram&#10;&#10;AI-generated content may be incorrect.">
            <a:extLst>
              <a:ext uri="{FF2B5EF4-FFF2-40B4-BE49-F238E27FC236}">
                <a16:creationId xmlns:a16="http://schemas.microsoft.com/office/drawing/2014/main" id="{250C35AC-179A-39B5-0449-4FF1AA3A365B}"/>
              </a:ext>
            </a:extLst>
          </p:cNvPr>
          <p:cNvPicPr>
            <a:picLocks noChangeAspect="1"/>
          </p:cNvPicPr>
          <p:nvPr/>
        </p:nvPicPr>
        <p:blipFill>
          <a:blip r:embed="rId2"/>
          <a:srcRect r="25522" b="-131"/>
          <a:stretch>
            <a:fillRect/>
          </a:stretch>
        </p:blipFill>
        <p:spPr>
          <a:xfrm>
            <a:off x="6648162" y="2583225"/>
            <a:ext cx="3403170" cy="3274912"/>
          </a:xfrm>
          <a:prstGeom prst="rect">
            <a:avLst/>
          </a:prstGeom>
        </p:spPr>
      </p:pic>
      <p:pic>
        <p:nvPicPr>
          <p:cNvPr id="12" name="Picture 11">
            <a:extLst>
              <a:ext uri="{FF2B5EF4-FFF2-40B4-BE49-F238E27FC236}">
                <a16:creationId xmlns:a16="http://schemas.microsoft.com/office/drawing/2014/main" id="{12B180CC-9AE3-8914-7175-8E3587C4D137}"/>
              </a:ext>
            </a:extLst>
          </p:cNvPr>
          <p:cNvPicPr>
            <a:picLocks noChangeAspect="1"/>
          </p:cNvPicPr>
          <p:nvPr/>
        </p:nvPicPr>
        <p:blipFill>
          <a:blip r:embed="rId3"/>
          <a:srcRect l="1035" t="-1809" r="27655" b="-98"/>
          <a:stretch>
            <a:fillRect/>
          </a:stretch>
        </p:blipFill>
        <p:spPr>
          <a:xfrm>
            <a:off x="968222" y="2363762"/>
            <a:ext cx="3409975" cy="3494858"/>
          </a:xfrm>
          <a:prstGeom prst="rect">
            <a:avLst/>
          </a:prstGeom>
        </p:spPr>
      </p:pic>
      <p:sp>
        <p:nvSpPr>
          <p:cNvPr id="13" name="TextBox 12">
            <a:extLst>
              <a:ext uri="{FF2B5EF4-FFF2-40B4-BE49-F238E27FC236}">
                <a16:creationId xmlns:a16="http://schemas.microsoft.com/office/drawing/2014/main" id="{8C8C2DDA-1551-4605-09DB-FADB35C77FAE}"/>
              </a:ext>
            </a:extLst>
          </p:cNvPr>
          <p:cNvSpPr txBox="1"/>
          <p:nvPr/>
        </p:nvSpPr>
        <p:spPr>
          <a:xfrm>
            <a:off x="532131" y="1510976"/>
            <a:ext cx="1123663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ea typeface="Calibri"/>
                <a:cs typeface="Calibri"/>
              </a:rPr>
              <a:t>Very little deformation is observed</a:t>
            </a:r>
          </a:p>
          <a:p>
            <a:pPr marL="285750" indent="-285750">
              <a:buFont typeface="Arial"/>
              <a:buChar char="•"/>
            </a:pPr>
            <a:endParaRPr lang="en-US" sz="2400">
              <a:ea typeface="Calibri"/>
              <a:cs typeface="Calibri"/>
            </a:endParaRPr>
          </a:p>
        </p:txBody>
      </p:sp>
      <p:pic>
        <p:nvPicPr>
          <p:cNvPr id="2" name="Picture 1">
            <a:extLst>
              <a:ext uri="{FF2B5EF4-FFF2-40B4-BE49-F238E27FC236}">
                <a16:creationId xmlns:a16="http://schemas.microsoft.com/office/drawing/2014/main" id="{36A3A165-4080-89B2-1FCE-F0F04A89D36C}"/>
              </a:ext>
            </a:extLst>
          </p:cNvPr>
          <p:cNvPicPr>
            <a:picLocks noChangeAspect="1"/>
          </p:cNvPicPr>
          <p:nvPr/>
        </p:nvPicPr>
        <p:blipFill>
          <a:blip r:embed="rId3"/>
          <a:srcRect l="76106" t="8213" r="2624" b="11238"/>
          <a:stretch>
            <a:fillRect/>
          </a:stretch>
        </p:blipFill>
        <p:spPr>
          <a:xfrm>
            <a:off x="4294785" y="2453389"/>
            <a:ext cx="1366351" cy="3778413"/>
          </a:xfrm>
          <a:prstGeom prst="rect">
            <a:avLst/>
          </a:prstGeom>
        </p:spPr>
      </p:pic>
      <p:pic>
        <p:nvPicPr>
          <p:cNvPr id="7" name="Picture 6" descr="A multicolored object with a diagram&#10;&#10;AI-generated content may be incorrect.">
            <a:extLst>
              <a:ext uri="{FF2B5EF4-FFF2-40B4-BE49-F238E27FC236}">
                <a16:creationId xmlns:a16="http://schemas.microsoft.com/office/drawing/2014/main" id="{53B5897B-5B9F-FE91-B016-50ED3610D6FA}"/>
              </a:ext>
            </a:extLst>
          </p:cNvPr>
          <p:cNvPicPr>
            <a:picLocks noChangeAspect="1"/>
          </p:cNvPicPr>
          <p:nvPr/>
        </p:nvPicPr>
        <p:blipFill>
          <a:blip r:embed="rId2"/>
          <a:srcRect l="76566" t="1820" r="3116" b="19369"/>
          <a:stretch>
            <a:fillRect/>
          </a:stretch>
        </p:blipFill>
        <p:spPr>
          <a:xfrm>
            <a:off x="10055995" y="2579260"/>
            <a:ext cx="1298824" cy="3593599"/>
          </a:xfrm>
          <a:prstGeom prst="rect">
            <a:avLst/>
          </a:prstGeom>
        </p:spPr>
      </p:pic>
    </p:spTree>
    <p:extLst>
      <p:ext uri="{BB962C8B-B14F-4D97-AF65-F5344CB8AC3E}">
        <p14:creationId xmlns:p14="http://schemas.microsoft.com/office/powerpoint/2010/main" val="29288018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8EF77-9BB7-189F-073E-215839C1994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89C2418-8698-9977-9266-2934117B0A27}"/>
              </a:ext>
            </a:extLst>
          </p:cNvPr>
          <p:cNvSpPr>
            <a:spLocks noGrp="1"/>
          </p:cNvSpPr>
          <p:nvPr>
            <p:ph type="ftr" sz="quarter" idx="16"/>
          </p:nvPr>
        </p:nvSpPr>
        <p:spPr>
          <a:xfrm>
            <a:off x="7491867" y="6343924"/>
            <a:ext cx="4114800" cy="366183"/>
          </a:xfrm>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C4F17400-57F6-8498-F932-3F72FBEEF65A}"/>
              </a:ext>
            </a:extLst>
          </p:cNvPr>
          <p:cNvSpPr>
            <a:spLocks noGrp="1"/>
          </p:cNvSpPr>
          <p:nvPr>
            <p:ph type="sldNum" sz="quarter" idx="17"/>
          </p:nvPr>
        </p:nvSpPr>
        <p:spPr>
          <a:xfrm>
            <a:off x="11379199" y="6343924"/>
            <a:ext cx="544856" cy="366183"/>
          </a:xfrm>
        </p:spPr>
        <p:txBody>
          <a:bodyPr/>
          <a:lstStyle/>
          <a:p>
            <a:r>
              <a:rPr lang="en-US"/>
              <a:t>/   </a:t>
            </a:r>
            <a:fld id="{6C7E6F33-74EE-5541-8108-8353B402F8C1}" type="slidenum">
              <a:rPr lang="en-US" smtClean="0"/>
              <a:pPr/>
              <a:t>42</a:t>
            </a:fld>
            <a:endParaRPr lang="en-US"/>
          </a:p>
        </p:txBody>
      </p:sp>
      <p:sp>
        <p:nvSpPr>
          <p:cNvPr id="5" name="Title 4">
            <a:extLst>
              <a:ext uri="{FF2B5EF4-FFF2-40B4-BE49-F238E27FC236}">
                <a16:creationId xmlns:a16="http://schemas.microsoft.com/office/drawing/2014/main" id="{A25A1686-9DCD-6C1F-3DE6-68253661D430}"/>
              </a:ext>
            </a:extLst>
          </p:cNvPr>
          <p:cNvSpPr>
            <a:spLocks noGrp="1"/>
          </p:cNvSpPr>
          <p:nvPr>
            <p:ph type="title"/>
          </p:nvPr>
        </p:nvSpPr>
        <p:spPr>
          <a:xfrm>
            <a:off x="531848" y="716984"/>
            <a:ext cx="6747546" cy="625567"/>
          </a:xfrm>
        </p:spPr>
        <p:txBody>
          <a:bodyPr/>
          <a:lstStyle/>
          <a:p>
            <a:r>
              <a:rPr lang="en-US">
                <a:latin typeface="Munistic"/>
              </a:rPr>
              <a:t>Valves BOM</a:t>
            </a:r>
          </a:p>
        </p:txBody>
      </p:sp>
      <p:graphicFrame>
        <p:nvGraphicFramePr>
          <p:cNvPr id="2" name="Table 1">
            <a:extLst>
              <a:ext uri="{FF2B5EF4-FFF2-40B4-BE49-F238E27FC236}">
                <a16:creationId xmlns:a16="http://schemas.microsoft.com/office/drawing/2014/main" id="{57DCE28E-AE6A-5C4C-8C66-0038D1A2A73F}"/>
              </a:ext>
            </a:extLst>
          </p:cNvPr>
          <p:cNvGraphicFramePr>
            <a:graphicFrameLocks noGrp="1"/>
          </p:cNvGraphicFramePr>
          <p:nvPr>
            <p:extLst>
              <p:ext uri="{D42A27DB-BD31-4B8C-83A1-F6EECF244321}">
                <p14:modId xmlns:p14="http://schemas.microsoft.com/office/powerpoint/2010/main" val="3934847274"/>
              </p:ext>
            </p:extLst>
          </p:nvPr>
        </p:nvGraphicFramePr>
        <p:xfrm>
          <a:off x="626752" y="1465652"/>
          <a:ext cx="10967250" cy="4740907"/>
        </p:xfrm>
        <a:graphic>
          <a:graphicData uri="http://schemas.openxmlformats.org/drawingml/2006/table">
            <a:tbl>
              <a:tblPr bandRow="1">
                <a:tableStyleId>{5C22544A-7EE6-4342-B048-85BDC9FD1C3A}</a:tableStyleId>
              </a:tblPr>
              <a:tblGrid>
                <a:gridCol w="513182">
                  <a:extLst>
                    <a:ext uri="{9D8B030D-6E8A-4147-A177-3AD203B41FA5}">
                      <a16:colId xmlns:a16="http://schemas.microsoft.com/office/drawing/2014/main" val="360521789"/>
                    </a:ext>
                  </a:extLst>
                </a:gridCol>
                <a:gridCol w="2515339">
                  <a:extLst>
                    <a:ext uri="{9D8B030D-6E8A-4147-A177-3AD203B41FA5}">
                      <a16:colId xmlns:a16="http://schemas.microsoft.com/office/drawing/2014/main" val="3592925142"/>
                    </a:ext>
                  </a:extLst>
                </a:gridCol>
                <a:gridCol w="1228075">
                  <a:extLst>
                    <a:ext uri="{9D8B030D-6E8A-4147-A177-3AD203B41FA5}">
                      <a16:colId xmlns:a16="http://schemas.microsoft.com/office/drawing/2014/main" val="4284133082"/>
                    </a:ext>
                  </a:extLst>
                </a:gridCol>
                <a:gridCol w="1094912">
                  <a:extLst>
                    <a:ext uri="{9D8B030D-6E8A-4147-A177-3AD203B41FA5}">
                      <a16:colId xmlns:a16="http://schemas.microsoft.com/office/drawing/2014/main" val="3805788829"/>
                    </a:ext>
                  </a:extLst>
                </a:gridCol>
                <a:gridCol w="1020930">
                  <a:extLst>
                    <a:ext uri="{9D8B030D-6E8A-4147-A177-3AD203B41FA5}">
                      <a16:colId xmlns:a16="http://schemas.microsoft.com/office/drawing/2014/main" val="1106370287"/>
                    </a:ext>
                  </a:extLst>
                </a:gridCol>
                <a:gridCol w="932152">
                  <a:extLst>
                    <a:ext uri="{9D8B030D-6E8A-4147-A177-3AD203B41FA5}">
                      <a16:colId xmlns:a16="http://schemas.microsoft.com/office/drawing/2014/main" val="4149231578"/>
                    </a:ext>
                  </a:extLst>
                </a:gridCol>
                <a:gridCol w="872969">
                  <a:extLst>
                    <a:ext uri="{9D8B030D-6E8A-4147-A177-3AD203B41FA5}">
                      <a16:colId xmlns:a16="http://schemas.microsoft.com/office/drawing/2014/main" val="2483966670"/>
                    </a:ext>
                  </a:extLst>
                </a:gridCol>
                <a:gridCol w="981557">
                  <a:extLst>
                    <a:ext uri="{9D8B030D-6E8A-4147-A177-3AD203B41FA5}">
                      <a16:colId xmlns:a16="http://schemas.microsoft.com/office/drawing/2014/main" val="1056265578"/>
                    </a:ext>
                  </a:extLst>
                </a:gridCol>
                <a:gridCol w="761999">
                  <a:extLst>
                    <a:ext uri="{9D8B030D-6E8A-4147-A177-3AD203B41FA5}">
                      <a16:colId xmlns:a16="http://schemas.microsoft.com/office/drawing/2014/main" val="2897210559"/>
                    </a:ext>
                  </a:extLst>
                </a:gridCol>
                <a:gridCol w="1046135">
                  <a:extLst>
                    <a:ext uri="{9D8B030D-6E8A-4147-A177-3AD203B41FA5}">
                      <a16:colId xmlns:a16="http://schemas.microsoft.com/office/drawing/2014/main" val="3220668836"/>
                    </a:ext>
                  </a:extLst>
                </a:gridCol>
              </a:tblGrid>
              <a:tr h="317500">
                <a:tc>
                  <a:txBody>
                    <a:bodyPr/>
                    <a:lstStyle/>
                    <a:p>
                      <a:pPr algn="l" fontAlgn="b"/>
                      <a:endParaRPr lang="en-US" sz="1200" u="none" strike="noStrike">
                        <a:solidFill>
                          <a:srgbClr val="154734"/>
                        </a:solidFill>
                        <a:effectLst/>
                      </a:endParaRP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u="none" strike="noStrike">
                          <a:solidFill>
                            <a:srgbClr val="FFFFFF"/>
                          </a:solidFill>
                          <a:effectLst/>
                        </a:rPr>
                        <a:t>Description</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u="none" strike="noStrike">
                          <a:solidFill>
                            <a:srgbClr val="FFFFFF"/>
                          </a:solidFill>
                          <a:effectLst/>
                        </a:rPr>
                        <a:t>Part Number</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u="none" strike="noStrike">
                          <a:solidFill>
                            <a:srgbClr val="FFFFFF"/>
                          </a:solidFill>
                          <a:effectLst/>
                        </a:rPr>
                        <a:t>Supplier Link</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u="none" strike="noStrike">
                          <a:solidFill>
                            <a:srgbClr val="FFFFFF"/>
                          </a:solidFill>
                          <a:effectLst/>
                        </a:rPr>
                        <a:t>Unit Price</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u="none" strike="noStrike">
                          <a:solidFill>
                            <a:srgbClr val="FFFFFF"/>
                          </a:solidFill>
                          <a:effectLst/>
                        </a:rPr>
                        <a:t>Quantity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u="none" strike="noStrike">
                          <a:solidFill>
                            <a:srgbClr val="FFFFFF"/>
                          </a:solidFill>
                          <a:effectLst/>
                        </a:rPr>
                        <a:t>Subtotal</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u="none" strike="noStrike">
                          <a:solidFill>
                            <a:srgbClr val="FFFFFF"/>
                          </a:solidFill>
                          <a:effectLst/>
                        </a:rPr>
                        <a:t>Taxes</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u="none" strike="noStrike">
                          <a:solidFill>
                            <a:srgbClr val="FFFFFF"/>
                          </a:solidFill>
                          <a:effectLst/>
                        </a:rPr>
                        <a:t>Shipping</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u="none" strike="noStrike">
                          <a:solidFill>
                            <a:srgbClr val="FFFFFF"/>
                          </a:solidFill>
                          <a:effectLst/>
                        </a:rPr>
                        <a:t>Total</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extLst>
                  <a:ext uri="{0D108BD9-81ED-4DB2-BD59-A6C34878D82A}">
                    <a16:rowId xmlns:a16="http://schemas.microsoft.com/office/drawing/2014/main" val="2229692858"/>
                  </a:ext>
                </a:extLst>
              </a:tr>
              <a:tr h="317500">
                <a:tc>
                  <a:txBody>
                    <a:bodyPr/>
                    <a:lstStyle/>
                    <a:p>
                      <a:pPr algn="l" fontAlgn="b"/>
                      <a:r>
                        <a:rPr lang="en-US" sz="1600" u="none" strike="noStrike">
                          <a:solidFill>
                            <a:srgbClr val="000000"/>
                          </a:solidFill>
                          <a:effectLst/>
                        </a:rPr>
                        <a:t>1</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Plunger: ½" dia. x 3.25" long Aluminum Stock</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242424"/>
                          </a:solidFill>
                          <a:effectLst/>
                        </a:rPr>
                        <a:t>N/A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sng" strike="noStrike">
                          <a:solidFill>
                            <a:srgbClr val="467886"/>
                          </a:solidFill>
                          <a:effectLst/>
                          <a:hlinkClick r:id="rId3"/>
                        </a:rPr>
                        <a:t>Midwest Steel and Aluminum</a:t>
                      </a:r>
                      <a:endParaRPr lang="en-US" sz="1600" u="sng" strike="noStrike">
                        <a:solidFill>
                          <a:srgbClr val="467886"/>
                        </a:solidFill>
                        <a:effectLst/>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$9.40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1 </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$9.41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$19.88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$29.28</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802448835"/>
                  </a:ext>
                </a:extLst>
              </a:tr>
              <a:tr h="317500">
                <a:tc>
                  <a:txBody>
                    <a:bodyPr/>
                    <a:lstStyle/>
                    <a:p>
                      <a:pPr algn="l" fontAlgn="b"/>
                      <a:r>
                        <a:rPr lang="en-US" sz="1600" u="none" strike="noStrike">
                          <a:solidFill>
                            <a:srgbClr val="000000"/>
                          </a:solidFill>
                          <a:effectLst/>
                        </a:rPr>
                        <a:t>2</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242424"/>
                          </a:solidFill>
                          <a:effectLst/>
                        </a:rPr>
                        <a:t>Manifold &amp; Injector: 5.75" dia. x 3-1/4" long Aluminum Stock </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242424"/>
                          </a:solidFill>
                          <a:effectLst/>
                        </a:rPr>
                        <a:t>N/A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sng" strike="noStrike">
                          <a:solidFill>
                            <a:srgbClr val="467886"/>
                          </a:solidFill>
                          <a:effectLst/>
                          <a:hlinkClick r:id="rId3"/>
                        </a:rPr>
                        <a:t>Midwest Steel and Aluminum</a:t>
                      </a:r>
                      <a:endParaRPr lang="en-US" sz="1600" u="sng" strike="noStrike">
                        <a:solidFill>
                          <a:srgbClr val="467886"/>
                        </a:solidFill>
                        <a:effectLst/>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$143.48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1 </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$143.48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$24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$167.48</a:t>
                      </a:r>
                      <a:endParaRPr lang="en-US"/>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1578019327"/>
                  </a:ext>
                </a:extLst>
              </a:tr>
              <a:tr h="317500">
                <a:tc>
                  <a:txBody>
                    <a:bodyPr/>
                    <a:lstStyle/>
                    <a:p>
                      <a:pPr algn="l" fontAlgn="b"/>
                      <a:r>
                        <a:rPr lang="en-US" sz="1600" u="none" strike="noStrike">
                          <a:solidFill>
                            <a:srgbClr val="000000"/>
                          </a:solidFill>
                          <a:effectLst/>
                        </a:rPr>
                        <a:t>3</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242424"/>
                          </a:solidFill>
                          <a:effectLst/>
                        </a:rPr>
                        <a:t>O rings</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242424"/>
                          </a:solidFill>
                          <a:effectLst/>
                        </a:rPr>
                        <a:t>TBD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sng" strike="noStrike">
                          <a:solidFill>
                            <a:srgbClr val="467886"/>
                          </a:solidFill>
                          <a:effectLst/>
                          <a:hlinkClick r:id="rId4"/>
                        </a:rPr>
                        <a:t>McMasterr Carr</a:t>
                      </a:r>
                      <a:endParaRPr lang="en-US" sz="1600" u="sng" strike="noStrike">
                        <a:solidFill>
                          <a:srgbClr val="467886"/>
                        </a:solidFill>
                        <a:effectLst/>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 TBD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 TBD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2633894003"/>
                  </a:ext>
                </a:extLst>
              </a:tr>
              <a:tr h="317500">
                <a:tc>
                  <a:txBody>
                    <a:bodyPr/>
                    <a:lstStyle/>
                    <a:p>
                      <a:pPr algn="l" fontAlgn="b"/>
                      <a:r>
                        <a:rPr lang="en-US" sz="1600" u="none" strike="noStrike">
                          <a:solidFill>
                            <a:srgbClr val="000000"/>
                          </a:solidFill>
                          <a:effectLst/>
                        </a:rPr>
                        <a:t>4</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l">
                        <a:buNone/>
                      </a:pPr>
                      <a:r>
                        <a:rPr lang="en-US" sz="1600" u="none" strike="noStrike" noProof="0">
                          <a:solidFill>
                            <a:srgbClr val="242424"/>
                          </a:solidFill>
                          <a:effectLst/>
                        </a:rPr>
                        <a:t>3/8"-16 Thread, 1-3/4" Long </a:t>
                      </a:r>
                      <a:r>
                        <a:rPr lang="en-US" sz="1600" u="none" strike="noStrike">
                          <a:solidFill>
                            <a:srgbClr val="242424"/>
                          </a:solidFill>
                          <a:effectLst/>
                        </a:rPr>
                        <a:t>Aluminum Hex Head Screw</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l">
                        <a:buNone/>
                      </a:pPr>
                      <a:r>
                        <a:rPr lang="en-US" sz="1600" u="none" strike="noStrike" noProof="0">
                          <a:solidFill>
                            <a:srgbClr val="242424"/>
                          </a:solidFill>
                          <a:effectLst/>
                        </a:rPr>
                        <a:t>93306A913 </a:t>
                      </a:r>
                      <a:endParaRPr lang="en-US"/>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l">
                        <a:buNone/>
                      </a:pPr>
                      <a:r>
                        <a:rPr lang="en-US" sz="1600" u="none" strike="noStrike" noProof="0">
                          <a:solidFill>
                            <a:srgbClr val="467886"/>
                          </a:solidFill>
                          <a:effectLst/>
                          <a:hlinkClick r:id="rId5"/>
                        </a:rPr>
                        <a:t>McMaster Carr</a:t>
                      </a:r>
                      <a:r>
                        <a:rPr lang="en-US" sz="1600" u="none" strike="noStrike" noProof="0">
                          <a:solidFill>
                            <a:srgbClr val="467886"/>
                          </a:solidFill>
                          <a:effectLst/>
                        </a:rPr>
                        <a:t>     </a:t>
                      </a:r>
                      <a:endParaRPr lang="en-US"/>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$10.05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$10.05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TBD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none" strike="noStrike">
                          <a:solidFill>
                            <a:srgbClr val="000000"/>
                          </a:solidFill>
                          <a:effectLst/>
                        </a:rPr>
                        <a:t>$10.05</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2821986693"/>
                  </a:ext>
                </a:extLst>
              </a:tr>
              <a:tr h="317500">
                <a:tc>
                  <a:txBody>
                    <a:bodyPr/>
                    <a:lstStyle/>
                    <a:p>
                      <a:pPr algn="l" fontAlgn="b"/>
                      <a:r>
                        <a:rPr lang="en-US" sz="1600" u="none" strike="noStrike">
                          <a:solidFill>
                            <a:srgbClr val="000000"/>
                          </a:solidFill>
                          <a:effectLst/>
                        </a:rPr>
                        <a:t>5</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u="none" strike="noStrike" noProof="0">
                          <a:solidFill>
                            <a:srgbClr val="242424"/>
                          </a:solidFill>
                          <a:effectLst/>
                        </a:rPr>
                        <a:t>3/8 Male x 1/8 Female NPT Bushing (Reducer)</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u="none" strike="noStrike" noProof="0">
                          <a:solidFill>
                            <a:srgbClr val="242424"/>
                          </a:solidFill>
                          <a:effectLst/>
                        </a:rPr>
                        <a:t> 4464K641</a:t>
                      </a:r>
                      <a:endParaRPr lang="en-US"/>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sng" strike="noStrike">
                          <a:solidFill>
                            <a:srgbClr val="467886"/>
                          </a:solidFill>
                          <a:effectLst/>
                          <a:hlinkClick r:id="rId6"/>
                        </a:rPr>
                        <a:t>McMaster Carr</a:t>
                      </a:r>
                      <a:endParaRPr lang="en-US" sz="1600" u="sng" strike="noStrike">
                        <a:solidFill>
                          <a:srgbClr val="467886"/>
                        </a:solidFill>
                        <a:effectLst/>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$7.12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$7.12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TBD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u="none" strike="noStrike">
                          <a:solidFill>
                            <a:srgbClr val="000000"/>
                          </a:solidFill>
                          <a:effectLst/>
                        </a:rPr>
                        <a:t>$7.12</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1415085590"/>
                  </a:ext>
                </a:extLst>
              </a:tr>
              <a:tr h="317499">
                <a:tc>
                  <a:txBody>
                    <a:bodyPr/>
                    <a:lstStyle/>
                    <a:p>
                      <a:pPr lvl="0" algn="l">
                        <a:buNone/>
                      </a:pPr>
                      <a:r>
                        <a:rPr lang="en-US" sz="1600" b="0" i="0" u="none" strike="noStrike">
                          <a:solidFill>
                            <a:srgbClr val="000000"/>
                          </a:solidFill>
                          <a:effectLst/>
                          <a:latin typeface="Times New Roman"/>
                        </a:rPr>
                        <a:t>6</a:t>
                      </a:r>
                    </a:p>
                  </a:txBody>
                  <a:tcPr marL="9524" marR="9524" marT="9524" marB="0" anchor="b">
                    <a:lnL w="0">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a:solidFill>
                        <a:srgbClr val="FFFFFF"/>
                      </a:solidFill>
                    </a:lnB>
                    <a:solidFill>
                      <a:srgbClr val="E7E9E9"/>
                    </a:solidFill>
                  </a:tcPr>
                </a:tc>
                <a:tc>
                  <a:txBody>
                    <a:bodyPr/>
                    <a:lstStyle/>
                    <a:p>
                      <a:pPr lvl="0" algn="l">
                        <a:buNone/>
                      </a:pPr>
                      <a:r>
                        <a:rPr lang="en-US" sz="1600" u="none" strike="noStrike" noProof="0">
                          <a:solidFill>
                            <a:srgbClr val="242424"/>
                          </a:solidFill>
                          <a:effectLst/>
                        </a:rPr>
                        <a:t>45 Degree Flare Nut</a:t>
                      </a:r>
                    </a:p>
                  </a:txBody>
                  <a:tcPr marL="9524" marR="9524" marT="9524"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a:solidFill>
                        <a:srgbClr val="FFFFFF"/>
                      </a:solidFill>
                    </a:lnB>
                    <a:solidFill>
                      <a:srgbClr val="E7E9E9"/>
                    </a:solidFill>
                  </a:tcPr>
                </a:tc>
                <a:tc>
                  <a:txBody>
                    <a:bodyPr/>
                    <a:lstStyle/>
                    <a:p>
                      <a:pPr lvl="0" algn="l">
                        <a:buNone/>
                      </a:pPr>
                      <a:r>
                        <a:rPr lang="en-US" sz="1600" u="none" strike="noStrike" noProof="0">
                          <a:solidFill>
                            <a:srgbClr val="242424"/>
                          </a:solidFill>
                          <a:effectLst/>
                        </a:rPr>
                        <a:t>TBD</a:t>
                      </a:r>
                    </a:p>
                  </a:txBody>
                  <a:tcPr marL="9524" marR="9524" marT="9524"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a:solidFill>
                        <a:srgbClr val="FFFFFF"/>
                      </a:solidFill>
                    </a:lnB>
                    <a:solidFill>
                      <a:srgbClr val="E7E9E9"/>
                    </a:solidFill>
                  </a:tcPr>
                </a:tc>
                <a:tc>
                  <a:txBody>
                    <a:bodyPr/>
                    <a:lstStyle/>
                    <a:p>
                      <a:pPr lvl="0" algn="l">
                        <a:buNone/>
                      </a:pPr>
                      <a:endParaRPr lang="en-US" sz="1600" u="sng" strike="noStrike">
                        <a:solidFill>
                          <a:srgbClr val="467886"/>
                        </a:solidFill>
                        <a:effectLst/>
                      </a:endParaRPr>
                    </a:p>
                  </a:txBody>
                  <a:tcPr marL="9524" marR="9524" marT="9524"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a:solidFill>
                        <a:srgbClr val="FFFFFF"/>
                      </a:solidFill>
                    </a:lnB>
                    <a:solidFill>
                      <a:srgbClr val="E7E9E9"/>
                    </a:solidFill>
                  </a:tcPr>
                </a:tc>
                <a:tc>
                  <a:txBody>
                    <a:bodyPr/>
                    <a:lstStyle/>
                    <a:p>
                      <a:pPr lvl="0" algn="l">
                        <a:buNone/>
                      </a:pPr>
                      <a:r>
                        <a:rPr lang="en-US" sz="1600" u="none" strike="noStrike">
                          <a:solidFill>
                            <a:srgbClr val="000000"/>
                          </a:solidFill>
                          <a:effectLst/>
                        </a:rPr>
                        <a:t>1</a:t>
                      </a:r>
                    </a:p>
                  </a:txBody>
                  <a:tcPr marL="9524" marR="9524" marT="9524"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cap="flat" cmpd="sng" algn="ctr">
                      <a:solidFill>
                        <a:srgbClr val="FFFFFF"/>
                      </a:solidFill>
                      <a:prstDash val="solid"/>
                      <a:round/>
                      <a:headEnd type="none" w="med" len="med"/>
                      <a:tailEnd type="none" w="med" len="med"/>
                    </a:lnL>
                    <a:lnR w="0">
                      <a:noFill/>
                    </a:lnR>
                    <a:lnT w="6350" cap="flat" cmpd="sng" algn="ctr">
                      <a:solidFill>
                        <a:srgbClr val="FFFFFF"/>
                      </a:solidFill>
                      <a:prstDash val="solid"/>
                      <a:round/>
                      <a:headEnd type="none" w="med" len="med"/>
                      <a:tailEnd type="none" w="med" len="med"/>
                    </a:lnT>
                    <a:lnB w="6350">
                      <a:solidFill>
                        <a:srgbClr val="FFFFFF"/>
                      </a:solidFill>
                    </a:lnB>
                    <a:solidFill>
                      <a:srgbClr val="E7E9E9"/>
                    </a:solidFill>
                  </a:tcPr>
                </a:tc>
                <a:extLst>
                  <a:ext uri="{0D108BD9-81ED-4DB2-BD59-A6C34878D82A}">
                    <a16:rowId xmlns:a16="http://schemas.microsoft.com/office/drawing/2014/main" val="3115724769"/>
                  </a:ext>
                </a:extLst>
              </a:tr>
              <a:tr h="317499">
                <a:tc>
                  <a:txBody>
                    <a:bodyPr/>
                    <a:lstStyle/>
                    <a:p>
                      <a:pPr lvl="0" algn="l">
                        <a:buNone/>
                      </a:pPr>
                      <a:r>
                        <a:rPr lang="en-US" sz="1600" b="0" i="0" u="none" strike="noStrike">
                          <a:solidFill>
                            <a:srgbClr val="000000"/>
                          </a:solidFill>
                          <a:effectLst/>
                          <a:latin typeface="Times New Roman"/>
                        </a:rPr>
                        <a:t>7</a:t>
                      </a:r>
                    </a:p>
                  </a:txBody>
                  <a:tcPr marL="9524" marR="9524" marT="9524" marB="0" anchor="b">
                    <a:lnL w="0">
                      <a:no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u="none" strike="noStrike" noProof="0">
                          <a:solidFill>
                            <a:srgbClr val="242424"/>
                          </a:solidFill>
                          <a:effectLst/>
                        </a:rPr>
                        <a:t>45 Degree  Flare to ¼" NPT Fitting (Fuel)</a:t>
                      </a: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u="none" strike="noStrike" noProof="0">
                          <a:solidFill>
                            <a:srgbClr val="242424"/>
                          </a:solidFill>
                          <a:effectLst/>
                        </a:rPr>
                        <a:t>TBD</a:t>
                      </a: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sng" strike="noStrike">
                        <a:solidFill>
                          <a:srgbClr val="467886"/>
                        </a:solidFill>
                        <a:effectLst/>
                      </a:endParaRP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u="none" strike="noStrike">
                          <a:solidFill>
                            <a:srgbClr val="000000"/>
                          </a:solidFill>
                          <a:effectLst/>
                        </a:rPr>
                        <a:t>1</a:t>
                      </a: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a:solidFill>
                        <a:srgbClr val="FFFFFF"/>
                      </a:solidFill>
                    </a:lnL>
                    <a:lnR w="0">
                      <a:noFill/>
                    </a:lnR>
                    <a:lnT w="6350">
                      <a:solidFill>
                        <a:srgbClr val="FFFFFF"/>
                      </a:solidFill>
                    </a:lnT>
                    <a:lnB w="6350">
                      <a:solidFill>
                        <a:srgbClr val="FFFFFF"/>
                      </a:solidFill>
                    </a:lnB>
                    <a:solidFill>
                      <a:srgbClr val="E7E9E9"/>
                    </a:solidFill>
                  </a:tcPr>
                </a:tc>
                <a:extLst>
                  <a:ext uri="{0D108BD9-81ED-4DB2-BD59-A6C34878D82A}">
                    <a16:rowId xmlns:a16="http://schemas.microsoft.com/office/drawing/2014/main" val="1376243277"/>
                  </a:ext>
                </a:extLst>
              </a:tr>
              <a:tr h="317499">
                <a:tc>
                  <a:txBody>
                    <a:bodyPr/>
                    <a:lstStyle/>
                    <a:p>
                      <a:pPr lvl="0" algn="l">
                        <a:buNone/>
                      </a:pPr>
                      <a:r>
                        <a:rPr lang="en-US" sz="1600" b="0" i="0" u="none" strike="noStrike">
                          <a:solidFill>
                            <a:srgbClr val="000000"/>
                          </a:solidFill>
                          <a:effectLst/>
                          <a:latin typeface="Times New Roman"/>
                        </a:rPr>
                        <a:t>8</a:t>
                      </a:r>
                    </a:p>
                  </a:txBody>
                  <a:tcPr marL="9524" marR="9524" marT="9524" marB="0" anchor="b">
                    <a:lnL w="0">
                      <a:no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u="none" strike="noStrike" noProof="0">
                          <a:solidFill>
                            <a:srgbClr val="242424"/>
                          </a:solidFill>
                          <a:effectLst/>
                        </a:rPr>
                        <a:t>Line Cutters</a:t>
                      </a: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u="none" strike="noStrike" noProof="0">
                          <a:solidFill>
                            <a:srgbClr val="242424"/>
                          </a:solidFill>
                          <a:effectLst/>
                        </a:rPr>
                        <a:t>TBD</a:t>
                      </a: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sng" strike="noStrike">
                        <a:solidFill>
                          <a:srgbClr val="467886"/>
                        </a:solidFill>
                        <a:effectLst/>
                      </a:endParaRP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u="none" strike="noStrike">
                          <a:solidFill>
                            <a:srgbClr val="000000"/>
                          </a:solidFill>
                          <a:effectLst/>
                        </a:rPr>
                        <a:t>1</a:t>
                      </a: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endParaRPr lang="en-US" sz="1600" u="none" strike="noStrike">
                        <a:solidFill>
                          <a:srgbClr val="000000"/>
                        </a:solidFill>
                        <a:effectLst/>
                      </a:endParaRPr>
                    </a:p>
                  </a:txBody>
                  <a:tcPr marL="9524" marR="9524" marT="9524" marB="0" anchor="b">
                    <a:lnL w="6350">
                      <a:solidFill>
                        <a:srgbClr val="FFFFFF"/>
                      </a:solidFill>
                    </a:lnL>
                    <a:lnR w="0">
                      <a:noFill/>
                    </a:lnR>
                    <a:lnT w="6350">
                      <a:solidFill>
                        <a:srgbClr val="FFFFFF"/>
                      </a:solidFill>
                    </a:lnT>
                    <a:lnB w="6350">
                      <a:solidFill>
                        <a:srgbClr val="FFFFFF"/>
                      </a:solidFill>
                    </a:lnB>
                    <a:solidFill>
                      <a:srgbClr val="E7E9E9"/>
                    </a:solidFill>
                  </a:tcPr>
                </a:tc>
                <a:extLst>
                  <a:ext uri="{0D108BD9-81ED-4DB2-BD59-A6C34878D82A}">
                    <a16:rowId xmlns:a16="http://schemas.microsoft.com/office/drawing/2014/main" val="1707581577"/>
                  </a:ext>
                </a:extLst>
              </a:tr>
              <a:tr h="317500">
                <a:tc>
                  <a:txBody>
                    <a:bodyPr/>
                    <a:lstStyle/>
                    <a:p>
                      <a:pPr algn="l" fontAlgn="b"/>
                      <a:endParaRPr lang="en-US" sz="1600" u="none" strike="noStrike">
                        <a:solidFill>
                          <a:srgbClr val="000000"/>
                        </a:solidFill>
                        <a:effectLst/>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u="none" strike="noStrike">
                        <a:solidFill>
                          <a:srgbClr val="000000"/>
                        </a:solidFill>
                        <a:effectLst/>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u="none" strike="noStrike">
                        <a:solidFill>
                          <a:srgbClr val="000000"/>
                        </a:solidFill>
                        <a:effectLst/>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u="none" strike="noStrike">
                        <a:solidFill>
                          <a:srgbClr val="000000"/>
                        </a:solidFill>
                        <a:effectLst/>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u="none" strike="noStrike">
                        <a:solidFill>
                          <a:srgbClr val="000000"/>
                        </a:solidFill>
                        <a:effectLst/>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u="none" strike="noStrike">
                        <a:solidFill>
                          <a:srgbClr val="000000"/>
                        </a:solidFill>
                        <a:effectLst/>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u="none" strike="noStrike">
                        <a:solidFill>
                          <a:srgbClr val="000000"/>
                        </a:solidFill>
                        <a:effectLst/>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u="none" strike="noStrike">
                        <a:solidFill>
                          <a:srgbClr val="000000"/>
                        </a:solidFill>
                        <a:effectLst/>
                      </a:endParaRPr>
                    </a:p>
                  </a:txBody>
                  <a:tcPr marL="9525" marR="9525" marT="95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l" fontAlgn="b"/>
                      <a:r>
                        <a:rPr lang="en-US" sz="1600" u="sng" strike="noStrike">
                          <a:solidFill>
                            <a:srgbClr val="000000"/>
                          </a:solidFill>
                          <a:effectLst/>
                        </a:rPr>
                        <a:t>TOTAL: </a:t>
                      </a:r>
                    </a:p>
                  </a:txBody>
                  <a:tcPr marL="9525" marR="9525" marT="9525" marB="0" anchor="b">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u="sng" strike="noStrike">
                          <a:solidFill>
                            <a:srgbClr val="000000"/>
                          </a:solidFill>
                          <a:effectLst/>
                        </a:rPr>
                        <a:t>$213.77</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CBD1CF"/>
                    </a:solidFill>
                  </a:tcPr>
                </a:tc>
                <a:extLst>
                  <a:ext uri="{0D108BD9-81ED-4DB2-BD59-A6C34878D82A}">
                    <a16:rowId xmlns:a16="http://schemas.microsoft.com/office/drawing/2014/main" val="2638035087"/>
                  </a:ext>
                </a:extLst>
              </a:tr>
            </a:tbl>
          </a:graphicData>
        </a:graphic>
      </p:graphicFrame>
    </p:spTree>
    <p:extLst>
      <p:ext uri="{BB962C8B-B14F-4D97-AF65-F5344CB8AC3E}">
        <p14:creationId xmlns:p14="http://schemas.microsoft.com/office/powerpoint/2010/main" val="1821047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53B4F-6C50-4247-4D3D-73224B4C8C2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88F9C2D-E9AA-E62C-40FF-C80A33883AA8}"/>
              </a:ext>
            </a:extLst>
          </p:cNvPr>
          <p:cNvSpPr>
            <a:spLocks noGrp="1"/>
          </p:cNvSpPr>
          <p:nvPr>
            <p:ph type="body" sz="quarter" idx="15"/>
          </p:nvPr>
        </p:nvSpPr>
        <p:spPr>
          <a:xfrm>
            <a:off x="838199" y="1547163"/>
            <a:ext cx="10987042" cy="4799949"/>
          </a:xfrm>
        </p:spPr>
        <p:txBody>
          <a:bodyPr vert="horz" lIns="91440" tIns="45720" rIns="91440" bIns="45720" numCol="2" spcCol="457200" rtlCol="0" anchor="t">
            <a:noAutofit/>
          </a:bodyPr>
          <a:lstStyle/>
          <a:p>
            <a:pPr marL="380365" indent="-258445"/>
            <a:r>
              <a:rPr lang="en-US" sz="2800">
                <a:ea typeface="Source Sans Pro"/>
                <a:cs typeface="Calibri"/>
              </a:rPr>
              <a:t>Begin manufacturing to validate Two Phase Flow results</a:t>
            </a:r>
            <a:endParaRPr lang="en-US"/>
          </a:p>
          <a:p>
            <a:pPr marL="380365" indent="-258445"/>
            <a:r>
              <a:rPr lang="en-US" sz="2800">
                <a:ea typeface="Source Sans Pro"/>
                <a:cs typeface="Calibri"/>
              </a:rPr>
              <a:t>Testing Closed and Open State sealing and transitions</a:t>
            </a:r>
            <a:endParaRPr lang="en-US" sz="2800">
              <a:cs typeface="Calibri"/>
            </a:endParaRPr>
          </a:p>
          <a:p>
            <a:pPr marL="380365" indent="-258445"/>
            <a:r>
              <a:rPr lang="en-US" sz="2800">
                <a:ea typeface="Source Sans Pro"/>
                <a:cs typeface="Calibri"/>
              </a:rPr>
              <a:t>Validating Valve Timings to ensure we have an Ox Lead (to prevent a hard start)</a:t>
            </a:r>
          </a:p>
          <a:p>
            <a:pPr marL="380365" indent="-258445"/>
            <a:endParaRPr lang="en-US" sz="2800">
              <a:cs typeface="Calibri"/>
            </a:endParaRPr>
          </a:p>
          <a:p>
            <a:pPr marL="380365" indent="-258445"/>
            <a:endParaRPr lang="en-US" sz="2800">
              <a:cs typeface="Calibri"/>
            </a:endParaRPr>
          </a:p>
          <a:p>
            <a:pPr marL="380365" indent="-258445"/>
            <a:endParaRPr lang="en-US" sz="2400">
              <a:cs typeface="Calibri"/>
            </a:endParaRPr>
          </a:p>
        </p:txBody>
      </p:sp>
      <p:sp>
        <p:nvSpPr>
          <p:cNvPr id="3" name="Footer Placeholder 2">
            <a:extLst>
              <a:ext uri="{FF2B5EF4-FFF2-40B4-BE49-F238E27FC236}">
                <a16:creationId xmlns:a16="http://schemas.microsoft.com/office/drawing/2014/main" id="{752431C7-D32D-F09F-C87A-44EF1BB1B464}"/>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CF407BD1-2E87-982E-001C-7D83FA4F7131}"/>
              </a:ext>
            </a:extLst>
          </p:cNvPr>
          <p:cNvSpPr>
            <a:spLocks noGrp="1"/>
          </p:cNvSpPr>
          <p:nvPr>
            <p:ph type="sldNum" sz="quarter" idx="17"/>
          </p:nvPr>
        </p:nvSpPr>
        <p:spPr/>
        <p:txBody>
          <a:bodyPr/>
          <a:lstStyle/>
          <a:p>
            <a:r>
              <a:rPr lang="en-US"/>
              <a:t>/   </a:t>
            </a:r>
            <a:fld id="{6C7E6F33-74EE-5541-8108-8353B402F8C1}" type="slidenum">
              <a:rPr lang="en-US" smtClean="0"/>
              <a:pPr/>
              <a:t>43</a:t>
            </a:fld>
            <a:endParaRPr lang="en-US"/>
          </a:p>
        </p:txBody>
      </p:sp>
      <p:sp>
        <p:nvSpPr>
          <p:cNvPr id="5" name="Title 4">
            <a:extLst>
              <a:ext uri="{FF2B5EF4-FFF2-40B4-BE49-F238E27FC236}">
                <a16:creationId xmlns:a16="http://schemas.microsoft.com/office/drawing/2014/main" id="{CB921C14-D67B-6E3A-E3B1-DFBC8C806654}"/>
              </a:ext>
            </a:extLst>
          </p:cNvPr>
          <p:cNvSpPr>
            <a:spLocks noGrp="1"/>
          </p:cNvSpPr>
          <p:nvPr>
            <p:ph type="title"/>
          </p:nvPr>
        </p:nvSpPr>
        <p:spPr/>
        <p:txBody>
          <a:bodyPr/>
          <a:lstStyle/>
          <a:p>
            <a:r>
              <a:rPr lang="en-US">
                <a:latin typeface="Munistic"/>
              </a:rPr>
              <a:t>Next Steps</a:t>
            </a:r>
            <a:endParaRPr lang="en-US"/>
          </a:p>
        </p:txBody>
      </p:sp>
    </p:spTree>
    <p:extLst>
      <p:ext uri="{BB962C8B-B14F-4D97-AF65-F5344CB8AC3E}">
        <p14:creationId xmlns:p14="http://schemas.microsoft.com/office/powerpoint/2010/main" val="24548552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3FEF6-22F4-E32A-2101-D903C8305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B94CE-1B3A-D6DA-C1BD-B0B6DF414327}"/>
              </a:ext>
            </a:extLst>
          </p:cNvPr>
          <p:cNvSpPr>
            <a:spLocks noGrp="1"/>
          </p:cNvSpPr>
          <p:nvPr>
            <p:ph type="title"/>
          </p:nvPr>
        </p:nvSpPr>
        <p:spPr/>
        <p:txBody>
          <a:bodyPr/>
          <a:lstStyle/>
          <a:p>
            <a:r>
              <a:rPr lang="en-US">
                <a:latin typeface="Munistic"/>
              </a:rPr>
              <a:t>Propulsion</a:t>
            </a:r>
            <a:endParaRPr lang="en-US"/>
          </a:p>
        </p:txBody>
      </p:sp>
      <p:sp>
        <p:nvSpPr>
          <p:cNvPr id="3" name="Text Placeholder 2">
            <a:extLst>
              <a:ext uri="{FF2B5EF4-FFF2-40B4-BE49-F238E27FC236}">
                <a16:creationId xmlns:a16="http://schemas.microsoft.com/office/drawing/2014/main" id="{21197FB3-24C4-90A9-305C-D09E73BD792E}"/>
              </a:ext>
            </a:extLst>
          </p:cNvPr>
          <p:cNvSpPr>
            <a:spLocks noGrp="1"/>
          </p:cNvSpPr>
          <p:nvPr>
            <p:ph type="body" sz="quarter" idx="11"/>
          </p:nvPr>
        </p:nvSpPr>
        <p:spPr/>
        <p:txBody>
          <a:bodyPr/>
          <a:lstStyle/>
          <a:p>
            <a:r>
              <a:rPr lang="en-US" sz="1850">
                <a:ea typeface="Source Sans Pro"/>
              </a:rPr>
              <a:t>Presented by: Brandon Muck</a:t>
            </a:r>
            <a:endParaRPr lang="en-US" sz="1850">
              <a:ea typeface="Source Sans Pro"/>
              <a:cs typeface="Calibri"/>
            </a:endParaRPr>
          </a:p>
        </p:txBody>
      </p:sp>
    </p:spTree>
    <p:extLst>
      <p:ext uri="{BB962C8B-B14F-4D97-AF65-F5344CB8AC3E}">
        <p14:creationId xmlns:p14="http://schemas.microsoft.com/office/powerpoint/2010/main" val="17492354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F8D2C-3C60-5FA3-C96D-E5954F02D62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1A771D3-3AF8-F8F8-5832-E87C74EAA68D}"/>
              </a:ext>
            </a:extLst>
          </p:cNvPr>
          <p:cNvSpPr>
            <a:spLocks noGrp="1"/>
          </p:cNvSpPr>
          <p:nvPr>
            <p:ph type="body" sz="quarter" idx="15"/>
          </p:nvPr>
        </p:nvSpPr>
        <p:spPr>
          <a:xfrm>
            <a:off x="65902" y="1688269"/>
            <a:ext cx="10515600" cy="4357469"/>
          </a:xfrm>
        </p:spPr>
        <p:txBody>
          <a:bodyPr vert="horz" lIns="91440" tIns="45720" rIns="91440" bIns="45720" numCol="2" spcCol="457200" rtlCol="0" anchor="t">
            <a:noAutofit/>
          </a:bodyPr>
          <a:lstStyle/>
          <a:p>
            <a:pPr marL="380365" indent="-258445"/>
            <a:r>
              <a:rPr lang="en-US" sz="1850" b="1">
                <a:ea typeface="Source Sans Pro"/>
                <a:cs typeface="Calibri" panose="020F0502020204030204"/>
              </a:rPr>
              <a:t>Engine Requirements</a:t>
            </a:r>
            <a:endParaRPr lang="en-US" sz="1850" b="1">
              <a:cs typeface="Calibri" panose="020F0502020204030204"/>
            </a:endParaRPr>
          </a:p>
          <a:p>
            <a:pPr marL="742315" lvl="1" indent="-285750">
              <a:buFont typeface="Arial" panose="020B0604020202020204" pitchFamily="34" charset="0"/>
              <a:buChar char="•"/>
            </a:pPr>
            <a:r>
              <a:rPr lang="en-US" kern="800" spc="0">
                <a:ea typeface="Source Sans Pro"/>
                <a:cs typeface="Calibri" panose="020F0502020204030204"/>
              </a:rPr>
              <a:t>Burn Time: 10 s</a:t>
            </a:r>
          </a:p>
          <a:p>
            <a:pPr marL="742315" lvl="1" indent="-285750">
              <a:buFont typeface="Arial" panose="020B0604020202020204" pitchFamily="34" charset="0"/>
              <a:buChar char="•"/>
            </a:pPr>
            <a:r>
              <a:rPr lang="en-US" kern="800" spc="0">
                <a:ea typeface="Source Sans Pro"/>
                <a:cs typeface="Calibri" panose="020F0502020204030204"/>
              </a:rPr>
              <a:t>Max Thrust: 400 </a:t>
            </a:r>
            <a:r>
              <a:rPr lang="en-US" kern="800" spc="0" err="1">
                <a:ea typeface="Source Sans Pro"/>
                <a:cs typeface="Calibri" panose="020F0502020204030204"/>
              </a:rPr>
              <a:t>lbf</a:t>
            </a:r>
            <a:endParaRPr lang="en-US" err="1">
              <a:cs typeface="Calibri" panose="020F0502020204030204"/>
            </a:endParaRPr>
          </a:p>
          <a:p>
            <a:pPr marL="742315" lvl="1" indent="-285750">
              <a:buFont typeface="Arial" panose="020B0604020202020204" pitchFamily="34" charset="0"/>
              <a:buChar char="•"/>
            </a:pPr>
            <a:r>
              <a:rPr lang="en-US" kern="800" spc="0">
                <a:ea typeface="Calibri"/>
                <a:cs typeface="Calibri" panose="020F0502020204030204"/>
              </a:rPr>
              <a:t>Chamber Pressure: 350 psi</a:t>
            </a:r>
            <a:endParaRPr lang="en-US" kern="800" spc="0">
              <a:ea typeface="Source Sans Pro"/>
              <a:cs typeface="Calibri" panose="020F0502020204030204"/>
            </a:endParaRPr>
          </a:p>
          <a:p>
            <a:pPr marL="742315" lvl="1" indent="-285750">
              <a:buFont typeface="Arial" panose="020B0604020202020204" pitchFamily="34" charset="0"/>
              <a:buChar char="•"/>
            </a:pPr>
            <a:r>
              <a:rPr lang="en-US" kern="800" spc="0">
                <a:ea typeface="Source Sans Pro"/>
                <a:cs typeface="Calibri" panose="020F0502020204030204"/>
              </a:rPr>
              <a:t>Propellant: N2O (Oxidizer) / Ethanol (Fuel)</a:t>
            </a:r>
            <a:endParaRPr lang="en-US">
              <a:ea typeface="Source Sans Pro"/>
              <a:cs typeface="Calibri" panose="020F0502020204030204"/>
            </a:endParaRPr>
          </a:p>
          <a:p>
            <a:pPr marL="742315" lvl="1" indent="-285750">
              <a:buFont typeface="Arial" panose="020B0604020202020204" pitchFamily="34" charset="0"/>
              <a:buChar char="•"/>
            </a:pPr>
            <a:r>
              <a:rPr lang="en-US" kern="800" spc="0">
                <a:ea typeface="Source Sans Pro"/>
                <a:cs typeface="Calibri" panose="020F0502020204030204"/>
              </a:rPr>
              <a:t>O/F Ratio: 2.6 : 1</a:t>
            </a:r>
          </a:p>
          <a:p>
            <a:pPr marL="1199515" lvl="2" indent="-285750">
              <a:buFont typeface="Arial" panose="020B0604020202020204" pitchFamily="34" charset="0"/>
              <a:buChar char="•"/>
            </a:pPr>
            <a:r>
              <a:rPr lang="en-US" kern="800" spc="0">
                <a:ea typeface="Source Sans Pro"/>
                <a:cs typeface="Calibri" panose="020F0502020204030204"/>
              </a:rPr>
              <a:t>Fuel Rich</a:t>
            </a:r>
          </a:p>
          <a:p>
            <a:pPr marL="742315" lvl="1" indent="-285750">
              <a:buFont typeface="Arial" panose="020B0604020202020204" pitchFamily="34" charset="0"/>
              <a:buChar char="•"/>
            </a:pPr>
            <a:r>
              <a:rPr lang="en-US" kern="800" spc="0">
                <a:ea typeface="Source Sans Pro"/>
                <a:cs typeface="Calibri" panose="020F0502020204030204"/>
              </a:rPr>
              <a:t>Mass Flow: 0.94 kg/s</a:t>
            </a:r>
            <a:endParaRPr lang="en-US">
              <a:cs typeface="Calibri" panose="020F0502020204030204"/>
            </a:endParaRPr>
          </a:p>
          <a:p>
            <a:pPr marL="1199515" lvl="2" indent="-285750">
              <a:buFont typeface="Arial" panose="020B0604020202020204" pitchFamily="34" charset="0"/>
              <a:buChar char="•"/>
            </a:pPr>
            <a:r>
              <a:rPr lang="en-US" kern="800" spc="0">
                <a:ea typeface="Source Sans Pro"/>
                <a:cs typeface="Calibri" panose="020F0502020204030204"/>
              </a:rPr>
              <a:t>Oxidizer: 0.68 kg/s</a:t>
            </a:r>
            <a:endParaRPr lang="en-US" kern="800" spc="0">
              <a:cs typeface="Calibri" panose="020F0502020204030204"/>
            </a:endParaRPr>
          </a:p>
          <a:p>
            <a:pPr marL="1199515" lvl="2" indent="-285750">
              <a:buFont typeface="Arial" panose="020B0604020202020204" pitchFamily="34" charset="0"/>
              <a:buChar char="•"/>
            </a:pPr>
            <a:r>
              <a:rPr lang="en-US" kern="800" spc="0">
                <a:ea typeface="Source Sans Pro"/>
                <a:cs typeface="Calibri" panose="020F0502020204030204"/>
              </a:rPr>
              <a:t>Fuel: 0.26 kg/s</a:t>
            </a:r>
            <a:endParaRPr lang="en-US">
              <a:cs typeface="Calibri" panose="020F0502020204030204"/>
            </a:endParaRPr>
          </a:p>
          <a:p>
            <a:pPr marL="742315" lvl="1" indent="-285750">
              <a:buChar char="•"/>
            </a:pPr>
            <a:r>
              <a:rPr lang="en-US">
                <a:ea typeface="Source Sans Pro"/>
                <a:cs typeface="Calibri" panose="020F0502020204030204"/>
              </a:rPr>
              <a:t>Ambient Pressure: Δ0.13 atm</a:t>
            </a:r>
          </a:p>
          <a:p>
            <a:pPr marL="1199515" lvl="2" indent="-285750">
              <a:buFont typeface="Arial" panose="020B0604020202020204" pitchFamily="34" charset="0"/>
              <a:buChar char="•"/>
            </a:pPr>
            <a:r>
              <a:rPr lang="en-US" spc="27">
                <a:ea typeface="Source Sans Pro"/>
                <a:cs typeface="Calibri" panose="020F0502020204030204"/>
              </a:rPr>
              <a:t>(0.93 to 0.80) atm</a:t>
            </a:r>
          </a:p>
          <a:p>
            <a:pPr marL="742315" lvl="1" indent="-285750">
              <a:buFont typeface="Arial" panose="020B0604020202020204" pitchFamily="34" charset="0"/>
              <a:buChar char="•"/>
            </a:pPr>
            <a:r>
              <a:rPr lang="en-US" spc="27">
                <a:ea typeface="Source Sans Pro"/>
                <a:cs typeface="Calibri" panose="020F0502020204030204"/>
              </a:rPr>
              <a:t>Exit Pressure:</a:t>
            </a:r>
            <a:r>
              <a:rPr lang="en-US">
                <a:ea typeface="Source Sans Pro"/>
                <a:cs typeface="Calibri" panose="020F0502020204030204"/>
              </a:rPr>
              <a:t> 5.42 psi</a:t>
            </a:r>
          </a:p>
          <a:p>
            <a:pPr marL="742315" lvl="1" indent="-285750">
              <a:buFont typeface="Arial" panose="020B0604020202020204" pitchFamily="34" charset="0"/>
              <a:buChar char="•"/>
            </a:pPr>
            <a:r>
              <a:rPr lang="en-US">
                <a:ea typeface="Source Sans Pro"/>
                <a:cs typeface="Calibri" panose="020F0502020204030204"/>
              </a:rPr>
              <a:t>Pressure Thrust: -43 </a:t>
            </a:r>
            <a:r>
              <a:rPr lang="en-US" err="1">
                <a:ea typeface="Source Sans Pro"/>
                <a:cs typeface="Calibri" panose="020F0502020204030204"/>
              </a:rPr>
              <a:t>lbf</a:t>
            </a:r>
            <a:r>
              <a:rPr lang="en-US">
                <a:ea typeface="Source Sans Pro"/>
                <a:cs typeface="Calibri" panose="020F0502020204030204"/>
              </a:rPr>
              <a:t> </a:t>
            </a:r>
          </a:p>
        </p:txBody>
      </p:sp>
      <p:sp>
        <p:nvSpPr>
          <p:cNvPr id="3" name="Footer Placeholder 2">
            <a:extLst>
              <a:ext uri="{FF2B5EF4-FFF2-40B4-BE49-F238E27FC236}">
                <a16:creationId xmlns:a16="http://schemas.microsoft.com/office/drawing/2014/main" id="{F9D0A423-B8E3-C08A-6DE8-B608DBD1ABDD}"/>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BDC6F424-8B68-0B13-3372-C3EA2E8C2827}"/>
              </a:ext>
            </a:extLst>
          </p:cNvPr>
          <p:cNvSpPr>
            <a:spLocks noGrp="1"/>
          </p:cNvSpPr>
          <p:nvPr>
            <p:ph type="sldNum" sz="quarter" idx="17"/>
          </p:nvPr>
        </p:nvSpPr>
        <p:spPr/>
        <p:txBody>
          <a:bodyPr/>
          <a:lstStyle/>
          <a:p>
            <a:r>
              <a:rPr lang="en-US"/>
              <a:t>/   </a:t>
            </a:r>
            <a:fld id="{6C7E6F33-74EE-5541-8108-8353B402F8C1}" type="slidenum">
              <a:rPr lang="en-US" smtClean="0"/>
              <a:pPr/>
              <a:t>45</a:t>
            </a:fld>
            <a:endParaRPr lang="en-US"/>
          </a:p>
        </p:txBody>
      </p:sp>
      <p:sp>
        <p:nvSpPr>
          <p:cNvPr id="5" name="Title 4">
            <a:extLst>
              <a:ext uri="{FF2B5EF4-FFF2-40B4-BE49-F238E27FC236}">
                <a16:creationId xmlns:a16="http://schemas.microsoft.com/office/drawing/2014/main" id="{31C65984-CD0A-D2C8-E027-20B48FA9E692}"/>
              </a:ext>
            </a:extLst>
          </p:cNvPr>
          <p:cNvSpPr>
            <a:spLocks noGrp="1"/>
          </p:cNvSpPr>
          <p:nvPr>
            <p:ph type="title"/>
          </p:nvPr>
        </p:nvSpPr>
        <p:spPr/>
        <p:txBody>
          <a:bodyPr/>
          <a:lstStyle/>
          <a:p>
            <a:r>
              <a:rPr lang="en-US">
                <a:latin typeface="Munistic"/>
              </a:rPr>
              <a:t>Engine Design</a:t>
            </a:r>
          </a:p>
        </p:txBody>
      </p:sp>
      <p:sp>
        <p:nvSpPr>
          <p:cNvPr id="6" name="Text Placeholder 5">
            <a:extLst>
              <a:ext uri="{FF2B5EF4-FFF2-40B4-BE49-F238E27FC236}">
                <a16:creationId xmlns:a16="http://schemas.microsoft.com/office/drawing/2014/main" id="{800956EE-470F-AF0E-BFA7-EBC77769B4FA}"/>
              </a:ext>
            </a:extLst>
          </p:cNvPr>
          <p:cNvSpPr>
            <a:spLocks noGrp="1"/>
          </p:cNvSpPr>
          <p:nvPr>
            <p:ph type="body" sz="quarter" idx="13"/>
          </p:nvPr>
        </p:nvSpPr>
        <p:spPr/>
        <p:txBody>
          <a:bodyPr/>
          <a:lstStyle/>
          <a:p>
            <a:r>
              <a:rPr lang="en-US" sz="1850">
                <a:ea typeface="Source Sans Pro"/>
                <a:cs typeface="Calibri"/>
              </a:rPr>
              <a:t>Nozzle Design Parameters</a:t>
            </a:r>
            <a:endParaRPr lang="en-US"/>
          </a:p>
        </p:txBody>
      </p:sp>
      <p:sp>
        <p:nvSpPr>
          <p:cNvPr id="8" name="TextBox 7">
            <a:extLst>
              <a:ext uri="{FF2B5EF4-FFF2-40B4-BE49-F238E27FC236}">
                <a16:creationId xmlns:a16="http://schemas.microsoft.com/office/drawing/2014/main" id="{C7E1F4D7-B11B-4132-B6D7-5695633CB50E}"/>
              </a:ext>
            </a:extLst>
          </p:cNvPr>
          <p:cNvSpPr txBox="1"/>
          <p:nvPr/>
        </p:nvSpPr>
        <p:spPr>
          <a:xfrm>
            <a:off x="4859725" y="1687093"/>
            <a:ext cx="4324350" cy="31703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b="1">
                <a:ea typeface="Calibri"/>
                <a:cs typeface="Calibri"/>
              </a:rPr>
              <a:t>Sizing (Off The Shelf):</a:t>
            </a:r>
          </a:p>
          <a:p>
            <a:pPr marL="342900" indent="-342900">
              <a:buFont typeface="Arial"/>
              <a:buChar char="•"/>
            </a:pPr>
            <a:r>
              <a:rPr lang="en-US" sz="1600">
                <a:ea typeface="Calibri"/>
                <a:cs typeface="Calibri"/>
              </a:rPr>
              <a:t>Expansion Ratio: 7.49</a:t>
            </a:r>
          </a:p>
          <a:p>
            <a:pPr marL="342900" indent="-342900">
              <a:buFont typeface="Arial"/>
              <a:buChar char="•"/>
            </a:pPr>
            <a:r>
              <a:rPr lang="en-US" sz="1600">
                <a:ea typeface="Calibri"/>
                <a:cs typeface="Calibri"/>
              </a:rPr>
              <a:t>Contraction Ratio: 11.39</a:t>
            </a:r>
          </a:p>
          <a:p>
            <a:pPr marL="800100" lvl="1" indent="-342900">
              <a:buFont typeface="Courier New"/>
              <a:buChar char="o"/>
            </a:pPr>
            <a:r>
              <a:rPr lang="en-US" sz="1600">
                <a:ea typeface="Calibri"/>
                <a:cs typeface="Calibri"/>
              </a:rPr>
              <a:t>Chamber Diameter: 3.375"</a:t>
            </a:r>
          </a:p>
          <a:p>
            <a:pPr marL="800100" lvl="1" indent="-342900">
              <a:buFont typeface="Courier New"/>
              <a:buChar char="o"/>
            </a:pPr>
            <a:r>
              <a:rPr lang="en-US" sz="1600">
                <a:ea typeface="Calibri"/>
                <a:cs typeface="Calibri"/>
              </a:rPr>
              <a:t>Throat Diameter: 1.000"</a:t>
            </a:r>
          </a:p>
          <a:p>
            <a:pPr marL="800100" lvl="1" indent="-342900">
              <a:buFont typeface="Courier New"/>
              <a:buChar char="o"/>
            </a:pPr>
            <a:r>
              <a:rPr lang="en-US" sz="1600">
                <a:ea typeface="Calibri"/>
                <a:cs typeface="Calibri"/>
              </a:rPr>
              <a:t>Exit Diameter: 2.737"</a:t>
            </a:r>
          </a:p>
          <a:p>
            <a:pPr marL="800100" lvl="1" indent="-342900">
              <a:buFont typeface="Courier New"/>
              <a:buChar char="o"/>
            </a:pPr>
            <a:r>
              <a:rPr lang="en-US" sz="1600">
                <a:ea typeface="Calibri"/>
                <a:cs typeface="Calibri"/>
              </a:rPr>
              <a:t>Converging Half Angle: 60°</a:t>
            </a:r>
          </a:p>
          <a:p>
            <a:pPr marL="800100" lvl="1" indent="-342900">
              <a:buFont typeface="Courier New"/>
              <a:buChar char="o"/>
            </a:pPr>
            <a:r>
              <a:rPr lang="en-US" sz="1600">
                <a:ea typeface="Calibri"/>
                <a:cs typeface="Calibri"/>
              </a:rPr>
              <a:t>Diverging Half Angle" 15°</a:t>
            </a:r>
          </a:p>
          <a:p>
            <a:pPr marL="285750" indent="-285750">
              <a:lnSpc>
                <a:spcPct val="150000"/>
              </a:lnSpc>
              <a:buFont typeface="Arial"/>
              <a:buChar char="•"/>
            </a:pPr>
            <a:r>
              <a:rPr lang="en-US" sz="1600">
                <a:ea typeface="Calibri"/>
                <a:cs typeface="Calibri"/>
              </a:rPr>
              <a:t>L*: 1.42 m</a:t>
            </a:r>
          </a:p>
          <a:p>
            <a:pPr marL="285750" indent="-285750">
              <a:lnSpc>
                <a:spcPct val="150000"/>
              </a:lnSpc>
              <a:buFont typeface="Arial"/>
              <a:buChar char="•"/>
            </a:pPr>
            <a:r>
              <a:rPr lang="en-US" sz="1600">
                <a:ea typeface="Calibri"/>
                <a:cs typeface="Calibri"/>
              </a:rPr>
              <a:t>C*: 1360 m/s</a:t>
            </a:r>
          </a:p>
          <a:p>
            <a:pPr marL="285750" indent="-285750">
              <a:lnSpc>
                <a:spcPct val="150000"/>
              </a:lnSpc>
              <a:buFont typeface="Arial"/>
              <a:buChar char="•"/>
            </a:pPr>
            <a:r>
              <a:rPr lang="en-US" sz="1600">
                <a:ea typeface="Calibri"/>
                <a:cs typeface="Calibri"/>
              </a:rPr>
              <a:t>Nozzle Type: Conical</a:t>
            </a:r>
          </a:p>
        </p:txBody>
      </p:sp>
      <p:sp>
        <p:nvSpPr>
          <p:cNvPr id="10" name="TextBox 9">
            <a:extLst>
              <a:ext uri="{FF2B5EF4-FFF2-40B4-BE49-F238E27FC236}">
                <a16:creationId xmlns:a16="http://schemas.microsoft.com/office/drawing/2014/main" id="{EC2C079B-8E1B-27EA-363B-3908F216A0B6}"/>
              </a:ext>
            </a:extLst>
          </p:cNvPr>
          <p:cNvSpPr txBox="1"/>
          <p:nvPr/>
        </p:nvSpPr>
        <p:spPr>
          <a:xfrm>
            <a:off x="8971813" y="6036054"/>
            <a:ext cx="27999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Fig 4.4: Engine-Injector Assembly</a:t>
            </a:r>
            <a:endParaRPr lang="en-US" sz="1400">
              <a:ea typeface="Calibri"/>
              <a:cs typeface="Calibri"/>
            </a:endParaRPr>
          </a:p>
        </p:txBody>
      </p:sp>
      <p:pic>
        <p:nvPicPr>
          <p:cNvPr id="9" name="Picture 8">
            <a:extLst>
              <a:ext uri="{FF2B5EF4-FFF2-40B4-BE49-F238E27FC236}">
                <a16:creationId xmlns:a16="http://schemas.microsoft.com/office/drawing/2014/main" id="{7E3CDED7-C5A0-34EA-69FC-48574A44FF98}"/>
              </a:ext>
            </a:extLst>
          </p:cNvPr>
          <p:cNvPicPr>
            <a:picLocks noChangeAspect="1"/>
          </p:cNvPicPr>
          <p:nvPr/>
        </p:nvPicPr>
        <p:blipFill>
          <a:blip r:embed="rId4"/>
          <a:stretch>
            <a:fillRect/>
          </a:stretch>
        </p:blipFill>
        <p:spPr>
          <a:xfrm>
            <a:off x="8445172" y="1484093"/>
            <a:ext cx="3406008" cy="1775701"/>
          </a:xfrm>
          <a:prstGeom prst="rect">
            <a:avLst/>
          </a:prstGeom>
        </p:spPr>
      </p:pic>
      <p:sp>
        <p:nvSpPr>
          <p:cNvPr id="11" name="TextBox 10">
            <a:extLst>
              <a:ext uri="{FF2B5EF4-FFF2-40B4-BE49-F238E27FC236}">
                <a16:creationId xmlns:a16="http://schemas.microsoft.com/office/drawing/2014/main" id="{0E62492F-8AC8-D167-EED7-7E8E47D3019C}"/>
              </a:ext>
            </a:extLst>
          </p:cNvPr>
          <p:cNvSpPr txBox="1"/>
          <p:nvPr/>
        </p:nvSpPr>
        <p:spPr>
          <a:xfrm>
            <a:off x="9048013" y="3259571"/>
            <a:ext cx="27999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Fig 4.3: Nozzle Geometry</a:t>
            </a:r>
            <a:endParaRPr lang="en-US" sz="1400">
              <a:ea typeface="Calibri"/>
              <a:cs typeface="Calibri"/>
            </a:endParaRPr>
          </a:p>
        </p:txBody>
      </p:sp>
      <p:pic>
        <p:nvPicPr>
          <p:cNvPr id="12" name="Picture 11" descr="A drawing of a machine&#10;&#10;AI-generated content may be incorrect.">
            <a:extLst>
              <a:ext uri="{FF2B5EF4-FFF2-40B4-BE49-F238E27FC236}">
                <a16:creationId xmlns:a16="http://schemas.microsoft.com/office/drawing/2014/main" id="{F80A11A2-B438-CDC7-183A-8BEBE167A6C1}"/>
              </a:ext>
            </a:extLst>
          </p:cNvPr>
          <p:cNvPicPr>
            <a:picLocks noChangeAspect="1"/>
          </p:cNvPicPr>
          <p:nvPr/>
        </p:nvPicPr>
        <p:blipFill>
          <a:blip r:embed="rId5"/>
          <a:srcRect l="14306" t="9574" r="7625" b="9004"/>
          <a:stretch>
            <a:fillRect/>
          </a:stretch>
        </p:blipFill>
        <p:spPr>
          <a:xfrm>
            <a:off x="8700054" y="3569851"/>
            <a:ext cx="2908665" cy="2474107"/>
          </a:xfrm>
          <a:prstGeom prst="rect">
            <a:avLst/>
          </a:prstGeom>
        </p:spPr>
      </p:pic>
    </p:spTree>
    <p:extLst>
      <p:ext uri="{BB962C8B-B14F-4D97-AF65-F5344CB8AC3E}">
        <p14:creationId xmlns:p14="http://schemas.microsoft.com/office/powerpoint/2010/main" val="2333701135"/>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9D24F-6B5A-9E3C-CA4F-5BC4E7E9135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925A5E0-E705-79CC-84C3-165BBB73330A}"/>
              </a:ext>
            </a:extLst>
          </p:cNvPr>
          <p:cNvSpPr>
            <a:spLocks noGrp="1"/>
          </p:cNvSpPr>
          <p:nvPr>
            <p:ph type="body" sz="quarter" idx="15"/>
          </p:nvPr>
        </p:nvSpPr>
        <p:spPr/>
        <p:txBody>
          <a:bodyPr vert="horz" lIns="91440" tIns="45720" rIns="91440" bIns="45720" numCol="2" spcCol="457200" rtlCol="0" anchor="t">
            <a:noAutofit/>
          </a:bodyPr>
          <a:lstStyle/>
          <a:p>
            <a:pPr marL="121920" indent="0">
              <a:buNone/>
            </a:pPr>
            <a:endParaRPr lang="en-US" sz="1850">
              <a:cs typeface="Calibri" panose="020F0502020204030204"/>
            </a:endParaRPr>
          </a:p>
          <a:p>
            <a:pPr marL="121920" indent="0">
              <a:buNone/>
            </a:pPr>
            <a:endParaRPr lang="en-US">
              <a:cs typeface="Calibri" panose="020F0502020204030204"/>
            </a:endParaRPr>
          </a:p>
          <a:p>
            <a:pPr marL="380365" indent="-258445"/>
            <a:endParaRPr lang="en-US">
              <a:cs typeface="Calibri" panose="020F0502020204030204"/>
            </a:endParaRPr>
          </a:p>
        </p:txBody>
      </p:sp>
      <p:sp>
        <p:nvSpPr>
          <p:cNvPr id="3" name="Footer Placeholder 2">
            <a:extLst>
              <a:ext uri="{FF2B5EF4-FFF2-40B4-BE49-F238E27FC236}">
                <a16:creationId xmlns:a16="http://schemas.microsoft.com/office/drawing/2014/main" id="{BFDF9660-8A6B-E9E8-DA82-5A49FAAE8BB4}"/>
              </a:ext>
            </a:extLst>
          </p:cNvPr>
          <p:cNvSpPr>
            <a:spLocks noGrp="1"/>
          </p:cNvSpPr>
          <p:nvPr>
            <p:ph type="ftr" sz="quarter" idx="16"/>
          </p:nvPr>
        </p:nvSpPr>
        <p:spPr/>
        <p:txBody>
          <a:bodyPr/>
          <a:lstStyle/>
          <a:p>
            <a:r>
              <a:rPr lang="en-US" sz="900">
                <a:latin typeface="Source Sans Pro"/>
                <a:ea typeface="Source Sans Pro"/>
              </a:rPr>
              <a:t>ARCHERFISH CDR</a:t>
            </a:r>
          </a:p>
        </p:txBody>
      </p:sp>
      <p:sp>
        <p:nvSpPr>
          <p:cNvPr id="4" name="Slide Number Placeholder 3">
            <a:extLst>
              <a:ext uri="{FF2B5EF4-FFF2-40B4-BE49-F238E27FC236}">
                <a16:creationId xmlns:a16="http://schemas.microsoft.com/office/drawing/2014/main" id="{F0203DE5-CBAD-7CCF-A6E6-0786702037B2}"/>
              </a:ext>
            </a:extLst>
          </p:cNvPr>
          <p:cNvSpPr>
            <a:spLocks noGrp="1"/>
          </p:cNvSpPr>
          <p:nvPr>
            <p:ph type="sldNum" sz="quarter" idx="17"/>
          </p:nvPr>
        </p:nvSpPr>
        <p:spPr/>
        <p:txBody>
          <a:bodyPr/>
          <a:lstStyle/>
          <a:p>
            <a:r>
              <a:rPr lang="en-US"/>
              <a:t>/   </a:t>
            </a:r>
            <a:fld id="{6C7E6F33-74EE-5541-8108-8353B402F8C1}" type="slidenum">
              <a:rPr lang="en-US" smtClean="0"/>
              <a:pPr/>
              <a:t>46</a:t>
            </a:fld>
            <a:endParaRPr lang="en-US"/>
          </a:p>
        </p:txBody>
      </p:sp>
      <p:sp>
        <p:nvSpPr>
          <p:cNvPr id="5" name="Title 4">
            <a:extLst>
              <a:ext uri="{FF2B5EF4-FFF2-40B4-BE49-F238E27FC236}">
                <a16:creationId xmlns:a16="http://schemas.microsoft.com/office/drawing/2014/main" id="{F8C1D7A0-B647-F278-40DB-B2A1F8A1748F}"/>
              </a:ext>
            </a:extLst>
          </p:cNvPr>
          <p:cNvSpPr>
            <a:spLocks noGrp="1"/>
          </p:cNvSpPr>
          <p:nvPr>
            <p:ph type="title"/>
          </p:nvPr>
        </p:nvSpPr>
        <p:spPr/>
        <p:txBody>
          <a:bodyPr/>
          <a:lstStyle/>
          <a:p>
            <a:r>
              <a:rPr lang="en-US"/>
              <a:t>Engine Design</a:t>
            </a:r>
          </a:p>
        </p:txBody>
      </p:sp>
      <p:sp>
        <p:nvSpPr>
          <p:cNvPr id="6" name="Text Placeholder 5">
            <a:extLst>
              <a:ext uri="{FF2B5EF4-FFF2-40B4-BE49-F238E27FC236}">
                <a16:creationId xmlns:a16="http://schemas.microsoft.com/office/drawing/2014/main" id="{31A8BF85-06CB-DE4B-617C-BCA99AFB25C3}"/>
              </a:ext>
            </a:extLst>
          </p:cNvPr>
          <p:cNvSpPr>
            <a:spLocks noGrp="1"/>
          </p:cNvSpPr>
          <p:nvPr>
            <p:ph type="body" sz="quarter" idx="13"/>
          </p:nvPr>
        </p:nvSpPr>
        <p:spPr/>
        <p:txBody>
          <a:bodyPr/>
          <a:lstStyle/>
          <a:p>
            <a:r>
              <a:rPr lang="en-US" sz="1850">
                <a:ea typeface="Source Sans Pro"/>
                <a:cs typeface="Calibri"/>
              </a:rPr>
              <a:t>Nozzle Choice</a:t>
            </a:r>
            <a:endParaRPr lang="en-US"/>
          </a:p>
        </p:txBody>
      </p:sp>
      <p:sp>
        <p:nvSpPr>
          <p:cNvPr id="8" name="TextBox 7">
            <a:extLst>
              <a:ext uri="{FF2B5EF4-FFF2-40B4-BE49-F238E27FC236}">
                <a16:creationId xmlns:a16="http://schemas.microsoft.com/office/drawing/2014/main" id="{065255C4-F384-913B-CA7E-3430297D47B2}"/>
              </a:ext>
            </a:extLst>
          </p:cNvPr>
          <p:cNvSpPr txBox="1"/>
          <p:nvPr/>
        </p:nvSpPr>
        <p:spPr>
          <a:xfrm>
            <a:off x="682912" y="1345486"/>
            <a:ext cx="3775444" cy="50629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700" b="1">
                <a:ea typeface="Calibri"/>
                <a:cs typeface="Calibri"/>
              </a:rPr>
              <a:t>Stratum Engine Design:</a:t>
            </a:r>
            <a:endParaRPr lang="en-US"/>
          </a:p>
          <a:p>
            <a:pPr marL="285750" indent="-285750">
              <a:lnSpc>
                <a:spcPct val="150000"/>
              </a:lnSpc>
              <a:buFont typeface="Arial"/>
              <a:buChar char="•"/>
            </a:pPr>
            <a:r>
              <a:rPr lang="en-US" sz="1700">
                <a:ea typeface="Calibri"/>
                <a:cs typeface="Calibri"/>
              </a:rPr>
              <a:t>Commercial Single-Throat nozzle</a:t>
            </a:r>
          </a:p>
          <a:p>
            <a:pPr marL="742950" lvl="1" indent="-285750">
              <a:lnSpc>
                <a:spcPct val="150000"/>
              </a:lnSpc>
              <a:buFont typeface="Courier New"/>
              <a:buChar char="o"/>
            </a:pPr>
            <a:r>
              <a:rPr lang="en-US" sz="1700">
                <a:ea typeface="Calibri"/>
                <a:cs typeface="Calibri"/>
              </a:rPr>
              <a:t>Supplied by RCS Rocket Motor Components</a:t>
            </a:r>
          </a:p>
          <a:p>
            <a:pPr marL="742950" lvl="1" indent="-285750">
              <a:lnSpc>
                <a:spcPct val="150000"/>
              </a:lnSpc>
              <a:buFont typeface="Courier New"/>
              <a:buChar char="o"/>
            </a:pPr>
            <a:r>
              <a:rPr lang="en-US" sz="1700">
                <a:ea typeface="Calibri"/>
                <a:cs typeface="Calibri"/>
              </a:rPr>
              <a:t>Molded Glass Phenolic Nozzle</a:t>
            </a:r>
          </a:p>
          <a:p>
            <a:pPr marL="742950" lvl="1" indent="-285750">
              <a:lnSpc>
                <a:spcPct val="150000"/>
              </a:lnSpc>
              <a:buFont typeface="Courier New"/>
              <a:buChar char="o"/>
            </a:pPr>
            <a:r>
              <a:rPr lang="en-US" sz="1700">
                <a:ea typeface="Calibri"/>
                <a:cs typeface="Calibri"/>
              </a:rPr>
              <a:t>Ablatively Cooled</a:t>
            </a:r>
          </a:p>
          <a:p>
            <a:pPr marL="285750" indent="-285750">
              <a:lnSpc>
                <a:spcPct val="150000"/>
              </a:lnSpc>
              <a:buFont typeface="Arial"/>
              <a:buChar char="•"/>
            </a:pPr>
            <a:r>
              <a:rPr lang="en-US" sz="1700">
                <a:ea typeface="Calibri"/>
                <a:cs typeface="Calibri"/>
              </a:rPr>
              <a:t>Used in previous year in static testing (300lbf)</a:t>
            </a:r>
          </a:p>
          <a:p>
            <a:pPr marL="742950" lvl="1" indent="-285750">
              <a:lnSpc>
                <a:spcPct val="150000"/>
              </a:lnSpc>
              <a:buFont typeface="Courier New"/>
              <a:buChar char="o"/>
            </a:pPr>
            <a:r>
              <a:rPr lang="en-US" sz="1700">
                <a:ea typeface="Calibri"/>
                <a:cs typeface="Calibri"/>
              </a:rPr>
              <a:t>Tested in cold flows &amp; 8 hot fires</a:t>
            </a:r>
          </a:p>
          <a:p>
            <a:pPr marL="742950" lvl="1" indent="-285750">
              <a:lnSpc>
                <a:spcPct val="150000"/>
              </a:lnSpc>
              <a:buFont typeface="Courier New"/>
              <a:buChar char="o"/>
            </a:pPr>
            <a:r>
              <a:rPr lang="en-US" sz="1700">
                <a:ea typeface="Calibri"/>
                <a:cs typeface="Calibri"/>
              </a:rPr>
              <a:t>Proven</a:t>
            </a:r>
            <a:r>
              <a:rPr lang="en-US" sz="1700">
                <a:ea typeface="+mn-lt"/>
                <a:cs typeface="+mn-lt"/>
              </a:rPr>
              <a:t> thermal performance </a:t>
            </a:r>
            <a:endParaRPr lang="en-US" sz="1700">
              <a:ea typeface="Calibri"/>
              <a:cs typeface="Calibri"/>
            </a:endParaRPr>
          </a:p>
          <a:p>
            <a:pPr marL="742950" lvl="1" indent="-285750">
              <a:lnSpc>
                <a:spcPct val="150000"/>
              </a:lnSpc>
              <a:buFont typeface="Courier New"/>
              <a:buChar char="o"/>
            </a:pPr>
            <a:r>
              <a:rPr lang="en-US" sz="1700">
                <a:ea typeface="Calibri"/>
                <a:cs typeface="Calibri"/>
              </a:rPr>
              <a:t>Pre-sized Ablative Lining</a:t>
            </a:r>
          </a:p>
          <a:p>
            <a:pPr marL="1200150" lvl="2" indent="-285750">
              <a:lnSpc>
                <a:spcPct val="150000"/>
              </a:lnSpc>
              <a:buFont typeface="Wingdings"/>
              <a:buChar char="§"/>
            </a:pPr>
            <a:r>
              <a:rPr lang="en-US" sz="1700">
                <a:ea typeface="Calibri"/>
                <a:cs typeface="Calibri"/>
              </a:rPr>
              <a:t>Store Bought</a:t>
            </a:r>
          </a:p>
          <a:p>
            <a:pPr marL="742950" lvl="1" indent="-285750">
              <a:buFont typeface="Courier New"/>
              <a:buChar char="o"/>
            </a:pPr>
            <a:endParaRPr lang="en-US" sz="1700">
              <a:ea typeface="Calibri"/>
              <a:cs typeface="Calibri"/>
            </a:endParaRPr>
          </a:p>
        </p:txBody>
      </p:sp>
      <p:pic>
        <p:nvPicPr>
          <p:cNvPr id="9" name="Picture 8" descr="A black and gold cylinder&#10;&#10;AI-generated content may be incorrect.">
            <a:extLst>
              <a:ext uri="{FF2B5EF4-FFF2-40B4-BE49-F238E27FC236}">
                <a16:creationId xmlns:a16="http://schemas.microsoft.com/office/drawing/2014/main" id="{F7BB1080-E626-2FBF-3C08-86274BBE6A49}"/>
              </a:ext>
            </a:extLst>
          </p:cNvPr>
          <p:cNvPicPr>
            <a:picLocks noChangeAspect="1"/>
          </p:cNvPicPr>
          <p:nvPr/>
        </p:nvPicPr>
        <p:blipFill>
          <a:blip r:embed="rId4"/>
          <a:stretch>
            <a:fillRect/>
          </a:stretch>
        </p:blipFill>
        <p:spPr>
          <a:xfrm>
            <a:off x="8925035" y="1341881"/>
            <a:ext cx="2847756" cy="2177976"/>
          </a:xfrm>
          <a:prstGeom prst="rect">
            <a:avLst/>
          </a:prstGeom>
        </p:spPr>
      </p:pic>
      <p:pic>
        <p:nvPicPr>
          <p:cNvPr id="10" name="Picture 9" descr="A blueprint of a machine&#10;&#10;AI-generated content may be incorrect.">
            <a:extLst>
              <a:ext uri="{FF2B5EF4-FFF2-40B4-BE49-F238E27FC236}">
                <a16:creationId xmlns:a16="http://schemas.microsoft.com/office/drawing/2014/main" id="{8F30482A-6309-16A0-8B80-DE0B5E469E88}"/>
              </a:ext>
            </a:extLst>
          </p:cNvPr>
          <p:cNvPicPr>
            <a:picLocks noChangeAspect="1"/>
          </p:cNvPicPr>
          <p:nvPr/>
        </p:nvPicPr>
        <p:blipFill>
          <a:blip r:embed="rId5"/>
          <a:srcRect l="503" t="16439" r="304" b="20235"/>
          <a:stretch>
            <a:fillRect/>
          </a:stretch>
        </p:blipFill>
        <p:spPr>
          <a:xfrm>
            <a:off x="5924564" y="3647816"/>
            <a:ext cx="5823479" cy="2537990"/>
          </a:xfrm>
          <a:prstGeom prst="rect">
            <a:avLst/>
          </a:prstGeom>
        </p:spPr>
      </p:pic>
      <p:sp>
        <p:nvSpPr>
          <p:cNvPr id="12" name="TextBox 11">
            <a:extLst>
              <a:ext uri="{FF2B5EF4-FFF2-40B4-BE49-F238E27FC236}">
                <a16:creationId xmlns:a16="http://schemas.microsoft.com/office/drawing/2014/main" id="{83ADF492-C600-FD2B-4749-0F566C8B69F3}"/>
              </a:ext>
            </a:extLst>
          </p:cNvPr>
          <p:cNvSpPr txBox="1"/>
          <p:nvPr/>
        </p:nvSpPr>
        <p:spPr>
          <a:xfrm>
            <a:off x="9449206" y="3520558"/>
            <a:ext cx="274392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Fig 4.1: </a:t>
            </a:r>
            <a:r>
              <a:rPr lang="en-US" sz="1400">
                <a:ea typeface="Calibri"/>
                <a:cs typeface="Calibri"/>
              </a:rPr>
              <a:t>Stratum Engine Nozzle</a:t>
            </a:r>
          </a:p>
        </p:txBody>
      </p:sp>
      <p:sp>
        <p:nvSpPr>
          <p:cNvPr id="13" name="TextBox 12">
            <a:extLst>
              <a:ext uri="{FF2B5EF4-FFF2-40B4-BE49-F238E27FC236}">
                <a16:creationId xmlns:a16="http://schemas.microsoft.com/office/drawing/2014/main" id="{3328FCE5-C59E-A710-4B23-E4A095AF6FB6}"/>
              </a:ext>
            </a:extLst>
          </p:cNvPr>
          <p:cNvSpPr txBox="1"/>
          <p:nvPr/>
        </p:nvSpPr>
        <p:spPr>
          <a:xfrm>
            <a:off x="8836507" y="6005656"/>
            <a:ext cx="319721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Fig 4.2: </a:t>
            </a:r>
            <a:r>
              <a:rPr lang="en-US" sz="1400">
                <a:ea typeface="Calibri"/>
                <a:cs typeface="Calibri"/>
              </a:rPr>
              <a:t>RCS Engine Drawing</a:t>
            </a:r>
          </a:p>
        </p:txBody>
      </p:sp>
    </p:spTree>
    <p:extLst>
      <p:ext uri="{BB962C8B-B14F-4D97-AF65-F5344CB8AC3E}">
        <p14:creationId xmlns:p14="http://schemas.microsoft.com/office/powerpoint/2010/main" val="1941736842"/>
      </p:ext>
    </p:extLst>
  </p:cSld>
  <p:clrMapOvr>
    <a:masterClrMapping/>
  </p:clrMapOvr>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B4A1367-8FA7-BB06-EA9C-FA25534AF640}"/>
              </a:ext>
            </a:extLst>
          </p:cNvPr>
          <p:cNvSpPr>
            <a:spLocks noGrp="1"/>
          </p:cNvSpPr>
          <p:nvPr>
            <p:ph type="ftr" sz="quarter" idx="14"/>
          </p:nvPr>
        </p:nvSpPr>
        <p:spPr/>
        <p:txBody>
          <a:bodyPr/>
          <a:lstStyle/>
          <a:p>
            <a:r>
              <a:rPr lang="en-US" sz="900">
                <a:latin typeface="Source Sans Pro"/>
                <a:ea typeface="Source Sans Pro"/>
              </a:rPr>
              <a:t>ARCHERFISH CDR</a:t>
            </a:r>
            <a:endParaRPr lang="en-US"/>
          </a:p>
        </p:txBody>
      </p:sp>
      <p:sp>
        <p:nvSpPr>
          <p:cNvPr id="3" name="Slide Number Placeholder 2">
            <a:extLst>
              <a:ext uri="{FF2B5EF4-FFF2-40B4-BE49-F238E27FC236}">
                <a16:creationId xmlns:a16="http://schemas.microsoft.com/office/drawing/2014/main" id="{BA5E0341-45FC-8140-03C9-CD7ED9CEF0D2}"/>
              </a:ext>
            </a:extLst>
          </p:cNvPr>
          <p:cNvSpPr>
            <a:spLocks noGrp="1"/>
          </p:cNvSpPr>
          <p:nvPr>
            <p:ph type="sldNum" sz="quarter" idx="15"/>
          </p:nvPr>
        </p:nvSpPr>
        <p:spPr/>
        <p:txBody>
          <a:bodyPr/>
          <a:lstStyle/>
          <a:p>
            <a:r>
              <a:rPr lang="en-US"/>
              <a:t>/   </a:t>
            </a:r>
            <a:fld id="{6C7E6F33-74EE-5541-8108-8353B402F8C1}" type="slidenum">
              <a:rPr lang="en-US" smtClean="0"/>
              <a:pPr/>
              <a:t>47</a:t>
            </a:fld>
            <a:endParaRPr lang="en-US"/>
          </a:p>
        </p:txBody>
      </p:sp>
      <p:sp>
        <p:nvSpPr>
          <p:cNvPr id="4" name="Title 3">
            <a:extLst>
              <a:ext uri="{FF2B5EF4-FFF2-40B4-BE49-F238E27FC236}">
                <a16:creationId xmlns:a16="http://schemas.microsoft.com/office/drawing/2014/main" id="{BB5C294C-8056-47CA-9AF5-A7CD1C795F4E}"/>
              </a:ext>
            </a:extLst>
          </p:cNvPr>
          <p:cNvSpPr>
            <a:spLocks noGrp="1"/>
          </p:cNvSpPr>
          <p:nvPr>
            <p:ph type="title"/>
          </p:nvPr>
        </p:nvSpPr>
        <p:spPr/>
        <p:txBody>
          <a:bodyPr/>
          <a:lstStyle/>
          <a:p>
            <a:r>
              <a:rPr lang="en-US"/>
              <a:t>Thrust Curve</a:t>
            </a:r>
          </a:p>
        </p:txBody>
      </p:sp>
      <p:sp>
        <p:nvSpPr>
          <p:cNvPr id="5" name="Text Placeholder 4">
            <a:extLst>
              <a:ext uri="{FF2B5EF4-FFF2-40B4-BE49-F238E27FC236}">
                <a16:creationId xmlns:a16="http://schemas.microsoft.com/office/drawing/2014/main" id="{0D9B6223-3DED-6771-81AF-0966179933EC}"/>
              </a:ext>
            </a:extLst>
          </p:cNvPr>
          <p:cNvSpPr>
            <a:spLocks noGrp="1"/>
          </p:cNvSpPr>
          <p:nvPr>
            <p:ph type="body" sz="quarter" idx="13"/>
          </p:nvPr>
        </p:nvSpPr>
        <p:spPr/>
        <p:txBody>
          <a:bodyPr/>
          <a:lstStyle/>
          <a:p>
            <a:r>
              <a:rPr lang="en-US" sz="1850">
                <a:ea typeface="Source Sans Pro"/>
                <a:cs typeface="Calibri"/>
              </a:rPr>
              <a:t>Halfcat Sim v1.3.8 and Thrust Curve Tool</a:t>
            </a:r>
          </a:p>
        </p:txBody>
      </p:sp>
      <p:pic>
        <p:nvPicPr>
          <p:cNvPr id="6" name="Picture 5" descr="A graph showing a thrust curve&#10;&#10;AI-generated content may be incorrect.">
            <a:extLst>
              <a:ext uri="{FF2B5EF4-FFF2-40B4-BE49-F238E27FC236}">
                <a16:creationId xmlns:a16="http://schemas.microsoft.com/office/drawing/2014/main" id="{382F8E1D-6335-4231-3504-1D17AEF31CC4}"/>
              </a:ext>
            </a:extLst>
          </p:cNvPr>
          <p:cNvPicPr>
            <a:picLocks noChangeAspect="1"/>
          </p:cNvPicPr>
          <p:nvPr/>
        </p:nvPicPr>
        <p:blipFill>
          <a:blip r:embed="rId4"/>
          <a:stretch>
            <a:fillRect/>
          </a:stretch>
        </p:blipFill>
        <p:spPr>
          <a:xfrm>
            <a:off x="202850" y="1860750"/>
            <a:ext cx="5728455" cy="3624797"/>
          </a:xfrm>
          <a:prstGeom prst="rect">
            <a:avLst/>
          </a:prstGeom>
        </p:spPr>
      </p:pic>
      <p:pic>
        <p:nvPicPr>
          <p:cNvPr id="7" name="Picture 6" descr="A graph of a graph&#10;&#10;AI-generated content may be incorrect.">
            <a:extLst>
              <a:ext uri="{FF2B5EF4-FFF2-40B4-BE49-F238E27FC236}">
                <a16:creationId xmlns:a16="http://schemas.microsoft.com/office/drawing/2014/main" id="{3B87AF39-EBB7-F126-573D-68CB6CDE9813}"/>
              </a:ext>
            </a:extLst>
          </p:cNvPr>
          <p:cNvPicPr>
            <a:picLocks noChangeAspect="1"/>
          </p:cNvPicPr>
          <p:nvPr/>
        </p:nvPicPr>
        <p:blipFill>
          <a:blip r:embed="rId5"/>
          <a:stretch>
            <a:fillRect/>
          </a:stretch>
        </p:blipFill>
        <p:spPr>
          <a:xfrm>
            <a:off x="6778755" y="1848679"/>
            <a:ext cx="5147933" cy="3637721"/>
          </a:xfrm>
          <a:prstGeom prst="rect">
            <a:avLst/>
          </a:prstGeom>
        </p:spPr>
      </p:pic>
      <p:sp>
        <p:nvSpPr>
          <p:cNvPr id="9" name="Text Placeholder 1">
            <a:extLst>
              <a:ext uri="{FF2B5EF4-FFF2-40B4-BE49-F238E27FC236}">
                <a16:creationId xmlns:a16="http://schemas.microsoft.com/office/drawing/2014/main" id="{8F8E40D1-065C-8FE1-9889-B0A0A6D82985}"/>
              </a:ext>
            </a:extLst>
          </p:cNvPr>
          <p:cNvSpPr txBox="1">
            <a:spLocks/>
          </p:cNvSpPr>
          <p:nvPr/>
        </p:nvSpPr>
        <p:spPr>
          <a:xfrm>
            <a:off x="457201" y="5649972"/>
            <a:ext cx="5469234" cy="387660"/>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1.3 </a:t>
            </a:r>
            <a:r>
              <a:rPr lang="en-US" sz="1850">
                <a:ea typeface="Source Sans Pro"/>
              </a:rPr>
              <a:t>Current Stratum Geometry– </a:t>
            </a:r>
            <a:r>
              <a:rPr lang="en-US" sz="1850" err="1">
                <a:ea typeface="Source Sans Pro"/>
              </a:rPr>
              <a:t>HalfCat</a:t>
            </a:r>
            <a:r>
              <a:rPr lang="en-US" sz="1850">
                <a:ea typeface="Source Sans Pro"/>
              </a:rPr>
              <a:t> Sim</a:t>
            </a:r>
          </a:p>
        </p:txBody>
      </p:sp>
      <p:sp>
        <p:nvSpPr>
          <p:cNvPr id="11" name="Text Placeholder 1">
            <a:extLst>
              <a:ext uri="{FF2B5EF4-FFF2-40B4-BE49-F238E27FC236}">
                <a16:creationId xmlns:a16="http://schemas.microsoft.com/office/drawing/2014/main" id="{0BA5A9CF-C7E3-AE2C-5415-C720BC0E8B99}"/>
              </a:ext>
            </a:extLst>
          </p:cNvPr>
          <p:cNvSpPr txBox="1">
            <a:spLocks/>
          </p:cNvSpPr>
          <p:nvPr/>
        </p:nvSpPr>
        <p:spPr>
          <a:xfrm>
            <a:off x="7140207" y="5649972"/>
            <a:ext cx="4537670" cy="387660"/>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1.4 </a:t>
            </a:r>
            <a:r>
              <a:rPr lang="en-US" sz="1850">
                <a:ea typeface="Source Sans Pro"/>
              </a:rPr>
              <a:t>400 </a:t>
            </a:r>
            <a:r>
              <a:rPr lang="en-US" sz="1850" err="1">
                <a:ea typeface="Source Sans Pro"/>
              </a:rPr>
              <a:t>lbf</a:t>
            </a:r>
            <a:r>
              <a:rPr lang="en-US" sz="1850">
                <a:ea typeface="Source Sans Pro"/>
              </a:rPr>
              <a:t> </a:t>
            </a:r>
          </a:p>
        </p:txBody>
      </p:sp>
    </p:spTree>
    <p:extLst>
      <p:ext uri="{BB962C8B-B14F-4D97-AF65-F5344CB8AC3E}">
        <p14:creationId xmlns:p14="http://schemas.microsoft.com/office/powerpoint/2010/main" val="1480053949"/>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87E18BE-6C3A-A97A-61EC-57B6F866F453}"/>
              </a:ext>
            </a:extLst>
          </p:cNvPr>
          <p:cNvSpPr>
            <a:spLocks noGrp="1"/>
          </p:cNvSpPr>
          <p:nvPr>
            <p:ph type="ftr" sz="quarter" idx="16"/>
          </p:nvPr>
        </p:nvSpPr>
        <p:spPr/>
        <p:txBody>
          <a:bodyPr/>
          <a:lstStyle/>
          <a:p>
            <a:r>
              <a:rPr lang="en-US" sz="900">
                <a:latin typeface="Source Sans Pro"/>
                <a:ea typeface="Source Sans Pro"/>
              </a:rPr>
              <a:t>ARCHERFISH CDR</a:t>
            </a:r>
            <a:endParaRPr lang="en-US" sz="900">
              <a:solidFill>
                <a:srgbClr val="000000"/>
              </a:solidFill>
              <a:latin typeface="Source Sans Pro"/>
              <a:ea typeface="Source Sans Pro"/>
            </a:endParaRPr>
          </a:p>
          <a:p>
            <a:endParaRPr lang="en-US" sz="900">
              <a:ea typeface="Source Sans Pro"/>
            </a:endParaRPr>
          </a:p>
        </p:txBody>
      </p:sp>
      <p:sp>
        <p:nvSpPr>
          <p:cNvPr id="4" name="Slide Number Placeholder 3">
            <a:extLst>
              <a:ext uri="{FF2B5EF4-FFF2-40B4-BE49-F238E27FC236}">
                <a16:creationId xmlns:a16="http://schemas.microsoft.com/office/drawing/2014/main" id="{18500376-7FE5-DB29-0E14-28EA2DBBB64F}"/>
              </a:ext>
            </a:extLst>
          </p:cNvPr>
          <p:cNvSpPr>
            <a:spLocks noGrp="1"/>
          </p:cNvSpPr>
          <p:nvPr>
            <p:ph type="sldNum" sz="quarter" idx="17"/>
          </p:nvPr>
        </p:nvSpPr>
        <p:spPr/>
        <p:txBody>
          <a:bodyPr/>
          <a:lstStyle/>
          <a:p>
            <a:r>
              <a:rPr lang="en-US"/>
              <a:t>/   </a:t>
            </a:r>
            <a:fld id="{6C7E6F33-74EE-5541-8108-8353B402F8C1}" type="slidenum">
              <a:rPr lang="en-US" smtClean="0"/>
              <a:pPr/>
              <a:t>48</a:t>
            </a:fld>
            <a:endParaRPr lang="en-US"/>
          </a:p>
        </p:txBody>
      </p:sp>
      <p:sp>
        <p:nvSpPr>
          <p:cNvPr id="5" name="Title 4">
            <a:extLst>
              <a:ext uri="{FF2B5EF4-FFF2-40B4-BE49-F238E27FC236}">
                <a16:creationId xmlns:a16="http://schemas.microsoft.com/office/drawing/2014/main" id="{352AE63F-A6F6-EE43-9832-1DE78D11CE90}"/>
              </a:ext>
            </a:extLst>
          </p:cNvPr>
          <p:cNvSpPr>
            <a:spLocks noGrp="1"/>
          </p:cNvSpPr>
          <p:nvPr>
            <p:ph type="title"/>
          </p:nvPr>
        </p:nvSpPr>
        <p:spPr/>
        <p:txBody>
          <a:bodyPr/>
          <a:lstStyle/>
          <a:p>
            <a:r>
              <a:rPr lang="en-US">
                <a:latin typeface="Munistic"/>
              </a:rPr>
              <a:t>Engine Design</a:t>
            </a:r>
            <a:endParaRPr lang="en-US"/>
          </a:p>
        </p:txBody>
      </p:sp>
      <p:sp>
        <p:nvSpPr>
          <p:cNvPr id="6" name="Text Placeholder 5">
            <a:extLst>
              <a:ext uri="{FF2B5EF4-FFF2-40B4-BE49-F238E27FC236}">
                <a16:creationId xmlns:a16="http://schemas.microsoft.com/office/drawing/2014/main" id="{5AD01996-5252-B0CF-98AD-489A1E536F07}"/>
              </a:ext>
            </a:extLst>
          </p:cNvPr>
          <p:cNvSpPr>
            <a:spLocks noGrp="1"/>
          </p:cNvSpPr>
          <p:nvPr>
            <p:ph type="body" sz="quarter" idx="13"/>
          </p:nvPr>
        </p:nvSpPr>
        <p:spPr/>
        <p:txBody>
          <a:bodyPr/>
          <a:lstStyle/>
          <a:p>
            <a:r>
              <a:rPr lang="en-US" sz="1850">
                <a:ea typeface="Source Sans Pro"/>
                <a:cs typeface="Calibri"/>
              </a:rPr>
              <a:t>Manufacturing Plan</a:t>
            </a:r>
            <a:endParaRPr lang="en-US"/>
          </a:p>
        </p:txBody>
      </p:sp>
      <p:sp>
        <p:nvSpPr>
          <p:cNvPr id="7" name="TextBox 6">
            <a:extLst>
              <a:ext uri="{FF2B5EF4-FFF2-40B4-BE49-F238E27FC236}">
                <a16:creationId xmlns:a16="http://schemas.microsoft.com/office/drawing/2014/main" id="{E2BD6A39-7851-E547-7CEC-5C1261AF3043}"/>
              </a:ext>
            </a:extLst>
          </p:cNvPr>
          <p:cNvSpPr txBox="1"/>
          <p:nvPr/>
        </p:nvSpPr>
        <p:spPr>
          <a:xfrm>
            <a:off x="592418" y="1746073"/>
            <a:ext cx="10923354"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Calibri" panose="020F0502020204030204"/>
                <a:cs typeface="Calibri" panose="020F0502020204030204"/>
              </a:rPr>
              <a:t>Chamber Sleeve</a:t>
            </a:r>
          </a:p>
          <a:p>
            <a:pPr marL="742950" lvl="1" indent="-285750">
              <a:buFont typeface="Courier New"/>
              <a:buChar char="o"/>
            </a:pPr>
            <a:r>
              <a:rPr lang="en-US">
                <a:ea typeface="Calibri" panose="020F0502020204030204"/>
                <a:cs typeface="Calibri" panose="020F0502020204030204"/>
              </a:rPr>
              <a:t>Turn / Bore Stock to  Sleeve Dimensions </a:t>
            </a:r>
          </a:p>
          <a:p>
            <a:pPr marL="1200150" lvl="2" indent="-285750">
              <a:buFont typeface="Wingdings"/>
              <a:buChar char="§"/>
            </a:pPr>
            <a:r>
              <a:rPr lang="en-US">
                <a:ea typeface="Calibri" panose="020F0502020204030204"/>
                <a:cs typeface="Calibri" panose="020F0502020204030204"/>
              </a:rPr>
              <a:t>Upper</a:t>
            </a:r>
          </a:p>
          <a:p>
            <a:pPr marL="1657350" lvl="3" indent="-285750">
              <a:buFont typeface="Arial"/>
              <a:buChar char="•"/>
            </a:pPr>
            <a:r>
              <a:rPr lang="en-US">
                <a:ea typeface="Calibri" panose="020F0502020204030204"/>
                <a:cs typeface="Calibri" panose="020F0502020204030204"/>
              </a:rPr>
              <a:t>5.75" OD / 3.61" ID</a:t>
            </a:r>
          </a:p>
          <a:p>
            <a:pPr marL="1200150" lvl="2" indent="-285750">
              <a:buFont typeface="Wingdings"/>
              <a:buChar char="§"/>
            </a:pPr>
            <a:r>
              <a:rPr lang="en-US">
                <a:ea typeface="Calibri" panose="020F0502020204030204"/>
                <a:cs typeface="Calibri" panose="020F0502020204030204"/>
              </a:rPr>
              <a:t>Lower</a:t>
            </a:r>
          </a:p>
          <a:p>
            <a:pPr marL="1657350" lvl="3" indent="-285750">
              <a:buFont typeface="Arial"/>
              <a:buChar char="•"/>
            </a:pPr>
            <a:r>
              <a:rPr lang="en-US">
                <a:ea typeface="Calibri" panose="020F0502020204030204"/>
                <a:cs typeface="Calibri" panose="020F0502020204030204"/>
              </a:rPr>
              <a:t>4" OD / 3.61" ID   </a:t>
            </a:r>
          </a:p>
          <a:p>
            <a:pPr marL="742950" lvl="1" indent="-285750">
              <a:buFont typeface="Courier New"/>
              <a:buChar char="o"/>
            </a:pPr>
            <a:r>
              <a:rPr lang="en-US">
                <a:ea typeface="Calibri" panose="020F0502020204030204"/>
                <a:cs typeface="Calibri" panose="020F0502020204030204"/>
              </a:rPr>
              <a:t>Upper Retaining Ring </a:t>
            </a:r>
          </a:p>
          <a:p>
            <a:pPr marL="1200150" lvl="2" indent="-285750">
              <a:buFont typeface="Wingdings"/>
              <a:buChar char="§"/>
            </a:pPr>
            <a:r>
              <a:rPr lang="en-US">
                <a:ea typeface="Calibri" panose="020F0502020204030204"/>
                <a:cs typeface="Calibri" panose="020F0502020204030204"/>
              </a:rPr>
              <a:t>Bore x8 .25" Radial Holes </a:t>
            </a:r>
          </a:p>
          <a:p>
            <a:pPr marL="1657350" lvl="3" indent="-285750">
              <a:buFont typeface="Arial"/>
              <a:buChar char="•"/>
            </a:pPr>
            <a:r>
              <a:rPr lang="en-US">
                <a:ea typeface="+mn-lt"/>
                <a:cs typeface="+mn-lt"/>
              </a:rPr>
              <a:t>0.5" Depth</a:t>
            </a:r>
          </a:p>
          <a:p>
            <a:pPr marL="1657350" lvl="3" indent="-285750">
              <a:buFont typeface="Arial"/>
              <a:buChar char="•"/>
            </a:pPr>
            <a:r>
              <a:rPr lang="en-US">
                <a:ea typeface="+mn-lt"/>
                <a:cs typeface="+mn-lt"/>
              </a:rPr>
              <a:t>Thread with ¼"-20 tap</a:t>
            </a:r>
            <a:endParaRPr lang="en-US">
              <a:ea typeface="Calibri" panose="020F0502020204030204"/>
              <a:cs typeface="Calibri" panose="020F0502020204030204"/>
            </a:endParaRPr>
          </a:p>
          <a:p>
            <a:pPr marL="285750" indent="-285750">
              <a:buFont typeface="Arial"/>
              <a:buChar char="•"/>
            </a:pPr>
            <a:r>
              <a:rPr lang="en-US">
                <a:ea typeface="Calibri" panose="020F0502020204030204"/>
                <a:cs typeface="Calibri" panose="020F0502020204030204"/>
              </a:rPr>
              <a:t>Lower Retaining Ring</a:t>
            </a:r>
          </a:p>
          <a:p>
            <a:pPr marL="742950" lvl="1" indent="-285750">
              <a:buFont typeface="Courier New"/>
              <a:buChar char="o"/>
            </a:pPr>
            <a:r>
              <a:rPr lang="en-US">
                <a:ea typeface="Calibri" panose="020F0502020204030204"/>
                <a:cs typeface="Calibri" panose="020F0502020204030204"/>
              </a:rPr>
              <a:t>Turn / Bore Stock to 3.61" OD / 3" ID</a:t>
            </a:r>
          </a:p>
          <a:p>
            <a:pPr marL="742950" lvl="1" indent="-285750">
              <a:buFont typeface="Courier New"/>
              <a:buChar char="o"/>
            </a:pPr>
            <a:r>
              <a:rPr lang="en-US">
                <a:ea typeface="Calibri" panose="020F0502020204030204"/>
                <a:cs typeface="Calibri" panose="020F0502020204030204"/>
              </a:rPr>
              <a:t>Bore x8 .25" Radial Holes</a:t>
            </a:r>
          </a:p>
          <a:p>
            <a:pPr marL="1200150" lvl="2" indent="-285750">
              <a:buFont typeface="Wingdings"/>
              <a:buChar char="§"/>
            </a:pPr>
            <a:r>
              <a:rPr lang="en-US">
                <a:ea typeface="Calibri" panose="020F0502020204030204"/>
                <a:cs typeface="Calibri" panose="020F0502020204030204"/>
              </a:rPr>
              <a:t>.25" depth</a:t>
            </a:r>
          </a:p>
          <a:p>
            <a:pPr marL="1200150" lvl="2" indent="-285750">
              <a:buFont typeface="Wingdings"/>
              <a:buChar char="§"/>
            </a:pPr>
            <a:r>
              <a:rPr lang="en-US">
                <a:ea typeface="+mn-lt"/>
                <a:cs typeface="+mn-lt"/>
              </a:rPr>
              <a:t>Thread with ¼"-20 tap</a:t>
            </a:r>
            <a:endParaRPr lang="en-US"/>
          </a:p>
          <a:p>
            <a:pPr marL="285750" indent="-285750">
              <a:buFont typeface="Arial"/>
              <a:buChar char="•"/>
            </a:pPr>
            <a:endParaRPr lang="en-US">
              <a:ea typeface="Calibri" panose="020F0502020204030204"/>
              <a:cs typeface="Calibri" panose="020F0502020204030204"/>
            </a:endParaRPr>
          </a:p>
        </p:txBody>
      </p:sp>
      <p:sp>
        <p:nvSpPr>
          <p:cNvPr id="14" name="TextBox 13">
            <a:extLst>
              <a:ext uri="{FF2B5EF4-FFF2-40B4-BE49-F238E27FC236}">
                <a16:creationId xmlns:a16="http://schemas.microsoft.com/office/drawing/2014/main" id="{E8776F09-7420-8C78-EBBA-55C6C2C0DA22}"/>
              </a:ext>
            </a:extLst>
          </p:cNvPr>
          <p:cNvSpPr txBox="1"/>
          <p:nvPr/>
        </p:nvSpPr>
        <p:spPr>
          <a:xfrm>
            <a:off x="9725960" y="5984856"/>
            <a:ext cx="27999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Fig 4.7: Retaining Ring</a:t>
            </a:r>
            <a:endParaRPr lang="en-US" sz="1400">
              <a:ea typeface="Calibri"/>
              <a:cs typeface="Calibri"/>
            </a:endParaRPr>
          </a:p>
        </p:txBody>
      </p:sp>
      <p:sp>
        <p:nvSpPr>
          <p:cNvPr id="16" name="TextBox 15">
            <a:extLst>
              <a:ext uri="{FF2B5EF4-FFF2-40B4-BE49-F238E27FC236}">
                <a16:creationId xmlns:a16="http://schemas.microsoft.com/office/drawing/2014/main" id="{B9B8D0F0-BFEB-688B-8C46-09F4AEA4EBDB}"/>
              </a:ext>
            </a:extLst>
          </p:cNvPr>
          <p:cNvSpPr txBox="1"/>
          <p:nvPr/>
        </p:nvSpPr>
        <p:spPr>
          <a:xfrm>
            <a:off x="6831793" y="5983821"/>
            <a:ext cx="27999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Fig 4.6: Chamber Sleeve</a:t>
            </a:r>
            <a:endParaRPr lang="en-US" sz="1400">
              <a:ea typeface="Calibri"/>
              <a:cs typeface="Calibri"/>
            </a:endParaRPr>
          </a:p>
        </p:txBody>
      </p:sp>
      <p:pic>
        <p:nvPicPr>
          <p:cNvPr id="8" name="Picture 7" descr="A grey cylinder with holes&#10;&#10;AI-generated content may be incorrect.">
            <a:extLst>
              <a:ext uri="{FF2B5EF4-FFF2-40B4-BE49-F238E27FC236}">
                <a16:creationId xmlns:a16="http://schemas.microsoft.com/office/drawing/2014/main" id="{5F0F6C4B-3689-570B-96BA-C5708FAAE999}"/>
              </a:ext>
            </a:extLst>
          </p:cNvPr>
          <p:cNvPicPr>
            <a:picLocks noChangeAspect="1"/>
          </p:cNvPicPr>
          <p:nvPr/>
        </p:nvPicPr>
        <p:blipFill>
          <a:blip r:embed="rId2"/>
          <a:srcRect l="11699" r="13608" b="996"/>
          <a:stretch>
            <a:fillRect/>
          </a:stretch>
        </p:blipFill>
        <p:spPr>
          <a:xfrm>
            <a:off x="6099266" y="1497723"/>
            <a:ext cx="3171157" cy="4500464"/>
          </a:xfrm>
          <a:prstGeom prst="rect">
            <a:avLst/>
          </a:prstGeom>
        </p:spPr>
      </p:pic>
      <p:pic>
        <p:nvPicPr>
          <p:cNvPr id="9" name="Picture 8" descr="A circular object with holes&#10;&#10;AI-generated content may be incorrect.">
            <a:extLst>
              <a:ext uri="{FF2B5EF4-FFF2-40B4-BE49-F238E27FC236}">
                <a16:creationId xmlns:a16="http://schemas.microsoft.com/office/drawing/2014/main" id="{7984FE9E-9687-2B20-35D0-27E521B11E31}"/>
              </a:ext>
            </a:extLst>
          </p:cNvPr>
          <p:cNvPicPr>
            <a:picLocks noChangeAspect="1"/>
          </p:cNvPicPr>
          <p:nvPr/>
        </p:nvPicPr>
        <p:blipFill>
          <a:blip r:embed="rId3"/>
          <a:srcRect l="8103" t="4268" r="13043" b="8277"/>
          <a:stretch>
            <a:fillRect/>
          </a:stretch>
        </p:blipFill>
        <p:spPr>
          <a:xfrm>
            <a:off x="9437959" y="3866000"/>
            <a:ext cx="2495353" cy="1778322"/>
          </a:xfrm>
          <a:prstGeom prst="rect">
            <a:avLst/>
          </a:prstGeom>
        </p:spPr>
      </p:pic>
    </p:spTree>
    <p:extLst>
      <p:ext uri="{BB962C8B-B14F-4D97-AF65-F5344CB8AC3E}">
        <p14:creationId xmlns:p14="http://schemas.microsoft.com/office/powerpoint/2010/main" val="27886929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ABA0319-E03F-95E4-08C5-98C02BA0256D}"/>
              </a:ext>
            </a:extLst>
          </p:cNvPr>
          <p:cNvSpPr>
            <a:spLocks noGrp="1"/>
          </p:cNvSpPr>
          <p:nvPr>
            <p:ph type="ftr" sz="quarter" idx="16"/>
          </p:nvPr>
        </p:nvSpPr>
        <p:spPr/>
        <p:txBody>
          <a:bodyPr/>
          <a:lstStyle/>
          <a:p>
            <a:r>
              <a:rPr lang="en-US" sz="900">
                <a:latin typeface="Source Sans Pro"/>
                <a:ea typeface="Source Sans Pro"/>
              </a:rPr>
              <a:t>ARCHERFISH CDR</a:t>
            </a:r>
            <a:endParaRPr lang="en-US" sz="900">
              <a:solidFill>
                <a:srgbClr val="000000"/>
              </a:solidFill>
              <a:latin typeface="Source Sans Pro"/>
              <a:ea typeface="Source Sans Pro"/>
            </a:endParaRPr>
          </a:p>
          <a:p>
            <a:endParaRPr lang="en-US" sz="900">
              <a:ea typeface="Source Sans Pro"/>
            </a:endParaRPr>
          </a:p>
        </p:txBody>
      </p:sp>
      <p:sp>
        <p:nvSpPr>
          <p:cNvPr id="4" name="Slide Number Placeholder 3">
            <a:extLst>
              <a:ext uri="{FF2B5EF4-FFF2-40B4-BE49-F238E27FC236}">
                <a16:creationId xmlns:a16="http://schemas.microsoft.com/office/drawing/2014/main" id="{2FFFE513-DC7C-A9E7-BD78-CAB0093D93A3}"/>
              </a:ext>
            </a:extLst>
          </p:cNvPr>
          <p:cNvSpPr>
            <a:spLocks noGrp="1"/>
          </p:cNvSpPr>
          <p:nvPr>
            <p:ph type="sldNum" sz="quarter" idx="17"/>
          </p:nvPr>
        </p:nvSpPr>
        <p:spPr/>
        <p:txBody>
          <a:bodyPr/>
          <a:lstStyle/>
          <a:p>
            <a:r>
              <a:rPr lang="en-US"/>
              <a:t>/   </a:t>
            </a:r>
            <a:fld id="{6C7E6F33-74EE-5541-8108-8353B402F8C1}" type="slidenum">
              <a:rPr lang="en-US" smtClean="0"/>
              <a:pPr/>
              <a:t>49</a:t>
            </a:fld>
            <a:endParaRPr lang="en-US"/>
          </a:p>
        </p:txBody>
      </p:sp>
      <p:sp>
        <p:nvSpPr>
          <p:cNvPr id="5" name="Title 4">
            <a:extLst>
              <a:ext uri="{FF2B5EF4-FFF2-40B4-BE49-F238E27FC236}">
                <a16:creationId xmlns:a16="http://schemas.microsoft.com/office/drawing/2014/main" id="{A5945951-DDAE-DF57-ECC9-396CD756F7A0}"/>
              </a:ext>
            </a:extLst>
          </p:cNvPr>
          <p:cNvSpPr>
            <a:spLocks noGrp="1"/>
          </p:cNvSpPr>
          <p:nvPr>
            <p:ph type="title"/>
          </p:nvPr>
        </p:nvSpPr>
        <p:spPr/>
        <p:txBody>
          <a:bodyPr/>
          <a:lstStyle/>
          <a:p>
            <a:r>
              <a:rPr lang="en-US">
                <a:latin typeface="Munistic"/>
              </a:rPr>
              <a:t>Engine Design</a:t>
            </a:r>
            <a:endParaRPr lang="en-US"/>
          </a:p>
        </p:txBody>
      </p:sp>
      <p:sp>
        <p:nvSpPr>
          <p:cNvPr id="6" name="Text Placeholder 5">
            <a:extLst>
              <a:ext uri="{FF2B5EF4-FFF2-40B4-BE49-F238E27FC236}">
                <a16:creationId xmlns:a16="http://schemas.microsoft.com/office/drawing/2014/main" id="{32F22408-277B-A7C9-A0CB-E4F129AC2F72}"/>
              </a:ext>
            </a:extLst>
          </p:cNvPr>
          <p:cNvSpPr>
            <a:spLocks noGrp="1"/>
          </p:cNvSpPr>
          <p:nvPr>
            <p:ph type="body" sz="quarter" idx="13"/>
          </p:nvPr>
        </p:nvSpPr>
        <p:spPr/>
        <p:txBody>
          <a:bodyPr/>
          <a:lstStyle/>
          <a:p>
            <a:r>
              <a:rPr lang="en-US" sz="1850">
                <a:ea typeface="Source Sans Pro"/>
                <a:cs typeface="Calibri"/>
              </a:rPr>
              <a:t>Assembly Plan</a:t>
            </a:r>
            <a:endParaRPr lang="en-US"/>
          </a:p>
        </p:txBody>
      </p:sp>
      <p:sp>
        <p:nvSpPr>
          <p:cNvPr id="11" name="TextBox 10">
            <a:extLst>
              <a:ext uri="{FF2B5EF4-FFF2-40B4-BE49-F238E27FC236}">
                <a16:creationId xmlns:a16="http://schemas.microsoft.com/office/drawing/2014/main" id="{D33C1197-03A8-3A4D-E919-137041783FC7}"/>
              </a:ext>
            </a:extLst>
          </p:cNvPr>
          <p:cNvSpPr txBox="1"/>
          <p:nvPr/>
        </p:nvSpPr>
        <p:spPr>
          <a:xfrm>
            <a:off x="596850" y="1714893"/>
            <a:ext cx="11197248"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Calibri" panose="020F0502020204030204"/>
                <a:cs typeface="Calibri" panose="020F0502020204030204"/>
              </a:rPr>
              <a:t>Injector Integration</a:t>
            </a:r>
          </a:p>
          <a:p>
            <a:pPr marL="742950" lvl="1" indent="-285750">
              <a:buFont typeface="Courier New"/>
              <a:buChar char="o"/>
            </a:pPr>
            <a:r>
              <a:rPr lang="en-US">
                <a:ea typeface="Calibri" panose="020F0502020204030204"/>
                <a:cs typeface="Calibri" panose="020F0502020204030204"/>
              </a:rPr>
              <a:t>Chamber Sleeve</a:t>
            </a:r>
          </a:p>
          <a:p>
            <a:pPr marL="1200150" lvl="2" indent="-285750">
              <a:buFont typeface="Wingdings"/>
              <a:buChar char="§"/>
            </a:pPr>
            <a:r>
              <a:rPr lang="en-US">
                <a:ea typeface="Calibri" panose="020F0502020204030204"/>
                <a:cs typeface="Calibri" panose="020F0502020204030204"/>
              </a:rPr>
              <a:t>Upper Retaining Ring</a:t>
            </a:r>
          </a:p>
          <a:p>
            <a:pPr marL="1657350" lvl="3" indent="-285750">
              <a:buFont typeface="Arial"/>
              <a:buChar char="•"/>
            </a:pPr>
            <a:r>
              <a:rPr lang="en-US">
                <a:ea typeface="Calibri" panose="020F0502020204030204"/>
                <a:cs typeface="Calibri" panose="020F0502020204030204"/>
              </a:rPr>
              <a:t>5.75 OD</a:t>
            </a:r>
          </a:p>
          <a:p>
            <a:pPr marL="1657350" lvl="3" indent="-285750">
              <a:buFont typeface="Arial"/>
              <a:buChar char="•"/>
            </a:pPr>
            <a:r>
              <a:rPr lang="en-US">
                <a:ea typeface="Calibri" panose="020F0502020204030204"/>
                <a:cs typeface="Calibri" panose="020F0502020204030204"/>
              </a:rPr>
              <a:t>¼"-20 High Strength Hex Screws</a:t>
            </a:r>
          </a:p>
          <a:p>
            <a:pPr marL="2114550" lvl="4" indent="-285750">
              <a:buFont typeface="Courier New"/>
              <a:buChar char="o"/>
            </a:pPr>
            <a:r>
              <a:rPr lang="en-US">
                <a:ea typeface="Calibri" panose="020F0502020204030204"/>
                <a:cs typeface="Calibri" panose="020F0502020204030204"/>
              </a:rPr>
              <a:t>X8 Radially Bolted to Body Shell</a:t>
            </a:r>
          </a:p>
          <a:p>
            <a:pPr marL="285750" indent="-285750">
              <a:buFont typeface="Arial"/>
              <a:buChar char="•"/>
            </a:pPr>
            <a:r>
              <a:rPr lang="en-US">
                <a:ea typeface="Calibri" panose="020F0502020204030204"/>
                <a:cs typeface="Calibri" panose="020F0502020204030204"/>
              </a:rPr>
              <a:t>Bottom Retaining Ring</a:t>
            </a:r>
            <a:endParaRPr lang="en-US">
              <a:ea typeface="+mn-lt"/>
              <a:cs typeface="+mn-lt"/>
            </a:endParaRPr>
          </a:p>
          <a:p>
            <a:pPr marL="742950" lvl="1" indent="-285750">
              <a:buFont typeface="Courier New"/>
              <a:buChar char="o"/>
            </a:pPr>
            <a:r>
              <a:rPr lang="en-US">
                <a:ea typeface="+mn-lt"/>
                <a:cs typeface="+mn-lt"/>
              </a:rPr>
              <a:t>Material for lip of nozzle to sit on</a:t>
            </a:r>
          </a:p>
          <a:p>
            <a:pPr marL="742950" lvl="1" indent="-285750">
              <a:buFont typeface="Courier New"/>
              <a:buChar char="o"/>
            </a:pPr>
            <a:r>
              <a:rPr lang="en-US">
                <a:ea typeface="+mn-lt"/>
                <a:cs typeface="+mn-lt"/>
              </a:rPr>
              <a:t>¼"-20 High Strength Hex Screws</a:t>
            </a:r>
          </a:p>
          <a:p>
            <a:pPr marL="1200150" lvl="2" indent="-285750">
              <a:buFont typeface="Wingdings"/>
              <a:buChar char="§"/>
            </a:pPr>
            <a:r>
              <a:rPr lang="en-US">
                <a:ea typeface="+mn-lt"/>
                <a:cs typeface="+mn-lt"/>
              </a:rPr>
              <a:t>X8 Radially Bolted to Chamber Sleeve</a:t>
            </a:r>
            <a:endParaRPr lang="en-US">
              <a:ea typeface="Calibri" panose="020F0502020204030204"/>
              <a:cs typeface="Calibri" panose="020F0502020204030204"/>
            </a:endParaRPr>
          </a:p>
          <a:p>
            <a:pPr marL="285750" indent="-285750">
              <a:buFont typeface="Arial"/>
              <a:buChar char="•"/>
            </a:pPr>
            <a:r>
              <a:rPr lang="en-US">
                <a:ea typeface="Calibri" panose="020F0502020204030204"/>
                <a:cs typeface="Calibri" panose="020F0502020204030204"/>
              </a:rPr>
              <a:t>Nozzle / Ablative</a:t>
            </a:r>
          </a:p>
          <a:p>
            <a:pPr marL="742950" lvl="1" indent="-285750">
              <a:buFont typeface="Courier New"/>
              <a:buChar char="o"/>
            </a:pPr>
            <a:r>
              <a:rPr lang="en-US">
                <a:ea typeface="Calibri" panose="020F0502020204030204"/>
                <a:cs typeface="Calibri" panose="020F0502020204030204"/>
              </a:rPr>
              <a:t>Ablative sits on top of nozzle lip</a:t>
            </a:r>
          </a:p>
          <a:p>
            <a:pPr marL="742950" lvl="1" indent="-285750">
              <a:buFont typeface="Courier New"/>
              <a:buChar char="o"/>
            </a:pPr>
            <a:r>
              <a:rPr lang="en-US">
                <a:ea typeface="Calibri" panose="020F0502020204030204"/>
                <a:cs typeface="Calibri" panose="020F0502020204030204"/>
              </a:rPr>
              <a:t>JB Weld RTV Silicon applied on OD of</a:t>
            </a:r>
          </a:p>
          <a:p>
            <a:pPr lvl="1"/>
            <a:r>
              <a:rPr lang="en-US">
                <a:ea typeface="Calibri" panose="020F0502020204030204"/>
                <a:cs typeface="Calibri" panose="020F0502020204030204"/>
              </a:rPr>
              <a:t>     sleeve</a:t>
            </a:r>
          </a:p>
          <a:p>
            <a:pPr marL="742950" lvl="1" indent="-285750">
              <a:buFont typeface="Courier New"/>
              <a:buChar char="o"/>
            </a:pPr>
            <a:endParaRPr lang="en-US">
              <a:ea typeface="Calibri" panose="020F0502020204030204"/>
              <a:cs typeface="Calibri" panose="020F0502020204030204"/>
            </a:endParaRPr>
          </a:p>
          <a:p>
            <a:pPr marL="742950" lvl="1" indent="-285750">
              <a:buFont typeface="Courier New"/>
              <a:buChar char="o"/>
            </a:pPr>
            <a:endParaRPr lang="en-US">
              <a:ea typeface="Calibri" panose="020F0502020204030204"/>
              <a:cs typeface="Calibri" panose="020F0502020204030204"/>
            </a:endParaRPr>
          </a:p>
          <a:p>
            <a:pPr marL="742950" lvl="1" indent="-285750">
              <a:buFont typeface="Courier New"/>
              <a:buChar char="o"/>
            </a:pPr>
            <a:endParaRPr lang="en-US">
              <a:ea typeface="Calibri" panose="020F0502020204030204"/>
              <a:cs typeface="Calibri" panose="020F0502020204030204"/>
            </a:endParaRPr>
          </a:p>
          <a:p>
            <a:pPr marL="1200150" lvl="2" indent="-285750">
              <a:buFont typeface="Wingdings"/>
              <a:buChar char="§"/>
            </a:pPr>
            <a:endParaRPr lang="en-US">
              <a:ea typeface="Calibri" panose="020F0502020204030204"/>
              <a:cs typeface="Calibri" panose="020F0502020204030204"/>
            </a:endParaRPr>
          </a:p>
          <a:p>
            <a:pPr marL="1200150" lvl="2" indent="-285750">
              <a:buFont typeface="Wingdings"/>
              <a:buChar char="§"/>
            </a:pPr>
            <a:endParaRPr lang="en-US">
              <a:ea typeface="Calibri" panose="020F0502020204030204"/>
              <a:cs typeface="Calibri" panose="020F0502020204030204"/>
            </a:endParaRPr>
          </a:p>
          <a:p>
            <a:pPr marL="742950" lvl="1" indent="-285750">
              <a:buFont typeface="Courier New"/>
              <a:buChar char="o"/>
            </a:pPr>
            <a:endParaRPr lang="en-US">
              <a:ea typeface="Calibri" panose="020F0502020204030204"/>
              <a:cs typeface="Calibri" panose="020F0502020204030204"/>
            </a:endParaRPr>
          </a:p>
        </p:txBody>
      </p:sp>
      <p:sp>
        <p:nvSpPr>
          <p:cNvPr id="13" name="TextBox 12">
            <a:extLst>
              <a:ext uri="{FF2B5EF4-FFF2-40B4-BE49-F238E27FC236}">
                <a16:creationId xmlns:a16="http://schemas.microsoft.com/office/drawing/2014/main" id="{24DE6458-F3D6-C17D-6824-FECFDFEF2076}"/>
              </a:ext>
            </a:extLst>
          </p:cNvPr>
          <p:cNvSpPr txBox="1"/>
          <p:nvPr/>
        </p:nvSpPr>
        <p:spPr>
          <a:xfrm>
            <a:off x="8144627" y="5251435"/>
            <a:ext cx="27999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Fig 4.5:  Exploded Engine Assembly</a:t>
            </a:r>
            <a:endParaRPr lang="en-US" sz="1400">
              <a:ea typeface="Calibri"/>
              <a:cs typeface="Calibri"/>
            </a:endParaRPr>
          </a:p>
        </p:txBody>
      </p:sp>
      <p:pic>
        <p:nvPicPr>
          <p:cNvPr id="7" name="Picture 6" descr="A drawing of a cylindrical object&#10;&#10;AI-generated content may be incorrect.">
            <a:extLst>
              <a:ext uri="{FF2B5EF4-FFF2-40B4-BE49-F238E27FC236}">
                <a16:creationId xmlns:a16="http://schemas.microsoft.com/office/drawing/2014/main" id="{0410C1E2-A776-7174-93B6-ED5E87E2B224}"/>
              </a:ext>
            </a:extLst>
          </p:cNvPr>
          <p:cNvPicPr>
            <a:picLocks noChangeAspect="1"/>
          </p:cNvPicPr>
          <p:nvPr/>
        </p:nvPicPr>
        <p:blipFill>
          <a:blip r:embed="rId2"/>
          <a:srcRect l="2376" t="-9270" r="-2377" b="9270"/>
          <a:stretch>
            <a:fillRect/>
          </a:stretch>
        </p:blipFill>
        <p:spPr>
          <a:xfrm>
            <a:off x="6948488" y="1862138"/>
            <a:ext cx="5210185" cy="3390933"/>
          </a:xfrm>
          <a:prstGeom prst="rect">
            <a:avLst/>
          </a:prstGeom>
        </p:spPr>
      </p:pic>
    </p:spTree>
    <p:extLst>
      <p:ext uri="{BB962C8B-B14F-4D97-AF65-F5344CB8AC3E}">
        <p14:creationId xmlns:p14="http://schemas.microsoft.com/office/powerpoint/2010/main" val="41717970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463E20-F793-D147-2E60-E15EE538C526}"/>
              </a:ext>
            </a:extLst>
          </p:cNvPr>
          <p:cNvSpPr>
            <a:spLocks noGrp="1"/>
          </p:cNvSpPr>
          <p:nvPr>
            <p:ph type="ftr" sz="quarter" idx="16"/>
          </p:nvPr>
        </p:nvSpPr>
        <p:spPr/>
        <p:txBody>
          <a:bodyPr/>
          <a:lstStyle/>
          <a:p>
            <a:r>
              <a:rPr lang="en-US"/>
              <a:t>ARCHERFISH CDR</a:t>
            </a:r>
          </a:p>
        </p:txBody>
      </p:sp>
      <p:sp>
        <p:nvSpPr>
          <p:cNvPr id="4" name="Slide Number Placeholder 3">
            <a:extLst>
              <a:ext uri="{FF2B5EF4-FFF2-40B4-BE49-F238E27FC236}">
                <a16:creationId xmlns:a16="http://schemas.microsoft.com/office/drawing/2014/main" id="{4B9157E6-7F28-A473-FF09-D18C4FC35BD9}"/>
              </a:ext>
            </a:extLst>
          </p:cNvPr>
          <p:cNvSpPr>
            <a:spLocks noGrp="1"/>
          </p:cNvSpPr>
          <p:nvPr>
            <p:ph type="sldNum" sz="quarter" idx="17"/>
          </p:nvPr>
        </p:nvSpPr>
        <p:spPr/>
        <p:txBody>
          <a:bodyPr/>
          <a:lstStyle/>
          <a:p>
            <a:r>
              <a:rPr lang="en-US"/>
              <a:t>/   </a:t>
            </a:r>
            <a:fld id="{6C7E6F33-74EE-5541-8108-8353B402F8C1}" type="slidenum">
              <a:rPr lang="en-US" smtClean="0"/>
              <a:pPr/>
              <a:t>50</a:t>
            </a:fld>
            <a:endParaRPr lang="en-US"/>
          </a:p>
        </p:txBody>
      </p:sp>
      <p:sp>
        <p:nvSpPr>
          <p:cNvPr id="5" name="Title 4">
            <a:extLst>
              <a:ext uri="{FF2B5EF4-FFF2-40B4-BE49-F238E27FC236}">
                <a16:creationId xmlns:a16="http://schemas.microsoft.com/office/drawing/2014/main" id="{800CB1E4-8E9E-D583-4210-73B2DC798146}"/>
              </a:ext>
            </a:extLst>
          </p:cNvPr>
          <p:cNvSpPr>
            <a:spLocks noGrp="1"/>
          </p:cNvSpPr>
          <p:nvPr>
            <p:ph type="title"/>
          </p:nvPr>
        </p:nvSpPr>
        <p:spPr/>
        <p:txBody>
          <a:bodyPr/>
          <a:lstStyle/>
          <a:p>
            <a:r>
              <a:rPr lang="en-US">
                <a:latin typeface="Munistic"/>
              </a:rPr>
              <a:t>Engine Design</a:t>
            </a:r>
            <a:endParaRPr lang="en-US"/>
          </a:p>
        </p:txBody>
      </p:sp>
      <p:sp>
        <p:nvSpPr>
          <p:cNvPr id="6" name="Text Placeholder 5">
            <a:extLst>
              <a:ext uri="{FF2B5EF4-FFF2-40B4-BE49-F238E27FC236}">
                <a16:creationId xmlns:a16="http://schemas.microsoft.com/office/drawing/2014/main" id="{54158550-623C-F5D0-8BDA-9DE1D7DFF478}"/>
              </a:ext>
            </a:extLst>
          </p:cNvPr>
          <p:cNvSpPr>
            <a:spLocks noGrp="1"/>
          </p:cNvSpPr>
          <p:nvPr>
            <p:ph type="body" sz="quarter" idx="13"/>
          </p:nvPr>
        </p:nvSpPr>
        <p:spPr/>
        <p:txBody>
          <a:bodyPr/>
          <a:lstStyle/>
          <a:p>
            <a:r>
              <a:rPr lang="en-US" sz="1850">
                <a:ea typeface="Source Sans Pro"/>
                <a:cs typeface="Calibri"/>
              </a:rPr>
              <a:t>Force Calculations</a:t>
            </a:r>
            <a:endParaRPr lang="en-US" sz="1850">
              <a:cs typeface="Calibri"/>
            </a:endParaRPr>
          </a:p>
        </p:txBody>
      </p:sp>
      <p:pic>
        <p:nvPicPr>
          <p:cNvPr id="8" name="Picture 7" descr="A blue and green spool with numbers and lines&#10;&#10;AI-generated content may be incorrect.">
            <a:extLst>
              <a:ext uri="{FF2B5EF4-FFF2-40B4-BE49-F238E27FC236}">
                <a16:creationId xmlns:a16="http://schemas.microsoft.com/office/drawing/2014/main" id="{D50F3D28-2433-C125-B35D-4CE3D4068273}"/>
              </a:ext>
            </a:extLst>
          </p:cNvPr>
          <p:cNvPicPr>
            <a:picLocks noChangeAspect="1"/>
          </p:cNvPicPr>
          <p:nvPr/>
        </p:nvPicPr>
        <p:blipFill>
          <a:blip r:embed="rId2"/>
          <a:stretch>
            <a:fillRect/>
          </a:stretch>
        </p:blipFill>
        <p:spPr>
          <a:xfrm>
            <a:off x="7356584" y="2205368"/>
            <a:ext cx="4836073" cy="3761061"/>
          </a:xfrm>
          <a:prstGeom prst="rect">
            <a:avLst/>
          </a:prstGeom>
        </p:spPr>
      </p:pic>
      <p:sp>
        <p:nvSpPr>
          <p:cNvPr id="14" name="TextBox 13">
            <a:extLst>
              <a:ext uri="{FF2B5EF4-FFF2-40B4-BE49-F238E27FC236}">
                <a16:creationId xmlns:a16="http://schemas.microsoft.com/office/drawing/2014/main" id="{1552F2AA-7805-98BE-6E4D-1A74299F896A}"/>
              </a:ext>
            </a:extLst>
          </p:cNvPr>
          <p:cNvSpPr txBox="1"/>
          <p:nvPr/>
        </p:nvSpPr>
        <p:spPr>
          <a:xfrm>
            <a:off x="7655105" y="5966303"/>
            <a:ext cx="411369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ea typeface="Calibri"/>
                <a:cs typeface="Calibri"/>
              </a:rPr>
              <a:t>Fig 4.8: Stress Analysis of Bottom Retaining Ring</a:t>
            </a:r>
            <a:endParaRPr lang="en-US" sz="1400">
              <a:ea typeface="Calibri"/>
              <a:cs typeface="Calibri"/>
            </a:endParaRPr>
          </a:p>
        </p:txBody>
      </p:sp>
      <p:pic>
        <p:nvPicPr>
          <p:cNvPr id="15" name="Picture 14" descr="A white paper with black text&#10;&#10;AI-generated content may be incorrect.">
            <a:extLst>
              <a:ext uri="{FF2B5EF4-FFF2-40B4-BE49-F238E27FC236}">
                <a16:creationId xmlns:a16="http://schemas.microsoft.com/office/drawing/2014/main" id="{4AB7663B-692A-7C28-5FEA-ED485C2379A5}"/>
              </a:ext>
            </a:extLst>
          </p:cNvPr>
          <p:cNvPicPr>
            <a:picLocks noChangeAspect="1"/>
          </p:cNvPicPr>
          <p:nvPr/>
        </p:nvPicPr>
        <p:blipFill>
          <a:blip r:embed="rId3"/>
          <a:stretch>
            <a:fillRect/>
          </a:stretch>
        </p:blipFill>
        <p:spPr>
          <a:xfrm>
            <a:off x="58026" y="2892206"/>
            <a:ext cx="7048500" cy="933450"/>
          </a:xfrm>
          <a:prstGeom prst="rect">
            <a:avLst/>
          </a:prstGeom>
        </p:spPr>
      </p:pic>
      <p:pic>
        <p:nvPicPr>
          <p:cNvPr id="17" name="Picture 16" descr="A white grid with black text&#10;&#10;AI-generated content may be incorrect.">
            <a:extLst>
              <a:ext uri="{FF2B5EF4-FFF2-40B4-BE49-F238E27FC236}">
                <a16:creationId xmlns:a16="http://schemas.microsoft.com/office/drawing/2014/main" id="{C2A45A60-F112-98DD-B5F9-FDFCAAD8AEDE}"/>
              </a:ext>
            </a:extLst>
          </p:cNvPr>
          <p:cNvPicPr>
            <a:picLocks noChangeAspect="1"/>
          </p:cNvPicPr>
          <p:nvPr/>
        </p:nvPicPr>
        <p:blipFill>
          <a:blip r:embed="rId4"/>
          <a:stretch>
            <a:fillRect/>
          </a:stretch>
        </p:blipFill>
        <p:spPr>
          <a:xfrm>
            <a:off x="62569" y="1632772"/>
            <a:ext cx="7915275" cy="561975"/>
          </a:xfrm>
          <a:prstGeom prst="rect">
            <a:avLst/>
          </a:prstGeom>
        </p:spPr>
      </p:pic>
      <p:pic>
        <p:nvPicPr>
          <p:cNvPr id="2" name="Picture 1" descr="A white sheet with black text&#10;&#10;AI-generated content may be incorrect.">
            <a:extLst>
              <a:ext uri="{FF2B5EF4-FFF2-40B4-BE49-F238E27FC236}">
                <a16:creationId xmlns:a16="http://schemas.microsoft.com/office/drawing/2014/main" id="{9B90A1B7-A9A1-30E3-2F18-6AA4E5CAE02D}"/>
              </a:ext>
            </a:extLst>
          </p:cNvPr>
          <p:cNvPicPr>
            <a:picLocks noChangeAspect="1"/>
          </p:cNvPicPr>
          <p:nvPr/>
        </p:nvPicPr>
        <p:blipFill>
          <a:blip r:embed="rId5"/>
          <a:stretch>
            <a:fillRect/>
          </a:stretch>
        </p:blipFill>
        <p:spPr>
          <a:xfrm>
            <a:off x="-4762" y="4319588"/>
            <a:ext cx="7038975" cy="942975"/>
          </a:xfrm>
          <a:prstGeom prst="rect">
            <a:avLst/>
          </a:prstGeom>
        </p:spPr>
      </p:pic>
    </p:spTree>
    <p:extLst>
      <p:ext uri="{BB962C8B-B14F-4D97-AF65-F5344CB8AC3E}">
        <p14:creationId xmlns:p14="http://schemas.microsoft.com/office/powerpoint/2010/main" val="1105450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0023E-1FF2-4A03-2975-97E829F9D14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15BD24F-4E0C-91C6-7C03-463649A22838}"/>
              </a:ext>
            </a:extLst>
          </p:cNvPr>
          <p:cNvSpPr>
            <a:spLocks noGrp="1"/>
          </p:cNvSpPr>
          <p:nvPr>
            <p:ph type="title"/>
          </p:nvPr>
        </p:nvSpPr>
        <p:spPr>
          <a:xfrm>
            <a:off x="531848" y="716984"/>
            <a:ext cx="6747546" cy="625567"/>
          </a:xfrm>
        </p:spPr>
        <p:txBody>
          <a:bodyPr/>
          <a:lstStyle/>
          <a:p>
            <a:r>
              <a:rPr lang="en-US">
                <a:latin typeface="Munistic"/>
              </a:rPr>
              <a:t>Engine BOM</a:t>
            </a:r>
            <a:endParaRPr lang="en-US"/>
          </a:p>
        </p:txBody>
      </p:sp>
      <p:sp>
        <p:nvSpPr>
          <p:cNvPr id="7" name="Footer Placeholder 2">
            <a:extLst>
              <a:ext uri="{FF2B5EF4-FFF2-40B4-BE49-F238E27FC236}">
                <a16:creationId xmlns:a16="http://schemas.microsoft.com/office/drawing/2014/main" id="{4057084E-ECF3-EACB-B62E-79B97F2F04D6}"/>
              </a:ext>
            </a:extLst>
          </p:cNvPr>
          <p:cNvSpPr>
            <a:spLocks noGrp="1"/>
          </p:cNvSpPr>
          <p:nvPr>
            <p:ph type="ftr" sz="quarter" idx="16"/>
          </p:nvPr>
        </p:nvSpPr>
        <p:spPr>
          <a:xfrm>
            <a:off x="7491867" y="6351113"/>
            <a:ext cx="4114800" cy="366183"/>
          </a:xfrm>
        </p:spPr>
        <p:txBody>
          <a:bodyPr/>
          <a:lstStyle/>
          <a:p>
            <a:r>
              <a:rPr lang="en-US" sz="900">
                <a:latin typeface="Source Sans Pro"/>
                <a:ea typeface="Source Sans Pro"/>
              </a:rPr>
              <a:t>ARCHERFISH CDR</a:t>
            </a:r>
            <a:endParaRPr lang="en-US"/>
          </a:p>
        </p:txBody>
      </p:sp>
      <p:sp>
        <p:nvSpPr>
          <p:cNvPr id="9" name="Slide Number Placeholder 3">
            <a:extLst>
              <a:ext uri="{FF2B5EF4-FFF2-40B4-BE49-F238E27FC236}">
                <a16:creationId xmlns:a16="http://schemas.microsoft.com/office/drawing/2014/main" id="{3448D2D9-F78E-C3B6-19D4-34EAD5DFAF7C}"/>
              </a:ext>
            </a:extLst>
          </p:cNvPr>
          <p:cNvSpPr>
            <a:spLocks noGrp="1"/>
          </p:cNvSpPr>
          <p:nvPr>
            <p:ph type="sldNum" sz="quarter" idx="17"/>
          </p:nvPr>
        </p:nvSpPr>
        <p:spPr>
          <a:xfrm>
            <a:off x="11379199" y="6351113"/>
            <a:ext cx="544856" cy="366183"/>
          </a:xfrm>
        </p:spPr>
        <p:txBody>
          <a:bodyPr/>
          <a:lstStyle/>
          <a:p>
            <a:r>
              <a:rPr lang="en-US"/>
              <a:t>/   </a:t>
            </a:r>
            <a:fld id="{6C7E6F33-74EE-5541-8108-8353B402F8C1}" type="slidenum">
              <a:rPr lang="en-US" smtClean="0"/>
              <a:pPr/>
              <a:t>51</a:t>
            </a:fld>
            <a:endParaRPr lang="en-US"/>
          </a:p>
        </p:txBody>
      </p:sp>
      <p:graphicFrame>
        <p:nvGraphicFramePr>
          <p:cNvPr id="4" name="Table 3">
            <a:extLst>
              <a:ext uri="{FF2B5EF4-FFF2-40B4-BE49-F238E27FC236}">
                <a16:creationId xmlns:a16="http://schemas.microsoft.com/office/drawing/2014/main" id="{B48D177D-6A58-E7CF-6489-F47F30852BCA}"/>
              </a:ext>
            </a:extLst>
          </p:cNvPr>
          <p:cNvGraphicFramePr>
            <a:graphicFrameLocks noGrp="1"/>
          </p:cNvGraphicFramePr>
          <p:nvPr>
            <p:extLst>
              <p:ext uri="{D42A27DB-BD31-4B8C-83A1-F6EECF244321}">
                <p14:modId xmlns:p14="http://schemas.microsoft.com/office/powerpoint/2010/main" val="2868532553"/>
              </p:ext>
            </p:extLst>
          </p:nvPr>
        </p:nvGraphicFramePr>
        <p:xfrm>
          <a:off x="304800" y="1635759"/>
          <a:ext cx="11297521" cy="4145292"/>
        </p:xfrm>
        <a:graphic>
          <a:graphicData uri="http://schemas.openxmlformats.org/drawingml/2006/table">
            <a:tbl>
              <a:tblPr bandRow="1">
                <a:tableStyleId>{5C22544A-7EE6-4342-B048-85BDC9FD1C3A}</a:tableStyleId>
              </a:tblPr>
              <a:tblGrid>
                <a:gridCol w="555119">
                  <a:extLst>
                    <a:ext uri="{9D8B030D-6E8A-4147-A177-3AD203B41FA5}">
                      <a16:colId xmlns:a16="http://schemas.microsoft.com/office/drawing/2014/main" val="360521789"/>
                    </a:ext>
                  </a:extLst>
                </a:gridCol>
                <a:gridCol w="2434824">
                  <a:extLst>
                    <a:ext uri="{9D8B030D-6E8A-4147-A177-3AD203B41FA5}">
                      <a16:colId xmlns:a16="http://schemas.microsoft.com/office/drawing/2014/main" val="3592925142"/>
                    </a:ext>
                  </a:extLst>
                </a:gridCol>
                <a:gridCol w="1714812">
                  <a:extLst>
                    <a:ext uri="{9D8B030D-6E8A-4147-A177-3AD203B41FA5}">
                      <a16:colId xmlns:a16="http://schemas.microsoft.com/office/drawing/2014/main" val="4284133082"/>
                    </a:ext>
                  </a:extLst>
                </a:gridCol>
                <a:gridCol w="1622465">
                  <a:extLst>
                    <a:ext uri="{9D8B030D-6E8A-4147-A177-3AD203B41FA5}">
                      <a16:colId xmlns:a16="http://schemas.microsoft.com/office/drawing/2014/main" val="1106370287"/>
                    </a:ext>
                  </a:extLst>
                </a:gridCol>
                <a:gridCol w="1329822">
                  <a:extLst>
                    <a:ext uri="{9D8B030D-6E8A-4147-A177-3AD203B41FA5}">
                      <a16:colId xmlns:a16="http://schemas.microsoft.com/office/drawing/2014/main" val="4149231578"/>
                    </a:ext>
                  </a:extLst>
                </a:gridCol>
                <a:gridCol w="901204">
                  <a:extLst>
                    <a:ext uri="{9D8B030D-6E8A-4147-A177-3AD203B41FA5}">
                      <a16:colId xmlns:a16="http://schemas.microsoft.com/office/drawing/2014/main" val="2483966670"/>
                    </a:ext>
                  </a:extLst>
                </a:gridCol>
                <a:gridCol w="783378">
                  <a:extLst>
                    <a:ext uri="{9D8B030D-6E8A-4147-A177-3AD203B41FA5}">
                      <a16:colId xmlns:a16="http://schemas.microsoft.com/office/drawing/2014/main" val="1056265578"/>
                    </a:ext>
                  </a:extLst>
                </a:gridCol>
                <a:gridCol w="824270">
                  <a:extLst>
                    <a:ext uri="{9D8B030D-6E8A-4147-A177-3AD203B41FA5}">
                      <a16:colId xmlns:a16="http://schemas.microsoft.com/office/drawing/2014/main" val="2897210559"/>
                    </a:ext>
                  </a:extLst>
                </a:gridCol>
                <a:gridCol w="1131627">
                  <a:extLst>
                    <a:ext uri="{9D8B030D-6E8A-4147-A177-3AD203B41FA5}">
                      <a16:colId xmlns:a16="http://schemas.microsoft.com/office/drawing/2014/main" val="3220668836"/>
                    </a:ext>
                  </a:extLst>
                </a:gridCol>
              </a:tblGrid>
              <a:tr h="414818">
                <a:tc>
                  <a:txBody>
                    <a:bodyPr/>
                    <a:lstStyle/>
                    <a:p>
                      <a:pPr algn="l" fontAlgn="b"/>
                      <a:endParaRPr lang="en-US" sz="1200" b="0" i="0" u="none" strike="noStrike">
                        <a:solidFill>
                          <a:srgbClr val="154734"/>
                        </a:solidFill>
                        <a:effectLst/>
                        <a:latin typeface="Times New Roman" panose="02020603050405020304" pitchFamily="18"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Description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Part Number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Unit Price (Estimates)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Quantity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Subtotal</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Taxes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Shipping</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Total</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extLst>
                  <a:ext uri="{0D108BD9-81ED-4DB2-BD59-A6C34878D82A}">
                    <a16:rowId xmlns:a16="http://schemas.microsoft.com/office/drawing/2014/main" val="2229692858"/>
                  </a:ext>
                </a:extLst>
              </a:tr>
              <a:tr h="414818">
                <a:tc>
                  <a:txBody>
                    <a:bodyPr/>
                    <a:lstStyle/>
                    <a:p>
                      <a:pPr algn="l" fontAlgn="b"/>
                      <a:r>
                        <a:rPr lang="en-US" sz="1600" b="0" i="0" u="none" strike="noStrike">
                          <a:solidFill>
                            <a:srgbClr val="000000"/>
                          </a:solidFill>
                          <a:effectLst/>
                          <a:latin typeface="Times New Roman"/>
                        </a:rPr>
                        <a:t>1</a:t>
                      </a:r>
                    </a:p>
                  </a:txBody>
                  <a:tcPr marL="9525" marR="9525" marT="9525" marB="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cs typeface="Times New Roman"/>
                        </a:rPr>
                        <a:t>RCS 98mm Nozzle</a:t>
                      </a:r>
                    </a:p>
                  </a:txBody>
                  <a:tcPr marL="9525" marR="9525" marT="9525" marB="0" anchor="ctr">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a:latin typeface="Times New Roman"/>
                          <a:cs typeface="Times New Roman"/>
                        </a:rPr>
                        <a:t>01880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cs typeface="Times New Roman"/>
                        </a:rPr>
                        <a:t>$89.99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cs typeface="Times New Roman"/>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cs typeface="Times New Roman"/>
                        </a:rPr>
                        <a:t>$89.99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rowSpan="3">
                  <a:txBody>
                    <a:bodyPr/>
                    <a:lstStyle/>
                    <a:p>
                      <a:pPr lvl="0" algn="ctr">
                        <a:buNone/>
                      </a:pPr>
                      <a:r>
                        <a:rPr lang="en-US" b="1">
                          <a:latin typeface="Times New Roman"/>
                          <a:cs typeface="Times New Roman"/>
                        </a:rPr>
                        <a:t>+ 9%</a:t>
                      </a:r>
                      <a:endParaRPr lang="en-US">
                        <a:latin typeface="Times New Roman"/>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rowSpan="3">
                  <a:txBody>
                    <a:bodyPr/>
                    <a:lstStyle/>
                    <a:p>
                      <a:pPr algn="ctr" fontAlgn="b"/>
                      <a:r>
                        <a:rPr lang="en-US" sz="1600" b="1" i="0" u="none" strike="noStrike">
                          <a:solidFill>
                            <a:srgbClr val="000000"/>
                          </a:solidFill>
                          <a:effectLst/>
                          <a:latin typeface="Times New Roman"/>
                          <a:cs typeface="Times New Roman"/>
                        </a:rPr>
                        <a:t>+ 10%</a:t>
                      </a:r>
                      <a:endParaRPr lang="en-US">
                        <a:latin typeface="Times New Roman"/>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a:cs typeface="Times New Roman"/>
                        </a:rPr>
                        <a:t>$107.09</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802448835"/>
                  </a:ext>
                </a:extLst>
              </a:tr>
              <a:tr h="414818">
                <a:tc>
                  <a:txBody>
                    <a:bodyPr/>
                    <a:lstStyle/>
                    <a:p>
                      <a:pPr algn="l" fontAlgn="b"/>
                      <a:r>
                        <a:rPr lang="en-US" sz="1600" b="0" i="0" u="none" strike="noStrike">
                          <a:solidFill>
                            <a:srgbClr val="000000"/>
                          </a:solidFill>
                          <a:effectLst/>
                          <a:latin typeface="Times New Roman"/>
                        </a:rPr>
                        <a:t>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242424"/>
                          </a:solidFill>
                          <a:effectLst/>
                          <a:latin typeface="Times New Roman"/>
                          <a:cs typeface="Times New Roman"/>
                        </a:rPr>
                        <a:t>RCS 13" 98mm Phenolic Motor Liner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marL="0" marR="0" lvl="0" indent="0" algn="l" defTabSz="914377" rtl="0" eaLnBrk="1" fontAlgn="b" latinLnBrk="0" hangingPunct="1">
                        <a:lnSpc>
                          <a:spcPct val="100000"/>
                        </a:lnSpc>
                        <a:spcBef>
                          <a:spcPts val="0"/>
                        </a:spcBef>
                        <a:spcAft>
                          <a:spcPts val="0"/>
                        </a:spcAft>
                        <a:buClrTx/>
                        <a:buSzTx/>
                        <a:buFontTx/>
                        <a:buNone/>
                        <a:tabLst/>
                        <a:defRPr/>
                      </a:pPr>
                      <a:r>
                        <a:rPr lang="en-US" sz="1600">
                          <a:latin typeface="Times New Roman"/>
                          <a:cs typeface="Times New Roman"/>
                        </a:rPr>
                        <a:t>03040-2</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cs typeface="Times New Roman"/>
                        </a:rPr>
                        <a:t>$19.99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cs typeface="Times New Roman"/>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cs typeface="Times New Roman"/>
                        </a:rPr>
                        <a:t>$19.99</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vMerge="1">
                  <a:txBody>
                    <a:bodyPr/>
                    <a:lstStyle/>
                    <a:p>
                      <a:pPr lvl="0" algn="l">
                        <a:buNone/>
                      </a:pP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vMerge="1">
                  <a:txBody>
                    <a:bodyPr/>
                    <a:lstStyle/>
                    <a:p>
                      <a:pPr algn="l" fontAlgn="b"/>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600" b="0" i="0" u="none" strike="noStrike">
                          <a:solidFill>
                            <a:srgbClr val="000000"/>
                          </a:solidFill>
                          <a:effectLst/>
                          <a:latin typeface="Times New Roman"/>
                          <a:cs typeface="Times New Roman"/>
                        </a:rPr>
                        <a:t>$23.80</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1578019327"/>
                  </a:ext>
                </a:extLst>
              </a:tr>
              <a:tr h="414817">
                <a:tc>
                  <a:txBody>
                    <a:bodyPr/>
                    <a:lstStyle/>
                    <a:p>
                      <a:pPr algn="l" fontAlgn="b"/>
                      <a:r>
                        <a:rPr lang="en-US" sz="1600" b="0" i="0" u="none" strike="noStrike">
                          <a:solidFill>
                            <a:srgbClr val="000000"/>
                          </a:solidFill>
                          <a:effectLst/>
                          <a:latin typeface="Times New Roman"/>
                        </a:rPr>
                        <a:t>3</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242424"/>
                          </a:solidFill>
                          <a:effectLst/>
                          <a:latin typeface="Times New Roman"/>
                          <a:cs typeface="Times New Roman"/>
                        </a:rPr>
                        <a:t>C-Class Motor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800">
                          <a:latin typeface="Times New Roman"/>
                          <a:cs typeface="Times New Roman"/>
                        </a:rPr>
                        <a:t>NA</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cs typeface="Times New Roman"/>
                        </a:rPr>
                        <a:t>$14.00</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cs typeface="Times New Roman"/>
                        </a:rPr>
                        <a:t>$14</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vMerge="1">
                  <a:txBody>
                    <a:bodyPr/>
                    <a:lstStyle/>
                    <a:p>
                      <a:pPr algn="l" fontAlgn="b"/>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vMerge="1">
                  <a:txBody>
                    <a:bodyPr/>
                    <a:lstStyle/>
                    <a:p>
                      <a:pPr algn="l" fontAlgn="b"/>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a:cs typeface="Times New Roman"/>
                        </a:rPr>
                        <a:t>$16.55</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2633894003"/>
                  </a:ext>
                </a:extLst>
              </a:tr>
              <a:tr h="414817">
                <a:tc>
                  <a:txBody>
                    <a:bodyPr/>
                    <a:lstStyle/>
                    <a:p>
                      <a:pPr lvl="0" algn="l">
                        <a:buNone/>
                      </a:pPr>
                      <a:r>
                        <a:rPr lang="en-US" sz="1600" b="0" i="0" u="none" strike="noStrike">
                          <a:solidFill>
                            <a:srgbClr val="000000"/>
                          </a:solidFill>
                          <a:effectLst/>
                          <a:latin typeface="Times New Roman"/>
                        </a:rPr>
                        <a:t>4</a:t>
                      </a:r>
                      <a:endParaRPr lang="en-US">
                        <a:latin typeface="Times New Roman"/>
                      </a:endParaRPr>
                    </a:p>
                  </a:txBody>
                  <a:tcPr marL="9524" marR="9524" marT="9524" marB="0" anchor="ctr">
                    <a:lnL w="6350" cap="flat" cmpd="sng" algn="ctr">
                      <a:solidFill>
                        <a:srgbClr val="FFFFFF"/>
                      </a:solidFill>
                      <a:prstDash val="solid"/>
                      <a:round/>
                      <a:headEnd type="none" w="med" len="med"/>
                      <a:tailEnd type="none" w="med" len="med"/>
                    </a:lnL>
                    <a:lnR w="6350">
                      <a:solidFill>
                        <a:srgbClr val="FFFFFF"/>
                      </a:solid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242424"/>
                          </a:solidFill>
                          <a:effectLst/>
                          <a:latin typeface="Times New Roman"/>
                          <a:cs typeface="Times New Roman"/>
                        </a:rPr>
                        <a:t>JB Weld Hi-Tem RTV Silicone 11oz</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800">
                          <a:latin typeface="Times New Roman"/>
                          <a:cs typeface="Times New Roman"/>
                        </a:rPr>
                        <a:t>NA</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$9.40</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$9.40</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600" b="1" i="0" u="none" strike="noStrike" noProof="0">
                          <a:solidFill>
                            <a:srgbClr val="000000"/>
                          </a:solidFill>
                          <a:effectLst/>
                          <a:latin typeface="Times New Roman"/>
                        </a:rPr>
                        <a:t>+ 10%</a:t>
                      </a:r>
                      <a:endParaRPr lang="en-US" sz="1600" b="0" i="0" u="none" strike="noStrike" noProof="0">
                        <a:solidFill>
                          <a:srgbClr val="154734"/>
                        </a:solidFill>
                        <a:effectLst/>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$11.19</a:t>
                      </a:r>
                    </a:p>
                  </a:txBody>
                  <a:tcPr marL="6350" marR="6350" marT="6350" marB="0" anchor="b">
                    <a:lnL w="6350">
                      <a:solidFill>
                        <a:srgbClr val="FFFFFF"/>
                      </a:solidFill>
                    </a:lnL>
                    <a:lnR w="0">
                      <a:noFill/>
                    </a:lnR>
                    <a:lnT w="6350">
                      <a:solidFill>
                        <a:srgbClr val="FFFFFF"/>
                      </a:solidFill>
                    </a:lnT>
                    <a:lnB w="6350">
                      <a:solidFill>
                        <a:srgbClr val="FFFFFF"/>
                      </a:solidFill>
                    </a:lnB>
                    <a:solidFill>
                      <a:srgbClr val="E7E9E9"/>
                    </a:solidFill>
                  </a:tcPr>
                </a:tc>
                <a:extLst>
                  <a:ext uri="{0D108BD9-81ED-4DB2-BD59-A6C34878D82A}">
                    <a16:rowId xmlns:a16="http://schemas.microsoft.com/office/drawing/2014/main" val="4008224907"/>
                  </a:ext>
                </a:extLst>
              </a:tr>
              <a:tr h="414817">
                <a:tc>
                  <a:txBody>
                    <a:bodyPr/>
                    <a:lstStyle/>
                    <a:p>
                      <a:pPr lvl="0" algn="l">
                        <a:buNone/>
                      </a:pPr>
                      <a:r>
                        <a:rPr lang="en-US" sz="1600" b="0" i="0" u="none" strike="noStrike">
                          <a:solidFill>
                            <a:srgbClr val="000000"/>
                          </a:solidFill>
                          <a:effectLst/>
                          <a:latin typeface="Times New Roman"/>
                        </a:rPr>
                        <a:t>5</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noProof="0">
                          <a:solidFill>
                            <a:srgbClr val="242424"/>
                          </a:solidFill>
                          <a:effectLst/>
                          <a:latin typeface="Times New Roman"/>
                        </a:rPr>
                        <a:t>5.75" dia x 6.25"  long  6061 Aluminum  Round Bar</a:t>
                      </a:r>
                      <a:endParaRPr lang="en-US">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800">
                          <a:latin typeface="Times New Roman"/>
                          <a:cs typeface="Times New Roman"/>
                        </a:rPr>
                        <a:t>NA</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$252.31</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$52.91</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600" b="1" i="0" u="none" strike="noStrike" noProof="0">
                          <a:solidFill>
                            <a:srgbClr val="000000"/>
                          </a:solidFill>
                          <a:effectLst/>
                          <a:latin typeface="Times New Roman"/>
                        </a:rPr>
                        <a:t>+ 10%</a:t>
                      </a:r>
                      <a:endParaRPr lang="en-US" sz="1600" b="0" i="0" u="none" strike="noStrike" noProof="0">
                        <a:solidFill>
                          <a:srgbClr val="154734"/>
                        </a:solidFill>
                        <a:effectLst/>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$300.00</a:t>
                      </a:r>
                    </a:p>
                  </a:txBody>
                  <a:tcPr marL="6350" marR="6350" marT="6350" marB="0" anchor="b">
                    <a:lnL w="6350">
                      <a:solidFill>
                        <a:srgbClr val="FFFFFF"/>
                      </a:solidFill>
                    </a:lnL>
                    <a:lnR w="0">
                      <a:noFill/>
                    </a:lnR>
                    <a:lnT w="6350">
                      <a:solidFill>
                        <a:srgbClr val="FFFFFF"/>
                      </a:solidFill>
                    </a:lnT>
                    <a:lnB w="6350">
                      <a:solidFill>
                        <a:srgbClr val="FFFFFF"/>
                      </a:solidFill>
                    </a:lnB>
                    <a:solidFill>
                      <a:srgbClr val="E7E9E9"/>
                    </a:solidFill>
                  </a:tcPr>
                </a:tc>
                <a:extLst>
                  <a:ext uri="{0D108BD9-81ED-4DB2-BD59-A6C34878D82A}">
                    <a16:rowId xmlns:a16="http://schemas.microsoft.com/office/drawing/2014/main" val="14756771"/>
                  </a:ext>
                </a:extLst>
              </a:tr>
              <a:tr h="414817">
                <a:tc>
                  <a:txBody>
                    <a:bodyPr/>
                    <a:lstStyle/>
                    <a:p>
                      <a:pPr lvl="0" algn="l">
                        <a:buNone/>
                      </a:pPr>
                      <a:r>
                        <a:rPr lang="en-US" sz="1600" b="0" i="0" u="none" strike="noStrike">
                          <a:solidFill>
                            <a:srgbClr val="000000"/>
                          </a:solidFill>
                          <a:effectLst/>
                          <a:latin typeface="Times New Roman"/>
                        </a:rPr>
                        <a:t>6</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lnSpc>
                          <a:spcPct val="100000"/>
                        </a:lnSpc>
                        <a:spcBef>
                          <a:spcPts val="0"/>
                        </a:spcBef>
                        <a:spcAft>
                          <a:spcPts val="0"/>
                        </a:spcAft>
                        <a:buNone/>
                      </a:pPr>
                      <a:r>
                        <a:rPr lang="en-US" sz="1600" b="0" i="0" u="none" strike="noStrike" noProof="0">
                          <a:solidFill>
                            <a:srgbClr val="242424"/>
                          </a:solidFill>
                          <a:effectLst/>
                          <a:latin typeface="Times New Roman"/>
                        </a:rPr>
                        <a:t>3.61" OD, 3" ID 6061 Aluminum Retaining Ring</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800" b="0" i="0" u="none" strike="noStrike" noProof="0">
                          <a:latin typeface="Times New Roman"/>
                        </a:rPr>
                        <a:t>NA</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$18.80</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$18.80</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600" b="1" i="0" u="none" strike="noStrike" noProof="0">
                          <a:solidFill>
                            <a:srgbClr val="000000"/>
                          </a:solidFill>
                          <a:effectLst/>
                          <a:latin typeface="Times New Roman"/>
                        </a:rPr>
                        <a:t>+ 10%</a:t>
                      </a:r>
                      <a:endParaRPr lang="en-US" sz="1600" b="0" i="0" u="none" strike="noStrike" noProof="0">
                        <a:solidFill>
                          <a:srgbClr val="154734"/>
                        </a:solidFill>
                        <a:effectLst/>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$22.37</a:t>
                      </a:r>
                    </a:p>
                  </a:txBody>
                  <a:tcPr marL="6350" marR="6350" marT="6350" marB="0" anchor="b">
                    <a:lnL w="6350">
                      <a:solidFill>
                        <a:srgbClr val="FFFFFF"/>
                      </a:solidFill>
                    </a:lnL>
                    <a:lnR w="0">
                      <a:noFill/>
                    </a:lnR>
                    <a:lnT w="6350">
                      <a:solidFill>
                        <a:srgbClr val="FFFFFF"/>
                      </a:solidFill>
                    </a:lnT>
                    <a:lnB w="6350">
                      <a:solidFill>
                        <a:srgbClr val="FFFFFF"/>
                      </a:solidFill>
                    </a:lnB>
                    <a:solidFill>
                      <a:srgbClr val="E7E9E9"/>
                    </a:solidFill>
                  </a:tcPr>
                </a:tc>
                <a:extLst>
                  <a:ext uri="{0D108BD9-81ED-4DB2-BD59-A6C34878D82A}">
                    <a16:rowId xmlns:a16="http://schemas.microsoft.com/office/drawing/2014/main" val="311156324"/>
                  </a:ext>
                </a:extLst>
              </a:tr>
              <a:tr h="414817">
                <a:tc>
                  <a:txBody>
                    <a:bodyPr/>
                    <a:lstStyle/>
                    <a:p>
                      <a:pPr lvl="0" algn="l">
                        <a:buNone/>
                      </a:pPr>
                      <a:r>
                        <a:rPr lang="en-US" sz="1600" b="0" i="0" u="none" strike="noStrike">
                          <a:solidFill>
                            <a:srgbClr val="000000"/>
                          </a:solidFill>
                          <a:effectLst/>
                          <a:latin typeface="Times New Roman"/>
                        </a:rPr>
                        <a:t>7</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242424"/>
                          </a:solidFill>
                          <a:effectLst/>
                          <a:latin typeface="Times New Roman"/>
                          <a:cs typeface="Times New Roman"/>
                        </a:rPr>
                        <a:t>¼-20 High Strength Hex Bolts</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800">
                          <a:latin typeface="Times New Roman"/>
                          <a:cs typeface="Times New Roman"/>
                        </a:rPr>
                        <a:t>NA</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$12.44</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$12.44</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buNone/>
                      </a:pPr>
                      <a:r>
                        <a:rPr lang="en-US" b="1">
                          <a:latin typeface="Times New Roman"/>
                          <a:cs typeface="Times New Roman"/>
                        </a:rPr>
                        <a:t>+9%</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buNone/>
                      </a:pPr>
                      <a:r>
                        <a:rPr lang="en-US" sz="1600" b="1" i="0" u="none" strike="noStrike">
                          <a:solidFill>
                            <a:srgbClr val="000000"/>
                          </a:solidFill>
                          <a:effectLst/>
                          <a:latin typeface="Times New Roman"/>
                          <a:cs typeface="Times New Roman"/>
                        </a:rPr>
                        <a:t>+10%</a:t>
                      </a: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l">
                        <a:buNone/>
                      </a:pPr>
                      <a:r>
                        <a:rPr lang="en-US" sz="1600" b="0" i="0" u="none" strike="noStrike">
                          <a:solidFill>
                            <a:srgbClr val="000000"/>
                          </a:solidFill>
                          <a:effectLst/>
                          <a:latin typeface="Times New Roman"/>
                          <a:cs typeface="Times New Roman"/>
                        </a:rPr>
                        <a:t>$14.40</a:t>
                      </a:r>
                    </a:p>
                  </a:txBody>
                  <a:tcPr marL="6350" marR="6350" marT="6350" marB="0" anchor="b">
                    <a:lnL w="6350">
                      <a:solidFill>
                        <a:srgbClr val="FFFFFF"/>
                      </a:solidFill>
                    </a:lnL>
                    <a:lnR w="0">
                      <a:noFill/>
                    </a:lnR>
                    <a:lnT w="6350">
                      <a:solidFill>
                        <a:srgbClr val="FFFFFF"/>
                      </a:solidFill>
                    </a:lnT>
                    <a:lnB w="6350">
                      <a:solidFill>
                        <a:srgbClr val="FFFFFF"/>
                      </a:solidFill>
                    </a:lnB>
                    <a:solidFill>
                      <a:srgbClr val="E7E9E9"/>
                    </a:solidFill>
                  </a:tcPr>
                </a:tc>
                <a:extLst>
                  <a:ext uri="{0D108BD9-81ED-4DB2-BD59-A6C34878D82A}">
                    <a16:rowId xmlns:a16="http://schemas.microsoft.com/office/drawing/2014/main" val="426856080"/>
                  </a:ext>
                </a:extLst>
              </a:tr>
              <a:tr h="414818">
                <a:tc>
                  <a:txBody>
                    <a:bodyPr/>
                    <a:lstStyle/>
                    <a:p>
                      <a:pPr algn="l" fontAlgn="b"/>
                      <a:endParaRPr lang="en-US" sz="1600" b="0" i="0" u="none" strike="noStrike">
                        <a:solidFill>
                          <a:srgbClr val="000000"/>
                        </a:solidFill>
                        <a:effectLst/>
                        <a:latin typeface="Times New Roman"/>
                      </a:endParaRPr>
                    </a:p>
                  </a:txBody>
                  <a:tcPr marL="9525" marR="9525" marT="9525" marB="0" anchor="ctr">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ctr">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ctr">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ctr">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ctr">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ctr">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l" fontAlgn="b"/>
                      <a:r>
                        <a:rPr lang="en-US" sz="1600" b="1" i="0" u="sng" strike="noStrike">
                          <a:solidFill>
                            <a:srgbClr val="000000"/>
                          </a:solidFill>
                          <a:effectLst/>
                          <a:latin typeface="Times New Roman"/>
                        </a:rPr>
                        <a:t>TOTAL: </a:t>
                      </a:r>
                    </a:p>
                  </a:txBody>
                  <a:tcPr marL="9525" marR="9525" marT="9525" marB="0" anchor="ctr">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1" i="0" u="sng" strike="noStrike">
                          <a:solidFill>
                            <a:srgbClr val="000000"/>
                          </a:solidFill>
                          <a:effectLst/>
                          <a:latin typeface="Times New Roman"/>
                        </a:rPr>
                        <a:t>$498.46</a:t>
                      </a:r>
                    </a:p>
                  </a:txBody>
                  <a:tcPr marL="9525" marR="9525" marT="9525" marB="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CBD1CF"/>
                    </a:solidFill>
                  </a:tcPr>
                </a:tc>
                <a:extLst>
                  <a:ext uri="{0D108BD9-81ED-4DB2-BD59-A6C34878D82A}">
                    <a16:rowId xmlns:a16="http://schemas.microsoft.com/office/drawing/2014/main" val="2638035087"/>
                  </a:ext>
                </a:extLst>
              </a:tr>
            </a:tbl>
          </a:graphicData>
        </a:graphic>
      </p:graphicFrame>
    </p:spTree>
    <p:extLst>
      <p:ext uri="{BB962C8B-B14F-4D97-AF65-F5344CB8AC3E}">
        <p14:creationId xmlns:p14="http://schemas.microsoft.com/office/powerpoint/2010/main" val="3948025265"/>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A9F57-423C-85B8-DF06-539CD7A840FF}"/>
              </a:ext>
            </a:extLst>
          </p:cNvPr>
          <p:cNvSpPr>
            <a:spLocks noGrp="1"/>
          </p:cNvSpPr>
          <p:nvPr>
            <p:ph type="title"/>
          </p:nvPr>
        </p:nvSpPr>
        <p:spPr>
          <a:xfrm>
            <a:off x="-17765" y="504496"/>
            <a:ext cx="12208072" cy="1037865"/>
          </a:xfrm>
        </p:spPr>
        <p:txBody>
          <a:bodyPr/>
          <a:lstStyle/>
          <a:p>
            <a:r>
              <a:rPr lang="en-US"/>
              <a:t>Ground System Equipment</a:t>
            </a:r>
          </a:p>
        </p:txBody>
      </p:sp>
      <p:sp>
        <p:nvSpPr>
          <p:cNvPr id="3" name="Text Placeholder 2">
            <a:extLst>
              <a:ext uri="{FF2B5EF4-FFF2-40B4-BE49-F238E27FC236}">
                <a16:creationId xmlns:a16="http://schemas.microsoft.com/office/drawing/2014/main" id="{EEFFE4F1-A1AD-7130-D935-2A25AD686EB8}"/>
              </a:ext>
            </a:extLst>
          </p:cNvPr>
          <p:cNvSpPr>
            <a:spLocks noGrp="1"/>
          </p:cNvSpPr>
          <p:nvPr>
            <p:ph type="body" sz="quarter" idx="11"/>
          </p:nvPr>
        </p:nvSpPr>
        <p:spPr/>
        <p:txBody>
          <a:bodyPr/>
          <a:lstStyle/>
          <a:p>
            <a:r>
              <a:rPr lang="en-US" sz="1850">
                <a:ea typeface="Source Sans Pro"/>
              </a:rPr>
              <a:t>Presented by:</a:t>
            </a:r>
            <a:r>
              <a:rPr lang="en-US" sz="1850">
                <a:ea typeface="Source Sans Pro"/>
                <a:cs typeface="Calibri"/>
              </a:rPr>
              <a:t> Arjan Reyes</a:t>
            </a:r>
            <a:endParaRPr lang="en-US"/>
          </a:p>
        </p:txBody>
      </p:sp>
    </p:spTree>
    <p:extLst>
      <p:ext uri="{BB962C8B-B14F-4D97-AF65-F5344CB8AC3E}">
        <p14:creationId xmlns:p14="http://schemas.microsoft.com/office/powerpoint/2010/main" val="28335523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59FF7-4EA9-4B03-F6C6-9B4B5D3BC8FA}"/>
              </a:ext>
            </a:extLst>
          </p:cNvPr>
          <p:cNvSpPr>
            <a:spLocks noGrp="1"/>
          </p:cNvSpPr>
          <p:nvPr>
            <p:ph type="title"/>
          </p:nvPr>
        </p:nvSpPr>
        <p:spPr/>
        <p:txBody>
          <a:bodyPr>
            <a:normAutofit fontScale="90000"/>
          </a:bodyPr>
          <a:lstStyle/>
          <a:p>
            <a:r>
              <a:rPr lang="en-US"/>
              <a:t>Overall System</a:t>
            </a:r>
          </a:p>
        </p:txBody>
      </p:sp>
      <p:sp>
        <p:nvSpPr>
          <p:cNvPr id="4" name="Text Placeholder 3">
            <a:extLst>
              <a:ext uri="{FF2B5EF4-FFF2-40B4-BE49-F238E27FC236}">
                <a16:creationId xmlns:a16="http://schemas.microsoft.com/office/drawing/2014/main" id="{568103DB-A8B7-FD79-BFE1-8276E084BB28}"/>
              </a:ext>
            </a:extLst>
          </p:cNvPr>
          <p:cNvSpPr>
            <a:spLocks noGrp="1"/>
          </p:cNvSpPr>
          <p:nvPr>
            <p:ph type="body" idx="1"/>
          </p:nvPr>
        </p:nvSpPr>
        <p:spPr/>
        <p:txBody>
          <a:bodyPr/>
          <a:lstStyle/>
          <a:p>
            <a:pPr marL="608965" indent="-456565"/>
            <a:r>
              <a:rPr lang="en-US" sz="1850">
                <a:ea typeface="Source Sans Pro"/>
              </a:rPr>
              <a:t>Communication between components</a:t>
            </a:r>
          </a:p>
          <a:p>
            <a:pPr marL="1218565" lvl="1" indent="-422910">
              <a:lnSpc>
                <a:spcPct val="114999"/>
              </a:lnSpc>
            </a:pPr>
            <a:r>
              <a:rPr lang="en-US" kern="800">
                <a:ea typeface="Source Sans Pro"/>
                <a:cs typeface="Calibri"/>
              </a:rPr>
              <a:t>Onboard computers (TOM, engine controller)</a:t>
            </a:r>
          </a:p>
          <a:p>
            <a:pPr marL="1218565" lvl="1" indent="-422910">
              <a:lnSpc>
                <a:spcPct val="114999"/>
              </a:lnSpc>
            </a:pPr>
            <a:r>
              <a:rPr lang="en-US" kern="800">
                <a:ea typeface="Source Sans Pro"/>
                <a:cs typeface="Calibri"/>
              </a:rPr>
              <a:t>GSE controller</a:t>
            </a:r>
            <a:endParaRPr lang="en-US">
              <a:ea typeface="Source Sans Pro"/>
              <a:cs typeface="Calibri"/>
            </a:endParaRPr>
          </a:p>
          <a:p>
            <a:pPr marL="1218565" lvl="1" indent="-422910">
              <a:lnSpc>
                <a:spcPct val="114999"/>
              </a:lnSpc>
            </a:pPr>
            <a:r>
              <a:rPr lang="en-US" kern="800">
                <a:ea typeface="Source Sans Pro"/>
                <a:cs typeface="Calibri"/>
              </a:rPr>
              <a:t>Main computer</a:t>
            </a:r>
            <a:endParaRPr lang="en-US">
              <a:ea typeface="Source Sans Pro"/>
              <a:cs typeface="Calibri"/>
            </a:endParaRPr>
          </a:p>
          <a:p>
            <a:pPr marL="1218565" lvl="1" indent="-422910">
              <a:lnSpc>
                <a:spcPct val="114999"/>
              </a:lnSpc>
            </a:pPr>
            <a:r>
              <a:rPr lang="en-US">
                <a:ea typeface="Source Sans Pro"/>
                <a:cs typeface="Calibri"/>
              </a:rPr>
              <a:t>Control Box</a:t>
            </a:r>
          </a:p>
          <a:p>
            <a:pPr marL="608965" indent="-456565">
              <a:lnSpc>
                <a:spcPct val="114999"/>
              </a:lnSpc>
            </a:pPr>
            <a:r>
              <a:rPr lang="en-US" sz="1850">
                <a:ea typeface="Source Sans Pro"/>
                <a:cs typeface="Calibri"/>
              </a:rPr>
              <a:t>Safety</a:t>
            </a:r>
            <a:endParaRPr lang="en-US" sz="1850">
              <a:cs typeface="Calibri"/>
            </a:endParaRPr>
          </a:p>
          <a:p>
            <a:pPr marL="1218565" lvl="1" indent="-422910">
              <a:lnSpc>
                <a:spcPct val="114999"/>
              </a:lnSpc>
            </a:pPr>
            <a:r>
              <a:rPr lang="en-US">
                <a:ea typeface="Source Sans Pro"/>
                <a:cs typeface="Calibri"/>
              </a:rPr>
              <a:t>Fill</a:t>
            </a:r>
            <a:r>
              <a:rPr lang="en-US" kern="800">
                <a:ea typeface="Source Sans Pro"/>
                <a:cs typeface="Calibri"/>
              </a:rPr>
              <a:t>, pressurize, dump, and launch system efficiently</a:t>
            </a:r>
            <a:endParaRPr lang="en-US">
              <a:cs typeface="Calibri"/>
            </a:endParaRPr>
          </a:p>
          <a:p>
            <a:pPr marL="1218565" lvl="1" indent="-422910">
              <a:lnSpc>
                <a:spcPct val="114999"/>
              </a:lnSpc>
            </a:pPr>
            <a:r>
              <a:rPr lang="en-US" kern="800">
                <a:ea typeface="Source Sans Pro"/>
                <a:cs typeface="Calibri"/>
              </a:rPr>
              <a:t>Ability to abort launch without sacrificing entire rocket</a:t>
            </a:r>
          </a:p>
          <a:p>
            <a:pPr marL="1218565" lvl="1" indent="-422910">
              <a:lnSpc>
                <a:spcPct val="114999"/>
              </a:lnSpc>
            </a:pPr>
            <a:r>
              <a:rPr lang="en-US" kern="800">
                <a:ea typeface="Source Sans Pro"/>
                <a:cs typeface="Calibri"/>
              </a:rPr>
              <a:t>Fill station will fail into a safe mode if control or power are lost</a:t>
            </a:r>
            <a:endParaRPr lang="en-US" kern="800">
              <a:cs typeface="Calibri"/>
            </a:endParaRPr>
          </a:p>
          <a:p>
            <a:pPr marL="608965" indent="-456565">
              <a:lnSpc>
                <a:spcPct val="114999"/>
              </a:lnSpc>
            </a:pPr>
            <a:r>
              <a:rPr lang="en-US" sz="1850">
                <a:ea typeface="Source Sans Pro"/>
                <a:cs typeface="Calibri"/>
              </a:rPr>
              <a:t>R&amp;D Implementation</a:t>
            </a:r>
            <a:endParaRPr lang="en-US" sz="1850" kern="800">
              <a:cs typeface="Calibri"/>
            </a:endParaRPr>
          </a:p>
          <a:p>
            <a:pPr marL="1218565" lvl="1" indent="-422910">
              <a:lnSpc>
                <a:spcPct val="114999"/>
              </a:lnSpc>
            </a:pPr>
            <a:r>
              <a:rPr lang="en-US" kern="800">
                <a:ea typeface="Source Sans Pro"/>
                <a:cs typeface="Calibri"/>
              </a:rPr>
              <a:t>Utilize TOM in new ways</a:t>
            </a:r>
          </a:p>
          <a:p>
            <a:pPr marL="1218565" lvl="1" indent="-422910">
              <a:lnSpc>
                <a:spcPct val="114999"/>
              </a:lnSpc>
            </a:pPr>
            <a:endParaRPr lang="en-US" kern="800">
              <a:cs typeface="Calibri"/>
            </a:endParaRPr>
          </a:p>
          <a:p>
            <a:pPr marL="795655" lvl="1" indent="0">
              <a:lnSpc>
                <a:spcPct val="114999"/>
              </a:lnSpc>
              <a:buNone/>
            </a:pPr>
            <a:r>
              <a:rPr lang="en-US" kern="800">
                <a:ea typeface="Source Sans Pro"/>
                <a:cs typeface="Calibri"/>
              </a:rPr>
              <a:t>Content: more context behind what separation mechanism is used for (specify for valves, etc.)</a:t>
            </a:r>
            <a:endParaRPr lang="en-US" kern="800">
              <a:cs typeface="Calibri"/>
            </a:endParaRPr>
          </a:p>
          <a:p>
            <a:pPr marL="1218565" lvl="1" indent="-422910">
              <a:lnSpc>
                <a:spcPct val="114999"/>
              </a:lnSpc>
            </a:pPr>
            <a:endParaRPr lang="en-US" kern="800">
              <a:cs typeface="Calibri"/>
            </a:endParaRPr>
          </a:p>
        </p:txBody>
      </p:sp>
      <p:sp>
        <p:nvSpPr>
          <p:cNvPr id="16" name="Footer Placeholder 2">
            <a:extLst>
              <a:ext uri="{FF2B5EF4-FFF2-40B4-BE49-F238E27FC236}">
                <a16:creationId xmlns:a16="http://schemas.microsoft.com/office/drawing/2014/main" id="{4C5AFDBC-41DF-8441-8A58-FEFD201B306B}"/>
              </a:ext>
            </a:extLst>
          </p:cNvPr>
          <p:cNvSpPr txBox="1">
            <a:spLocks/>
          </p:cNvSpPr>
          <p:nvPr/>
        </p:nvSpPr>
        <p:spPr>
          <a:xfrm>
            <a:off x="7491867" y="6351113"/>
            <a:ext cx="4114800" cy="366183"/>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100">
                <a:solidFill>
                  <a:srgbClr val="8A948F"/>
                </a:solidFill>
                <a:latin typeface="Source Sans Pro"/>
                <a:ea typeface="Source Sans Pro"/>
              </a:rPr>
              <a:t>ARCHERFISH CDR</a:t>
            </a:r>
            <a:endParaRPr lang="en-US" sz="1100">
              <a:solidFill>
                <a:srgbClr val="8A948F"/>
              </a:solidFill>
              <a:ea typeface="Calibri"/>
              <a:cs typeface="Calibri"/>
            </a:endParaRPr>
          </a:p>
        </p:txBody>
      </p:sp>
      <p:sp>
        <p:nvSpPr>
          <p:cNvPr id="18" name="Slide Number Placeholder 3">
            <a:extLst>
              <a:ext uri="{FF2B5EF4-FFF2-40B4-BE49-F238E27FC236}">
                <a16:creationId xmlns:a16="http://schemas.microsoft.com/office/drawing/2014/main" id="{DFC60438-BE8B-02E5-E952-0A82735D2F73}"/>
              </a:ext>
            </a:extLst>
          </p:cNvPr>
          <p:cNvSpPr txBox="1">
            <a:spLocks/>
          </p:cNvSpPr>
          <p:nvPr/>
        </p:nvSpPr>
        <p:spPr>
          <a:xfrm>
            <a:off x="11379199" y="6351113"/>
            <a:ext cx="544856" cy="366183"/>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100">
                <a:solidFill>
                  <a:srgbClr val="8A948F"/>
                </a:solidFill>
                <a:latin typeface="Source Sans Pro"/>
                <a:ea typeface="Source Sans Pro"/>
              </a:rPr>
              <a:t>/   </a:t>
            </a:r>
            <a:fld id="{6C7E6F33-74EE-5541-8108-8353B402F8C1}" type="slidenum">
              <a:rPr lang="en-US" sz="1100" dirty="0" smtClean="0">
                <a:solidFill>
                  <a:srgbClr val="8A948F"/>
                </a:solidFill>
                <a:latin typeface="Source Sans Pro"/>
                <a:ea typeface="Source Sans Pro"/>
              </a:rPr>
              <a:pPr algn="r"/>
              <a:t>53</a:t>
            </a:fld>
            <a:endParaRPr lang="en-US" sz="1100">
              <a:solidFill>
                <a:srgbClr val="8A948F"/>
              </a:solidFill>
              <a:latin typeface="Source Sans Pro"/>
              <a:ea typeface="Source Sans Pro"/>
              <a:cs typeface="Calibri"/>
            </a:endParaRPr>
          </a:p>
        </p:txBody>
      </p:sp>
    </p:spTree>
    <p:extLst>
      <p:ext uri="{BB962C8B-B14F-4D97-AF65-F5344CB8AC3E}">
        <p14:creationId xmlns:p14="http://schemas.microsoft.com/office/powerpoint/2010/main" val="11113278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97AA205-932D-05DA-C0EA-4A34D1ED282B}"/>
              </a:ext>
            </a:extLst>
          </p:cNvPr>
          <p:cNvSpPr>
            <a:spLocks noGrp="1"/>
          </p:cNvSpPr>
          <p:nvPr>
            <p:ph type="ftr" sz="quarter" idx="16"/>
          </p:nvPr>
        </p:nvSpPr>
        <p:spPr/>
        <p:txBody>
          <a:bodyPr/>
          <a:lstStyle/>
          <a:p>
            <a:r>
              <a:rPr lang="en-US" sz="900">
                <a:solidFill>
                  <a:srgbClr val="8A948F"/>
                </a:solidFill>
                <a:latin typeface="Source Sans Pro"/>
                <a:ea typeface="Source Sans Pro"/>
              </a:rPr>
              <a:t>ARCHERFISH CDR</a:t>
            </a:r>
            <a:endParaRPr lang="en-US" sz="900">
              <a:solidFill>
                <a:srgbClr val="8A948F"/>
              </a:solidFill>
              <a:ea typeface="Source Sans Pro"/>
            </a:endParaRPr>
          </a:p>
        </p:txBody>
      </p:sp>
      <p:sp>
        <p:nvSpPr>
          <p:cNvPr id="4" name="Slide Number Placeholder 3">
            <a:extLst>
              <a:ext uri="{FF2B5EF4-FFF2-40B4-BE49-F238E27FC236}">
                <a16:creationId xmlns:a16="http://schemas.microsoft.com/office/drawing/2014/main" id="{34C23E8D-37A0-4336-5550-6B84E66E44B8}"/>
              </a:ext>
            </a:extLst>
          </p:cNvPr>
          <p:cNvSpPr>
            <a:spLocks noGrp="1"/>
          </p:cNvSpPr>
          <p:nvPr>
            <p:ph type="sldNum" sz="quarter" idx="17"/>
          </p:nvPr>
        </p:nvSpPr>
        <p:spPr/>
        <p:txBody>
          <a:bodyPr/>
          <a:lstStyle/>
          <a:p>
            <a:r>
              <a:rPr lang="en-US"/>
              <a:t>/   </a:t>
            </a:r>
            <a:fld id="{6C7E6F33-74EE-5541-8108-8353B402F8C1}" type="slidenum">
              <a:rPr lang="en-US" smtClean="0"/>
              <a:pPr/>
              <a:t>54</a:t>
            </a:fld>
            <a:endParaRPr lang="en-US"/>
          </a:p>
        </p:txBody>
      </p:sp>
      <p:sp>
        <p:nvSpPr>
          <p:cNvPr id="6" name="Text Placeholder 5">
            <a:extLst>
              <a:ext uri="{FF2B5EF4-FFF2-40B4-BE49-F238E27FC236}">
                <a16:creationId xmlns:a16="http://schemas.microsoft.com/office/drawing/2014/main" id="{0EEFC9E5-E60D-025C-0104-7B3DD348372B}"/>
              </a:ext>
            </a:extLst>
          </p:cNvPr>
          <p:cNvSpPr>
            <a:spLocks noGrp="1"/>
          </p:cNvSpPr>
          <p:nvPr>
            <p:ph type="body" sz="quarter" idx="13"/>
          </p:nvPr>
        </p:nvSpPr>
        <p:spPr>
          <a:xfrm>
            <a:off x="6050507" y="398536"/>
            <a:ext cx="5674660" cy="625567"/>
          </a:xfrm>
        </p:spPr>
        <p:txBody>
          <a:bodyPr/>
          <a:lstStyle/>
          <a:p>
            <a:endParaRPr lang="en-US" sz="1850">
              <a:cs typeface="Calibri"/>
            </a:endParaRPr>
          </a:p>
        </p:txBody>
      </p:sp>
      <p:pic>
        <p:nvPicPr>
          <p:cNvPr id="8" name="Picture 7" descr="A diagram of a machine&#10;&#10;AI-generated content may be incorrect.">
            <a:extLst>
              <a:ext uri="{FF2B5EF4-FFF2-40B4-BE49-F238E27FC236}">
                <a16:creationId xmlns:a16="http://schemas.microsoft.com/office/drawing/2014/main" id="{4AA615F7-C199-1C3A-D7B7-B112BE7882FA}"/>
              </a:ext>
            </a:extLst>
          </p:cNvPr>
          <p:cNvPicPr>
            <a:picLocks noChangeAspect="1"/>
          </p:cNvPicPr>
          <p:nvPr/>
        </p:nvPicPr>
        <p:blipFill>
          <a:blip r:embed="rId2"/>
          <a:stretch>
            <a:fillRect/>
          </a:stretch>
        </p:blipFill>
        <p:spPr>
          <a:xfrm>
            <a:off x="1112148" y="714932"/>
            <a:ext cx="9874375" cy="5675610"/>
          </a:xfrm>
          <a:prstGeom prst="rect">
            <a:avLst/>
          </a:prstGeom>
          <a:ln>
            <a:noFill/>
          </a:ln>
          <a:effectLst>
            <a:softEdge rad="112500"/>
          </a:effectLst>
        </p:spPr>
      </p:pic>
      <p:sp>
        <p:nvSpPr>
          <p:cNvPr id="5" name="Title 4">
            <a:extLst>
              <a:ext uri="{FF2B5EF4-FFF2-40B4-BE49-F238E27FC236}">
                <a16:creationId xmlns:a16="http://schemas.microsoft.com/office/drawing/2014/main" id="{EB15F3E3-CA3D-093C-F7B4-89497E1CAD72}"/>
              </a:ext>
            </a:extLst>
          </p:cNvPr>
          <p:cNvSpPr>
            <a:spLocks noGrp="1"/>
          </p:cNvSpPr>
          <p:nvPr>
            <p:ph type="title"/>
          </p:nvPr>
        </p:nvSpPr>
        <p:spPr>
          <a:xfrm>
            <a:off x="486355" y="398536"/>
            <a:ext cx="11238812" cy="625567"/>
          </a:xfrm>
        </p:spPr>
        <p:txBody>
          <a:bodyPr/>
          <a:lstStyle/>
          <a:p>
            <a:r>
              <a:rPr lang="en-US"/>
              <a:t>Fluid Systems/P&amp;ID</a:t>
            </a:r>
          </a:p>
        </p:txBody>
      </p:sp>
    </p:spTree>
    <p:extLst>
      <p:ext uri="{BB962C8B-B14F-4D97-AF65-F5344CB8AC3E}">
        <p14:creationId xmlns:p14="http://schemas.microsoft.com/office/powerpoint/2010/main" val="12044556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FC518-BE08-DBB7-BEB2-8D6A500A3AD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F1C7DA2-4176-63AA-BF53-04533E376EDE}"/>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1275BD8A-A225-00A7-E417-5D3618B7DC6E}"/>
              </a:ext>
            </a:extLst>
          </p:cNvPr>
          <p:cNvSpPr>
            <a:spLocks noGrp="1"/>
          </p:cNvSpPr>
          <p:nvPr>
            <p:ph type="sldNum" sz="quarter" idx="17"/>
          </p:nvPr>
        </p:nvSpPr>
        <p:spPr/>
        <p:txBody>
          <a:bodyPr/>
          <a:lstStyle/>
          <a:p>
            <a:r>
              <a:rPr lang="en-US"/>
              <a:t>/   </a:t>
            </a:r>
            <a:fld id="{6C7E6F33-74EE-5541-8108-8353B402F8C1}" type="slidenum">
              <a:rPr lang="en-US" smtClean="0"/>
              <a:pPr/>
              <a:t>55</a:t>
            </a:fld>
            <a:endParaRPr lang="en-US"/>
          </a:p>
        </p:txBody>
      </p:sp>
      <p:pic>
        <p:nvPicPr>
          <p:cNvPr id="8" name="Picture 7">
            <a:extLst>
              <a:ext uri="{FF2B5EF4-FFF2-40B4-BE49-F238E27FC236}">
                <a16:creationId xmlns:a16="http://schemas.microsoft.com/office/drawing/2014/main" id="{DA018550-2CD3-333A-8460-AF174FC8D7C5}"/>
              </a:ext>
            </a:extLst>
          </p:cNvPr>
          <p:cNvPicPr>
            <a:picLocks noChangeAspect="1"/>
          </p:cNvPicPr>
          <p:nvPr/>
        </p:nvPicPr>
        <p:blipFill>
          <a:blip r:embed="rId2"/>
          <a:stretch>
            <a:fillRect/>
          </a:stretch>
        </p:blipFill>
        <p:spPr>
          <a:xfrm>
            <a:off x="127190" y="1856820"/>
            <a:ext cx="5889728" cy="3024077"/>
          </a:xfrm>
          <a:prstGeom prst="rect">
            <a:avLst/>
          </a:prstGeom>
        </p:spPr>
      </p:pic>
      <p:sp>
        <p:nvSpPr>
          <p:cNvPr id="9" name="TextBox 8">
            <a:extLst>
              <a:ext uri="{FF2B5EF4-FFF2-40B4-BE49-F238E27FC236}">
                <a16:creationId xmlns:a16="http://schemas.microsoft.com/office/drawing/2014/main" id="{DE1D1A02-5176-E189-5384-38731262D79F}"/>
              </a:ext>
            </a:extLst>
          </p:cNvPr>
          <p:cNvSpPr txBox="1"/>
          <p:nvPr/>
        </p:nvSpPr>
        <p:spPr>
          <a:xfrm>
            <a:off x="1211973" y="5363255"/>
            <a:ext cx="3525252" cy="661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50" b="1"/>
              <a:t>Fig 5.1 </a:t>
            </a:r>
            <a:r>
              <a:rPr lang="en-US" sz="1850"/>
              <a:t>Quick Disconnect with Plunger Mechanism</a:t>
            </a:r>
            <a:endParaRPr lang="en-US" sz="1850">
              <a:solidFill>
                <a:srgbClr val="000000"/>
              </a:solidFill>
            </a:endParaRPr>
          </a:p>
        </p:txBody>
      </p:sp>
      <p:sp>
        <p:nvSpPr>
          <p:cNvPr id="10" name="TextBox 9">
            <a:extLst>
              <a:ext uri="{FF2B5EF4-FFF2-40B4-BE49-F238E27FC236}">
                <a16:creationId xmlns:a16="http://schemas.microsoft.com/office/drawing/2014/main" id="{2D05D835-D23D-5B6B-AEBC-1D9D47274E67}"/>
              </a:ext>
            </a:extLst>
          </p:cNvPr>
          <p:cNvSpPr txBox="1"/>
          <p:nvPr/>
        </p:nvSpPr>
        <p:spPr>
          <a:xfrm>
            <a:off x="8866609" y="5660656"/>
            <a:ext cx="3213108"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50" b="1"/>
              <a:t>Fig 5.b </a:t>
            </a:r>
            <a:r>
              <a:rPr lang="en-US" sz="1850"/>
              <a:t>Separation Mechanism Assembly</a:t>
            </a:r>
            <a:endParaRPr lang="en-US" sz="1850">
              <a:solidFill>
                <a:srgbClr val="000000"/>
              </a:solidFill>
            </a:endParaRPr>
          </a:p>
          <a:p>
            <a:pPr algn="ctr"/>
            <a:endParaRPr lang="en-US" sz="1500" b="1">
              <a:ea typeface="Calibri"/>
              <a:cs typeface="Calibri"/>
            </a:endParaRPr>
          </a:p>
        </p:txBody>
      </p:sp>
      <p:sp>
        <p:nvSpPr>
          <p:cNvPr id="11" name="TextBox 10">
            <a:extLst>
              <a:ext uri="{FF2B5EF4-FFF2-40B4-BE49-F238E27FC236}">
                <a16:creationId xmlns:a16="http://schemas.microsoft.com/office/drawing/2014/main" id="{C68629ED-06D2-DDD3-8A4A-DF661EB49FC6}"/>
              </a:ext>
            </a:extLst>
          </p:cNvPr>
          <p:cNvSpPr txBox="1"/>
          <p:nvPr/>
        </p:nvSpPr>
        <p:spPr>
          <a:xfrm>
            <a:off x="5868780" y="5234724"/>
            <a:ext cx="3001951" cy="661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50" b="1"/>
              <a:t>Fig 5.3a QD U-clip Connection</a:t>
            </a:r>
            <a:endParaRPr lang="en-US" sz="1850">
              <a:solidFill>
                <a:srgbClr val="000000"/>
              </a:solidFill>
            </a:endParaRPr>
          </a:p>
        </p:txBody>
      </p:sp>
      <p:sp>
        <p:nvSpPr>
          <p:cNvPr id="12" name="TextBox 11">
            <a:extLst>
              <a:ext uri="{FF2B5EF4-FFF2-40B4-BE49-F238E27FC236}">
                <a16:creationId xmlns:a16="http://schemas.microsoft.com/office/drawing/2014/main" id="{9C45D7A6-6E08-13F3-323D-33DC3DA765E1}"/>
              </a:ext>
            </a:extLst>
          </p:cNvPr>
          <p:cNvSpPr txBox="1"/>
          <p:nvPr/>
        </p:nvSpPr>
        <p:spPr>
          <a:xfrm>
            <a:off x="3677574" y="4986908"/>
            <a:ext cx="141171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000000"/>
                </a:solidFill>
                <a:ea typeface="Calibri"/>
                <a:cs typeface="Calibri"/>
              </a:rPr>
              <a:t>2-022 O-Ring</a:t>
            </a:r>
            <a:endParaRPr lang="en-US" sz="1200">
              <a:solidFill>
                <a:srgbClr val="000000"/>
              </a:solidFill>
            </a:endParaRPr>
          </a:p>
        </p:txBody>
      </p:sp>
      <p:cxnSp>
        <p:nvCxnSpPr>
          <p:cNvPr id="13" name="Straight Arrow Connector 12">
            <a:extLst>
              <a:ext uri="{FF2B5EF4-FFF2-40B4-BE49-F238E27FC236}">
                <a16:creationId xmlns:a16="http://schemas.microsoft.com/office/drawing/2014/main" id="{03DC4307-E156-3DA5-F3D6-1B773E9B0D3B}"/>
              </a:ext>
            </a:extLst>
          </p:cNvPr>
          <p:cNvCxnSpPr/>
          <p:nvPr/>
        </p:nvCxnSpPr>
        <p:spPr>
          <a:xfrm flipV="1">
            <a:off x="4153759" y="4448175"/>
            <a:ext cx="186" cy="549002"/>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D57C0BF-2F22-1F37-6E53-D5777F93C7D6}"/>
              </a:ext>
            </a:extLst>
          </p:cNvPr>
          <p:cNvSpPr txBox="1"/>
          <p:nvPr/>
        </p:nvSpPr>
        <p:spPr>
          <a:xfrm>
            <a:off x="2552720" y="5008680"/>
            <a:ext cx="1411713"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000000"/>
                </a:solidFill>
                <a:ea typeface="Calibri"/>
                <a:cs typeface="Calibri"/>
              </a:rPr>
              <a:t>2-016 O-Ring</a:t>
            </a:r>
            <a:endParaRPr lang="en-US" sz="1200">
              <a:solidFill>
                <a:srgbClr val="000000"/>
              </a:solidFill>
            </a:endParaRPr>
          </a:p>
        </p:txBody>
      </p:sp>
      <p:cxnSp>
        <p:nvCxnSpPr>
          <p:cNvPr id="15" name="Straight Arrow Connector 14">
            <a:extLst>
              <a:ext uri="{FF2B5EF4-FFF2-40B4-BE49-F238E27FC236}">
                <a16:creationId xmlns:a16="http://schemas.microsoft.com/office/drawing/2014/main" id="{091EC163-0FBF-87FC-67B1-1135690AF96A}"/>
              </a:ext>
            </a:extLst>
          </p:cNvPr>
          <p:cNvCxnSpPr>
            <a:cxnSpLocks/>
          </p:cNvCxnSpPr>
          <p:nvPr/>
        </p:nvCxnSpPr>
        <p:spPr>
          <a:xfrm flipV="1">
            <a:off x="3028905" y="4055972"/>
            <a:ext cx="492234" cy="96297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DC2710D3-71B2-FA5D-91F2-629BCB1F4BA0}"/>
              </a:ext>
            </a:extLst>
          </p:cNvPr>
          <p:cNvPicPr>
            <a:picLocks noChangeAspect="1"/>
          </p:cNvPicPr>
          <p:nvPr/>
        </p:nvPicPr>
        <p:blipFill>
          <a:blip r:embed="rId3"/>
          <a:stretch>
            <a:fillRect/>
          </a:stretch>
        </p:blipFill>
        <p:spPr>
          <a:xfrm rot="16200000">
            <a:off x="8490543" y="2491426"/>
            <a:ext cx="4156700" cy="2176923"/>
          </a:xfrm>
          <a:prstGeom prst="rect">
            <a:avLst/>
          </a:prstGeom>
        </p:spPr>
      </p:pic>
      <p:pic>
        <p:nvPicPr>
          <p:cNvPr id="17" name="Picture 16">
            <a:extLst>
              <a:ext uri="{FF2B5EF4-FFF2-40B4-BE49-F238E27FC236}">
                <a16:creationId xmlns:a16="http://schemas.microsoft.com/office/drawing/2014/main" id="{CCD85B31-1D16-14D1-AFC0-3AED9B17E57E}"/>
              </a:ext>
            </a:extLst>
          </p:cNvPr>
          <p:cNvPicPr>
            <a:picLocks noChangeAspect="1"/>
          </p:cNvPicPr>
          <p:nvPr/>
        </p:nvPicPr>
        <p:blipFill>
          <a:blip r:embed="rId4"/>
          <a:stretch>
            <a:fillRect/>
          </a:stretch>
        </p:blipFill>
        <p:spPr>
          <a:xfrm rot="16200000">
            <a:off x="5997981" y="1982826"/>
            <a:ext cx="3460189" cy="2302774"/>
          </a:xfrm>
          <a:prstGeom prst="rect">
            <a:avLst/>
          </a:prstGeom>
        </p:spPr>
      </p:pic>
      <p:sp>
        <p:nvSpPr>
          <p:cNvPr id="22" name="Title 4">
            <a:extLst>
              <a:ext uri="{FF2B5EF4-FFF2-40B4-BE49-F238E27FC236}">
                <a16:creationId xmlns:a16="http://schemas.microsoft.com/office/drawing/2014/main" id="{44EB9254-9AE5-46A4-D1BA-222C50392C18}"/>
              </a:ext>
            </a:extLst>
          </p:cNvPr>
          <p:cNvSpPr>
            <a:spLocks noGrp="1"/>
          </p:cNvSpPr>
          <p:nvPr>
            <p:ph type="title"/>
          </p:nvPr>
        </p:nvSpPr>
        <p:spPr>
          <a:xfrm>
            <a:off x="531848" y="716984"/>
            <a:ext cx="7380252" cy="625567"/>
          </a:xfrm>
        </p:spPr>
        <p:txBody>
          <a:bodyPr/>
          <a:lstStyle/>
          <a:p>
            <a:r>
              <a:rPr lang="en-US"/>
              <a:t>Separation Mechanism</a:t>
            </a:r>
          </a:p>
        </p:txBody>
      </p:sp>
      <p:sp>
        <p:nvSpPr>
          <p:cNvPr id="23" name="Text Placeholder 5">
            <a:extLst>
              <a:ext uri="{FF2B5EF4-FFF2-40B4-BE49-F238E27FC236}">
                <a16:creationId xmlns:a16="http://schemas.microsoft.com/office/drawing/2014/main" id="{C8A1D9CA-49AA-0A64-1538-F950B924D242}"/>
              </a:ext>
            </a:extLst>
          </p:cNvPr>
          <p:cNvSpPr txBox="1">
            <a:spLocks/>
          </p:cNvSpPr>
          <p:nvPr/>
        </p:nvSpPr>
        <p:spPr>
          <a:xfrm>
            <a:off x="7912100" y="716984"/>
            <a:ext cx="3858560" cy="625567"/>
          </a:xfrm>
          <a:prstGeom prst="rect">
            <a:avLst/>
          </a:prstGeom>
          <a:solidFill>
            <a:schemeClr val="bg1"/>
          </a:solidFill>
          <a:effectLst>
            <a:outerShdw blurRad="50800" dist="38100" dir="2700000" algn="tl" rotWithShape="0">
              <a:prstClr val="black">
                <a:alpha val="40000"/>
              </a:prstClr>
            </a:outerShdw>
          </a:effectLst>
        </p:spPr>
        <p:txBody>
          <a:bodyPr vert="horz" lIns="91440" tIns="45720" rIns="91440" bIns="45720" rtlCol="0" anchor="ctr">
            <a:noAutofit/>
          </a:bodyPr>
          <a:lstStyle>
            <a:lvl1pPr marL="0" indent="0" algn="l" defTabSz="914377" rtl="0" eaLnBrk="1" latinLnBrk="0" hangingPunct="1">
              <a:lnSpc>
                <a:spcPct val="100000"/>
              </a:lnSpc>
              <a:spcBef>
                <a:spcPts val="1000"/>
              </a:spcBef>
              <a:buSzPct val="75000"/>
              <a:buFont typeface="Arial" panose="020B0604020202020204" pitchFamily="34" charset="0"/>
              <a:buNone/>
              <a:defRPr sz="1867" b="0" i="0" kern="800" cap="none" spc="67"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a:t>Design</a:t>
            </a:r>
          </a:p>
        </p:txBody>
      </p:sp>
    </p:spTree>
    <p:extLst>
      <p:ext uri="{BB962C8B-B14F-4D97-AF65-F5344CB8AC3E}">
        <p14:creationId xmlns:p14="http://schemas.microsoft.com/office/powerpoint/2010/main" val="28072011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B0472-8FE4-4A6D-E2C1-760A1523FA8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82D05ED-CFDD-480F-0827-5995A8BB80FE}"/>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3EE45FD7-D121-09F7-BD14-B740B687366A}"/>
              </a:ext>
            </a:extLst>
          </p:cNvPr>
          <p:cNvSpPr>
            <a:spLocks noGrp="1"/>
          </p:cNvSpPr>
          <p:nvPr>
            <p:ph type="sldNum" sz="quarter" idx="17"/>
          </p:nvPr>
        </p:nvSpPr>
        <p:spPr/>
        <p:txBody>
          <a:bodyPr/>
          <a:lstStyle/>
          <a:p>
            <a:r>
              <a:rPr lang="en-US"/>
              <a:t>/   </a:t>
            </a:r>
            <a:fld id="{6C7E6F33-74EE-5541-8108-8353B402F8C1}" type="slidenum">
              <a:rPr lang="en-US" smtClean="0"/>
              <a:pPr/>
              <a:t>56</a:t>
            </a:fld>
            <a:endParaRPr lang="en-US"/>
          </a:p>
        </p:txBody>
      </p:sp>
      <p:sp>
        <p:nvSpPr>
          <p:cNvPr id="5" name="Title 4">
            <a:extLst>
              <a:ext uri="{FF2B5EF4-FFF2-40B4-BE49-F238E27FC236}">
                <a16:creationId xmlns:a16="http://schemas.microsoft.com/office/drawing/2014/main" id="{A4DDB297-BCE1-C23B-6F59-61C49917711F}"/>
              </a:ext>
            </a:extLst>
          </p:cNvPr>
          <p:cNvSpPr>
            <a:spLocks noGrp="1"/>
          </p:cNvSpPr>
          <p:nvPr>
            <p:ph type="title"/>
          </p:nvPr>
        </p:nvSpPr>
        <p:spPr>
          <a:xfrm>
            <a:off x="531848" y="716984"/>
            <a:ext cx="7380252" cy="625567"/>
          </a:xfrm>
        </p:spPr>
        <p:txBody>
          <a:bodyPr/>
          <a:lstStyle/>
          <a:p>
            <a:r>
              <a:rPr lang="en-US"/>
              <a:t>Separation Mechanism</a:t>
            </a:r>
          </a:p>
        </p:txBody>
      </p:sp>
      <p:sp>
        <p:nvSpPr>
          <p:cNvPr id="6" name="Text Placeholder 5">
            <a:extLst>
              <a:ext uri="{FF2B5EF4-FFF2-40B4-BE49-F238E27FC236}">
                <a16:creationId xmlns:a16="http://schemas.microsoft.com/office/drawing/2014/main" id="{E6B3B2BB-EDD2-BD29-2AE0-E2C34FDF6DF9}"/>
              </a:ext>
            </a:extLst>
          </p:cNvPr>
          <p:cNvSpPr>
            <a:spLocks noGrp="1"/>
          </p:cNvSpPr>
          <p:nvPr>
            <p:ph type="body" sz="quarter" idx="13"/>
          </p:nvPr>
        </p:nvSpPr>
        <p:spPr>
          <a:xfrm>
            <a:off x="7912100" y="716984"/>
            <a:ext cx="3858560" cy="625567"/>
          </a:xfrm>
        </p:spPr>
        <p:txBody>
          <a:bodyPr/>
          <a:lstStyle/>
          <a:p>
            <a:r>
              <a:rPr lang="en-US" sz="3000"/>
              <a:t>Diagram</a:t>
            </a:r>
          </a:p>
        </p:txBody>
      </p:sp>
      <p:sp>
        <p:nvSpPr>
          <p:cNvPr id="2" name="AutoShape 2">
            <a:extLst>
              <a:ext uri="{FF2B5EF4-FFF2-40B4-BE49-F238E27FC236}">
                <a16:creationId xmlns:a16="http://schemas.microsoft.com/office/drawing/2014/main" id="{8079CCFA-8F5C-93F3-D72A-1D1C1FE74682}"/>
              </a:ext>
            </a:extLst>
          </p:cNvPr>
          <p:cNvSpPr>
            <a:spLocks noChangeAspect="1" noChangeArrowheads="1"/>
          </p:cNvSpPr>
          <p:nvPr/>
        </p:nvSpPr>
        <p:spPr bwMode="auto">
          <a:xfrm>
            <a:off x="5943599" y="3276599"/>
            <a:ext cx="3452013" cy="34520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76D98B03-ADE0-2C9D-2F87-6A083ECA57C4}"/>
              </a:ext>
            </a:extLst>
          </p:cNvPr>
          <p:cNvPicPr>
            <a:picLocks noChangeAspect="1"/>
          </p:cNvPicPr>
          <p:nvPr/>
        </p:nvPicPr>
        <p:blipFill>
          <a:blip r:embed="rId2"/>
          <a:stretch>
            <a:fillRect/>
          </a:stretch>
        </p:blipFill>
        <p:spPr>
          <a:xfrm>
            <a:off x="409395" y="1502191"/>
            <a:ext cx="3320070" cy="4848922"/>
          </a:xfrm>
          <a:prstGeom prst="rect">
            <a:avLst/>
          </a:prstGeom>
        </p:spPr>
      </p:pic>
      <p:pic>
        <p:nvPicPr>
          <p:cNvPr id="11" name="Picture 10">
            <a:extLst>
              <a:ext uri="{FF2B5EF4-FFF2-40B4-BE49-F238E27FC236}">
                <a16:creationId xmlns:a16="http://schemas.microsoft.com/office/drawing/2014/main" id="{DCF17BA8-4F0C-466F-08FF-F2F2E0201E96}"/>
              </a:ext>
            </a:extLst>
          </p:cNvPr>
          <p:cNvPicPr>
            <a:picLocks noChangeAspect="1"/>
          </p:cNvPicPr>
          <p:nvPr/>
        </p:nvPicPr>
        <p:blipFill>
          <a:blip r:embed="rId3"/>
          <a:stretch>
            <a:fillRect/>
          </a:stretch>
        </p:blipFill>
        <p:spPr>
          <a:xfrm>
            <a:off x="4619305" y="1502191"/>
            <a:ext cx="7132881" cy="4755254"/>
          </a:xfrm>
          <a:prstGeom prst="rect">
            <a:avLst/>
          </a:prstGeom>
        </p:spPr>
      </p:pic>
    </p:spTree>
    <p:extLst>
      <p:ext uri="{BB962C8B-B14F-4D97-AF65-F5344CB8AC3E}">
        <p14:creationId xmlns:p14="http://schemas.microsoft.com/office/powerpoint/2010/main" val="28568091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0F833-90C1-F950-9BDD-0F6C3A5AF1C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9F3BB6-07FD-FDFE-D071-1E4FD2B441C9}"/>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59AE8E7B-3609-53A9-CA15-B9E734410DA3}"/>
              </a:ext>
            </a:extLst>
          </p:cNvPr>
          <p:cNvSpPr>
            <a:spLocks noGrp="1"/>
          </p:cNvSpPr>
          <p:nvPr>
            <p:ph type="sldNum" sz="quarter" idx="17"/>
          </p:nvPr>
        </p:nvSpPr>
        <p:spPr/>
        <p:txBody>
          <a:bodyPr/>
          <a:lstStyle/>
          <a:p>
            <a:r>
              <a:rPr lang="en-US"/>
              <a:t>/   </a:t>
            </a:r>
            <a:fld id="{6C7E6F33-74EE-5541-8108-8353B402F8C1}" type="slidenum">
              <a:rPr lang="en-US" smtClean="0"/>
              <a:pPr/>
              <a:t>57</a:t>
            </a:fld>
            <a:endParaRPr lang="en-US"/>
          </a:p>
        </p:txBody>
      </p:sp>
      <p:sp>
        <p:nvSpPr>
          <p:cNvPr id="5" name="Title 4">
            <a:extLst>
              <a:ext uri="{FF2B5EF4-FFF2-40B4-BE49-F238E27FC236}">
                <a16:creationId xmlns:a16="http://schemas.microsoft.com/office/drawing/2014/main" id="{C7A69E7C-4064-F43E-F5CD-1CB24E99962E}"/>
              </a:ext>
            </a:extLst>
          </p:cNvPr>
          <p:cNvSpPr>
            <a:spLocks noGrp="1"/>
          </p:cNvSpPr>
          <p:nvPr>
            <p:ph type="title"/>
          </p:nvPr>
        </p:nvSpPr>
        <p:spPr>
          <a:xfrm>
            <a:off x="531848" y="716984"/>
            <a:ext cx="6747546" cy="625567"/>
          </a:xfrm>
        </p:spPr>
        <p:txBody>
          <a:bodyPr/>
          <a:lstStyle/>
          <a:p>
            <a:r>
              <a:rPr lang="en-US">
                <a:latin typeface="Munistic"/>
              </a:rPr>
              <a:t>GSE BOM</a:t>
            </a:r>
          </a:p>
        </p:txBody>
      </p:sp>
      <p:graphicFrame>
        <p:nvGraphicFramePr>
          <p:cNvPr id="2" name="Table 1">
            <a:extLst>
              <a:ext uri="{FF2B5EF4-FFF2-40B4-BE49-F238E27FC236}">
                <a16:creationId xmlns:a16="http://schemas.microsoft.com/office/drawing/2014/main" id="{54DD669E-105E-0E2A-6917-2CB50E90EE81}"/>
              </a:ext>
            </a:extLst>
          </p:cNvPr>
          <p:cNvGraphicFramePr>
            <a:graphicFrameLocks noGrp="1"/>
          </p:cNvGraphicFramePr>
          <p:nvPr>
            <p:extLst>
              <p:ext uri="{D42A27DB-BD31-4B8C-83A1-F6EECF244321}">
                <p14:modId xmlns:p14="http://schemas.microsoft.com/office/powerpoint/2010/main" val="1093475844"/>
              </p:ext>
            </p:extLst>
          </p:nvPr>
        </p:nvGraphicFramePr>
        <p:xfrm>
          <a:off x="92765" y="1457739"/>
          <a:ext cx="11991377" cy="4832880"/>
        </p:xfrm>
        <a:graphic>
          <a:graphicData uri="http://schemas.openxmlformats.org/drawingml/2006/table">
            <a:tbl>
              <a:tblPr bandRow="1">
                <a:tableStyleId>{5C22544A-7EE6-4342-B048-85BDC9FD1C3A}</a:tableStyleId>
              </a:tblPr>
              <a:tblGrid>
                <a:gridCol w="561102">
                  <a:extLst>
                    <a:ext uri="{9D8B030D-6E8A-4147-A177-3AD203B41FA5}">
                      <a16:colId xmlns:a16="http://schemas.microsoft.com/office/drawing/2014/main" val="360521789"/>
                    </a:ext>
                  </a:extLst>
                </a:gridCol>
                <a:gridCol w="2750224">
                  <a:extLst>
                    <a:ext uri="{9D8B030D-6E8A-4147-A177-3AD203B41FA5}">
                      <a16:colId xmlns:a16="http://schemas.microsoft.com/office/drawing/2014/main" val="3592925142"/>
                    </a:ext>
                  </a:extLst>
                </a:gridCol>
                <a:gridCol w="1342753">
                  <a:extLst>
                    <a:ext uri="{9D8B030D-6E8A-4147-A177-3AD203B41FA5}">
                      <a16:colId xmlns:a16="http://schemas.microsoft.com/office/drawing/2014/main" val="4284133082"/>
                    </a:ext>
                  </a:extLst>
                </a:gridCol>
                <a:gridCol w="1197155">
                  <a:extLst>
                    <a:ext uri="{9D8B030D-6E8A-4147-A177-3AD203B41FA5}">
                      <a16:colId xmlns:a16="http://schemas.microsoft.com/office/drawing/2014/main" val="3805788829"/>
                    </a:ext>
                  </a:extLst>
                </a:gridCol>
                <a:gridCol w="1116265">
                  <a:extLst>
                    <a:ext uri="{9D8B030D-6E8A-4147-A177-3AD203B41FA5}">
                      <a16:colId xmlns:a16="http://schemas.microsoft.com/office/drawing/2014/main" val="1106370287"/>
                    </a:ext>
                  </a:extLst>
                </a:gridCol>
                <a:gridCol w="1019197">
                  <a:extLst>
                    <a:ext uri="{9D8B030D-6E8A-4147-A177-3AD203B41FA5}">
                      <a16:colId xmlns:a16="http://schemas.microsoft.com/office/drawing/2014/main" val="4149231578"/>
                    </a:ext>
                  </a:extLst>
                </a:gridCol>
                <a:gridCol w="954488">
                  <a:extLst>
                    <a:ext uri="{9D8B030D-6E8A-4147-A177-3AD203B41FA5}">
                      <a16:colId xmlns:a16="http://schemas.microsoft.com/office/drawing/2014/main" val="2483966670"/>
                    </a:ext>
                  </a:extLst>
                </a:gridCol>
                <a:gridCol w="1073215">
                  <a:extLst>
                    <a:ext uri="{9D8B030D-6E8A-4147-A177-3AD203B41FA5}">
                      <a16:colId xmlns:a16="http://schemas.microsoft.com/office/drawing/2014/main" val="1056265578"/>
                    </a:ext>
                  </a:extLst>
                </a:gridCol>
                <a:gridCol w="833155">
                  <a:extLst>
                    <a:ext uri="{9D8B030D-6E8A-4147-A177-3AD203B41FA5}">
                      <a16:colId xmlns:a16="http://schemas.microsoft.com/office/drawing/2014/main" val="2897210559"/>
                    </a:ext>
                  </a:extLst>
                </a:gridCol>
                <a:gridCol w="1143823">
                  <a:extLst>
                    <a:ext uri="{9D8B030D-6E8A-4147-A177-3AD203B41FA5}">
                      <a16:colId xmlns:a16="http://schemas.microsoft.com/office/drawing/2014/main" val="3220668836"/>
                    </a:ext>
                  </a:extLst>
                </a:gridCol>
              </a:tblGrid>
              <a:tr h="359099">
                <a:tc>
                  <a:txBody>
                    <a:bodyPr/>
                    <a:lstStyle/>
                    <a:p>
                      <a:pPr algn="l" fontAlgn="b"/>
                      <a:endParaRPr lang="en-US" sz="1200" b="0" i="0" u="none" strike="noStrike">
                        <a:solidFill>
                          <a:srgbClr val="154734"/>
                        </a:solidFill>
                        <a:effectLst/>
                        <a:latin typeface="Times New Roman"/>
                      </a:endParaRP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Description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Part Number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Unit Price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Quantity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Subtotal</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Link</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Taxes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Shipping</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Total</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extLst>
                  <a:ext uri="{0D108BD9-81ED-4DB2-BD59-A6C34878D82A}">
                    <a16:rowId xmlns:a16="http://schemas.microsoft.com/office/drawing/2014/main" val="2229692858"/>
                  </a:ext>
                </a:extLst>
              </a:tr>
              <a:tr h="523687">
                <a:tc>
                  <a:txBody>
                    <a:bodyPr/>
                    <a:lstStyle/>
                    <a:p>
                      <a:pPr algn="l" fontAlgn="b"/>
                      <a:r>
                        <a:rPr lang="en-US" sz="1600" b="0" i="0" u="none" strike="noStrike">
                          <a:solidFill>
                            <a:srgbClr val="000000"/>
                          </a:solidFill>
                          <a:effectLst/>
                          <a:latin typeface="Times New Roman"/>
                        </a:rPr>
                        <a:t>1</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pneumatic valves</a:t>
                      </a:r>
                      <a:endParaRPr lang="en-US">
                        <a:latin typeface="Times New Roman"/>
                      </a:endParaRPr>
                    </a:p>
                  </a:txBody>
                  <a:tcPr marL="6350" marR="6350" marT="6350"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a:rPr>
                        <a:t>C26NRXC8SC</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r" fontAlgn="b">
                        <a:buNone/>
                      </a:pPr>
                      <a:r>
                        <a:rPr lang="en-US" sz="1600" b="0" i="0" u="none" strike="noStrike">
                          <a:solidFill>
                            <a:srgbClr val="000000"/>
                          </a:solidFill>
                          <a:effectLst/>
                          <a:latin typeface="Times New Roman"/>
                        </a:rPr>
                        <a:t>$264.00</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a:rPr>
                        <a:t>2</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a:rPr>
                        <a:t>$528.00</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200" b="0" i="0" u="sng" strike="noStrike">
                          <a:solidFill>
                            <a:srgbClr val="467886"/>
                          </a:solidFill>
                          <a:effectLst/>
                          <a:latin typeface="Times New Roman"/>
                          <a:hlinkClick r:id="rId4"/>
                        </a:rPr>
                        <a:t>Assured Automation</a:t>
                      </a: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+ 10%</a:t>
                      </a: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E7E9E9"/>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 $633.07 </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802448835"/>
                  </a:ext>
                </a:extLst>
              </a:tr>
              <a:tr h="523687">
                <a:tc>
                  <a:txBody>
                    <a:bodyPr/>
                    <a:lstStyle/>
                    <a:p>
                      <a:pPr algn="l" fontAlgn="b"/>
                      <a:r>
                        <a:rPr lang="en-US" sz="1600" b="0" i="0" u="none" strike="noStrike">
                          <a:solidFill>
                            <a:srgbClr val="000000"/>
                          </a:solidFill>
                          <a:effectLst/>
                          <a:latin typeface="Times New Roman"/>
                        </a:rPr>
                        <a:t>2</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600" b="0" i="0" u="none" strike="noStrike">
                          <a:solidFill>
                            <a:srgbClr val="000000"/>
                          </a:solidFill>
                          <a:effectLst/>
                          <a:latin typeface="Times New Roman"/>
                        </a:rPr>
                        <a:t>1500 psi Pressure Transducer</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endParaRPr lang="en-US" sz="1600" b="0" i="0" u="none" strike="noStrike">
                        <a:solidFill>
                          <a:srgbClr val="333333"/>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r" fontAlgn="b">
                        <a:buNone/>
                      </a:pPr>
                      <a:r>
                        <a:rPr lang="en-US" sz="1600" b="0" i="0" u="none" strike="noStrike">
                          <a:solidFill>
                            <a:srgbClr val="000000"/>
                          </a:solidFill>
                          <a:effectLst/>
                          <a:latin typeface="Times New Roman"/>
                        </a:rPr>
                        <a:t>$79.00</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r>
                        <a:rPr lang="en-US" sz="1600" b="0" i="0" u="none" strike="noStrike">
                          <a:solidFill>
                            <a:srgbClr val="000000"/>
                          </a:solidFill>
                          <a:effectLst/>
                          <a:latin typeface="Times New Roman"/>
                        </a:rPr>
                        <a:t>2</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r>
                        <a:rPr lang="en-US" sz="1600" b="0" i="0" u="none" strike="noStrike">
                          <a:solidFill>
                            <a:srgbClr val="000000"/>
                          </a:solidFill>
                          <a:effectLst/>
                          <a:latin typeface="Times New Roman"/>
                        </a:rPr>
                        <a:t>$158.00</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200" b="0" i="0" u="sng" strike="noStrike">
                          <a:solidFill>
                            <a:srgbClr val="467886"/>
                          </a:solidFill>
                          <a:effectLst/>
                          <a:latin typeface="Times New Roman"/>
                          <a:hlinkClick r:id="rId5"/>
                        </a:rPr>
                        <a:t>www.dataq.com</a:t>
                      </a: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CBD1CF"/>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+ 10%</a:t>
                      </a: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CBD1CF"/>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 $189.44 </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1578019327"/>
                  </a:ext>
                </a:extLst>
              </a:tr>
              <a:tr h="523687">
                <a:tc>
                  <a:txBody>
                    <a:bodyPr/>
                    <a:lstStyle/>
                    <a:p>
                      <a:pPr algn="l" fontAlgn="b"/>
                      <a:r>
                        <a:rPr lang="en-US" sz="1600" b="0" i="0" u="none" strike="noStrike">
                          <a:solidFill>
                            <a:srgbClr val="000000"/>
                          </a:solidFill>
                          <a:effectLst/>
                          <a:latin typeface="Times New Roman"/>
                        </a:rPr>
                        <a:t>3</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a:rPr>
                        <a:t>1/4" 750-1500 PSI Relief Valve</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a:rPr>
                        <a:t>SRV60-S-4T-S6</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r" fontAlgn="b">
                        <a:buNone/>
                      </a:pPr>
                      <a:r>
                        <a:rPr lang="en-US" sz="1600" b="0" i="0" u="none" strike="noStrike">
                          <a:solidFill>
                            <a:srgbClr val="000000"/>
                          </a:solidFill>
                          <a:effectLst/>
                          <a:latin typeface="Times New Roman"/>
                        </a:rPr>
                        <a:t>$147.82</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a:rPr>
                        <a:t>2</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a:rPr>
                        <a:t>$295.64</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200" b="0" i="0" u="sng" strike="noStrike">
                          <a:solidFill>
                            <a:srgbClr val="467886"/>
                          </a:solidFill>
                          <a:effectLst/>
                          <a:latin typeface="Times New Roman"/>
                          <a:hlinkClick r:id="rId6"/>
                        </a:rPr>
                        <a:t>www.sprayerdepot.com</a:t>
                      </a: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+ 10%</a:t>
                      </a: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E7E9E9"/>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 $354.47 </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2633894003"/>
                  </a:ext>
                </a:extLst>
              </a:tr>
              <a:tr h="523687">
                <a:tc>
                  <a:txBody>
                    <a:bodyPr/>
                    <a:lstStyle/>
                    <a:p>
                      <a:pPr algn="l" fontAlgn="b"/>
                      <a:r>
                        <a:rPr lang="en-US" sz="1600" b="0" i="0" u="none" strike="noStrike">
                          <a:solidFill>
                            <a:srgbClr val="000000"/>
                          </a:solidFill>
                          <a:effectLst/>
                          <a:latin typeface="Times New Roman"/>
                        </a:rPr>
                        <a:t>4</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600" b="0" i="0" u="none" strike="noStrike">
                          <a:solidFill>
                            <a:srgbClr val="000000"/>
                          </a:solidFill>
                          <a:effectLst/>
                          <a:latin typeface="Times New Roman"/>
                        </a:rPr>
                        <a:t>316 Stainless Steel Check Valve</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600" b="0" i="0" u="none" strike="noStrike">
                          <a:solidFill>
                            <a:srgbClr val="000000"/>
                          </a:solidFill>
                          <a:effectLst/>
                          <a:latin typeface="Times New Roman"/>
                        </a:rPr>
                        <a:t>1874N15</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r" fontAlgn="b">
                        <a:buNone/>
                      </a:pPr>
                      <a:r>
                        <a:rPr lang="en-US" sz="1600" b="0" i="0" u="none" strike="noStrike">
                          <a:solidFill>
                            <a:srgbClr val="000000"/>
                          </a:solidFill>
                          <a:effectLst/>
                          <a:latin typeface="Times New Roman"/>
                        </a:rPr>
                        <a:t>$62.35</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r>
                        <a:rPr lang="en-US" sz="1600" b="0" i="0" u="none" strike="noStrike">
                          <a:solidFill>
                            <a:srgbClr val="000000"/>
                          </a:solidFill>
                          <a:effectLst/>
                          <a:latin typeface="Times New Roman"/>
                        </a:rPr>
                        <a:t>2</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r>
                        <a:rPr lang="en-US" sz="1600" b="0" i="0" u="none" strike="noStrike">
                          <a:solidFill>
                            <a:srgbClr val="000000"/>
                          </a:solidFill>
                          <a:effectLst/>
                          <a:latin typeface="Times New Roman"/>
                        </a:rPr>
                        <a:t>$124.70</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200" b="0" i="0" u="sng" strike="noStrike">
                          <a:solidFill>
                            <a:srgbClr val="467886"/>
                          </a:solidFill>
                          <a:effectLst/>
                          <a:latin typeface="Times New Roman"/>
                          <a:hlinkClick r:id="rId7"/>
                        </a:rPr>
                        <a:t>www.mcmaster.com</a:t>
                      </a: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ctr">
                        <a:buNone/>
                      </a:pPr>
                      <a:r>
                        <a:rPr lang="en-US" b="1">
                          <a:latin typeface="Times New Roman"/>
                          <a:cs typeface="Times New Roman"/>
                        </a:rPr>
                        <a:t>+9%</a:t>
                      </a:r>
                      <a:endParaRPr lang="en-US"/>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CBD1CF"/>
                    </a:solidFill>
                  </a:tcPr>
                </a:tc>
                <a:tc>
                  <a:txBody>
                    <a:bodyPr/>
                    <a:lstStyle/>
                    <a:p>
                      <a:pPr lvl="0" algn="ctr">
                        <a:buNone/>
                      </a:pPr>
                      <a:r>
                        <a:rPr lang="en-US" b="1">
                          <a:latin typeface="Times New Roman"/>
                          <a:cs typeface="Times New Roman"/>
                        </a:rPr>
                        <a:t>+10%</a:t>
                      </a:r>
                      <a:endParaRPr lang="en-US" sz="1600" b="0" i="0" u="none" strike="noStrike">
                        <a:solidFill>
                          <a:srgbClr val="000000"/>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CBD1CF"/>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 $149.52 </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2821986693"/>
                  </a:ext>
                </a:extLst>
              </a:tr>
              <a:tr h="359099">
                <a:tc>
                  <a:txBody>
                    <a:bodyPr/>
                    <a:lstStyle/>
                    <a:p>
                      <a:pPr algn="l" fontAlgn="b"/>
                      <a:r>
                        <a:rPr lang="en-US" sz="1600" b="0" i="0" u="none" strike="noStrike">
                          <a:solidFill>
                            <a:srgbClr val="000000"/>
                          </a:solidFill>
                          <a:effectLst/>
                          <a:latin typeface="Times New Roman"/>
                        </a:rPr>
                        <a:t>5</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a:rPr>
                        <a:t>GN2 hand regulator</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a:rPr>
                        <a:t>FHS4</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r" fontAlgn="b">
                        <a:buNone/>
                      </a:pPr>
                      <a:r>
                        <a:rPr lang="en-US" sz="1600" b="0" i="0" u="none" strike="noStrike">
                          <a:solidFill>
                            <a:srgbClr val="000000"/>
                          </a:solidFill>
                          <a:effectLst/>
                          <a:latin typeface="Times New Roman"/>
                        </a:rPr>
                        <a:t>$295.77</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a:rPr>
                        <a:t>1</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a:rPr>
                        <a:t>$295.77</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200" b="0" i="0" u="sng" strike="noStrike">
                          <a:solidFill>
                            <a:srgbClr val="467886"/>
                          </a:solidFill>
                          <a:effectLst/>
                          <a:latin typeface="Times New Roman"/>
                          <a:hlinkClick r:id="rId8"/>
                        </a:rPr>
                        <a:t>www.ebay.com</a:t>
                      </a: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+ 10%</a:t>
                      </a: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E7E9E9"/>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 $354.63 </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1415085590"/>
                  </a:ext>
                </a:extLst>
              </a:tr>
              <a:tr h="359099">
                <a:tc>
                  <a:txBody>
                    <a:bodyPr/>
                    <a:lstStyle/>
                    <a:p>
                      <a:pPr lvl="0" algn="l">
                        <a:buNone/>
                      </a:pPr>
                      <a:r>
                        <a:rPr lang="en-US" sz="1600" b="0" i="0" u="none" strike="noStrike">
                          <a:solidFill>
                            <a:srgbClr val="000000"/>
                          </a:solidFill>
                          <a:effectLst/>
                          <a:latin typeface="Times New Roman"/>
                        </a:rPr>
                        <a:t>6</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600" b="0" i="0" u="none" strike="noStrike">
                          <a:solidFill>
                            <a:srgbClr val="000000"/>
                          </a:solidFill>
                          <a:effectLst/>
                          <a:latin typeface="Times New Roman"/>
                        </a:rPr>
                        <a:t>solenoid valves</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600" b="0" i="0" u="none" strike="noStrike">
                          <a:solidFill>
                            <a:srgbClr val="000000"/>
                          </a:solidFill>
                          <a:effectLst/>
                          <a:latin typeface="Times New Roman"/>
                        </a:rPr>
                        <a:t>JFHSV00022</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r" fontAlgn="b">
                        <a:buNone/>
                      </a:pPr>
                      <a:r>
                        <a:rPr lang="en-US" sz="1600" b="0" i="0" u="none" strike="noStrike">
                          <a:solidFill>
                            <a:srgbClr val="000000"/>
                          </a:solidFill>
                          <a:effectLst/>
                          <a:latin typeface="Times New Roman"/>
                        </a:rPr>
                        <a:t>$95.99</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r>
                        <a:rPr lang="en-US" sz="1600" b="0" i="0" u="none" strike="noStrike">
                          <a:solidFill>
                            <a:srgbClr val="000000"/>
                          </a:solidFill>
                          <a:effectLst/>
                          <a:latin typeface="Times New Roman"/>
                        </a:rPr>
                        <a:t>2</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r>
                        <a:rPr lang="en-US" sz="1600" b="0" i="0" u="none" strike="noStrike">
                          <a:solidFill>
                            <a:srgbClr val="000000"/>
                          </a:solidFill>
                          <a:effectLst/>
                          <a:latin typeface="Times New Roman"/>
                        </a:rPr>
                        <a:t>$191.98</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200" b="0" i="0" u="sng" strike="noStrike">
                          <a:solidFill>
                            <a:srgbClr val="467886"/>
                          </a:solidFill>
                          <a:effectLst/>
                          <a:latin typeface="Times New Roman"/>
                          <a:hlinkClick r:id="rId9"/>
                        </a:rPr>
                        <a:t>ussolid.com</a:t>
                      </a: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CBD1CF"/>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+ 10%</a:t>
                      </a: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CBD1CF"/>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 $230.18 </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38326024"/>
                  </a:ext>
                </a:extLst>
              </a:tr>
              <a:tr h="778049">
                <a:tc>
                  <a:txBody>
                    <a:bodyPr/>
                    <a:lstStyle/>
                    <a:p>
                      <a:pPr algn="l" fontAlgn="b"/>
                      <a:r>
                        <a:rPr lang="en-US" sz="1600" b="0" i="0" u="none" strike="noStrike">
                          <a:solidFill>
                            <a:srgbClr val="000000"/>
                          </a:solidFill>
                          <a:effectLst/>
                          <a:latin typeface="Times New Roman"/>
                        </a:rPr>
                        <a:t>7</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a:rPr>
                        <a:t>3 way 2 position solenoid valves</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a:rPr>
                        <a:t>3V210-08-24VDC</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r" fontAlgn="b">
                        <a:buNone/>
                      </a:pPr>
                      <a:r>
                        <a:rPr lang="en-US" sz="1600" b="0" i="0" u="none" strike="noStrike">
                          <a:solidFill>
                            <a:srgbClr val="000000"/>
                          </a:solidFill>
                          <a:effectLst/>
                          <a:latin typeface="Times New Roman"/>
                        </a:rPr>
                        <a:t>$24.65</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a:rPr>
                        <a:t>2</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a:rPr>
                        <a:t>$49.30</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200" b="0" i="0" u="sng" strike="noStrike">
                          <a:solidFill>
                            <a:srgbClr val="467886"/>
                          </a:solidFill>
                          <a:effectLst/>
                          <a:latin typeface="Times New Roman"/>
                          <a:hlinkClick r:id="rId10"/>
                        </a:rPr>
                        <a:t>www.electricsolenoidvalves.com</a:t>
                      </a: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+ 10%</a:t>
                      </a: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E7E9E9"/>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 $59.11 </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1037611048"/>
                  </a:ext>
                </a:extLst>
              </a:tr>
              <a:tr h="523687">
                <a:tc>
                  <a:txBody>
                    <a:bodyPr/>
                    <a:lstStyle/>
                    <a:p>
                      <a:pPr algn="l" fontAlgn="b"/>
                      <a:r>
                        <a:rPr lang="en-US" sz="1600" b="0" i="0" u="none" strike="noStrike">
                          <a:solidFill>
                            <a:srgbClr val="000000"/>
                          </a:solidFill>
                          <a:effectLst/>
                          <a:latin typeface="Times New Roman"/>
                        </a:rPr>
                        <a:t>8</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600" b="0" i="0" u="none" strike="noStrike">
                          <a:solidFill>
                            <a:srgbClr val="000000"/>
                          </a:solidFill>
                          <a:effectLst/>
                          <a:latin typeface="Times New Roman"/>
                        </a:rPr>
                        <a:t>Polyurethane Tubing</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600" b="0" i="0" u="none" strike="noStrike">
                          <a:solidFill>
                            <a:srgbClr val="000000"/>
                          </a:solidFill>
                          <a:effectLst/>
                          <a:latin typeface="Times New Roman"/>
                        </a:rPr>
                        <a:t>5648K25</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r" fontAlgn="b">
                        <a:buNone/>
                      </a:pPr>
                      <a:r>
                        <a:rPr lang="en-US" sz="1600" b="0" i="0" u="none" strike="noStrike">
                          <a:solidFill>
                            <a:srgbClr val="000000"/>
                          </a:solidFill>
                          <a:effectLst/>
                          <a:latin typeface="Times New Roman"/>
                        </a:rPr>
                        <a:t>$16.25</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r>
                        <a:rPr lang="en-US" sz="1600" b="0" i="0" u="none" strike="noStrike">
                          <a:solidFill>
                            <a:srgbClr val="000000"/>
                          </a:solidFill>
                          <a:effectLst/>
                          <a:latin typeface="Times New Roman"/>
                        </a:rPr>
                        <a:t>11</a:t>
                      </a: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r>
                        <a:rPr lang="en-US" sz="1600" b="0" i="0" u="none" strike="noStrike">
                          <a:solidFill>
                            <a:srgbClr val="000000"/>
                          </a:solidFill>
                          <a:effectLst/>
                          <a:latin typeface="Times New Roman"/>
                        </a:rPr>
                        <a:t>$178.75</a:t>
                      </a:r>
                    </a:p>
                  </a:txBody>
                  <a:tcPr marL="6350" marR="6350" marT="6350" marB="0" anchor="b">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200" b="0" i="0" u="sng" strike="noStrike">
                          <a:solidFill>
                            <a:srgbClr val="467886"/>
                          </a:solidFill>
                          <a:effectLst/>
                          <a:latin typeface="Times New Roman"/>
                          <a:hlinkClick r:id="rId11"/>
                        </a:rPr>
                        <a:t>https://www.mcmaster.com/</a:t>
                      </a:r>
                      <a:endParaRPr lang="en-US" sz="1200" b="0" i="0" u="sng" strike="noStrike">
                        <a:solidFill>
                          <a:srgbClr val="467886"/>
                        </a:solidFill>
                        <a:effectLst/>
                        <a:latin typeface="Times New Roman"/>
                      </a:endParaRPr>
                    </a:p>
                  </a:txBody>
                  <a:tcPr marL="6350" marR="6350" marT="6350"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CBD1CF"/>
                    </a:solidFill>
                  </a:tcPr>
                </a:tc>
                <a:tc>
                  <a:txBody>
                    <a:bodyPr/>
                    <a:lstStyle/>
                    <a:p>
                      <a:pPr lvl="0" algn="ctr" defTabSz="914377">
                        <a:buNone/>
                      </a:pPr>
                      <a:r>
                        <a:rPr lang="en-US" b="1">
                          <a:latin typeface="Times New Roman"/>
                          <a:cs typeface="Times New Roman"/>
                        </a:rPr>
                        <a:t>+9%</a:t>
                      </a:r>
                      <a:endParaRPr lang="en-US"/>
                    </a:p>
                  </a:txBody>
                  <a:tcPr marL="9524" marR="9524" marT="9524" marB="0" anchor="ctr">
                    <a:lnL w="6350">
                      <a:noFill/>
                    </a:lnL>
                    <a:lnR w="6350">
                      <a:solidFill>
                        <a:srgbClr val="FFFFFF"/>
                      </a:solidFill>
                    </a:lnR>
                    <a:lnT w="6350">
                      <a:solidFill>
                        <a:srgbClr val="FFFFFF"/>
                      </a:solidFill>
                    </a:lnT>
                    <a:lnB w="6350">
                      <a:solidFill>
                        <a:srgbClr val="FFFFFF"/>
                      </a:solidFill>
                    </a:lnB>
                    <a:solidFill>
                      <a:srgbClr val="CBD1CF"/>
                    </a:solidFill>
                  </a:tcPr>
                </a:tc>
                <a:tc>
                  <a:txBody>
                    <a:bodyPr/>
                    <a:lstStyle/>
                    <a:p>
                      <a:pPr lvl="0" algn="ctr">
                        <a:buNone/>
                      </a:pPr>
                      <a:r>
                        <a:rPr lang="en-US" b="1">
                          <a:latin typeface="Times New Roman"/>
                          <a:cs typeface="Times New Roman"/>
                        </a:rPr>
                        <a:t>+10%</a:t>
                      </a:r>
                      <a:endParaRPr lang="en-US" sz="1600" b="0" i="0" u="none" strike="noStrike">
                        <a:solidFill>
                          <a:srgbClr val="000000"/>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CBD1CF"/>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 $214.32 </a:t>
                      </a: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CBD1CF"/>
                    </a:solidFill>
                  </a:tcPr>
                </a:tc>
                <a:extLst>
                  <a:ext uri="{0D108BD9-81ED-4DB2-BD59-A6C34878D82A}">
                    <a16:rowId xmlns:a16="http://schemas.microsoft.com/office/drawing/2014/main" val="845165910"/>
                  </a:ext>
                </a:extLst>
              </a:tr>
              <a:tr h="359099">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0" cap="flat" cmpd="sng" algn="ctr">
                      <a:no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l" fontAlgn="b"/>
                      <a:r>
                        <a:rPr lang="en-US" sz="1600" b="1" i="0" u="sng" strike="noStrike">
                          <a:solidFill>
                            <a:srgbClr val="000000"/>
                          </a:solidFill>
                          <a:effectLst/>
                          <a:latin typeface="Times New Roman"/>
                        </a:rPr>
                        <a:t>TOTAL: </a:t>
                      </a:r>
                    </a:p>
                  </a:txBody>
                  <a:tcPr marL="9525" marR="9525" marT="9525" marB="0" anchor="b">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1" i="0" u="sng" strike="noStrike">
                          <a:solidFill>
                            <a:srgbClr val="000000"/>
                          </a:solidFill>
                          <a:effectLst/>
                          <a:latin typeface="Times New Roman"/>
                        </a:rPr>
                        <a:t>$2,184.75</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E7E9E9"/>
                    </a:solidFill>
                  </a:tcPr>
                </a:tc>
                <a:extLst>
                  <a:ext uri="{0D108BD9-81ED-4DB2-BD59-A6C34878D82A}">
                    <a16:rowId xmlns:a16="http://schemas.microsoft.com/office/drawing/2014/main" val="2638035087"/>
                  </a:ext>
                </a:extLst>
              </a:tr>
            </a:tbl>
          </a:graphicData>
        </a:graphic>
      </p:graphicFrame>
    </p:spTree>
    <p:extLst>
      <p:ext uri="{BB962C8B-B14F-4D97-AF65-F5344CB8AC3E}">
        <p14:creationId xmlns:p14="http://schemas.microsoft.com/office/powerpoint/2010/main" val="694676505"/>
      </p:ext>
    </p:extLst>
  </p:cSld>
  <p:clrMapOvr>
    <a:masterClrMapping/>
  </p:clrMapOvr>
  <p:extLst>
    <p:ext uri="{6950BFC3-D8DA-4A85-94F7-54DA5524770B}">
      <p188:commentRel xmlns:p188="http://schemas.microsoft.com/office/powerpoint/2018/8/main" r:id="rId3"/>
    </p:ext>
  </p:extLs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60DF4-C24F-6EB2-0AB7-C814250C7F4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E0E421-22AF-1619-5124-EC3EE8CCCCF3}"/>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E8CC969A-BAEF-C15F-EB4E-0596320B6521}"/>
              </a:ext>
            </a:extLst>
          </p:cNvPr>
          <p:cNvSpPr>
            <a:spLocks noGrp="1"/>
          </p:cNvSpPr>
          <p:nvPr>
            <p:ph type="sldNum" sz="quarter" idx="17"/>
          </p:nvPr>
        </p:nvSpPr>
        <p:spPr/>
        <p:txBody>
          <a:bodyPr/>
          <a:lstStyle/>
          <a:p>
            <a:r>
              <a:rPr lang="en-US"/>
              <a:t>/   </a:t>
            </a:r>
            <a:fld id="{6C7E6F33-74EE-5541-8108-8353B402F8C1}" type="slidenum">
              <a:rPr lang="en-US" smtClean="0"/>
              <a:pPr/>
              <a:t>58</a:t>
            </a:fld>
            <a:endParaRPr lang="en-US"/>
          </a:p>
        </p:txBody>
      </p:sp>
      <p:sp>
        <p:nvSpPr>
          <p:cNvPr id="5" name="Title 4">
            <a:extLst>
              <a:ext uri="{FF2B5EF4-FFF2-40B4-BE49-F238E27FC236}">
                <a16:creationId xmlns:a16="http://schemas.microsoft.com/office/drawing/2014/main" id="{6EFDB0DD-0F06-CF64-5EFA-0BA66C6CF264}"/>
              </a:ext>
            </a:extLst>
          </p:cNvPr>
          <p:cNvSpPr>
            <a:spLocks noGrp="1"/>
          </p:cNvSpPr>
          <p:nvPr>
            <p:ph type="title"/>
          </p:nvPr>
        </p:nvSpPr>
        <p:spPr>
          <a:xfrm>
            <a:off x="531848" y="716984"/>
            <a:ext cx="6747546" cy="625567"/>
          </a:xfrm>
        </p:spPr>
        <p:txBody>
          <a:bodyPr/>
          <a:lstStyle/>
          <a:p>
            <a:r>
              <a:rPr lang="en-US">
                <a:latin typeface="Munistic"/>
              </a:rPr>
              <a:t>GSE BOM</a:t>
            </a:r>
          </a:p>
        </p:txBody>
      </p:sp>
      <p:graphicFrame>
        <p:nvGraphicFramePr>
          <p:cNvPr id="2" name="Table 1">
            <a:extLst>
              <a:ext uri="{FF2B5EF4-FFF2-40B4-BE49-F238E27FC236}">
                <a16:creationId xmlns:a16="http://schemas.microsoft.com/office/drawing/2014/main" id="{FB0DF1A8-7512-204A-FA5C-3EF6657DE2F0}"/>
              </a:ext>
            </a:extLst>
          </p:cNvPr>
          <p:cNvGraphicFramePr>
            <a:graphicFrameLocks noGrp="1"/>
          </p:cNvGraphicFramePr>
          <p:nvPr>
            <p:extLst>
              <p:ext uri="{D42A27DB-BD31-4B8C-83A1-F6EECF244321}">
                <p14:modId xmlns:p14="http://schemas.microsoft.com/office/powerpoint/2010/main" val="4236412039"/>
              </p:ext>
            </p:extLst>
          </p:nvPr>
        </p:nvGraphicFramePr>
        <p:xfrm>
          <a:off x="92765" y="1445039"/>
          <a:ext cx="11991377" cy="4865006"/>
        </p:xfrm>
        <a:graphic>
          <a:graphicData uri="http://schemas.openxmlformats.org/drawingml/2006/table">
            <a:tbl>
              <a:tblPr bandRow="1">
                <a:tableStyleId>{5C22544A-7EE6-4342-B048-85BDC9FD1C3A}</a:tableStyleId>
              </a:tblPr>
              <a:tblGrid>
                <a:gridCol w="561102">
                  <a:extLst>
                    <a:ext uri="{9D8B030D-6E8A-4147-A177-3AD203B41FA5}">
                      <a16:colId xmlns:a16="http://schemas.microsoft.com/office/drawing/2014/main" val="360521789"/>
                    </a:ext>
                  </a:extLst>
                </a:gridCol>
                <a:gridCol w="2750224">
                  <a:extLst>
                    <a:ext uri="{9D8B030D-6E8A-4147-A177-3AD203B41FA5}">
                      <a16:colId xmlns:a16="http://schemas.microsoft.com/office/drawing/2014/main" val="3592925142"/>
                    </a:ext>
                  </a:extLst>
                </a:gridCol>
                <a:gridCol w="1342753">
                  <a:extLst>
                    <a:ext uri="{9D8B030D-6E8A-4147-A177-3AD203B41FA5}">
                      <a16:colId xmlns:a16="http://schemas.microsoft.com/office/drawing/2014/main" val="4284133082"/>
                    </a:ext>
                  </a:extLst>
                </a:gridCol>
                <a:gridCol w="1197155">
                  <a:extLst>
                    <a:ext uri="{9D8B030D-6E8A-4147-A177-3AD203B41FA5}">
                      <a16:colId xmlns:a16="http://schemas.microsoft.com/office/drawing/2014/main" val="3805788829"/>
                    </a:ext>
                  </a:extLst>
                </a:gridCol>
                <a:gridCol w="1116265">
                  <a:extLst>
                    <a:ext uri="{9D8B030D-6E8A-4147-A177-3AD203B41FA5}">
                      <a16:colId xmlns:a16="http://schemas.microsoft.com/office/drawing/2014/main" val="1106370287"/>
                    </a:ext>
                  </a:extLst>
                </a:gridCol>
                <a:gridCol w="1019197">
                  <a:extLst>
                    <a:ext uri="{9D8B030D-6E8A-4147-A177-3AD203B41FA5}">
                      <a16:colId xmlns:a16="http://schemas.microsoft.com/office/drawing/2014/main" val="4149231578"/>
                    </a:ext>
                  </a:extLst>
                </a:gridCol>
                <a:gridCol w="954488">
                  <a:extLst>
                    <a:ext uri="{9D8B030D-6E8A-4147-A177-3AD203B41FA5}">
                      <a16:colId xmlns:a16="http://schemas.microsoft.com/office/drawing/2014/main" val="2483966670"/>
                    </a:ext>
                  </a:extLst>
                </a:gridCol>
                <a:gridCol w="1073215">
                  <a:extLst>
                    <a:ext uri="{9D8B030D-6E8A-4147-A177-3AD203B41FA5}">
                      <a16:colId xmlns:a16="http://schemas.microsoft.com/office/drawing/2014/main" val="1056265578"/>
                    </a:ext>
                  </a:extLst>
                </a:gridCol>
                <a:gridCol w="833155">
                  <a:extLst>
                    <a:ext uri="{9D8B030D-6E8A-4147-A177-3AD203B41FA5}">
                      <a16:colId xmlns:a16="http://schemas.microsoft.com/office/drawing/2014/main" val="2897210559"/>
                    </a:ext>
                  </a:extLst>
                </a:gridCol>
                <a:gridCol w="1143823">
                  <a:extLst>
                    <a:ext uri="{9D8B030D-6E8A-4147-A177-3AD203B41FA5}">
                      <a16:colId xmlns:a16="http://schemas.microsoft.com/office/drawing/2014/main" val="3220668836"/>
                    </a:ext>
                  </a:extLst>
                </a:gridCol>
              </a:tblGrid>
              <a:tr h="359099">
                <a:tc>
                  <a:txBody>
                    <a:bodyPr/>
                    <a:lstStyle/>
                    <a:p>
                      <a:pPr algn="l" fontAlgn="b"/>
                      <a:endParaRPr lang="en-US" sz="1200" b="0" i="0" u="none" strike="noStrike">
                        <a:solidFill>
                          <a:srgbClr val="154734"/>
                        </a:solidFill>
                        <a:effectLst/>
                        <a:latin typeface="Times New Roman"/>
                      </a:endParaRP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Description</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Part Number</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Unit Price</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Quantity</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Subtotal</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Link</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Taxes</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Shipping</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ctr" fontAlgn="b"/>
                      <a:r>
                        <a:rPr lang="en-US" sz="1600" b="1" i="0" u="none" strike="noStrike">
                          <a:solidFill>
                            <a:srgbClr val="FFFFFF"/>
                          </a:solidFill>
                          <a:effectLst/>
                          <a:latin typeface="Times New Roman"/>
                        </a:rPr>
                        <a:t>Total</a:t>
                      </a:r>
                    </a:p>
                  </a:txBody>
                  <a:tcPr marL="9525" marR="9525" marT="9525" marB="0" anchor="ctr">
                    <a:lnL w="635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extLst>
                  <a:ext uri="{0D108BD9-81ED-4DB2-BD59-A6C34878D82A}">
                    <a16:rowId xmlns:a16="http://schemas.microsoft.com/office/drawing/2014/main" val="2229692858"/>
                  </a:ext>
                </a:extLst>
              </a:tr>
              <a:tr h="523687">
                <a:tc>
                  <a:txBody>
                    <a:bodyPr/>
                    <a:lstStyle/>
                    <a:p>
                      <a:pPr algn="l" fontAlgn="b"/>
                      <a:r>
                        <a:rPr lang="en-US" sz="1600" b="0" i="0" u="none" strike="noStrike">
                          <a:solidFill>
                            <a:srgbClr val="000000"/>
                          </a:solidFill>
                          <a:effectLst/>
                          <a:latin typeface="Times New Roman"/>
                        </a:rPr>
                        <a:t>9</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QD aluminum stock</a:t>
                      </a:r>
                      <a:br>
                        <a:rPr lang="en-US" sz="1600" b="0" i="0" u="none" strike="noStrike">
                          <a:solidFill>
                            <a:srgbClr val="000000"/>
                          </a:solidFill>
                          <a:effectLst/>
                          <a:latin typeface="Times New Roman" panose="02020603050405020304" pitchFamily="18" charset="0"/>
                          <a:cs typeface="Times New Roman" panose="02020603050405020304" pitchFamily="18" charset="0"/>
                        </a:rPr>
                      </a:br>
                      <a:r>
                        <a:rPr lang="en-US" sz="1600" b="0" i="0" u="none" strike="noStrike">
                          <a:solidFill>
                            <a:srgbClr val="000000"/>
                          </a:solidFill>
                          <a:effectLst/>
                          <a:latin typeface="Times New Roman" panose="02020603050405020304" pitchFamily="18" charset="0"/>
                          <a:cs typeface="Times New Roman" panose="02020603050405020304" pitchFamily="18" charset="0"/>
                        </a:rPr>
                        <a:t>1ft of 2" round</a:t>
                      </a:r>
                    </a:p>
                  </a:txBody>
                  <a:tcPr marL="6350" marR="6350" marT="635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R32</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$41.56</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$41.56</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100" b="0" i="0" u="sng" strike="noStrike">
                          <a:solidFill>
                            <a:srgbClr val="467886"/>
                          </a:solidFill>
                          <a:effectLst/>
                          <a:latin typeface="Aptos Narrow" panose="020B0004020202020204" pitchFamily="34" charset="0"/>
                          <a:hlinkClick r:id="rId3"/>
                        </a:rPr>
                        <a:t>www.metalsdepot.com</a:t>
                      </a:r>
                      <a:endParaRPr lang="en-US" sz="1100" b="0" i="0" u="sng" strike="noStrike">
                        <a:solidFill>
                          <a:srgbClr val="467886"/>
                        </a:solidFill>
                        <a:effectLst/>
                        <a:latin typeface="Aptos Narrow" panose="020B0004020202020204" pitchFamily="34" charset="0"/>
                      </a:endParaRP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cap="flat" cmpd="sng" algn="ctr">
                      <a:solidFill>
                        <a:srgbClr val="FFFFFF"/>
                      </a:solidFill>
                      <a:prstDash val="solid"/>
                      <a:round/>
                      <a:headEnd type="none" w="med" len="med"/>
                      <a:tailEnd type="none" w="med" len="med"/>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+ 10%</a:t>
                      </a: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E7E9E9"/>
                    </a:solidFill>
                  </a:tcPr>
                </a:tc>
                <a:tc>
                  <a:txBody>
                    <a:bodyPr/>
                    <a:lstStyle/>
                    <a:p>
                      <a:pPr algn="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$49.83</a:t>
                      </a:r>
                    </a:p>
                  </a:txBody>
                  <a:tcPr marL="6350" marR="6350" marT="635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802448835"/>
                  </a:ext>
                </a:extLst>
              </a:tr>
              <a:tr h="523687">
                <a:tc>
                  <a:txBody>
                    <a:bodyPr/>
                    <a:lstStyle/>
                    <a:p>
                      <a:pPr algn="l" fontAlgn="b"/>
                      <a:r>
                        <a:rPr lang="en-US" sz="1600" b="0" i="0" u="none" strike="noStrike">
                          <a:solidFill>
                            <a:srgbClr val="000000"/>
                          </a:solidFill>
                          <a:effectLst/>
                          <a:latin typeface="Times New Roman"/>
                        </a:rPr>
                        <a:t>10</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Clip Stock 6" of 0.5"x2" aluminum flat</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F4122</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$10.68</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$10.68</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r>
                        <a:rPr lang="en-US" sz="1100" b="0" i="0" u="sng" strike="noStrike">
                          <a:solidFill>
                            <a:srgbClr val="467886"/>
                          </a:solidFill>
                          <a:effectLst/>
                          <a:latin typeface="Aptos Narrow" panose="020B0004020202020204" pitchFamily="34" charset="0"/>
                          <a:hlinkClick r:id="rId3"/>
                        </a:rPr>
                        <a:t>www.metalsdepot.com</a:t>
                      </a:r>
                      <a:endParaRPr lang="en-US" sz="1100" b="0" i="0" u="sng" strike="noStrike">
                        <a:solidFill>
                          <a:srgbClr val="467886"/>
                        </a:solidFill>
                        <a:effectLst/>
                        <a:latin typeface="Aptos Narrow" panose="020B0004020202020204" pitchFamily="34" charset="0"/>
                      </a:endParaRP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cap="flat" cmpd="sng" algn="ctr">
                      <a:solidFill>
                        <a:srgbClr val="FFFFFF"/>
                      </a:solidFill>
                      <a:prstDash val="solid"/>
                      <a:round/>
                      <a:headEnd type="none" w="med" len="med"/>
                      <a:tailEnd type="none" w="med" len="med"/>
                    </a:lnL>
                    <a:lnR w="6350">
                      <a:solidFill>
                        <a:srgbClr val="FFFFFF"/>
                      </a:solidFill>
                    </a:lnR>
                    <a:lnT w="6350">
                      <a:solidFill>
                        <a:srgbClr val="FFFFFF"/>
                      </a:solidFill>
                    </a:lnT>
                    <a:lnB w="6350">
                      <a:solidFill>
                        <a:srgbClr val="FFFFFF"/>
                      </a:solidFill>
                    </a:lnB>
                    <a:solidFill>
                      <a:srgbClr val="CBD1CF"/>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+ 10%</a:t>
                      </a: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CBD1CF"/>
                    </a:solidFill>
                  </a:tcPr>
                </a:tc>
                <a:tc>
                  <a:txBody>
                    <a:bodyPr/>
                    <a:lstStyle/>
                    <a:p>
                      <a:pPr algn="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$12.81</a:t>
                      </a:r>
                    </a:p>
                  </a:txBody>
                  <a:tcPr marL="6350" marR="6350" marT="635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1578019327"/>
                  </a:ext>
                </a:extLst>
              </a:tr>
              <a:tr h="523687">
                <a:tc>
                  <a:txBody>
                    <a:bodyPr/>
                    <a:lstStyle/>
                    <a:p>
                      <a:pPr algn="l" fontAlgn="b"/>
                      <a:r>
                        <a:rPr lang="en-US" sz="1600" b="0" i="0" u="none" strike="noStrike">
                          <a:solidFill>
                            <a:srgbClr val="000000"/>
                          </a:solidFill>
                          <a:effectLst/>
                          <a:latin typeface="Times New Roman"/>
                        </a:rPr>
                        <a:t>11</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1/2" NPT male to male fittings</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$11.99</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$11.99</a:t>
                      </a: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r>
                        <a:rPr lang="en-US" sz="1100" b="0" i="0" u="sng" strike="noStrike">
                          <a:solidFill>
                            <a:srgbClr val="467886"/>
                          </a:solidFill>
                          <a:effectLst/>
                          <a:latin typeface="Aptos Narrow" panose="020B0004020202020204" pitchFamily="34" charset="0"/>
                          <a:hlinkClick r:id="rId4"/>
                        </a:rPr>
                        <a:t>amazon.com</a:t>
                      </a:r>
                      <a:endParaRPr lang="en-US" sz="1100" b="0" i="0" u="sng" strike="noStrike">
                        <a:solidFill>
                          <a:srgbClr val="467886"/>
                        </a:solidFill>
                        <a:effectLst/>
                        <a:latin typeface="Aptos Narrow" panose="020B0004020202020204" pitchFamily="34" charset="0"/>
                      </a:endParaRPr>
                    </a:p>
                  </a:txBody>
                  <a:tcPr marL="6350" marR="6350" marT="635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+ 9%</a:t>
                      </a:r>
                      <a:endParaRPr lang="en-US" sz="1800" b="0" i="0" u="none" strike="noStrike" noProof="0">
                        <a:solidFill>
                          <a:srgbClr val="154734"/>
                        </a:solidFill>
                        <a:latin typeface="Times New Roman"/>
                      </a:endParaRPr>
                    </a:p>
                  </a:txBody>
                  <a:tcPr marL="9524" marR="9524" marT="9524" marB="0" anchor="ctr">
                    <a:lnL w="6350" cap="flat" cmpd="sng" algn="ctr">
                      <a:solidFill>
                        <a:srgbClr val="FFFFFF"/>
                      </a:solidFill>
                      <a:prstDash val="solid"/>
                      <a:round/>
                      <a:headEnd type="none" w="med" len="med"/>
                      <a:tailEnd type="none" w="med" len="med"/>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r>
                        <a:rPr lang="en-US" sz="1800" b="1" i="0" u="none" strike="noStrike" noProof="0">
                          <a:solidFill>
                            <a:srgbClr val="154734"/>
                          </a:solidFill>
                          <a:latin typeface="Times New Roman"/>
                        </a:rPr>
                        <a:t>+ 10%</a:t>
                      </a: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E7E9E9"/>
                    </a:solidFill>
                  </a:tcPr>
                </a:tc>
                <a:tc>
                  <a:txBody>
                    <a:bodyPr/>
                    <a:lstStyle/>
                    <a:p>
                      <a:pPr algn="r" fontAlgn="b">
                        <a:buNone/>
                      </a:pPr>
                      <a:r>
                        <a:rPr lang="en-US" sz="1600" b="0" i="0" u="none" strike="noStrike">
                          <a:solidFill>
                            <a:srgbClr val="000000"/>
                          </a:solidFill>
                          <a:effectLst/>
                          <a:latin typeface="Times New Roman" panose="02020603050405020304" pitchFamily="18" charset="0"/>
                          <a:cs typeface="Times New Roman" panose="02020603050405020304" pitchFamily="18" charset="0"/>
                        </a:rPr>
                        <a:t>$14.38</a:t>
                      </a:r>
                    </a:p>
                  </a:txBody>
                  <a:tcPr marL="6350" marR="6350" marT="635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2633894003"/>
                  </a:ext>
                </a:extLst>
              </a:tr>
              <a:tr h="523687">
                <a:tc>
                  <a:txBody>
                    <a:bodyPr/>
                    <a:lstStyle/>
                    <a:p>
                      <a:pPr algn="l" fontAlgn="b"/>
                      <a:r>
                        <a:rPr lang="en-US" sz="1600" b="0" i="0" u="none" strike="noStrike">
                          <a:solidFill>
                            <a:srgbClr val="000000"/>
                          </a:solidFill>
                          <a:effectLst/>
                          <a:latin typeface="Times New Roman"/>
                        </a:rPr>
                        <a:t>12</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ctr">
                        <a:buNone/>
                      </a:pPr>
                      <a:endParaRPr lang="en-US"/>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CBD1CF"/>
                    </a:solidFill>
                  </a:tcPr>
                </a:tc>
                <a:tc>
                  <a:txBody>
                    <a:bodyPr/>
                    <a:lstStyle/>
                    <a:p>
                      <a:pPr lvl="0" algn="ctr">
                        <a:buNone/>
                      </a:pPr>
                      <a:endParaRPr lang="en-US" sz="1600" b="0" i="0" u="none" strike="noStrike">
                        <a:solidFill>
                          <a:srgbClr val="000000"/>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CBD1CF"/>
                    </a:solidFill>
                  </a:tcPr>
                </a:tc>
                <a:tc>
                  <a:txBody>
                    <a:bodyPr/>
                    <a:lstStyle/>
                    <a:p>
                      <a:pPr algn="l" fontAlgn="b">
                        <a:buNone/>
                      </a:pP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2821986693"/>
                  </a:ext>
                </a:extLst>
              </a:tr>
              <a:tr h="359099">
                <a:tc>
                  <a:txBody>
                    <a:bodyPr/>
                    <a:lstStyle/>
                    <a:p>
                      <a:pPr algn="l" fontAlgn="b"/>
                      <a:r>
                        <a:rPr lang="en-US" sz="1600" b="0" i="0" u="none" strike="noStrike">
                          <a:solidFill>
                            <a:srgbClr val="000000"/>
                          </a:solidFill>
                          <a:effectLst/>
                          <a:latin typeface="Times New Roman"/>
                        </a:rPr>
                        <a:t>13</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ct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buNone/>
                      </a:pP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ctr">
                        <a:lnSpc>
                          <a:spcPct val="100000"/>
                        </a:lnSpc>
                        <a:spcBef>
                          <a:spcPts val="0"/>
                        </a:spcBef>
                        <a:spcAft>
                          <a:spcPts val="0"/>
                        </a:spcAft>
                        <a:buNone/>
                      </a:pP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E7E9E9"/>
                    </a:solidFill>
                  </a:tcPr>
                </a:tc>
                <a:tc>
                  <a:txBody>
                    <a:bodyPr/>
                    <a:lstStyle/>
                    <a:p>
                      <a:pPr algn="l" fontAlgn="b">
                        <a:buNone/>
                      </a:pP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1415085590"/>
                  </a:ext>
                </a:extLst>
              </a:tr>
              <a:tr h="359099">
                <a:tc>
                  <a:txBody>
                    <a:bodyPr/>
                    <a:lstStyle/>
                    <a:p>
                      <a:pPr lvl="0" algn="l">
                        <a:buNone/>
                      </a:pPr>
                      <a:r>
                        <a:rPr lang="en-US" sz="1600" b="0" i="0" u="none" strike="noStrike">
                          <a:solidFill>
                            <a:srgbClr val="000000"/>
                          </a:solidFill>
                          <a:effectLst/>
                          <a:latin typeface="Times New Roman"/>
                        </a:rPr>
                        <a:t>14</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lvl="0" algn="ctr">
                        <a:lnSpc>
                          <a:spcPct val="100000"/>
                        </a:lnSpc>
                        <a:spcBef>
                          <a:spcPts val="0"/>
                        </a:spcBef>
                        <a:spcAft>
                          <a:spcPts val="0"/>
                        </a:spcAft>
                        <a:buNone/>
                      </a:pP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CBD1CF"/>
                    </a:solidFill>
                  </a:tcPr>
                </a:tc>
                <a:tc>
                  <a:txBody>
                    <a:bodyPr/>
                    <a:lstStyle/>
                    <a:p>
                      <a:pPr lvl="0" algn="ctr">
                        <a:lnSpc>
                          <a:spcPct val="100000"/>
                        </a:lnSpc>
                        <a:spcBef>
                          <a:spcPts val="0"/>
                        </a:spcBef>
                        <a:spcAft>
                          <a:spcPts val="0"/>
                        </a:spcAft>
                        <a:buNone/>
                      </a:pP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CBD1CF"/>
                    </a:solidFill>
                  </a:tcPr>
                </a:tc>
                <a:tc>
                  <a:txBody>
                    <a:bodyPr/>
                    <a:lstStyle/>
                    <a:p>
                      <a:pPr algn="l" fontAlgn="b">
                        <a:buNone/>
                      </a:pP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38326024"/>
                  </a:ext>
                </a:extLst>
              </a:tr>
              <a:tr h="778049">
                <a:tc>
                  <a:txBody>
                    <a:bodyPr/>
                    <a:lstStyle/>
                    <a:p>
                      <a:pPr algn="l" fontAlgn="b"/>
                      <a:r>
                        <a:rPr lang="en-US" sz="1600" b="0" i="0" u="none" strike="noStrike">
                          <a:solidFill>
                            <a:srgbClr val="000000"/>
                          </a:solidFill>
                          <a:effectLst/>
                          <a:latin typeface="Times New Roman"/>
                        </a:rPr>
                        <a:t>15</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l"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l"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ct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ct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9E9"/>
                    </a:solidFill>
                  </a:tcPr>
                </a:tc>
                <a:tc>
                  <a:txBody>
                    <a:bodyPr/>
                    <a:lstStyle/>
                    <a:p>
                      <a:pPr algn="l" fontAlgn="b">
                        <a:buNone/>
                      </a:pPr>
                      <a:endParaRPr lang="en-US" sz="1200" b="0" i="0" u="sng" strike="noStrike">
                        <a:solidFill>
                          <a:srgbClr val="467886"/>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E7E9E9"/>
                    </a:solidFill>
                  </a:tcPr>
                </a:tc>
                <a:tc>
                  <a:txBody>
                    <a:bodyPr/>
                    <a:lstStyle/>
                    <a:p>
                      <a:pPr lvl="0" algn="ctr">
                        <a:lnSpc>
                          <a:spcPct val="100000"/>
                        </a:lnSpc>
                        <a:spcBef>
                          <a:spcPts val="0"/>
                        </a:spcBef>
                        <a:spcAft>
                          <a:spcPts val="0"/>
                        </a:spcAft>
                        <a:buNone/>
                      </a:pPr>
                      <a:endParaRPr lang="en-US" sz="1800" b="0" i="0" u="none" strike="noStrike" noProof="0">
                        <a:solidFill>
                          <a:srgbClr val="154734"/>
                        </a:solidFill>
                        <a:latin typeface="Times New Roman"/>
                      </a:endParaRPr>
                    </a:p>
                  </a:txBody>
                  <a:tcPr marL="9524" marR="9524" marT="9524" marB="0" anchor="ctr">
                    <a:lnL w="6350">
                      <a:solidFill>
                        <a:srgbClr val="FFFFFF"/>
                      </a:solidFill>
                    </a:lnL>
                    <a:lnR w="6350">
                      <a:solidFill>
                        <a:srgbClr val="FFFFFF"/>
                      </a:solidFill>
                    </a:lnR>
                    <a:lnT w="6350">
                      <a:solidFill>
                        <a:srgbClr val="FFFFFF"/>
                      </a:solidFill>
                    </a:lnT>
                    <a:lnB w="6350">
                      <a:solidFill>
                        <a:srgbClr val="FFFFFF"/>
                      </a:solidFill>
                    </a:lnB>
                    <a:solidFill>
                      <a:srgbClr val="E7E9E9"/>
                    </a:solidFill>
                  </a:tcPr>
                </a:tc>
                <a:tc>
                  <a:txBody>
                    <a:bodyPr/>
                    <a:lstStyle/>
                    <a:p>
                      <a:pPr lvl="0" algn="ctr">
                        <a:lnSpc>
                          <a:spcPct val="100000"/>
                        </a:lnSpc>
                        <a:spcBef>
                          <a:spcPts val="0"/>
                        </a:spcBef>
                        <a:spcAft>
                          <a:spcPts val="0"/>
                        </a:spcAft>
                        <a:buNone/>
                      </a:pPr>
                      <a:endParaRPr lang="en-US" sz="1800" b="0" i="0" u="none" strike="noStrike" noProof="0">
                        <a:solidFill>
                          <a:srgbClr val="154734"/>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E7E9E9"/>
                    </a:solidFill>
                  </a:tcPr>
                </a:tc>
                <a:tc>
                  <a:txBody>
                    <a:bodyPr/>
                    <a:lstStyle/>
                    <a:p>
                      <a:pPr algn="l" fontAlgn="b">
                        <a:buNone/>
                      </a:pP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1037611048"/>
                  </a:ext>
                </a:extLst>
              </a:tr>
              <a:tr h="523687">
                <a:tc>
                  <a:txBody>
                    <a:bodyPr/>
                    <a:lstStyle/>
                    <a:p>
                      <a:pPr algn="l" fontAlgn="b"/>
                      <a:r>
                        <a:rPr lang="en-US" sz="1600" b="0" i="0" u="none" strike="noStrike">
                          <a:solidFill>
                            <a:srgbClr val="000000"/>
                          </a:solidFill>
                          <a:effectLst/>
                          <a:latin typeface="Times New Roman"/>
                        </a:rPr>
                        <a:t>16</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ctr" fontAlgn="b">
                        <a:buNone/>
                      </a:pPr>
                      <a:endParaRPr lang="en-US" sz="1600" b="0" i="0" u="none" strike="noStrike">
                        <a:solidFill>
                          <a:srgbClr val="000000"/>
                        </a:solidFill>
                        <a:effectLst/>
                        <a:latin typeface="Times New Roman"/>
                      </a:endParaRPr>
                    </a:p>
                  </a:txBody>
                  <a:tcPr marL="6350" marR="6350" marT="6350" marB="0" anchor="b">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buNone/>
                      </a:pPr>
                      <a:endParaRPr lang="en-US" sz="1200" b="0" i="0" u="sng" strike="noStrike">
                        <a:solidFill>
                          <a:srgbClr val="467886"/>
                        </a:solidFill>
                        <a:effectLst/>
                        <a:latin typeface="Times New Roman"/>
                      </a:endParaRPr>
                    </a:p>
                  </a:txBody>
                  <a:tcPr marL="6350" marR="6350" marT="6350"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CBD1CF"/>
                    </a:solidFill>
                  </a:tcPr>
                </a:tc>
                <a:tc>
                  <a:txBody>
                    <a:bodyPr/>
                    <a:lstStyle/>
                    <a:p>
                      <a:pPr lvl="0" algn="ctr" defTabSz="914377">
                        <a:buNone/>
                      </a:pPr>
                      <a:endParaRPr lang="en-US"/>
                    </a:p>
                  </a:txBody>
                  <a:tcPr marL="9524" marR="9524" marT="9524" marB="0" anchor="ctr">
                    <a:lnL w="6350">
                      <a:noFill/>
                    </a:lnL>
                    <a:lnR w="6350">
                      <a:solidFill>
                        <a:srgbClr val="FFFFFF"/>
                      </a:solidFill>
                    </a:lnR>
                    <a:lnT w="6350">
                      <a:solidFill>
                        <a:srgbClr val="FFFFFF"/>
                      </a:solidFill>
                    </a:lnT>
                    <a:lnB w="6350">
                      <a:solidFill>
                        <a:srgbClr val="FFFFFF"/>
                      </a:solidFill>
                    </a:lnB>
                    <a:solidFill>
                      <a:srgbClr val="CBD1CF"/>
                    </a:solidFill>
                  </a:tcPr>
                </a:tc>
                <a:tc>
                  <a:txBody>
                    <a:bodyPr/>
                    <a:lstStyle/>
                    <a:p>
                      <a:pPr lvl="0" algn="ctr">
                        <a:buNone/>
                      </a:pPr>
                      <a:endParaRPr lang="en-US" sz="1600" b="0" i="0" u="none" strike="noStrike">
                        <a:solidFill>
                          <a:srgbClr val="000000"/>
                        </a:solidFill>
                        <a:effectLst/>
                        <a:latin typeface="Times New Roman"/>
                      </a:endParaRPr>
                    </a:p>
                  </a:txBody>
                  <a:tcPr marL="9524" marR="9524" marT="9524" marB="0" anchor="ctr">
                    <a:lnL w="6350">
                      <a:solidFill>
                        <a:srgbClr val="FFFFFF"/>
                      </a:solidFill>
                    </a:lnL>
                    <a:lnR w="6350" cap="flat" cmpd="sng" algn="ctr">
                      <a:solidFill>
                        <a:srgbClr val="FFFFFF"/>
                      </a:solidFill>
                      <a:prstDash val="solid"/>
                      <a:round/>
                      <a:headEnd type="none" w="med" len="med"/>
                      <a:tailEnd type="none" w="med" len="med"/>
                    </a:lnR>
                    <a:lnT w="6350">
                      <a:solidFill>
                        <a:srgbClr val="FFFFFF"/>
                      </a:solidFill>
                    </a:lnT>
                    <a:lnB w="6350">
                      <a:solidFill>
                        <a:srgbClr val="FFFFFF"/>
                      </a:solidFill>
                    </a:lnB>
                    <a:solidFill>
                      <a:srgbClr val="CBD1CF"/>
                    </a:solidFill>
                  </a:tcPr>
                </a:tc>
                <a:tc>
                  <a:txBody>
                    <a:bodyPr/>
                    <a:lstStyle/>
                    <a:p>
                      <a:pPr algn="l" fontAlgn="b">
                        <a:buNone/>
                      </a:pP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CBD1CF"/>
                    </a:solidFill>
                  </a:tcPr>
                </a:tc>
                <a:extLst>
                  <a:ext uri="{0D108BD9-81ED-4DB2-BD59-A6C34878D82A}">
                    <a16:rowId xmlns:a16="http://schemas.microsoft.com/office/drawing/2014/main" val="845165910"/>
                  </a:ext>
                </a:extLst>
              </a:tr>
              <a:tr h="359099">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a:noFill/>
                    </a:lnR>
                    <a:lnT w="0" cap="flat" cmpd="sng" algn="ctr">
                      <a:no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l" fontAlgn="b"/>
                      <a:r>
                        <a:rPr lang="en-US" sz="1600" b="1" i="0" u="sng" strike="noStrike">
                          <a:solidFill>
                            <a:srgbClr val="000000"/>
                          </a:solidFill>
                          <a:effectLst/>
                          <a:latin typeface="Times New Roman"/>
                        </a:rPr>
                        <a:t>TOTAL: </a:t>
                      </a:r>
                    </a:p>
                  </a:txBody>
                  <a:tcPr marL="9525" marR="9525" marT="9525" marB="0" anchor="b">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1" i="0" u="sng" strike="noStrike">
                          <a:solidFill>
                            <a:srgbClr val="000000"/>
                          </a:solidFill>
                          <a:effectLst/>
                          <a:latin typeface="Times New Roman"/>
                        </a:rPr>
                        <a:t>$77.01</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E7E9E9"/>
                    </a:solidFill>
                  </a:tcPr>
                </a:tc>
                <a:extLst>
                  <a:ext uri="{0D108BD9-81ED-4DB2-BD59-A6C34878D82A}">
                    <a16:rowId xmlns:a16="http://schemas.microsoft.com/office/drawing/2014/main" val="2638035087"/>
                  </a:ext>
                </a:extLst>
              </a:tr>
            </a:tbl>
          </a:graphicData>
        </a:graphic>
      </p:graphicFrame>
    </p:spTree>
    <p:extLst>
      <p:ext uri="{BB962C8B-B14F-4D97-AF65-F5344CB8AC3E}">
        <p14:creationId xmlns:p14="http://schemas.microsoft.com/office/powerpoint/2010/main" val="40765482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AAE0F-0B78-9036-D44E-E8622589F5D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B0E3E70-CA63-3704-4C84-BC716A0B2004}"/>
              </a:ext>
            </a:extLst>
          </p:cNvPr>
          <p:cNvSpPr>
            <a:spLocks noGrp="1"/>
          </p:cNvSpPr>
          <p:nvPr>
            <p:ph type="body" sz="quarter" idx="11"/>
          </p:nvPr>
        </p:nvSpPr>
        <p:spPr>
          <a:xfrm>
            <a:off x="1155324" y="3789503"/>
            <a:ext cx="6285711" cy="472104"/>
          </a:xfrm>
        </p:spPr>
        <p:txBody>
          <a:bodyPr/>
          <a:lstStyle/>
          <a:p>
            <a:r>
              <a:rPr lang="en-US" sz="1850">
                <a:ea typeface="Source Sans Pro"/>
                <a:cs typeface="Calibri"/>
              </a:rPr>
              <a:t>10 Minutes - Return at __:__</a:t>
            </a:r>
          </a:p>
        </p:txBody>
      </p:sp>
      <p:sp>
        <p:nvSpPr>
          <p:cNvPr id="3" name="Title 2">
            <a:extLst>
              <a:ext uri="{FF2B5EF4-FFF2-40B4-BE49-F238E27FC236}">
                <a16:creationId xmlns:a16="http://schemas.microsoft.com/office/drawing/2014/main" id="{B89869E8-BB02-FCC7-D43F-3DB05EBFBFCB}"/>
              </a:ext>
            </a:extLst>
          </p:cNvPr>
          <p:cNvSpPr>
            <a:spLocks noGrp="1"/>
          </p:cNvSpPr>
          <p:nvPr>
            <p:ph type="title"/>
          </p:nvPr>
        </p:nvSpPr>
        <p:spPr/>
        <p:txBody>
          <a:bodyPr/>
          <a:lstStyle/>
          <a:p>
            <a:r>
              <a:rPr lang="en-US" sz="6600"/>
              <a:t>Break</a:t>
            </a:r>
          </a:p>
        </p:txBody>
      </p:sp>
    </p:spTree>
    <p:extLst>
      <p:ext uri="{BB962C8B-B14F-4D97-AF65-F5344CB8AC3E}">
        <p14:creationId xmlns:p14="http://schemas.microsoft.com/office/powerpoint/2010/main" val="1168777416"/>
      </p:ext>
    </p:extLst>
  </p:cSld>
  <p:clrMapOvr>
    <a:masterClrMapping/>
  </p:clrMapOvr>
  <p:extLst>
    <p:ext uri="{6950BFC3-D8DA-4A85-94F7-54DA5524770B}">
      <p188:commentRel xmlns:p188="http://schemas.microsoft.com/office/powerpoint/2018/8/main" r:id="rId3"/>
    </p:ext>
  </p:extLs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60231-DE9E-F134-BF5C-0C8326264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F27F2-2CEB-4160-B57D-DC474B59FCB7}"/>
              </a:ext>
            </a:extLst>
          </p:cNvPr>
          <p:cNvSpPr>
            <a:spLocks noGrp="1"/>
          </p:cNvSpPr>
          <p:nvPr>
            <p:ph type="title"/>
          </p:nvPr>
        </p:nvSpPr>
        <p:spPr/>
        <p:txBody>
          <a:bodyPr/>
          <a:lstStyle/>
          <a:p>
            <a:r>
              <a:rPr lang="en-US">
                <a:latin typeface="Munistic"/>
              </a:rPr>
              <a:t>Aerodynamics</a:t>
            </a:r>
            <a:endParaRPr lang="en-US"/>
          </a:p>
        </p:txBody>
      </p:sp>
      <p:sp>
        <p:nvSpPr>
          <p:cNvPr id="3" name="Text Placeholder 2">
            <a:extLst>
              <a:ext uri="{FF2B5EF4-FFF2-40B4-BE49-F238E27FC236}">
                <a16:creationId xmlns:a16="http://schemas.microsoft.com/office/drawing/2014/main" id="{6603687A-C792-8C97-4116-975529772DED}"/>
              </a:ext>
            </a:extLst>
          </p:cNvPr>
          <p:cNvSpPr>
            <a:spLocks noGrp="1"/>
          </p:cNvSpPr>
          <p:nvPr>
            <p:ph type="body" sz="quarter" idx="11"/>
          </p:nvPr>
        </p:nvSpPr>
        <p:spPr>
          <a:xfrm>
            <a:off x="672347" y="1842273"/>
            <a:ext cx="5296653" cy="342329"/>
          </a:xfrm>
        </p:spPr>
        <p:txBody>
          <a:bodyPr/>
          <a:lstStyle/>
          <a:p>
            <a:r>
              <a:rPr lang="en-US" sz="1850">
                <a:ea typeface="Source Sans Pro"/>
              </a:rPr>
              <a:t>Presented by: Brayant Silva and Juan Godina</a:t>
            </a:r>
          </a:p>
        </p:txBody>
      </p:sp>
    </p:spTree>
    <p:extLst>
      <p:ext uri="{BB962C8B-B14F-4D97-AF65-F5344CB8AC3E}">
        <p14:creationId xmlns:p14="http://schemas.microsoft.com/office/powerpoint/2010/main" val="5096132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081298-CD08-8CA7-4AD0-8E9E05D1176B}"/>
              </a:ext>
            </a:extLst>
          </p:cNvPr>
          <p:cNvSpPr>
            <a:spLocks noGrp="1"/>
          </p:cNvSpPr>
          <p:nvPr>
            <p:ph type="body" sz="quarter" idx="15"/>
          </p:nvPr>
        </p:nvSpPr>
        <p:spPr>
          <a:xfrm>
            <a:off x="838199" y="1969476"/>
            <a:ext cx="5257801" cy="4033401"/>
          </a:xfrm>
        </p:spPr>
        <p:txBody>
          <a:bodyPr vert="horz" lIns="91440" tIns="45720" rIns="91440" bIns="45720" numCol="1" spcCol="457200" rtlCol="0" anchor="t">
            <a:noAutofit/>
          </a:bodyPr>
          <a:lstStyle/>
          <a:p>
            <a:pPr marL="380365" indent="-258445"/>
            <a:r>
              <a:rPr lang="en-US" sz="1850">
                <a:ea typeface="Source Sans Pro"/>
              </a:rPr>
              <a:t>Shape: Conical</a:t>
            </a:r>
          </a:p>
          <a:p>
            <a:pPr marL="380365" indent="-258445"/>
            <a:r>
              <a:rPr lang="en-US" sz="1850">
                <a:ea typeface="Source Sans Pro"/>
              </a:rPr>
              <a:t>Length: 12 in</a:t>
            </a:r>
            <a:endParaRPr lang="en-US" sz="1850">
              <a:ea typeface="Source Sans Pro"/>
              <a:cs typeface="Calibri"/>
            </a:endParaRPr>
          </a:p>
          <a:p>
            <a:pPr marL="380365" indent="-258445"/>
            <a:r>
              <a:rPr lang="en-US" sz="1850">
                <a:ea typeface="Source Sans Pro"/>
              </a:rPr>
              <a:t>Inner Diameter: 6 in</a:t>
            </a:r>
            <a:endParaRPr lang="en-US" sz="2000">
              <a:highlight>
                <a:srgbClr val="FFFF00"/>
              </a:highlight>
              <a:ea typeface="Source Sans Pro"/>
              <a:cs typeface="Calibri" panose="020F0502020204030204"/>
            </a:endParaRPr>
          </a:p>
          <a:p>
            <a:pPr marL="380365" indent="-258445"/>
            <a:r>
              <a:rPr lang="en-US" sz="1850">
                <a:ea typeface="Source Sans Pro"/>
              </a:rPr>
              <a:t>Wall Thickness: .2 in</a:t>
            </a:r>
            <a:endParaRPr lang="en-US" sz="2000">
              <a:highlight>
                <a:srgbClr val="FFFF00"/>
              </a:highlight>
              <a:ea typeface="Source Sans Pro"/>
              <a:cs typeface="Calibri"/>
            </a:endParaRPr>
          </a:p>
          <a:p>
            <a:pPr marL="380365" indent="-258445"/>
            <a:r>
              <a:rPr lang="en-US" sz="1850">
                <a:ea typeface="Source Sans Pro"/>
              </a:rPr>
              <a:t>Neck length: 2 in</a:t>
            </a:r>
            <a:endParaRPr lang="en-US" sz="1850">
              <a:ea typeface="Source Sans Pro"/>
              <a:cs typeface="Calibri"/>
            </a:endParaRPr>
          </a:p>
          <a:p>
            <a:pPr marL="121920" indent="0">
              <a:buNone/>
            </a:pPr>
            <a:r>
              <a:rPr lang="en-US" sz="1850">
                <a:ea typeface="Source Sans Pro"/>
              </a:rPr>
              <a:t>Manufacturing Method:</a:t>
            </a:r>
            <a:endParaRPr lang="en-US" sz="1850">
              <a:ea typeface="Source Sans Pro"/>
              <a:cs typeface="Calibri" panose="020F0502020204030204"/>
            </a:endParaRPr>
          </a:p>
          <a:p>
            <a:pPr marL="456565" lvl="1"/>
            <a:r>
              <a:rPr lang="en-US">
                <a:ea typeface="Source Sans Pro"/>
              </a:rPr>
              <a:t>Wet layup using carbon fiber on mold</a:t>
            </a:r>
            <a:endParaRPr lang="en-US"/>
          </a:p>
          <a:p>
            <a:pPr marL="456565" lvl="1"/>
            <a:r>
              <a:rPr lang="en-US">
                <a:ea typeface="Source Sans Pro"/>
                <a:cs typeface="Calibri"/>
              </a:rPr>
              <a:t>2D cutout for 3D shape</a:t>
            </a:r>
          </a:p>
          <a:p>
            <a:pPr marL="456565" lvl="1"/>
            <a:endParaRPr lang="en-US">
              <a:ea typeface="Source Sans Pro"/>
              <a:cs typeface="Calibri"/>
            </a:endParaRPr>
          </a:p>
        </p:txBody>
      </p:sp>
      <p:sp>
        <p:nvSpPr>
          <p:cNvPr id="3" name="Footer Placeholder 2">
            <a:extLst>
              <a:ext uri="{FF2B5EF4-FFF2-40B4-BE49-F238E27FC236}">
                <a16:creationId xmlns:a16="http://schemas.microsoft.com/office/drawing/2014/main" id="{EC76CDE7-ACB5-57CE-26C9-F03677CC288E}"/>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C5113CB3-0B0D-3BCA-3365-AC5AC9CB7569}"/>
              </a:ext>
            </a:extLst>
          </p:cNvPr>
          <p:cNvSpPr>
            <a:spLocks noGrp="1"/>
          </p:cNvSpPr>
          <p:nvPr>
            <p:ph type="sldNum" sz="quarter" idx="17"/>
          </p:nvPr>
        </p:nvSpPr>
        <p:spPr/>
        <p:txBody>
          <a:bodyPr/>
          <a:lstStyle/>
          <a:p>
            <a:r>
              <a:rPr lang="en-US"/>
              <a:t>/   </a:t>
            </a:r>
            <a:fld id="{6C7E6F33-74EE-5541-8108-8353B402F8C1}" type="slidenum">
              <a:rPr lang="en-US" smtClean="0"/>
              <a:pPr/>
              <a:t>61</a:t>
            </a:fld>
            <a:endParaRPr lang="en-US"/>
          </a:p>
        </p:txBody>
      </p:sp>
      <p:sp>
        <p:nvSpPr>
          <p:cNvPr id="5" name="Title 4">
            <a:extLst>
              <a:ext uri="{FF2B5EF4-FFF2-40B4-BE49-F238E27FC236}">
                <a16:creationId xmlns:a16="http://schemas.microsoft.com/office/drawing/2014/main" id="{3C669A43-1F78-2A3C-D308-67AE52CEBD85}"/>
              </a:ext>
            </a:extLst>
          </p:cNvPr>
          <p:cNvSpPr>
            <a:spLocks noGrp="1"/>
          </p:cNvSpPr>
          <p:nvPr>
            <p:ph type="title"/>
          </p:nvPr>
        </p:nvSpPr>
        <p:spPr/>
        <p:txBody>
          <a:bodyPr/>
          <a:lstStyle/>
          <a:p>
            <a:r>
              <a:rPr lang="en-US"/>
              <a:t>Aerodynamics</a:t>
            </a:r>
          </a:p>
        </p:txBody>
      </p:sp>
      <p:sp>
        <p:nvSpPr>
          <p:cNvPr id="6" name="Text Placeholder 5">
            <a:extLst>
              <a:ext uri="{FF2B5EF4-FFF2-40B4-BE49-F238E27FC236}">
                <a16:creationId xmlns:a16="http://schemas.microsoft.com/office/drawing/2014/main" id="{7207B686-9598-7D3E-6C2E-CE04548C35A1}"/>
              </a:ext>
            </a:extLst>
          </p:cNvPr>
          <p:cNvSpPr>
            <a:spLocks noGrp="1"/>
          </p:cNvSpPr>
          <p:nvPr>
            <p:ph type="body" sz="quarter" idx="13"/>
          </p:nvPr>
        </p:nvSpPr>
        <p:spPr/>
        <p:txBody>
          <a:bodyPr/>
          <a:lstStyle/>
          <a:p>
            <a:r>
              <a:rPr lang="en-US"/>
              <a:t>Nose Cone</a:t>
            </a:r>
          </a:p>
        </p:txBody>
      </p:sp>
      <p:pic>
        <p:nvPicPr>
          <p:cNvPr id="7" name="Picture 6" descr="A grey cone shaped object&#10;&#10;AI-generated content may be incorrect.">
            <a:extLst>
              <a:ext uri="{FF2B5EF4-FFF2-40B4-BE49-F238E27FC236}">
                <a16:creationId xmlns:a16="http://schemas.microsoft.com/office/drawing/2014/main" id="{C30C590B-FB06-390C-3AA9-1024CF4ECA12}"/>
              </a:ext>
            </a:extLst>
          </p:cNvPr>
          <p:cNvPicPr>
            <a:picLocks noChangeAspect="1"/>
          </p:cNvPicPr>
          <p:nvPr/>
        </p:nvPicPr>
        <p:blipFill>
          <a:blip r:embed="rId2"/>
          <a:stretch>
            <a:fillRect/>
          </a:stretch>
        </p:blipFill>
        <p:spPr>
          <a:xfrm>
            <a:off x="7334605" y="1607344"/>
            <a:ext cx="3190166" cy="4393407"/>
          </a:xfrm>
          <a:prstGeom prst="rect">
            <a:avLst/>
          </a:prstGeom>
        </p:spPr>
      </p:pic>
      <p:sp>
        <p:nvSpPr>
          <p:cNvPr id="10" name="TextBox 9">
            <a:extLst>
              <a:ext uri="{FF2B5EF4-FFF2-40B4-BE49-F238E27FC236}">
                <a16:creationId xmlns:a16="http://schemas.microsoft.com/office/drawing/2014/main" id="{6F36A113-F1DC-6CD8-7AFE-9DB5A4D2132C}"/>
              </a:ext>
            </a:extLst>
          </p:cNvPr>
          <p:cNvSpPr txBox="1"/>
          <p:nvPr/>
        </p:nvSpPr>
        <p:spPr>
          <a:xfrm>
            <a:off x="7334605" y="5934684"/>
            <a:ext cx="3525252" cy="3770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50" b="1"/>
              <a:t>Fig 6.1 </a:t>
            </a:r>
            <a:r>
              <a:rPr lang="en-US" sz="1850"/>
              <a:t>Nose Cone</a:t>
            </a:r>
            <a:endParaRPr lang="en-US" sz="1850">
              <a:solidFill>
                <a:srgbClr val="000000"/>
              </a:solidFill>
            </a:endParaRPr>
          </a:p>
        </p:txBody>
      </p:sp>
    </p:spTree>
    <p:extLst>
      <p:ext uri="{BB962C8B-B14F-4D97-AF65-F5344CB8AC3E}">
        <p14:creationId xmlns:p14="http://schemas.microsoft.com/office/powerpoint/2010/main" val="78552109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026505-8976-9451-85DC-0C40BFE6943C}"/>
              </a:ext>
            </a:extLst>
          </p:cNvPr>
          <p:cNvSpPr>
            <a:spLocks noGrp="1"/>
          </p:cNvSpPr>
          <p:nvPr>
            <p:ph type="body" sz="quarter" idx="15"/>
          </p:nvPr>
        </p:nvSpPr>
        <p:spPr>
          <a:xfrm>
            <a:off x="838199" y="1969476"/>
            <a:ext cx="5257801" cy="4033401"/>
          </a:xfrm>
        </p:spPr>
        <p:txBody>
          <a:bodyPr vert="horz" lIns="91440" tIns="45720" rIns="91440" bIns="45720" numCol="1" spcCol="457200" rtlCol="0" anchor="t">
            <a:noAutofit/>
          </a:bodyPr>
          <a:lstStyle/>
          <a:p>
            <a:pPr marL="380365" indent="-258445"/>
            <a:r>
              <a:rPr lang="en-US" sz="1850">
                <a:ea typeface="Source Sans Pro"/>
              </a:rPr>
              <a:t>Root Chord: 8 in</a:t>
            </a:r>
            <a:endParaRPr lang="en-US" sz="1850">
              <a:ea typeface="Source Sans Pro"/>
              <a:cs typeface="Calibri"/>
            </a:endParaRPr>
          </a:p>
          <a:p>
            <a:pPr marL="380365" indent="-258445"/>
            <a:r>
              <a:rPr lang="en-US" sz="1850">
                <a:ea typeface="Source Sans Pro"/>
              </a:rPr>
              <a:t>Tip Chord: 7 in</a:t>
            </a:r>
            <a:endParaRPr lang="en-US" sz="2000">
              <a:highlight>
                <a:srgbClr val="FFFF00"/>
              </a:highlight>
              <a:ea typeface="Source Sans Pro"/>
              <a:cs typeface="Calibri" panose="020F0502020204030204"/>
            </a:endParaRPr>
          </a:p>
          <a:p>
            <a:pPr marL="380365" indent="-258445"/>
            <a:r>
              <a:rPr lang="en-US" sz="1850">
                <a:ea typeface="Source Sans Pro"/>
              </a:rPr>
              <a:t>Height: 5.5 in</a:t>
            </a:r>
            <a:endParaRPr lang="en-US" sz="2000">
              <a:highlight>
                <a:srgbClr val="FFFF00"/>
              </a:highlight>
              <a:ea typeface="Source Sans Pro"/>
              <a:cs typeface="Calibri" panose="020F0502020204030204"/>
            </a:endParaRPr>
          </a:p>
          <a:p>
            <a:pPr marL="380365" indent="-258445"/>
            <a:r>
              <a:rPr lang="en-US" sz="1850">
                <a:ea typeface="Source Sans Pro"/>
              </a:rPr>
              <a:t>Thickness: 0.2 in</a:t>
            </a:r>
            <a:endParaRPr lang="en-US" sz="2000">
              <a:highlight>
                <a:srgbClr val="FFFF00"/>
              </a:highlight>
              <a:ea typeface="Source Sans Pro"/>
              <a:cs typeface="Calibri"/>
            </a:endParaRPr>
          </a:p>
          <a:p>
            <a:pPr marL="380365" indent="-258445"/>
            <a:r>
              <a:rPr lang="en-US" sz="1850">
                <a:ea typeface="Source Sans Pro"/>
              </a:rPr>
              <a:t>Fin Flutter Safety Margin: Mach 1.7</a:t>
            </a:r>
            <a:endParaRPr lang="en-US" sz="2000">
              <a:highlight>
                <a:srgbClr val="FFFF00"/>
              </a:highlight>
              <a:cs typeface="Calibri" panose="020F0502020204030204"/>
            </a:endParaRPr>
          </a:p>
          <a:p>
            <a:pPr marL="380365" indent="-258445"/>
            <a:r>
              <a:rPr lang="en-US" sz="1850">
                <a:ea typeface="Source Sans Pro"/>
              </a:rPr>
              <a:t>Manufacturing Method: prepreg layup and waterjet cut</a:t>
            </a:r>
            <a:endParaRPr lang="en-US" sz="1850">
              <a:ea typeface="Source Sans Pro"/>
              <a:cs typeface="Calibri"/>
            </a:endParaRPr>
          </a:p>
        </p:txBody>
      </p:sp>
      <p:sp>
        <p:nvSpPr>
          <p:cNvPr id="3" name="Footer Placeholder 2">
            <a:extLst>
              <a:ext uri="{FF2B5EF4-FFF2-40B4-BE49-F238E27FC236}">
                <a16:creationId xmlns:a16="http://schemas.microsoft.com/office/drawing/2014/main" id="{F5CA023B-9E2B-38AD-4A3F-88B8691C58ED}"/>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078BFC8A-A1C1-47D2-C55E-AE8A3923F325}"/>
              </a:ext>
            </a:extLst>
          </p:cNvPr>
          <p:cNvSpPr>
            <a:spLocks noGrp="1"/>
          </p:cNvSpPr>
          <p:nvPr>
            <p:ph type="sldNum" sz="quarter" idx="17"/>
          </p:nvPr>
        </p:nvSpPr>
        <p:spPr/>
        <p:txBody>
          <a:bodyPr/>
          <a:lstStyle/>
          <a:p>
            <a:r>
              <a:rPr lang="en-US"/>
              <a:t>/   </a:t>
            </a:r>
            <a:fld id="{6C7E6F33-74EE-5541-8108-8353B402F8C1}" type="slidenum">
              <a:rPr lang="en-US" smtClean="0"/>
              <a:pPr/>
              <a:t>62</a:t>
            </a:fld>
            <a:endParaRPr lang="en-US"/>
          </a:p>
        </p:txBody>
      </p:sp>
      <p:sp>
        <p:nvSpPr>
          <p:cNvPr id="5" name="Title 4">
            <a:extLst>
              <a:ext uri="{FF2B5EF4-FFF2-40B4-BE49-F238E27FC236}">
                <a16:creationId xmlns:a16="http://schemas.microsoft.com/office/drawing/2014/main" id="{74DAA1E6-356E-9D6B-0200-12660F07011A}"/>
              </a:ext>
            </a:extLst>
          </p:cNvPr>
          <p:cNvSpPr>
            <a:spLocks noGrp="1"/>
          </p:cNvSpPr>
          <p:nvPr>
            <p:ph type="title"/>
          </p:nvPr>
        </p:nvSpPr>
        <p:spPr/>
        <p:txBody>
          <a:bodyPr/>
          <a:lstStyle/>
          <a:p>
            <a:r>
              <a:rPr lang="en-US"/>
              <a:t>Aerodynamics</a:t>
            </a:r>
          </a:p>
        </p:txBody>
      </p:sp>
      <p:sp>
        <p:nvSpPr>
          <p:cNvPr id="6" name="Text Placeholder 5">
            <a:extLst>
              <a:ext uri="{FF2B5EF4-FFF2-40B4-BE49-F238E27FC236}">
                <a16:creationId xmlns:a16="http://schemas.microsoft.com/office/drawing/2014/main" id="{185C88CA-83C7-5948-921A-6D170B5BDE2B}"/>
              </a:ext>
            </a:extLst>
          </p:cNvPr>
          <p:cNvSpPr>
            <a:spLocks noGrp="1"/>
          </p:cNvSpPr>
          <p:nvPr>
            <p:ph type="body" sz="quarter" idx="13"/>
          </p:nvPr>
        </p:nvSpPr>
        <p:spPr/>
        <p:txBody>
          <a:bodyPr/>
          <a:lstStyle/>
          <a:p>
            <a:r>
              <a:rPr lang="en-US"/>
              <a:t>Fins</a:t>
            </a:r>
          </a:p>
        </p:txBody>
      </p:sp>
      <p:pic>
        <p:nvPicPr>
          <p:cNvPr id="7" name="Picture 6">
            <a:extLst>
              <a:ext uri="{FF2B5EF4-FFF2-40B4-BE49-F238E27FC236}">
                <a16:creationId xmlns:a16="http://schemas.microsoft.com/office/drawing/2014/main" id="{BCDD720D-82D3-2261-8E8F-FD8C3C0842D1}"/>
              </a:ext>
            </a:extLst>
          </p:cNvPr>
          <p:cNvPicPr>
            <a:picLocks noChangeAspect="1"/>
          </p:cNvPicPr>
          <p:nvPr/>
        </p:nvPicPr>
        <p:blipFill>
          <a:blip r:embed="rId2"/>
          <a:stretch>
            <a:fillRect/>
          </a:stretch>
        </p:blipFill>
        <p:spPr>
          <a:xfrm>
            <a:off x="7315477" y="1761613"/>
            <a:ext cx="3247368" cy="3342968"/>
          </a:xfrm>
          <a:prstGeom prst="rect">
            <a:avLst/>
          </a:prstGeom>
        </p:spPr>
      </p:pic>
      <p:sp>
        <p:nvSpPr>
          <p:cNvPr id="9" name="TextBox 8">
            <a:extLst>
              <a:ext uri="{FF2B5EF4-FFF2-40B4-BE49-F238E27FC236}">
                <a16:creationId xmlns:a16="http://schemas.microsoft.com/office/drawing/2014/main" id="{259D65A2-9081-5FE9-C43B-D0FFD364B2A5}"/>
              </a:ext>
            </a:extLst>
          </p:cNvPr>
          <p:cNvSpPr txBox="1"/>
          <p:nvPr/>
        </p:nvSpPr>
        <p:spPr>
          <a:xfrm>
            <a:off x="6311900" y="5154311"/>
            <a:ext cx="6096000" cy="369332"/>
          </a:xfrm>
          <a:prstGeom prst="rect">
            <a:avLst/>
          </a:prstGeom>
          <a:noFill/>
        </p:spPr>
        <p:txBody>
          <a:bodyPr wrap="square">
            <a:spAutoFit/>
          </a:bodyPr>
          <a:lstStyle/>
          <a:p>
            <a:pPr algn="ctr"/>
            <a:r>
              <a:rPr lang="en-US" sz="1800" b="1"/>
              <a:t>Fig 6.2 </a:t>
            </a:r>
            <a:r>
              <a:rPr lang="en-US" b="1"/>
              <a:t>Fin</a:t>
            </a:r>
            <a:endParaRPr lang="en-US" sz="1800">
              <a:solidFill>
                <a:srgbClr val="000000"/>
              </a:solidFill>
            </a:endParaRPr>
          </a:p>
        </p:txBody>
      </p:sp>
    </p:spTree>
    <p:extLst>
      <p:ext uri="{BB962C8B-B14F-4D97-AF65-F5344CB8AC3E}">
        <p14:creationId xmlns:p14="http://schemas.microsoft.com/office/powerpoint/2010/main" val="29671354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9DB0102-DE1A-F22C-045E-0E9B28509D46}"/>
              </a:ext>
            </a:extLst>
          </p:cNvPr>
          <p:cNvSpPr>
            <a:spLocks noGrp="1"/>
          </p:cNvSpPr>
          <p:nvPr>
            <p:ph type="body" sz="quarter" idx="15"/>
          </p:nvPr>
        </p:nvSpPr>
        <p:spPr/>
        <p:txBody>
          <a:bodyPr vert="horz" lIns="91440" tIns="45720" rIns="91440" bIns="45720" numCol="2" spcCol="457200" rtlCol="0" anchor="t">
            <a:noAutofit/>
          </a:bodyPr>
          <a:lstStyle/>
          <a:p>
            <a:pPr marL="380365" indent="-258445"/>
            <a:r>
              <a:rPr lang="en-US" sz="1850">
                <a:ea typeface="Source Sans Pro"/>
                <a:cs typeface="Calibri"/>
              </a:rPr>
              <a:t>Length:9.6 in</a:t>
            </a:r>
          </a:p>
          <a:p>
            <a:pPr marL="380365" indent="-258445"/>
            <a:r>
              <a:rPr lang="en-US" sz="1850">
                <a:ea typeface="Source Sans Pro"/>
                <a:cs typeface="Calibri"/>
              </a:rPr>
              <a:t>Outer Diameter: 6.0 in</a:t>
            </a:r>
            <a:endParaRPr lang="en-US" sz="1850">
              <a:cs typeface="Calibri" panose="020F0502020204030204"/>
            </a:endParaRPr>
          </a:p>
          <a:p>
            <a:pPr marL="380365" indent="-258445"/>
            <a:r>
              <a:rPr lang="en-US" sz="1850">
                <a:ea typeface="Source Sans Pro"/>
                <a:cs typeface="Calibri" panose="020F0502020204030204"/>
              </a:rPr>
              <a:t>Inner Diameter: 5.75 in</a:t>
            </a:r>
          </a:p>
          <a:p>
            <a:pPr marL="380365" indent="-258445"/>
            <a:r>
              <a:rPr lang="en-US" sz="1850">
                <a:ea typeface="Source Sans Pro"/>
                <a:cs typeface="Calibri" panose="020F0502020204030204"/>
              </a:rPr>
              <a:t>Manufacturing Method: carbon fiber wet layup</a:t>
            </a:r>
            <a:endParaRPr lang="en-US" sz="1850">
              <a:cs typeface="Calibri" panose="020F0502020204030204"/>
            </a:endParaRPr>
          </a:p>
          <a:p>
            <a:pPr marL="380365" indent="-258445"/>
            <a:endParaRPr lang="en-US" sz="1850">
              <a:cs typeface="Calibri" panose="020F0502020204030204"/>
            </a:endParaRPr>
          </a:p>
          <a:p>
            <a:pPr marL="121920" indent="0">
              <a:buNone/>
            </a:pPr>
            <a:endParaRPr lang="en-US" sz="1850">
              <a:cs typeface="Calibri" panose="020F0502020204030204"/>
            </a:endParaRPr>
          </a:p>
        </p:txBody>
      </p:sp>
      <p:sp>
        <p:nvSpPr>
          <p:cNvPr id="3" name="Footer Placeholder 2">
            <a:extLst>
              <a:ext uri="{FF2B5EF4-FFF2-40B4-BE49-F238E27FC236}">
                <a16:creationId xmlns:a16="http://schemas.microsoft.com/office/drawing/2014/main" id="{51CF864A-821F-19A2-1DB1-B560E00ACFB9}"/>
              </a:ext>
            </a:extLst>
          </p:cNvPr>
          <p:cNvSpPr>
            <a:spLocks noGrp="1"/>
          </p:cNvSpPr>
          <p:nvPr>
            <p:ph type="ftr" sz="quarter" idx="16"/>
          </p:nvPr>
        </p:nvSpPr>
        <p:spPr/>
        <p:txBody>
          <a:bodyPr/>
          <a:lstStyle/>
          <a:p>
            <a:r>
              <a:rPr lang="en-US"/>
              <a:t>TEMPLATE (WRITE IN ALL CAPS)</a:t>
            </a:r>
          </a:p>
        </p:txBody>
      </p:sp>
      <p:sp>
        <p:nvSpPr>
          <p:cNvPr id="4" name="Slide Number Placeholder 3">
            <a:extLst>
              <a:ext uri="{FF2B5EF4-FFF2-40B4-BE49-F238E27FC236}">
                <a16:creationId xmlns:a16="http://schemas.microsoft.com/office/drawing/2014/main" id="{69684747-F02E-5422-0C00-005E44FB193D}"/>
              </a:ext>
            </a:extLst>
          </p:cNvPr>
          <p:cNvSpPr>
            <a:spLocks noGrp="1"/>
          </p:cNvSpPr>
          <p:nvPr>
            <p:ph type="sldNum" sz="quarter" idx="17"/>
          </p:nvPr>
        </p:nvSpPr>
        <p:spPr/>
        <p:txBody>
          <a:bodyPr/>
          <a:lstStyle/>
          <a:p>
            <a:r>
              <a:rPr lang="en-US"/>
              <a:t>/   </a:t>
            </a:r>
            <a:fld id="{6C7E6F33-74EE-5541-8108-8353B402F8C1}" type="slidenum">
              <a:rPr lang="en-US" smtClean="0"/>
              <a:pPr/>
              <a:t>63</a:t>
            </a:fld>
            <a:endParaRPr lang="en-US"/>
          </a:p>
        </p:txBody>
      </p:sp>
      <p:sp>
        <p:nvSpPr>
          <p:cNvPr id="5" name="Title 4">
            <a:extLst>
              <a:ext uri="{FF2B5EF4-FFF2-40B4-BE49-F238E27FC236}">
                <a16:creationId xmlns:a16="http://schemas.microsoft.com/office/drawing/2014/main" id="{B20E3D16-25BA-5173-FFEB-3233CF85C946}"/>
              </a:ext>
            </a:extLst>
          </p:cNvPr>
          <p:cNvSpPr>
            <a:spLocks noGrp="1"/>
          </p:cNvSpPr>
          <p:nvPr>
            <p:ph type="title"/>
          </p:nvPr>
        </p:nvSpPr>
        <p:spPr/>
        <p:txBody>
          <a:bodyPr/>
          <a:lstStyle/>
          <a:p>
            <a:r>
              <a:rPr lang="en-US">
                <a:latin typeface="Munistic"/>
              </a:rPr>
              <a:t>Aerodynamics</a:t>
            </a:r>
            <a:endParaRPr lang="en-US"/>
          </a:p>
        </p:txBody>
      </p:sp>
      <p:sp>
        <p:nvSpPr>
          <p:cNvPr id="6" name="Text Placeholder 5">
            <a:extLst>
              <a:ext uri="{FF2B5EF4-FFF2-40B4-BE49-F238E27FC236}">
                <a16:creationId xmlns:a16="http://schemas.microsoft.com/office/drawing/2014/main" id="{E6A50882-3D5D-9572-D9C2-8D1AFC80D922}"/>
              </a:ext>
            </a:extLst>
          </p:cNvPr>
          <p:cNvSpPr>
            <a:spLocks noGrp="1"/>
          </p:cNvSpPr>
          <p:nvPr>
            <p:ph type="body" sz="quarter" idx="13"/>
          </p:nvPr>
        </p:nvSpPr>
        <p:spPr/>
        <p:txBody>
          <a:bodyPr/>
          <a:lstStyle/>
          <a:p>
            <a:r>
              <a:rPr lang="en-US" sz="1850">
                <a:ea typeface="Source Sans Pro"/>
                <a:cs typeface="Calibri"/>
              </a:rPr>
              <a:t>Fin Adapter</a:t>
            </a:r>
            <a:endParaRPr lang="en-US"/>
          </a:p>
        </p:txBody>
      </p:sp>
      <p:pic>
        <p:nvPicPr>
          <p:cNvPr id="7" name="Picture 6" descr="A drawing of a metal object&#10;&#10;AI-generated content may be incorrect.">
            <a:extLst>
              <a:ext uri="{FF2B5EF4-FFF2-40B4-BE49-F238E27FC236}">
                <a16:creationId xmlns:a16="http://schemas.microsoft.com/office/drawing/2014/main" id="{A125F72B-34F0-93AF-FE00-9329A511612F}"/>
              </a:ext>
            </a:extLst>
          </p:cNvPr>
          <p:cNvPicPr>
            <a:picLocks noChangeAspect="1"/>
          </p:cNvPicPr>
          <p:nvPr/>
        </p:nvPicPr>
        <p:blipFill>
          <a:blip r:embed="rId2"/>
          <a:stretch>
            <a:fillRect/>
          </a:stretch>
        </p:blipFill>
        <p:spPr>
          <a:xfrm>
            <a:off x="6815677" y="2146709"/>
            <a:ext cx="4246970" cy="3687097"/>
          </a:xfrm>
          <a:prstGeom prst="rect">
            <a:avLst/>
          </a:prstGeom>
        </p:spPr>
      </p:pic>
      <p:sp>
        <p:nvSpPr>
          <p:cNvPr id="9" name="TextBox 8">
            <a:extLst>
              <a:ext uri="{FF2B5EF4-FFF2-40B4-BE49-F238E27FC236}">
                <a16:creationId xmlns:a16="http://schemas.microsoft.com/office/drawing/2014/main" id="{E265D440-14CA-065B-EF1E-EAF040BD101B}"/>
              </a:ext>
            </a:extLst>
          </p:cNvPr>
          <p:cNvSpPr txBox="1"/>
          <p:nvPr/>
        </p:nvSpPr>
        <p:spPr>
          <a:xfrm>
            <a:off x="5885330" y="5833806"/>
            <a:ext cx="6096000" cy="369332"/>
          </a:xfrm>
          <a:prstGeom prst="rect">
            <a:avLst/>
          </a:prstGeom>
          <a:noFill/>
        </p:spPr>
        <p:txBody>
          <a:bodyPr wrap="square">
            <a:spAutoFit/>
          </a:bodyPr>
          <a:lstStyle/>
          <a:p>
            <a:pPr algn="ctr"/>
            <a:r>
              <a:rPr lang="en-US" sz="1800" b="1"/>
              <a:t>Fig 6.3 </a:t>
            </a:r>
            <a:r>
              <a:rPr lang="en-US" sz="1800"/>
              <a:t>Fin Can</a:t>
            </a:r>
            <a:endParaRPr lang="en-US" sz="1800">
              <a:solidFill>
                <a:srgbClr val="000000"/>
              </a:solidFill>
            </a:endParaRPr>
          </a:p>
        </p:txBody>
      </p:sp>
    </p:spTree>
    <p:extLst>
      <p:ext uri="{BB962C8B-B14F-4D97-AF65-F5344CB8AC3E}">
        <p14:creationId xmlns:p14="http://schemas.microsoft.com/office/powerpoint/2010/main" val="32144566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888F2-ADAB-D9AF-34B4-D2412F6E739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F195F65-4026-D226-9EF2-E597BC11EEAC}"/>
              </a:ext>
            </a:extLst>
          </p:cNvPr>
          <p:cNvSpPr>
            <a:spLocks noGrp="1"/>
          </p:cNvSpPr>
          <p:nvPr>
            <p:ph type="body" sz="quarter" idx="15"/>
          </p:nvPr>
        </p:nvSpPr>
        <p:spPr>
          <a:xfrm>
            <a:off x="838199" y="1969476"/>
            <a:ext cx="9770807" cy="4171540"/>
          </a:xfrm>
        </p:spPr>
        <p:txBody>
          <a:bodyPr vert="horz" lIns="91440" tIns="45720" rIns="91440" bIns="45720" numCol="1" spcCol="457200" rtlCol="0" anchor="t">
            <a:noAutofit/>
          </a:bodyPr>
          <a:lstStyle/>
          <a:p>
            <a:r>
              <a:rPr lang="en-US" sz="2000" b="1"/>
              <a:t>Aerodynamic Analysis Goals</a:t>
            </a:r>
          </a:p>
          <a:p>
            <a:pPr marL="742939" lvl="1" indent="-285750">
              <a:buFont typeface="Courier New" panose="02070309020205020404" pitchFamily="49" charset="0"/>
              <a:buChar char="o"/>
            </a:pPr>
            <a:r>
              <a:rPr lang="en-US" sz="1800"/>
              <a:t>Predict drag coefficient trends across the expected Mach range</a:t>
            </a:r>
          </a:p>
          <a:p>
            <a:pPr marL="742939" lvl="1" indent="-285750">
              <a:buFont typeface="Courier New" panose="02070309020205020404" pitchFamily="49" charset="0"/>
              <a:buChar char="o"/>
            </a:pPr>
            <a:r>
              <a:rPr lang="en-US" sz="1800"/>
              <a:t>Compare CFD-derived drag to </a:t>
            </a:r>
            <a:r>
              <a:rPr lang="en-US" sz="1800" err="1"/>
              <a:t>OpenRocket</a:t>
            </a:r>
            <a:r>
              <a:rPr lang="en-US" sz="1800"/>
              <a:t> and </a:t>
            </a:r>
            <a:r>
              <a:rPr lang="en-US" sz="1800" err="1"/>
              <a:t>RASAero</a:t>
            </a:r>
            <a:r>
              <a:rPr lang="en-US" sz="1800"/>
              <a:t> models</a:t>
            </a:r>
          </a:p>
          <a:p>
            <a:pPr marL="742939" lvl="1" indent="-285750">
              <a:buFont typeface="Courier New" panose="02070309020205020404" pitchFamily="49" charset="0"/>
              <a:buChar char="o"/>
            </a:pPr>
            <a:r>
              <a:rPr lang="en-US" sz="1800"/>
              <a:t>Quantify sensitivity of trajectory predictions to drag uncertainty</a:t>
            </a:r>
          </a:p>
          <a:p>
            <a:pPr marL="742939" lvl="1" indent="-285750">
              <a:buFont typeface="Arial" panose="020B0604020202020204" pitchFamily="34" charset="0"/>
              <a:buChar char="•"/>
            </a:pPr>
            <a:endParaRPr lang="en-US"/>
          </a:p>
          <a:p>
            <a:pPr marL="380365" indent="-258445"/>
            <a:endParaRPr lang="en-US" sz="1850">
              <a:ea typeface="Source Sans Pro"/>
              <a:cs typeface="Calibri"/>
            </a:endParaRPr>
          </a:p>
        </p:txBody>
      </p:sp>
      <p:sp>
        <p:nvSpPr>
          <p:cNvPr id="3" name="Footer Placeholder 2">
            <a:extLst>
              <a:ext uri="{FF2B5EF4-FFF2-40B4-BE49-F238E27FC236}">
                <a16:creationId xmlns:a16="http://schemas.microsoft.com/office/drawing/2014/main" id="{6246E17E-6DBC-F6E5-8D80-AC69A6B31D30}"/>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95577440-560B-7B16-1A6A-224CB2FC92AF}"/>
              </a:ext>
            </a:extLst>
          </p:cNvPr>
          <p:cNvSpPr>
            <a:spLocks noGrp="1"/>
          </p:cNvSpPr>
          <p:nvPr>
            <p:ph type="sldNum" sz="quarter" idx="17"/>
          </p:nvPr>
        </p:nvSpPr>
        <p:spPr/>
        <p:txBody>
          <a:bodyPr/>
          <a:lstStyle/>
          <a:p>
            <a:r>
              <a:rPr lang="en-US"/>
              <a:t>/   </a:t>
            </a:r>
            <a:fld id="{6C7E6F33-74EE-5541-8108-8353B402F8C1}" type="slidenum">
              <a:rPr lang="en-US" smtClean="0"/>
              <a:pPr/>
              <a:t>64</a:t>
            </a:fld>
            <a:endParaRPr lang="en-US"/>
          </a:p>
        </p:txBody>
      </p:sp>
      <p:sp>
        <p:nvSpPr>
          <p:cNvPr id="5" name="Title 4">
            <a:extLst>
              <a:ext uri="{FF2B5EF4-FFF2-40B4-BE49-F238E27FC236}">
                <a16:creationId xmlns:a16="http://schemas.microsoft.com/office/drawing/2014/main" id="{1E593028-6476-D231-5E3B-3C8822B1F606}"/>
              </a:ext>
            </a:extLst>
          </p:cNvPr>
          <p:cNvSpPr>
            <a:spLocks noGrp="1"/>
          </p:cNvSpPr>
          <p:nvPr>
            <p:ph type="title"/>
          </p:nvPr>
        </p:nvSpPr>
        <p:spPr/>
        <p:txBody>
          <a:bodyPr/>
          <a:lstStyle/>
          <a:p>
            <a:r>
              <a:rPr lang="en-US"/>
              <a:t>Star-CCM+ CFD </a:t>
            </a:r>
          </a:p>
        </p:txBody>
      </p:sp>
    </p:spTree>
    <p:extLst>
      <p:ext uri="{BB962C8B-B14F-4D97-AF65-F5344CB8AC3E}">
        <p14:creationId xmlns:p14="http://schemas.microsoft.com/office/powerpoint/2010/main" val="13061425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E7321-1DF7-C54B-BF2E-3DF27D58148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8FF1E99-C3EC-F4CF-5F71-8699C3579ADF}"/>
              </a:ext>
            </a:extLst>
          </p:cNvPr>
          <p:cNvSpPr>
            <a:spLocks noGrp="1"/>
          </p:cNvSpPr>
          <p:nvPr>
            <p:ph type="body" sz="quarter" idx="15"/>
          </p:nvPr>
        </p:nvSpPr>
        <p:spPr>
          <a:xfrm>
            <a:off x="838199" y="1739252"/>
            <a:ext cx="9770807" cy="4171540"/>
          </a:xfrm>
        </p:spPr>
        <p:txBody>
          <a:bodyPr vert="horz" lIns="91440" tIns="45720" rIns="91440" bIns="45720" numCol="1" spcCol="457200" rtlCol="0" anchor="t">
            <a:noAutofit/>
          </a:bodyPr>
          <a:lstStyle/>
          <a:p>
            <a:pPr marL="380365" indent="-258445"/>
            <a:r>
              <a:rPr lang="en-US" sz="1850" b="1">
                <a:ea typeface="Source Sans Pro"/>
              </a:rPr>
              <a:t>Flow &amp; Solver Setup</a:t>
            </a:r>
            <a:endParaRPr lang="en-US" sz="1850">
              <a:ea typeface="Source Sans Pro"/>
              <a:cs typeface="Calibri" panose="020F0502020204030204"/>
            </a:endParaRPr>
          </a:p>
          <a:p>
            <a:pPr marL="742315" lvl="1" indent="-285750">
              <a:buFont typeface="Courier New" panose="02070309020205020404" pitchFamily="49" charset="0"/>
              <a:buChar char="o"/>
            </a:pPr>
            <a:r>
              <a:rPr lang="en-US">
                <a:ea typeface="Source Sans Pro"/>
              </a:rPr>
              <a:t>3D Flow, Compressible RANS</a:t>
            </a:r>
            <a:endParaRPr lang="en-US">
              <a:ea typeface="Source Sans Pro"/>
              <a:cs typeface="Calibri"/>
            </a:endParaRPr>
          </a:p>
          <a:p>
            <a:pPr marL="742315" lvl="1" indent="-285750">
              <a:buFont typeface="Courier New" panose="02070309020205020404" pitchFamily="49" charset="0"/>
              <a:buChar char="o"/>
            </a:pPr>
            <a:r>
              <a:rPr lang="en-US">
                <a:ea typeface="Source Sans Pro"/>
              </a:rPr>
              <a:t>Steady-state simulations</a:t>
            </a:r>
            <a:endParaRPr lang="en-US">
              <a:ea typeface="Source Sans Pro"/>
              <a:cs typeface="Calibri"/>
            </a:endParaRPr>
          </a:p>
          <a:p>
            <a:pPr marL="742315" lvl="1" indent="-285750">
              <a:buFont typeface="Courier New" panose="02070309020205020404" pitchFamily="49" charset="0"/>
              <a:buChar char="o"/>
            </a:pPr>
            <a:r>
              <a:rPr lang="en-US">
                <a:ea typeface="Source Sans Pro"/>
              </a:rPr>
              <a:t>Ideal gas air model</a:t>
            </a:r>
            <a:endParaRPr lang="en-US">
              <a:ea typeface="Source Sans Pro"/>
              <a:cs typeface="Calibri"/>
            </a:endParaRPr>
          </a:p>
          <a:p>
            <a:pPr marL="742315" lvl="1" indent="-285750">
              <a:buFont typeface="Courier New" panose="02070309020205020404" pitchFamily="49" charset="0"/>
              <a:buChar char="o"/>
            </a:pPr>
            <a:r>
              <a:rPr lang="en-US">
                <a:ea typeface="Source Sans Pro"/>
              </a:rPr>
              <a:t>Turbulence model: k-</a:t>
            </a:r>
            <a:r>
              <a:rPr lang="el-GR">
                <a:ea typeface="Source Sans Pro"/>
              </a:rPr>
              <a:t>ω </a:t>
            </a:r>
            <a:r>
              <a:rPr lang="en-US">
                <a:ea typeface="Source Sans Pro"/>
              </a:rPr>
              <a:t>SST</a:t>
            </a:r>
            <a:endParaRPr lang="en-US">
              <a:ea typeface="Source Sans Pro"/>
              <a:cs typeface="Calibri"/>
            </a:endParaRPr>
          </a:p>
          <a:p>
            <a:pPr marL="380365" indent="-258445"/>
            <a:r>
              <a:rPr lang="en-US" sz="1850" b="1">
                <a:ea typeface="Source Sans Pro"/>
              </a:rPr>
              <a:t>Boundary Conditions</a:t>
            </a:r>
            <a:endParaRPr lang="en-US" sz="1850">
              <a:ea typeface="Source Sans Pro"/>
              <a:cs typeface="Calibri" panose="020F0502020204030204"/>
            </a:endParaRPr>
          </a:p>
          <a:p>
            <a:pPr marL="742315" lvl="1" indent="-285750">
              <a:buFont typeface="Courier New" panose="02070309020205020404" pitchFamily="49" charset="0"/>
              <a:buChar char="o"/>
            </a:pPr>
            <a:r>
              <a:rPr lang="en-US">
                <a:ea typeface="Source Sans Pro"/>
              </a:rPr>
              <a:t>Freestream Mach number prescribed</a:t>
            </a:r>
            <a:endParaRPr lang="en-US">
              <a:ea typeface="Source Sans Pro"/>
              <a:cs typeface="Calibri"/>
            </a:endParaRPr>
          </a:p>
          <a:p>
            <a:pPr marL="742315" lvl="1" indent="-285750">
              <a:buFont typeface="Courier New" panose="02070309020205020404" pitchFamily="49" charset="0"/>
              <a:buChar char="o"/>
            </a:pPr>
            <a:r>
              <a:rPr lang="en-US">
                <a:ea typeface="Source Sans Pro"/>
              </a:rPr>
              <a:t>No-slip wall on rocket surface</a:t>
            </a:r>
            <a:endParaRPr lang="en-US">
              <a:ea typeface="Source Sans Pro"/>
              <a:cs typeface="Calibri"/>
            </a:endParaRPr>
          </a:p>
          <a:p>
            <a:pPr marL="380365" indent="-258445"/>
            <a:r>
              <a:rPr lang="en-US" sz="1850" b="1">
                <a:ea typeface="Source Sans Pro"/>
              </a:rPr>
              <a:t>Simulation Scope</a:t>
            </a:r>
            <a:endParaRPr lang="en-US" sz="1850">
              <a:ea typeface="Source Sans Pro"/>
              <a:cs typeface="Calibri" panose="020F0502020204030204"/>
            </a:endParaRPr>
          </a:p>
          <a:p>
            <a:pPr marL="742315" lvl="1" indent="-285750">
              <a:buFont typeface="Courier New" panose="02070309020205020404" pitchFamily="49" charset="0"/>
              <a:buChar char="o"/>
            </a:pPr>
            <a:r>
              <a:rPr lang="en-US">
                <a:ea typeface="Source Sans Pro"/>
              </a:rPr>
              <a:t>Mach sweep: M = 0.1 -0.8</a:t>
            </a:r>
            <a:endParaRPr lang="en-US">
              <a:ea typeface="Source Sans Pro"/>
              <a:cs typeface="Calibri"/>
            </a:endParaRPr>
          </a:p>
          <a:p>
            <a:pPr marL="742315" lvl="1" indent="-285750">
              <a:buFont typeface="Courier New" panose="02070309020205020404" pitchFamily="49" charset="0"/>
              <a:buChar char="o"/>
            </a:pPr>
            <a:r>
              <a:rPr lang="en-US">
                <a:ea typeface="Source Sans Pro"/>
              </a:rPr>
              <a:t>Primary outputs: drag coefficients</a:t>
            </a:r>
            <a:endParaRPr lang="en-US">
              <a:ea typeface="Source Sans Pro"/>
              <a:cs typeface="Calibri"/>
            </a:endParaRPr>
          </a:p>
          <a:p>
            <a:pPr marL="380365" indent="-258445"/>
            <a:endParaRPr lang="en-US" sz="1850">
              <a:ea typeface="Source Sans Pro"/>
              <a:cs typeface="Calibri"/>
            </a:endParaRPr>
          </a:p>
        </p:txBody>
      </p:sp>
      <p:sp>
        <p:nvSpPr>
          <p:cNvPr id="3" name="Footer Placeholder 2">
            <a:extLst>
              <a:ext uri="{FF2B5EF4-FFF2-40B4-BE49-F238E27FC236}">
                <a16:creationId xmlns:a16="http://schemas.microsoft.com/office/drawing/2014/main" id="{920C7E9D-1A49-5ECC-558C-E9E17F49C515}"/>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0B5818FB-F4B9-1A03-AF19-0DC9F882D031}"/>
              </a:ext>
            </a:extLst>
          </p:cNvPr>
          <p:cNvSpPr>
            <a:spLocks noGrp="1"/>
          </p:cNvSpPr>
          <p:nvPr>
            <p:ph type="sldNum" sz="quarter" idx="17"/>
          </p:nvPr>
        </p:nvSpPr>
        <p:spPr/>
        <p:txBody>
          <a:bodyPr/>
          <a:lstStyle/>
          <a:p>
            <a:r>
              <a:rPr lang="en-US"/>
              <a:t>/   </a:t>
            </a:r>
            <a:fld id="{6C7E6F33-74EE-5541-8108-8353B402F8C1}" type="slidenum">
              <a:rPr lang="en-US" smtClean="0"/>
              <a:pPr/>
              <a:t>65</a:t>
            </a:fld>
            <a:endParaRPr lang="en-US"/>
          </a:p>
        </p:txBody>
      </p:sp>
      <p:sp>
        <p:nvSpPr>
          <p:cNvPr id="5" name="Title 4">
            <a:extLst>
              <a:ext uri="{FF2B5EF4-FFF2-40B4-BE49-F238E27FC236}">
                <a16:creationId xmlns:a16="http://schemas.microsoft.com/office/drawing/2014/main" id="{1E26C914-15EE-53F8-7465-F4C52C1F3925}"/>
              </a:ext>
            </a:extLst>
          </p:cNvPr>
          <p:cNvSpPr>
            <a:spLocks noGrp="1"/>
          </p:cNvSpPr>
          <p:nvPr>
            <p:ph type="title"/>
          </p:nvPr>
        </p:nvSpPr>
        <p:spPr/>
        <p:txBody>
          <a:bodyPr/>
          <a:lstStyle/>
          <a:p>
            <a:r>
              <a:rPr lang="en-US"/>
              <a:t>CFD Models</a:t>
            </a:r>
          </a:p>
        </p:txBody>
      </p:sp>
      <p:pic>
        <p:nvPicPr>
          <p:cNvPr id="8" name="Picture 7">
            <a:extLst>
              <a:ext uri="{FF2B5EF4-FFF2-40B4-BE49-F238E27FC236}">
                <a16:creationId xmlns:a16="http://schemas.microsoft.com/office/drawing/2014/main" id="{C3F8E100-C018-97EE-2184-411AF78016DD}"/>
              </a:ext>
            </a:extLst>
          </p:cNvPr>
          <p:cNvPicPr>
            <a:picLocks noChangeAspect="1"/>
          </p:cNvPicPr>
          <p:nvPr/>
        </p:nvPicPr>
        <p:blipFill>
          <a:blip r:embed="rId2"/>
          <a:srcRect/>
          <a:stretch>
            <a:fillRect/>
          </a:stretch>
        </p:blipFill>
        <p:spPr>
          <a:xfrm>
            <a:off x="5723602" y="1476785"/>
            <a:ext cx="6200453" cy="3993686"/>
          </a:xfrm>
          <a:prstGeom prst="rect">
            <a:avLst/>
          </a:prstGeom>
          <a:ln>
            <a:noFill/>
          </a:ln>
        </p:spPr>
      </p:pic>
      <p:sp>
        <p:nvSpPr>
          <p:cNvPr id="9" name="TextBox 8">
            <a:extLst>
              <a:ext uri="{FF2B5EF4-FFF2-40B4-BE49-F238E27FC236}">
                <a16:creationId xmlns:a16="http://schemas.microsoft.com/office/drawing/2014/main" id="{60FDC178-7F45-BFCA-B90A-C765D92DF9CC}"/>
              </a:ext>
            </a:extLst>
          </p:cNvPr>
          <p:cNvSpPr txBox="1"/>
          <p:nvPr/>
        </p:nvSpPr>
        <p:spPr>
          <a:xfrm>
            <a:off x="5952202" y="3244334"/>
            <a:ext cx="820073" cy="369332"/>
          </a:xfrm>
          <a:prstGeom prst="rect">
            <a:avLst/>
          </a:prstGeom>
          <a:noFill/>
        </p:spPr>
        <p:txBody>
          <a:bodyPr wrap="square" rtlCol="0">
            <a:spAutoFit/>
          </a:bodyPr>
          <a:lstStyle/>
          <a:p>
            <a:r>
              <a:rPr lang="en-US">
                <a:solidFill>
                  <a:schemeClr val="bg1"/>
                </a:solidFill>
              </a:rPr>
              <a:t>Outlet</a:t>
            </a:r>
          </a:p>
        </p:txBody>
      </p:sp>
      <p:sp>
        <p:nvSpPr>
          <p:cNvPr id="10" name="TextBox 9">
            <a:extLst>
              <a:ext uri="{FF2B5EF4-FFF2-40B4-BE49-F238E27FC236}">
                <a16:creationId xmlns:a16="http://schemas.microsoft.com/office/drawing/2014/main" id="{796CE0CE-178C-B719-A40D-85BF76C31E1E}"/>
              </a:ext>
            </a:extLst>
          </p:cNvPr>
          <p:cNvSpPr txBox="1"/>
          <p:nvPr/>
        </p:nvSpPr>
        <p:spPr>
          <a:xfrm>
            <a:off x="11098693" y="3244334"/>
            <a:ext cx="671967" cy="369332"/>
          </a:xfrm>
          <a:prstGeom prst="rect">
            <a:avLst/>
          </a:prstGeom>
          <a:noFill/>
        </p:spPr>
        <p:txBody>
          <a:bodyPr wrap="square" rtlCol="0">
            <a:spAutoFit/>
          </a:bodyPr>
          <a:lstStyle/>
          <a:p>
            <a:r>
              <a:rPr lang="en-US">
                <a:ln w="3175">
                  <a:noFill/>
                </a:ln>
                <a:solidFill>
                  <a:schemeClr val="bg1"/>
                </a:solidFill>
              </a:rPr>
              <a:t>Inlet</a:t>
            </a:r>
          </a:p>
        </p:txBody>
      </p:sp>
      <p:sp>
        <p:nvSpPr>
          <p:cNvPr id="7" name="TextBox 6">
            <a:extLst>
              <a:ext uri="{FF2B5EF4-FFF2-40B4-BE49-F238E27FC236}">
                <a16:creationId xmlns:a16="http://schemas.microsoft.com/office/drawing/2014/main" id="{75133812-0546-AE59-5809-37859FDF9E77}"/>
              </a:ext>
            </a:extLst>
          </p:cNvPr>
          <p:cNvSpPr txBox="1"/>
          <p:nvPr/>
        </p:nvSpPr>
        <p:spPr>
          <a:xfrm>
            <a:off x="5823878" y="5538838"/>
            <a:ext cx="6096000" cy="369332"/>
          </a:xfrm>
          <a:prstGeom prst="rect">
            <a:avLst/>
          </a:prstGeom>
          <a:noFill/>
        </p:spPr>
        <p:txBody>
          <a:bodyPr wrap="square" lIns="91440" tIns="45720" rIns="91440" bIns="45720" anchor="t">
            <a:spAutoFit/>
          </a:bodyPr>
          <a:lstStyle/>
          <a:p>
            <a:pPr algn="ctr"/>
            <a:r>
              <a:rPr lang="en-US" sz="1800" b="1"/>
              <a:t>Fig </a:t>
            </a:r>
            <a:r>
              <a:rPr lang="en-US" b="1"/>
              <a:t>6.4</a:t>
            </a:r>
            <a:r>
              <a:rPr lang="en-US" sz="1800" b="1"/>
              <a:t> </a:t>
            </a:r>
            <a:r>
              <a:rPr lang="en-US"/>
              <a:t>Flow Domain</a:t>
            </a:r>
            <a:endParaRPr lang="en-US" sz="1800"/>
          </a:p>
        </p:txBody>
      </p:sp>
    </p:spTree>
    <p:extLst>
      <p:ext uri="{BB962C8B-B14F-4D97-AF65-F5344CB8AC3E}">
        <p14:creationId xmlns:p14="http://schemas.microsoft.com/office/powerpoint/2010/main" val="8741282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F0BFD-8465-B180-19FC-2B433367B08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40D5918-F594-AB7C-2D8C-44941C1B5D89}"/>
              </a:ext>
            </a:extLst>
          </p:cNvPr>
          <p:cNvSpPr>
            <a:spLocks noGrp="1"/>
          </p:cNvSpPr>
          <p:nvPr>
            <p:ph type="body" sz="quarter" idx="15"/>
          </p:nvPr>
        </p:nvSpPr>
        <p:spPr>
          <a:xfrm>
            <a:off x="838199" y="1969476"/>
            <a:ext cx="9770807" cy="4171540"/>
          </a:xfrm>
        </p:spPr>
        <p:txBody>
          <a:bodyPr vert="horz" lIns="91440" tIns="45720" rIns="91440" bIns="45720" numCol="1" spcCol="457200" rtlCol="0" anchor="t">
            <a:noAutofit/>
          </a:bodyPr>
          <a:lstStyle/>
          <a:p>
            <a:r>
              <a:rPr lang="en-US" b="1"/>
              <a:t>Mesh Parameters</a:t>
            </a:r>
          </a:p>
          <a:p>
            <a:pPr marL="742939" lvl="1" indent="-285750">
              <a:buFont typeface="Courier New" panose="02070309020205020404" pitchFamily="49" charset="0"/>
              <a:buChar char="o"/>
            </a:pPr>
            <a:r>
              <a:rPr lang="en-US"/>
              <a:t>3D Automated Polyhedral Mesh</a:t>
            </a:r>
          </a:p>
          <a:p>
            <a:pPr marL="742939" lvl="1" indent="-285750">
              <a:buFont typeface="Courier New" panose="02070309020205020404" pitchFamily="49" charset="0"/>
              <a:buChar char="o"/>
            </a:pPr>
            <a:r>
              <a:rPr lang="en-US"/>
              <a:t>Near-wall prism layers</a:t>
            </a:r>
            <a:endParaRPr lang="en-US" b="1"/>
          </a:p>
          <a:p>
            <a:r>
              <a:rPr lang="en-US" b="1"/>
              <a:t>Custom Controls</a:t>
            </a:r>
          </a:p>
          <a:p>
            <a:pPr marL="742939" lvl="1" indent="-285750">
              <a:buFont typeface="Courier New" panose="02070309020205020404" pitchFamily="49" charset="0"/>
              <a:buChar char="o"/>
            </a:pPr>
            <a:r>
              <a:rPr lang="en-US"/>
              <a:t>Wake refinement downstream of rocket</a:t>
            </a:r>
          </a:p>
          <a:p>
            <a:pPr marL="742939" lvl="1" indent="-285750">
              <a:buFont typeface="Courier New" panose="02070309020205020404" pitchFamily="49" charset="0"/>
              <a:buChar char="o"/>
            </a:pPr>
            <a:r>
              <a:rPr lang="en-US"/>
              <a:t>Nose Cone Refinement</a:t>
            </a:r>
          </a:p>
          <a:p>
            <a:r>
              <a:rPr lang="en-US" b="1"/>
              <a:t>Grid Convergence</a:t>
            </a:r>
          </a:p>
          <a:p>
            <a:pPr marL="742939" lvl="1" indent="-285750">
              <a:buFont typeface="Courier New" panose="02070309020205020404" pitchFamily="49" charset="0"/>
              <a:buChar char="o"/>
            </a:pPr>
            <a:r>
              <a:rPr lang="en-US"/>
              <a:t>Local refinement studies on wake and nose regions</a:t>
            </a:r>
          </a:p>
          <a:p>
            <a:pPr marL="742939" lvl="1" indent="-285750">
              <a:buFont typeface="Courier New" panose="02070309020205020404" pitchFamily="49" charset="0"/>
              <a:buChar char="o"/>
            </a:pPr>
            <a:r>
              <a:rPr lang="en-US"/>
              <a:t>Global size refinement to verify CD convergence</a:t>
            </a:r>
          </a:p>
          <a:p>
            <a:pPr lvl="1"/>
            <a:endParaRPr lang="en-US" b="1"/>
          </a:p>
          <a:p>
            <a:pPr marL="742939" lvl="1" indent="-285750">
              <a:buFont typeface="Arial" panose="020B0604020202020204" pitchFamily="34" charset="0"/>
              <a:buChar char="•"/>
            </a:pPr>
            <a:endParaRPr lang="en-US"/>
          </a:p>
          <a:p>
            <a:pPr marL="742939" lvl="1" indent="-285750">
              <a:buFont typeface="Arial" panose="020B0604020202020204" pitchFamily="34" charset="0"/>
              <a:buChar char="•"/>
            </a:pPr>
            <a:endParaRPr lang="en-US" sz="2117">
              <a:ea typeface="Source Sans Pro"/>
              <a:cs typeface="Calibri"/>
            </a:endParaRPr>
          </a:p>
        </p:txBody>
      </p:sp>
      <p:sp>
        <p:nvSpPr>
          <p:cNvPr id="3" name="Footer Placeholder 2">
            <a:extLst>
              <a:ext uri="{FF2B5EF4-FFF2-40B4-BE49-F238E27FC236}">
                <a16:creationId xmlns:a16="http://schemas.microsoft.com/office/drawing/2014/main" id="{64A6A4D9-8F0B-E3CD-35C5-D958B5AFC119}"/>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FB297127-A103-B314-BB59-3DE593F96B8E}"/>
              </a:ext>
            </a:extLst>
          </p:cNvPr>
          <p:cNvSpPr>
            <a:spLocks noGrp="1"/>
          </p:cNvSpPr>
          <p:nvPr>
            <p:ph type="sldNum" sz="quarter" idx="17"/>
          </p:nvPr>
        </p:nvSpPr>
        <p:spPr/>
        <p:txBody>
          <a:bodyPr/>
          <a:lstStyle/>
          <a:p>
            <a:r>
              <a:rPr lang="en-US"/>
              <a:t>/   </a:t>
            </a:r>
            <a:fld id="{6C7E6F33-74EE-5541-8108-8353B402F8C1}" type="slidenum">
              <a:rPr lang="en-US" smtClean="0"/>
              <a:pPr/>
              <a:t>66</a:t>
            </a:fld>
            <a:endParaRPr lang="en-US"/>
          </a:p>
        </p:txBody>
      </p:sp>
      <p:sp>
        <p:nvSpPr>
          <p:cNvPr id="5" name="Title 4">
            <a:extLst>
              <a:ext uri="{FF2B5EF4-FFF2-40B4-BE49-F238E27FC236}">
                <a16:creationId xmlns:a16="http://schemas.microsoft.com/office/drawing/2014/main" id="{1C9A04C4-2AB0-A350-2638-03ACCAE5A29B}"/>
              </a:ext>
            </a:extLst>
          </p:cNvPr>
          <p:cNvSpPr>
            <a:spLocks noGrp="1"/>
          </p:cNvSpPr>
          <p:nvPr>
            <p:ph type="title"/>
          </p:nvPr>
        </p:nvSpPr>
        <p:spPr/>
        <p:txBody>
          <a:bodyPr/>
          <a:lstStyle/>
          <a:p>
            <a:r>
              <a:rPr lang="en-US"/>
              <a:t>CFD Mesh</a:t>
            </a:r>
          </a:p>
        </p:txBody>
      </p:sp>
      <p:pic>
        <p:nvPicPr>
          <p:cNvPr id="8" name="Picture 7">
            <a:extLst>
              <a:ext uri="{FF2B5EF4-FFF2-40B4-BE49-F238E27FC236}">
                <a16:creationId xmlns:a16="http://schemas.microsoft.com/office/drawing/2014/main" id="{EA091B6A-DE58-27B2-026F-0968F399B70A}"/>
              </a:ext>
            </a:extLst>
          </p:cNvPr>
          <p:cNvPicPr>
            <a:picLocks noChangeAspect="1"/>
          </p:cNvPicPr>
          <p:nvPr/>
        </p:nvPicPr>
        <p:blipFill>
          <a:blip r:embed="rId2"/>
          <a:stretch>
            <a:fillRect/>
          </a:stretch>
        </p:blipFill>
        <p:spPr>
          <a:xfrm>
            <a:off x="6374778" y="1466922"/>
            <a:ext cx="5284529" cy="2348092"/>
          </a:xfrm>
          <a:prstGeom prst="rect">
            <a:avLst/>
          </a:prstGeom>
        </p:spPr>
      </p:pic>
      <p:pic>
        <p:nvPicPr>
          <p:cNvPr id="10" name="Picture 9">
            <a:extLst>
              <a:ext uri="{FF2B5EF4-FFF2-40B4-BE49-F238E27FC236}">
                <a16:creationId xmlns:a16="http://schemas.microsoft.com/office/drawing/2014/main" id="{46A6C397-CDDD-77B7-C15D-E9F096D6805A}"/>
              </a:ext>
            </a:extLst>
          </p:cNvPr>
          <p:cNvPicPr>
            <a:picLocks noChangeAspect="1"/>
          </p:cNvPicPr>
          <p:nvPr/>
        </p:nvPicPr>
        <p:blipFill>
          <a:blip r:embed="rId3"/>
          <a:srcRect l="4589" r="2287" b="6875"/>
          <a:stretch>
            <a:fillRect/>
          </a:stretch>
        </p:blipFill>
        <p:spPr>
          <a:xfrm>
            <a:off x="6374778" y="3912991"/>
            <a:ext cx="5284530" cy="2288202"/>
          </a:xfrm>
          <a:prstGeom prst="rect">
            <a:avLst/>
          </a:prstGeom>
        </p:spPr>
      </p:pic>
      <p:sp>
        <p:nvSpPr>
          <p:cNvPr id="7" name="TextBox 6">
            <a:extLst>
              <a:ext uri="{FF2B5EF4-FFF2-40B4-BE49-F238E27FC236}">
                <a16:creationId xmlns:a16="http://schemas.microsoft.com/office/drawing/2014/main" id="{41E394A3-BA60-FA65-7241-297793B3A4B1}"/>
              </a:ext>
            </a:extLst>
          </p:cNvPr>
          <p:cNvSpPr txBox="1"/>
          <p:nvPr/>
        </p:nvSpPr>
        <p:spPr>
          <a:xfrm>
            <a:off x="5965540" y="6355174"/>
            <a:ext cx="6096000" cy="369332"/>
          </a:xfrm>
          <a:prstGeom prst="rect">
            <a:avLst/>
          </a:prstGeom>
          <a:noFill/>
        </p:spPr>
        <p:txBody>
          <a:bodyPr wrap="square" lIns="91440" tIns="45720" rIns="91440" bIns="45720" anchor="t">
            <a:spAutoFit/>
          </a:bodyPr>
          <a:lstStyle/>
          <a:p>
            <a:pPr algn="ctr"/>
            <a:r>
              <a:rPr lang="en-US" sz="1800" b="1"/>
              <a:t>Fig </a:t>
            </a:r>
            <a:r>
              <a:rPr lang="en-US" b="1"/>
              <a:t>6.5</a:t>
            </a:r>
            <a:r>
              <a:rPr lang="en-US" sz="1800" b="1"/>
              <a:t> </a:t>
            </a:r>
            <a:r>
              <a:rPr lang="en-US"/>
              <a:t>Rocket Mesh</a:t>
            </a:r>
            <a:endParaRPr lang="en-US" sz="1800"/>
          </a:p>
        </p:txBody>
      </p:sp>
    </p:spTree>
    <p:extLst>
      <p:ext uri="{BB962C8B-B14F-4D97-AF65-F5344CB8AC3E}">
        <p14:creationId xmlns:p14="http://schemas.microsoft.com/office/powerpoint/2010/main" val="407901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B2CD6-F8FC-729D-C1FA-8E4624ECDFA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D67E01D-647B-E8D5-F93E-40068BBBD084}"/>
              </a:ext>
            </a:extLst>
          </p:cNvPr>
          <p:cNvSpPr>
            <a:spLocks noGrp="1"/>
          </p:cNvSpPr>
          <p:nvPr>
            <p:ph type="ftr" sz="quarter" idx="16"/>
          </p:nvPr>
        </p:nvSpPr>
        <p:spPr/>
        <p:txBody>
          <a:bodyPr/>
          <a:lstStyle/>
          <a:p>
            <a:r>
              <a:rPr lang="en-US" sz="900">
                <a:latin typeface="Source Sans Pro"/>
                <a:ea typeface="Source Sans Pro"/>
              </a:rPr>
              <a:t>ARCHERFISH PDR</a:t>
            </a:r>
            <a:endParaRPr lang="en-US"/>
          </a:p>
        </p:txBody>
      </p:sp>
      <p:sp>
        <p:nvSpPr>
          <p:cNvPr id="4" name="Slide Number Placeholder 3">
            <a:extLst>
              <a:ext uri="{FF2B5EF4-FFF2-40B4-BE49-F238E27FC236}">
                <a16:creationId xmlns:a16="http://schemas.microsoft.com/office/drawing/2014/main" id="{74DACFEC-89A4-9C69-FC9F-ACD6255BEE4F}"/>
              </a:ext>
            </a:extLst>
          </p:cNvPr>
          <p:cNvSpPr>
            <a:spLocks noGrp="1"/>
          </p:cNvSpPr>
          <p:nvPr>
            <p:ph type="sldNum" sz="quarter" idx="17"/>
          </p:nvPr>
        </p:nvSpPr>
        <p:spPr/>
        <p:txBody>
          <a:bodyPr/>
          <a:lstStyle/>
          <a:p>
            <a:r>
              <a:rPr lang="en-US"/>
              <a:t>/   </a:t>
            </a:r>
            <a:fld id="{6C7E6F33-74EE-5541-8108-8353B402F8C1}" type="slidenum">
              <a:rPr lang="en-US" smtClean="0"/>
              <a:pPr/>
              <a:t>67</a:t>
            </a:fld>
            <a:endParaRPr lang="en-US"/>
          </a:p>
        </p:txBody>
      </p:sp>
      <p:sp>
        <p:nvSpPr>
          <p:cNvPr id="5" name="Title 4">
            <a:extLst>
              <a:ext uri="{FF2B5EF4-FFF2-40B4-BE49-F238E27FC236}">
                <a16:creationId xmlns:a16="http://schemas.microsoft.com/office/drawing/2014/main" id="{34C3825A-A338-4AA7-91C9-1D897E5906D3}"/>
              </a:ext>
            </a:extLst>
          </p:cNvPr>
          <p:cNvSpPr>
            <a:spLocks noGrp="1"/>
          </p:cNvSpPr>
          <p:nvPr>
            <p:ph type="title"/>
          </p:nvPr>
        </p:nvSpPr>
        <p:spPr/>
        <p:txBody>
          <a:bodyPr/>
          <a:lstStyle/>
          <a:p>
            <a:r>
              <a:rPr lang="en-US"/>
              <a:t>CFD Results</a:t>
            </a:r>
          </a:p>
        </p:txBody>
      </p:sp>
      <p:graphicFrame>
        <p:nvGraphicFramePr>
          <p:cNvPr id="8" name="Chart 7">
            <a:extLst>
              <a:ext uri="{FF2B5EF4-FFF2-40B4-BE49-F238E27FC236}">
                <a16:creationId xmlns:a16="http://schemas.microsoft.com/office/drawing/2014/main" id="{720DF57A-F705-7139-1782-76EA72F94511}"/>
              </a:ext>
            </a:extLst>
          </p:cNvPr>
          <p:cNvGraphicFramePr>
            <a:graphicFrameLocks/>
          </p:cNvGraphicFramePr>
          <p:nvPr>
            <p:extLst>
              <p:ext uri="{D42A27DB-BD31-4B8C-83A1-F6EECF244321}">
                <p14:modId xmlns:p14="http://schemas.microsoft.com/office/powerpoint/2010/main" val="3923530190"/>
              </p:ext>
            </p:extLst>
          </p:nvPr>
        </p:nvGraphicFramePr>
        <p:xfrm>
          <a:off x="1543277" y="1504951"/>
          <a:ext cx="9105446" cy="4981574"/>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9287FE2E-D281-F585-43C9-16B46EB4EA57}"/>
              </a:ext>
            </a:extLst>
          </p:cNvPr>
          <p:cNvSpPr txBox="1"/>
          <p:nvPr/>
        </p:nvSpPr>
        <p:spPr>
          <a:xfrm>
            <a:off x="3451847" y="5981290"/>
            <a:ext cx="6096000" cy="369332"/>
          </a:xfrm>
          <a:prstGeom prst="rect">
            <a:avLst/>
          </a:prstGeom>
          <a:noFill/>
        </p:spPr>
        <p:txBody>
          <a:bodyPr wrap="square" lIns="91440" tIns="45720" rIns="91440" bIns="45720" anchor="t">
            <a:spAutoFit/>
          </a:bodyPr>
          <a:lstStyle/>
          <a:p>
            <a:pPr algn="ctr"/>
            <a:r>
              <a:rPr lang="en-US" sz="1800" b="1"/>
              <a:t>Fig </a:t>
            </a:r>
            <a:r>
              <a:rPr lang="en-US" b="1"/>
              <a:t>6.6 </a:t>
            </a:r>
            <a:r>
              <a:rPr lang="en-US"/>
              <a:t>Drag Comparison</a:t>
            </a:r>
            <a:endParaRPr lang="en-US" sz="1800">
              <a:ea typeface="Calibri"/>
              <a:cs typeface="Calibri"/>
            </a:endParaRPr>
          </a:p>
        </p:txBody>
      </p:sp>
    </p:spTree>
    <p:extLst>
      <p:ext uri="{BB962C8B-B14F-4D97-AF65-F5344CB8AC3E}">
        <p14:creationId xmlns:p14="http://schemas.microsoft.com/office/powerpoint/2010/main" val="6928403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7057F-FE55-48FA-FD99-8DB2E5DF52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1C1249-3AB9-CAA9-AB26-25F0914D373B}"/>
              </a:ext>
            </a:extLst>
          </p:cNvPr>
          <p:cNvSpPr>
            <a:spLocks noGrp="1"/>
          </p:cNvSpPr>
          <p:nvPr>
            <p:ph type="ftr" sz="quarter" idx="16"/>
          </p:nvPr>
        </p:nvSpPr>
        <p:spPr/>
        <p:txBody>
          <a:bodyPr/>
          <a:lstStyle/>
          <a:p>
            <a:r>
              <a:rPr lang="en-US" sz="900">
                <a:latin typeface="Source Sans Pro"/>
                <a:ea typeface="Source Sans Pro"/>
              </a:rPr>
              <a:t>ARCHERFISH PDR</a:t>
            </a:r>
            <a:endParaRPr lang="en-US"/>
          </a:p>
        </p:txBody>
      </p:sp>
      <p:sp>
        <p:nvSpPr>
          <p:cNvPr id="4" name="Slide Number Placeholder 3">
            <a:extLst>
              <a:ext uri="{FF2B5EF4-FFF2-40B4-BE49-F238E27FC236}">
                <a16:creationId xmlns:a16="http://schemas.microsoft.com/office/drawing/2014/main" id="{9A8D5D7C-15F7-50AE-2431-415396B85473}"/>
              </a:ext>
            </a:extLst>
          </p:cNvPr>
          <p:cNvSpPr>
            <a:spLocks noGrp="1"/>
          </p:cNvSpPr>
          <p:nvPr>
            <p:ph type="sldNum" sz="quarter" idx="17"/>
          </p:nvPr>
        </p:nvSpPr>
        <p:spPr/>
        <p:txBody>
          <a:bodyPr/>
          <a:lstStyle/>
          <a:p>
            <a:r>
              <a:rPr lang="en-US"/>
              <a:t>/   </a:t>
            </a:r>
            <a:fld id="{6C7E6F33-74EE-5541-8108-8353B402F8C1}" type="slidenum">
              <a:rPr lang="en-US" smtClean="0"/>
              <a:pPr/>
              <a:t>68</a:t>
            </a:fld>
            <a:endParaRPr lang="en-US"/>
          </a:p>
        </p:txBody>
      </p:sp>
      <p:sp>
        <p:nvSpPr>
          <p:cNvPr id="5" name="Title 4">
            <a:extLst>
              <a:ext uri="{FF2B5EF4-FFF2-40B4-BE49-F238E27FC236}">
                <a16:creationId xmlns:a16="http://schemas.microsoft.com/office/drawing/2014/main" id="{7CDBF8FE-0FB5-AADC-12BF-2E248FD43B50}"/>
              </a:ext>
            </a:extLst>
          </p:cNvPr>
          <p:cNvSpPr>
            <a:spLocks noGrp="1"/>
          </p:cNvSpPr>
          <p:nvPr>
            <p:ph type="title"/>
          </p:nvPr>
        </p:nvSpPr>
        <p:spPr/>
        <p:txBody>
          <a:bodyPr/>
          <a:lstStyle/>
          <a:p>
            <a:r>
              <a:rPr lang="en-US"/>
              <a:t>Altitude Sensitivity</a:t>
            </a:r>
          </a:p>
        </p:txBody>
      </p:sp>
      <p:pic>
        <p:nvPicPr>
          <p:cNvPr id="14" name="Picture 13">
            <a:extLst>
              <a:ext uri="{FF2B5EF4-FFF2-40B4-BE49-F238E27FC236}">
                <a16:creationId xmlns:a16="http://schemas.microsoft.com/office/drawing/2014/main" id="{6AEE8E06-184D-2078-F366-71B5CEEC0ACF}"/>
              </a:ext>
            </a:extLst>
          </p:cNvPr>
          <p:cNvPicPr>
            <a:picLocks noChangeAspect="1"/>
          </p:cNvPicPr>
          <p:nvPr/>
        </p:nvPicPr>
        <p:blipFill>
          <a:blip r:embed="rId2"/>
          <a:stretch>
            <a:fillRect/>
          </a:stretch>
        </p:blipFill>
        <p:spPr>
          <a:xfrm>
            <a:off x="648156" y="2352674"/>
            <a:ext cx="6900308" cy="3361259"/>
          </a:xfrm>
          <a:prstGeom prst="rect">
            <a:avLst/>
          </a:prstGeom>
        </p:spPr>
      </p:pic>
      <p:sp>
        <p:nvSpPr>
          <p:cNvPr id="15" name="TextBox 14">
            <a:extLst>
              <a:ext uri="{FF2B5EF4-FFF2-40B4-BE49-F238E27FC236}">
                <a16:creationId xmlns:a16="http://schemas.microsoft.com/office/drawing/2014/main" id="{6016735C-919B-25BA-54EE-47E646D55CC6}"/>
              </a:ext>
            </a:extLst>
          </p:cNvPr>
          <p:cNvSpPr txBox="1"/>
          <p:nvPr/>
        </p:nvSpPr>
        <p:spPr>
          <a:xfrm>
            <a:off x="7797161" y="1851120"/>
            <a:ext cx="397349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ea typeface="Calibri"/>
                <a:cs typeface="Calibri"/>
              </a:rPr>
              <a:t>Results</a:t>
            </a:r>
          </a:p>
          <a:p>
            <a:pPr marL="285750" indent="-285750">
              <a:buFont typeface="Arial" panose="020B0604020202020204" pitchFamily="34" charset="0"/>
              <a:buChar char="•"/>
            </a:pPr>
            <a:r>
              <a:rPr lang="en-US" b="1" err="1">
                <a:ea typeface="Calibri"/>
                <a:cs typeface="Calibri"/>
              </a:rPr>
              <a:t>OpenRocket</a:t>
            </a:r>
            <a:r>
              <a:rPr lang="en-US" b="1">
                <a:ea typeface="Calibri"/>
                <a:cs typeface="Calibri"/>
              </a:rPr>
              <a:t> Cd:</a:t>
            </a:r>
          </a:p>
          <a:p>
            <a:pPr marL="742950" lvl="1" indent="-285750">
              <a:buFont typeface="Courier New" panose="02070309020205020404" pitchFamily="49" charset="0"/>
              <a:buChar char="o"/>
            </a:pPr>
            <a:r>
              <a:rPr lang="en-US">
                <a:ea typeface="Calibri"/>
                <a:cs typeface="Calibri"/>
              </a:rPr>
              <a:t>Apogee: 12690 ft</a:t>
            </a:r>
          </a:p>
          <a:p>
            <a:pPr marL="285750" indent="-285750">
              <a:buFont typeface="Arial" panose="020B0604020202020204" pitchFamily="34" charset="0"/>
              <a:buChar char="•"/>
            </a:pPr>
            <a:r>
              <a:rPr lang="en-US" b="1" err="1">
                <a:ea typeface="Calibri"/>
                <a:cs typeface="Calibri"/>
              </a:rPr>
              <a:t>RASAero</a:t>
            </a:r>
            <a:r>
              <a:rPr lang="en-US" b="1">
                <a:ea typeface="Calibri"/>
                <a:cs typeface="Calibri"/>
              </a:rPr>
              <a:t> Cd:</a:t>
            </a:r>
          </a:p>
          <a:p>
            <a:pPr marL="742950" lvl="1" indent="-285750">
              <a:buFont typeface="Courier New" panose="02070309020205020404" pitchFamily="49" charset="0"/>
              <a:buChar char="o"/>
            </a:pPr>
            <a:r>
              <a:rPr lang="en-US">
                <a:ea typeface="Calibri"/>
                <a:cs typeface="Calibri"/>
              </a:rPr>
              <a:t>Apogee: 13745 ft</a:t>
            </a:r>
          </a:p>
          <a:p>
            <a:pPr marL="285750" indent="-285750">
              <a:buFont typeface="Arial" panose="020B0604020202020204" pitchFamily="34" charset="0"/>
              <a:buChar char="•"/>
            </a:pPr>
            <a:r>
              <a:rPr lang="en-US" b="1">
                <a:ea typeface="Calibri"/>
                <a:cs typeface="Calibri"/>
              </a:rPr>
              <a:t>CFD Cd:</a:t>
            </a:r>
          </a:p>
          <a:p>
            <a:pPr marL="742950" lvl="1" indent="-285750">
              <a:buFont typeface="Courier New" panose="02070309020205020404" pitchFamily="49" charset="0"/>
              <a:buChar char="o"/>
            </a:pPr>
            <a:r>
              <a:rPr lang="en-US">
                <a:ea typeface="Calibri"/>
                <a:cs typeface="Calibri"/>
              </a:rPr>
              <a:t>Apogee: 13460 ft</a:t>
            </a:r>
          </a:p>
          <a:p>
            <a:pPr marL="285750" indent="-285750">
              <a:buFont typeface="Arial" panose="020B0604020202020204" pitchFamily="34" charset="0"/>
              <a:buChar char="•"/>
            </a:pPr>
            <a:endParaRPr lang="en-US" b="1">
              <a:ea typeface="Calibri"/>
              <a:cs typeface="Calibri"/>
            </a:endParaRPr>
          </a:p>
          <a:p>
            <a:endParaRPr lang="en-US">
              <a:ea typeface="Calibri"/>
              <a:cs typeface="Calibri"/>
            </a:endParaRPr>
          </a:p>
        </p:txBody>
      </p:sp>
      <p:sp>
        <p:nvSpPr>
          <p:cNvPr id="16" name="TextBox 15">
            <a:extLst>
              <a:ext uri="{FF2B5EF4-FFF2-40B4-BE49-F238E27FC236}">
                <a16:creationId xmlns:a16="http://schemas.microsoft.com/office/drawing/2014/main" id="{0508AAB3-0118-023E-6E5E-9854F8611918}"/>
              </a:ext>
            </a:extLst>
          </p:cNvPr>
          <p:cNvSpPr txBox="1"/>
          <p:nvPr/>
        </p:nvSpPr>
        <p:spPr>
          <a:xfrm>
            <a:off x="7949561" y="3948881"/>
            <a:ext cx="3973499"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ea typeface="Calibri"/>
                <a:cs typeface="Calibri"/>
              </a:rPr>
              <a:t>Data Spread</a:t>
            </a:r>
          </a:p>
          <a:p>
            <a:pPr marL="285750" indent="-285750">
              <a:buFont typeface="Arial" panose="020B0604020202020204" pitchFamily="34" charset="0"/>
              <a:buChar char="•"/>
            </a:pPr>
            <a:r>
              <a:rPr lang="en-US" b="1">
                <a:ea typeface="Calibri"/>
                <a:cs typeface="Calibri"/>
              </a:rPr>
              <a:t>Max Spread: </a:t>
            </a:r>
          </a:p>
          <a:p>
            <a:pPr marL="742950" lvl="1" indent="-285750">
              <a:buFont typeface="Courier New" panose="02070309020205020404" pitchFamily="49" charset="0"/>
              <a:buChar char="o"/>
            </a:pPr>
            <a:r>
              <a:rPr lang="en-US"/>
              <a:t>1058 ft</a:t>
            </a:r>
          </a:p>
          <a:p>
            <a:pPr marL="285750" indent="-285750">
              <a:buFont typeface="Arial" panose="020B0604020202020204" pitchFamily="34" charset="0"/>
              <a:buChar char="•"/>
            </a:pPr>
            <a:r>
              <a:rPr lang="en-US" b="1"/>
              <a:t>Deviation From Mean Apogee: </a:t>
            </a:r>
          </a:p>
          <a:p>
            <a:pPr marL="742950" lvl="1" indent="-285750">
              <a:buFont typeface="Courier New" panose="02070309020205020404" pitchFamily="49" charset="0"/>
              <a:buChar char="o"/>
            </a:pPr>
            <a:r>
              <a:rPr lang="en-US"/>
              <a:t>±4%</a:t>
            </a:r>
          </a:p>
          <a:p>
            <a:pPr lvl="1"/>
            <a:endParaRPr lang="en-US" b="1">
              <a:ea typeface="Calibri"/>
              <a:cs typeface="Calibri"/>
            </a:endParaRPr>
          </a:p>
          <a:p>
            <a:pPr marL="742950" lvl="1" indent="-285750">
              <a:buFont typeface="Arial" panose="020B0604020202020204" pitchFamily="34" charset="0"/>
              <a:buChar char="•"/>
            </a:pPr>
            <a:endParaRPr lang="en-US">
              <a:ea typeface="Calibri"/>
              <a:cs typeface="Calibri"/>
            </a:endParaRPr>
          </a:p>
          <a:p>
            <a:pPr marL="285750" indent="-285750">
              <a:buFont typeface="Arial" panose="020B0604020202020204" pitchFamily="34" charset="0"/>
              <a:buChar char="•"/>
            </a:pPr>
            <a:endParaRPr lang="en-US" b="1">
              <a:ea typeface="Calibri"/>
              <a:cs typeface="Calibri"/>
            </a:endParaRPr>
          </a:p>
          <a:p>
            <a:endParaRPr lang="en-US">
              <a:ea typeface="Calibri"/>
              <a:cs typeface="Calibri"/>
            </a:endParaRPr>
          </a:p>
        </p:txBody>
      </p:sp>
      <p:sp>
        <p:nvSpPr>
          <p:cNvPr id="6" name="TextBox 5">
            <a:extLst>
              <a:ext uri="{FF2B5EF4-FFF2-40B4-BE49-F238E27FC236}">
                <a16:creationId xmlns:a16="http://schemas.microsoft.com/office/drawing/2014/main" id="{4B0950E4-1029-55D7-D17C-115DBB7D0FA9}"/>
              </a:ext>
            </a:extLst>
          </p:cNvPr>
          <p:cNvSpPr txBox="1"/>
          <p:nvPr/>
        </p:nvSpPr>
        <p:spPr>
          <a:xfrm>
            <a:off x="1251878" y="5723193"/>
            <a:ext cx="6096000" cy="369332"/>
          </a:xfrm>
          <a:prstGeom prst="rect">
            <a:avLst/>
          </a:prstGeom>
          <a:noFill/>
        </p:spPr>
        <p:txBody>
          <a:bodyPr wrap="square" lIns="91440" tIns="45720" rIns="91440" bIns="45720" anchor="t">
            <a:spAutoFit/>
          </a:bodyPr>
          <a:lstStyle/>
          <a:p>
            <a:pPr algn="ctr"/>
            <a:r>
              <a:rPr lang="en-US" sz="1800" b="1"/>
              <a:t>Fig </a:t>
            </a:r>
            <a:r>
              <a:rPr lang="en-US" b="1"/>
              <a:t>6.7 </a:t>
            </a:r>
            <a:r>
              <a:rPr lang="en-US"/>
              <a:t>Altitude Sensitivity to Drag</a:t>
            </a:r>
            <a:endParaRPr lang="en-US" sz="1800">
              <a:ea typeface="Calibri"/>
              <a:cs typeface="Calibri"/>
            </a:endParaRPr>
          </a:p>
        </p:txBody>
      </p:sp>
    </p:spTree>
    <p:extLst>
      <p:ext uri="{BB962C8B-B14F-4D97-AF65-F5344CB8AC3E}">
        <p14:creationId xmlns:p14="http://schemas.microsoft.com/office/powerpoint/2010/main" val="36036970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8465730-2002-FCB5-4EB7-3D20CA4F012A}"/>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DAE4AAE8-B224-5A1B-7F82-F0BD6430307D}"/>
              </a:ext>
            </a:extLst>
          </p:cNvPr>
          <p:cNvSpPr>
            <a:spLocks noGrp="1"/>
          </p:cNvSpPr>
          <p:nvPr>
            <p:ph type="sldNum" sz="quarter" idx="17"/>
          </p:nvPr>
        </p:nvSpPr>
        <p:spPr/>
        <p:txBody>
          <a:bodyPr/>
          <a:lstStyle/>
          <a:p>
            <a:r>
              <a:rPr lang="en-US"/>
              <a:t>/   </a:t>
            </a:r>
            <a:fld id="{6C7E6F33-74EE-5541-8108-8353B402F8C1}" type="slidenum">
              <a:rPr lang="en-US" smtClean="0"/>
              <a:pPr/>
              <a:t>69</a:t>
            </a:fld>
            <a:endParaRPr lang="en-US"/>
          </a:p>
        </p:txBody>
      </p:sp>
      <p:sp>
        <p:nvSpPr>
          <p:cNvPr id="5" name="Title 4">
            <a:extLst>
              <a:ext uri="{FF2B5EF4-FFF2-40B4-BE49-F238E27FC236}">
                <a16:creationId xmlns:a16="http://schemas.microsoft.com/office/drawing/2014/main" id="{23551391-AE8F-B026-0DB0-577DCFBA74B8}"/>
              </a:ext>
            </a:extLst>
          </p:cNvPr>
          <p:cNvSpPr>
            <a:spLocks noGrp="1"/>
          </p:cNvSpPr>
          <p:nvPr>
            <p:ph type="title"/>
          </p:nvPr>
        </p:nvSpPr>
        <p:spPr>
          <a:xfrm>
            <a:off x="531848" y="716984"/>
            <a:ext cx="6747546" cy="625567"/>
          </a:xfrm>
        </p:spPr>
        <p:txBody>
          <a:bodyPr/>
          <a:lstStyle/>
          <a:p>
            <a:r>
              <a:rPr lang="en-US">
                <a:latin typeface="Munistic"/>
              </a:rPr>
              <a:t>Altitude Plots</a:t>
            </a:r>
            <a:endParaRPr lang="en-US"/>
          </a:p>
        </p:txBody>
      </p:sp>
      <p:sp>
        <p:nvSpPr>
          <p:cNvPr id="6" name="TextBox 5">
            <a:extLst>
              <a:ext uri="{FF2B5EF4-FFF2-40B4-BE49-F238E27FC236}">
                <a16:creationId xmlns:a16="http://schemas.microsoft.com/office/drawing/2014/main" id="{70F93E52-8367-C7C5-398C-83759F0CB127}"/>
              </a:ext>
            </a:extLst>
          </p:cNvPr>
          <p:cNvSpPr txBox="1"/>
          <p:nvPr/>
        </p:nvSpPr>
        <p:spPr>
          <a:xfrm>
            <a:off x="541391" y="1484607"/>
            <a:ext cx="6738003" cy="369332"/>
          </a:xfrm>
          <a:prstGeom prst="rect">
            <a:avLst/>
          </a:prstGeom>
          <a:solidFill>
            <a:srgbClr val="15473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rgbClr val="FFFFFF"/>
                </a:solidFill>
                <a:ea typeface="Calibri"/>
                <a:cs typeface="Calibri"/>
              </a:rPr>
              <a:t>MATLAB</a:t>
            </a:r>
            <a:endParaRPr lang="en-US">
              <a:solidFill>
                <a:srgbClr val="FFFFFF"/>
              </a:solidFill>
            </a:endParaRPr>
          </a:p>
        </p:txBody>
      </p:sp>
      <p:sp>
        <p:nvSpPr>
          <p:cNvPr id="7" name="TextBox 6">
            <a:extLst>
              <a:ext uri="{FF2B5EF4-FFF2-40B4-BE49-F238E27FC236}">
                <a16:creationId xmlns:a16="http://schemas.microsoft.com/office/drawing/2014/main" id="{639BF036-FA54-FC05-AA6F-48335540C261}"/>
              </a:ext>
            </a:extLst>
          </p:cNvPr>
          <p:cNvSpPr txBox="1"/>
          <p:nvPr/>
        </p:nvSpPr>
        <p:spPr>
          <a:xfrm>
            <a:off x="7387463" y="2046698"/>
            <a:ext cx="4219204"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b="1">
                <a:ea typeface="Calibri"/>
                <a:cs typeface="Calibri"/>
              </a:rPr>
              <a:t>Results:</a:t>
            </a:r>
          </a:p>
          <a:p>
            <a:pPr marL="742950" lvl="1" indent="-285750">
              <a:buFont typeface="Courier New" panose="02070309020205020404" pitchFamily="49" charset="0"/>
              <a:buChar char="o"/>
            </a:pPr>
            <a:r>
              <a:rPr lang="en-US">
                <a:ea typeface="Calibri"/>
                <a:cs typeface="Calibri"/>
              </a:rPr>
              <a:t>Apogee: 11930 ft</a:t>
            </a:r>
          </a:p>
          <a:p>
            <a:pPr marL="742950" lvl="1" indent="-285750">
              <a:buFont typeface="Courier New" panose="02070309020205020404" pitchFamily="49" charset="0"/>
              <a:buChar char="o"/>
            </a:pPr>
            <a:r>
              <a:rPr lang="en-US">
                <a:ea typeface="Calibri"/>
                <a:cs typeface="Calibri"/>
              </a:rPr>
              <a:t>Max Velocity: 843  ft/s </a:t>
            </a:r>
          </a:p>
          <a:p>
            <a:pPr lvl="1"/>
            <a:r>
              <a:rPr lang="en-US">
                <a:ea typeface="Calibri"/>
                <a:cs typeface="Calibri"/>
              </a:rPr>
              <a:t>     [Mach 0.77]</a:t>
            </a:r>
          </a:p>
          <a:p>
            <a:pPr marL="742950" lvl="1" indent="-285750">
              <a:buFont typeface="Courier New" panose="02070309020205020404" pitchFamily="49" charset="0"/>
              <a:buChar char="o"/>
            </a:pPr>
            <a:r>
              <a:rPr lang="en-US">
                <a:ea typeface="Calibri"/>
                <a:cs typeface="Calibri"/>
              </a:rPr>
              <a:t>Max Acceleration: 104.7 ft/s^2</a:t>
            </a:r>
          </a:p>
          <a:p>
            <a:pPr marL="742950" lvl="1" indent="-285750">
              <a:buFont typeface="Courier New" panose="02070309020205020404" pitchFamily="49" charset="0"/>
              <a:buChar char="o"/>
            </a:pPr>
            <a:r>
              <a:rPr lang="en-US">
                <a:ea typeface="Calibri"/>
                <a:cs typeface="Calibri"/>
              </a:rPr>
              <a:t>Time to Apogee: 29.6 s</a:t>
            </a:r>
          </a:p>
          <a:p>
            <a:pPr marL="285750" indent="-285750">
              <a:buFont typeface="Arial" panose="020B0604020202020204" pitchFamily="34" charset="0"/>
              <a:buChar char="•"/>
            </a:pPr>
            <a:r>
              <a:rPr lang="en-US" b="1">
                <a:ea typeface="Calibri"/>
                <a:cs typeface="Calibri"/>
              </a:rPr>
              <a:t>Assumptions made:</a:t>
            </a:r>
          </a:p>
          <a:p>
            <a:pPr marL="742950" lvl="1" indent="-285750">
              <a:buFont typeface="Courier New" panose="02070309020205020404" pitchFamily="49" charset="0"/>
              <a:buChar char="o"/>
            </a:pPr>
            <a:r>
              <a:rPr lang="en-US">
                <a:ea typeface="Calibri"/>
                <a:cs typeface="Calibri"/>
              </a:rPr>
              <a:t>Temperature: ISA</a:t>
            </a:r>
          </a:p>
          <a:p>
            <a:pPr marL="742950" lvl="1" indent="-285750">
              <a:buFont typeface="Courier New" panose="02070309020205020404" pitchFamily="49" charset="0"/>
              <a:buChar char="o"/>
            </a:pPr>
            <a:r>
              <a:rPr lang="en-US">
                <a:ea typeface="Calibri"/>
                <a:cs typeface="Calibri"/>
              </a:rPr>
              <a:t>Wind Speed: 10 mph</a:t>
            </a:r>
          </a:p>
          <a:p>
            <a:pPr marL="742950" lvl="1" indent="-285750">
              <a:buFont typeface="Courier New" panose="02070309020205020404" pitchFamily="49" charset="0"/>
              <a:buChar char="o"/>
            </a:pPr>
            <a:r>
              <a:rPr lang="en-US">
                <a:ea typeface="Calibri"/>
                <a:cs typeface="Calibri"/>
              </a:rPr>
              <a:t>Atmospheric pressure: ISA</a:t>
            </a:r>
          </a:p>
          <a:p>
            <a:endParaRPr lang="en-US">
              <a:ea typeface="Calibri"/>
              <a:cs typeface="Calibri"/>
            </a:endParaRPr>
          </a:p>
        </p:txBody>
      </p:sp>
      <p:sp>
        <p:nvSpPr>
          <p:cNvPr id="8" name="Text Placeholder 1">
            <a:extLst>
              <a:ext uri="{FF2B5EF4-FFF2-40B4-BE49-F238E27FC236}">
                <a16:creationId xmlns:a16="http://schemas.microsoft.com/office/drawing/2014/main" id="{B5D6552F-5983-27D7-EFFE-5967198D2F33}"/>
              </a:ext>
            </a:extLst>
          </p:cNvPr>
          <p:cNvSpPr txBox="1">
            <a:spLocks/>
          </p:cNvSpPr>
          <p:nvPr/>
        </p:nvSpPr>
        <p:spPr>
          <a:xfrm>
            <a:off x="1830993" y="5295951"/>
            <a:ext cx="4265007" cy="320977"/>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6.8 </a:t>
            </a:r>
            <a:r>
              <a:rPr lang="en-US" sz="1850">
                <a:ea typeface="Source Sans Pro"/>
              </a:rPr>
              <a:t>MATLAB predicted trajectory</a:t>
            </a:r>
          </a:p>
        </p:txBody>
      </p:sp>
      <p:pic>
        <p:nvPicPr>
          <p:cNvPr id="14" name="Picture 13">
            <a:extLst>
              <a:ext uri="{FF2B5EF4-FFF2-40B4-BE49-F238E27FC236}">
                <a16:creationId xmlns:a16="http://schemas.microsoft.com/office/drawing/2014/main" id="{D862A8F7-D7C5-44DC-2CEE-076FDF9DD3C7}"/>
              </a:ext>
            </a:extLst>
          </p:cNvPr>
          <p:cNvPicPr>
            <a:picLocks noChangeAspect="1"/>
          </p:cNvPicPr>
          <p:nvPr/>
        </p:nvPicPr>
        <p:blipFill>
          <a:blip r:embed="rId2"/>
          <a:stretch>
            <a:fillRect/>
          </a:stretch>
        </p:blipFill>
        <p:spPr>
          <a:xfrm>
            <a:off x="585333" y="2131189"/>
            <a:ext cx="6738003" cy="3164762"/>
          </a:xfrm>
          <a:prstGeom prst="rect">
            <a:avLst/>
          </a:prstGeom>
        </p:spPr>
      </p:pic>
    </p:spTree>
    <p:extLst>
      <p:ext uri="{BB962C8B-B14F-4D97-AF65-F5344CB8AC3E}">
        <p14:creationId xmlns:p14="http://schemas.microsoft.com/office/powerpoint/2010/main" val="38568940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8465730-2002-FCB5-4EB7-3D20CA4F012A}"/>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DAE4AAE8-B224-5A1B-7F82-F0BD6430307D}"/>
              </a:ext>
            </a:extLst>
          </p:cNvPr>
          <p:cNvSpPr>
            <a:spLocks noGrp="1"/>
          </p:cNvSpPr>
          <p:nvPr>
            <p:ph type="sldNum" sz="quarter" idx="17"/>
          </p:nvPr>
        </p:nvSpPr>
        <p:spPr/>
        <p:txBody>
          <a:bodyPr/>
          <a:lstStyle/>
          <a:p>
            <a:r>
              <a:rPr lang="en-US"/>
              <a:t>/   </a:t>
            </a:r>
            <a:fld id="{6C7E6F33-74EE-5541-8108-8353B402F8C1}" type="slidenum">
              <a:rPr lang="en-US" smtClean="0"/>
              <a:pPr/>
              <a:t>70</a:t>
            </a:fld>
            <a:endParaRPr lang="en-US"/>
          </a:p>
        </p:txBody>
      </p:sp>
      <p:sp>
        <p:nvSpPr>
          <p:cNvPr id="5" name="Title 4">
            <a:extLst>
              <a:ext uri="{FF2B5EF4-FFF2-40B4-BE49-F238E27FC236}">
                <a16:creationId xmlns:a16="http://schemas.microsoft.com/office/drawing/2014/main" id="{23551391-AE8F-B026-0DB0-577DCFBA74B8}"/>
              </a:ext>
            </a:extLst>
          </p:cNvPr>
          <p:cNvSpPr>
            <a:spLocks noGrp="1"/>
          </p:cNvSpPr>
          <p:nvPr>
            <p:ph type="title"/>
          </p:nvPr>
        </p:nvSpPr>
        <p:spPr>
          <a:xfrm>
            <a:off x="531848" y="716984"/>
            <a:ext cx="6747546" cy="625567"/>
          </a:xfrm>
        </p:spPr>
        <p:txBody>
          <a:bodyPr/>
          <a:lstStyle/>
          <a:p>
            <a:r>
              <a:rPr lang="en-US">
                <a:latin typeface="Munistic"/>
              </a:rPr>
              <a:t>Altitude Plots</a:t>
            </a:r>
            <a:endParaRPr lang="en-US"/>
          </a:p>
        </p:txBody>
      </p:sp>
      <p:sp>
        <p:nvSpPr>
          <p:cNvPr id="10" name="TextBox 9">
            <a:extLst>
              <a:ext uri="{FF2B5EF4-FFF2-40B4-BE49-F238E27FC236}">
                <a16:creationId xmlns:a16="http://schemas.microsoft.com/office/drawing/2014/main" id="{87854627-5583-0F27-3246-4452EAEC91C3}"/>
              </a:ext>
            </a:extLst>
          </p:cNvPr>
          <p:cNvSpPr txBox="1"/>
          <p:nvPr/>
        </p:nvSpPr>
        <p:spPr>
          <a:xfrm>
            <a:off x="536385" y="1480527"/>
            <a:ext cx="6750293" cy="369332"/>
          </a:xfrm>
          <a:prstGeom prst="rect">
            <a:avLst/>
          </a:prstGeom>
          <a:solidFill>
            <a:srgbClr val="154734"/>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err="1">
                <a:solidFill>
                  <a:srgbClr val="FFFFFF"/>
                </a:solidFill>
                <a:ea typeface="Calibri"/>
                <a:cs typeface="Calibri"/>
              </a:rPr>
              <a:t>OpenRocket</a:t>
            </a:r>
            <a:endParaRPr lang="en-US"/>
          </a:p>
        </p:txBody>
      </p:sp>
      <p:sp>
        <p:nvSpPr>
          <p:cNvPr id="9" name="TextBox 8">
            <a:extLst>
              <a:ext uri="{FF2B5EF4-FFF2-40B4-BE49-F238E27FC236}">
                <a16:creationId xmlns:a16="http://schemas.microsoft.com/office/drawing/2014/main" id="{517B8BB0-15BC-8148-FDE3-09A8D7354BD1}"/>
              </a:ext>
            </a:extLst>
          </p:cNvPr>
          <p:cNvSpPr txBox="1"/>
          <p:nvPr/>
        </p:nvSpPr>
        <p:spPr>
          <a:xfrm>
            <a:off x="7812157" y="1996168"/>
            <a:ext cx="3981367"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b="1">
                <a:ea typeface="Calibri"/>
                <a:cs typeface="Calibri"/>
              </a:rPr>
              <a:t>Results:</a:t>
            </a:r>
          </a:p>
          <a:p>
            <a:pPr marL="742950" lvl="1" indent="-285750">
              <a:buFont typeface="Courier New" panose="02070309020205020404" pitchFamily="49" charset="0"/>
              <a:buChar char="o"/>
            </a:pPr>
            <a:r>
              <a:rPr lang="en-US">
                <a:ea typeface="Calibri"/>
                <a:cs typeface="Calibri"/>
              </a:rPr>
              <a:t>Apogee: 12720 ft</a:t>
            </a:r>
          </a:p>
          <a:p>
            <a:pPr marL="742950" lvl="1" indent="-285750">
              <a:buFont typeface="Courier New" panose="02070309020205020404" pitchFamily="49" charset="0"/>
              <a:buChar char="o"/>
            </a:pPr>
            <a:r>
              <a:rPr lang="en-US">
                <a:ea typeface="Calibri"/>
                <a:cs typeface="Calibri"/>
              </a:rPr>
              <a:t>Max Velocity: 873 ft/s =</a:t>
            </a:r>
          </a:p>
          <a:p>
            <a:pPr lvl="1"/>
            <a:r>
              <a:rPr lang="en-US">
                <a:ea typeface="Calibri"/>
                <a:cs typeface="Calibri"/>
              </a:rPr>
              <a:t>     [Mach 0.77]</a:t>
            </a:r>
          </a:p>
          <a:p>
            <a:pPr marL="742950" lvl="1" indent="-285750">
              <a:buFont typeface="Courier New" panose="02070309020205020404" pitchFamily="49" charset="0"/>
              <a:buChar char="o"/>
            </a:pPr>
            <a:r>
              <a:rPr lang="en-US">
                <a:ea typeface="Calibri"/>
                <a:cs typeface="Calibri"/>
              </a:rPr>
              <a:t>Max Acceleration: 105 ft/s^2</a:t>
            </a:r>
          </a:p>
          <a:p>
            <a:pPr marL="742950" lvl="1" indent="-285750">
              <a:buFont typeface="Courier New" panose="02070309020205020404" pitchFamily="49" charset="0"/>
              <a:buChar char="o"/>
            </a:pPr>
            <a:r>
              <a:rPr lang="en-US">
                <a:ea typeface="Calibri"/>
                <a:cs typeface="Calibri"/>
              </a:rPr>
              <a:t>Time to Apogee: 31 s</a:t>
            </a:r>
          </a:p>
          <a:p>
            <a:pPr marL="285750" indent="-285750">
              <a:buFont typeface="Arial" panose="020B0604020202020204" pitchFamily="34" charset="0"/>
              <a:buChar char="•"/>
            </a:pPr>
            <a:r>
              <a:rPr lang="en-US" b="1">
                <a:ea typeface="Calibri"/>
                <a:cs typeface="Calibri"/>
              </a:rPr>
              <a:t>Assumptions made:</a:t>
            </a:r>
          </a:p>
          <a:p>
            <a:pPr marL="742950" lvl="1" indent="-285750">
              <a:buFont typeface="Courier New" panose="02070309020205020404" pitchFamily="49" charset="0"/>
              <a:buChar char="o"/>
            </a:pPr>
            <a:r>
              <a:rPr lang="en-US">
                <a:ea typeface="Calibri"/>
                <a:cs typeface="Calibri"/>
              </a:rPr>
              <a:t>Temperature: 90 F</a:t>
            </a:r>
          </a:p>
          <a:p>
            <a:pPr marL="742950" lvl="1" indent="-285750">
              <a:buFont typeface="Courier New" panose="02070309020205020404" pitchFamily="49" charset="0"/>
              <a:buChar char="o"/>
            </a:pPr>
            <a:r>
              <a:rPr lang="en-US">
                <a:ea typeface="Calibri"/>
                <a:cs typeface="Calibri"/>
              </a:rPr>
              <a:t>Wind Speed: 10 mph</a:t>
            </a:r>
          </a:p>
          <a:p>
            <a:pPr marL="742950" lvl="1" indent="-285750">
              <a:buFont typeface="Courier New" panose="02070309020205020404" pitchFamily="49" charset="0"/>
              <a:buChar char="o"/>
            </a:pPr>
            <a:r>
              <a:rPr lang="en-US">
                <a:ea typeface="Calibri"/>
                <a:cs typeface="Calibri"/>
              </a:rPr>
              <a:t>Atmospheric pressure: 27.3 inHg</a:t>
            </a:r>
          </a:p>
          <a:p>
            <a:endParaRPr lang="en-US">
              <a:ea typeface="Calibri"/>
              <a:cs typeface="Calibri"/>
            </a:endParaRPr>
          </a:p>
        </p:txBody>
      </p:sp>
      <p:sp>
        <p:nvSpPr>
          <p:cNvPr id="2" name="Text Placeholder 1">
            <a:extLst>
              <a:ext uri="{FF2B5EF4-FFF2-40B4-BE49-F238E27FC236}">
                <a16:creationId xmlns:a16="http://schemas.microsoft.com/office/drawing/2014/main" id="{0C8C5DA7-A415-EDEE-F962-581D3F934AEF}"/>
              </a:ext>
            </a:extLst>
          </p:cNvPr>
          <p:cNvSpPr txBox="1">
            <a:spLocks/>
          </p:cNvSpPr>
          <p:nvPr/>
        </p:nvSpPr>
        <p:spPr>
          <a:xfrm>
            <a:off x="1828197" y="5412488"/>
            <a:ext cx="4265007" cy="320977"/>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6.9</a:t>
            </a:r>
            <a:r>
              <a:rPr lang="en-US" sz="1850">
                <a:ea typeface="Source Sans Pro"/>
              </a:rPr>
              <a:t> </a:t>
            </a:r>
            <a:r>
              <a:rPr lang="en-US" sz="1850" err="1">
                <a:ea typeface="Source Sans Pro"/>
              </a:rPr>
              <a:t>OpenRocket</a:t>
            </a:r>
            <a:r>
              <a:rPr lang="en-US" sz="1850">
                <a:ea typeface="Source Sans Pro"/>
              </a:rPr>
              <a:t> predicted trajectory</a:t>
            </a:r>
          </a:p>
        </p:txBody>
      </p:sp>
      <p:pic>
        <p:nvPicPr>
          <p:cNvPr id="12" name="Picture 11" descr="A graph with a line&#10;&#10;AI-generated content may be incorrect.">
            <a:extLst>
              <a:ext uri="{FF2B5EF4-FFF2-40B4-BE49-F238E27FC236}">
                <a16:creationId xmlns:a16="http://schemas.microsoft.com/office/drawing/2014/main" id="{CA17E1B8-4367-FE1A-7694-5221C15533DD}"/>
              </a:ext>
            </a:extLst>
          </p:cNvPr>
          <p:cNvPicPr>
            <a:picLocks noChangeAspect="1"/>
          </p:cNvPicPr>
          <p:nvPr/>
        </p:nvPicPr>
        <p:blipFill>
          <a:blip r:embed="rId3"/>
          <a:stretch>
            <a:fillRect/>
          </a:stretch>
        </p:blipFill>
        <p:spPr>
          <a:xfrm>
            <a:off x="588502" y="2271252"/>
            <a:ext cx="6744396" cy="2609071"/>
          </a:xfrm>
          <a:prstGeom prst="rect">
            <a:avLst/>
          </a:prstGeom>
        </p:spPr>
      </p:pic>
    </p:spTree>
    <p:extLst>
      <p:ext uri="{BB962C8B-B14F-4D97-AF65-F5344CB8AC3E}">
        <p14:creationId xmlns:p14="http://schemas.microsoft.com/office/powerpoint/2010/main" val="29695648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3905C7-4E5C-AF3D-A3F8-E41DE4CB59B0}"/>
              </a:ext>
            </a:extLst>
          </p:cNvPr>
          <p:cNvSpPr>
            <a:spLocks noGrp="1"/>
          </p:cNvSpPr>
          <p:nvPr>
            <p:ph type="body" sz="quarter" idx="15"/>
          </p:nvPr>
        </p:nvSpPr>
        <p:spPr>
          <a:xfrm>
            <a:off x="332395" y="1501157"/>
            <a:ext cx="11319232" cy="4639859"/>
          </a:xfrm>
        </p:spPr>
        <p:txBody>
          <a:bodyPr vert="horz" lIns="91440" tIns="45720" rIns="91440" bIns="45720" numCol="2" spcCol="457200" rtlCol="0" anchor="t">
            <a:noAutofit/>
          </a:bodyPr>
          <a:lstStyle/>
          <a:p>
            <a:pPr marL="121920" indent="0">
              <a:buNone/>
            </a:pPr>
            <a:r>
              <a:rPr lang="en-US" sz="1400" b="1">
                <a:ea typeface="Source Sans Pro"/>
                <a:cs typeface="Calibri" panose="020F0502020204030204"/>
              </a:rPr>
              <a:t>Explain Wind Gradients</a:t>
            </a:r>
          </a:p>
          <a:p>
            <a:pPr marL="121920" indent="0">
              <a:buNone/>
            </a:pPr>
            <a:endParaRPr lang="en-US" sz="1400">
              <a:ea typeface="Source Sans Pro"/>
              <a:cs typeface="Calibri" panose="020F0502020204030204"/>
            </a:endParaRPr>
          </a:p>
        </p:txBody>
      </p:sp>
      <p:sp>
        <p:nvSpPr>
          <p:cNvPr id="3" name="Footer Placeholder 2">
            <a:extLst>
              <a:ext uri="{FF2B5EF4-FFF2-40B4-BE49-F238E27FC236}">
                <a16:creationId xmlns:a16="http://schemas.microsoft.com/office/drawing/2014/main" id="{E8465730-2002-FCB5-4EB7-3D20CA4F012A}"/>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DAE4AAE8-B224-5A1B-7F82-F0BD6430307D}"/>
              </a:ext>
            </a:extLst>
          </p:cNvPr>
          <p:cNvSpPr>
            <a:spLocks noGrp="1"/>
          </p:cNvSpPr>
          <p:nvPr>
            <p:ph type="sldNum" sz="quarter" idx="17"/>
          </p:nvPr>
        </p:nvSpPr>
        <p:spPr/>
        <p:txBody>
          <a:bodyPr/>
          <a:lstStyle/>
          <a:p>
            <a:r>
              <a:rPr lang="en-US"/>
              <a:t>/   </a:t>
            </a:r>
            <a:fld id="{6C7E6F33-74EE-5541-8108-8353B402F8C1}" type="slidenum">
              <a:rPr lang="en-US" smtClean="0"/>
              <a:pPr/>
              <a:t>71</a:t>
            </a:fld>
            <a:endParaRPr lang="en-US"/>
          </a:p>
        </p:txBody>
      </p:sp>
      <p:sp>
        <p:nvSpPr>
          <p:cNvPr id="5" name="Title 4">
            <a:extLst>
              <a:ext uri="{FF2B5EF4-FFF2-40B4-BE49-F238E27FC236}">
                <a16:creationId xmlns:a16="http://schemas.microsoft.com/office/drawing/2014/main" id="{23551391-AE8F-B026-0DB0-577DCFBA74B8}"/>
              </a:ext>
            </a:extLst>
          </p:cNvPr>
          <p:cNvSpPr>
            <a:spLocks noGrp="1"/>
          </p:cNvSpPr>
          <p:nvPr>
            <p:ph type="title"/>
          </p:nvPr>
        </p:nvSpPr>
        <p:spPr>
          <a:xfrm>
            <a:off x="531848" y="716984"/>
            <a:ext cx="6747546" cy="625567"/>
          </a:xfrm>
        </p:spPr>
        <p:txBody>
          <a:bodyPr/>
          <a:lstStyle/>
          <a:p>
            <a:r>
              <a:rPr lang="en-US">
                <a:latin typeface="Munistic"/>
              </a:rPr>
              <a:t>Wind Analysis</a:t>
            </a:r>
            <a:endParaRPr lang="en-US"/>
          </a:p>
        </p:txBody>
      </p:sp>
      <p:pic>
        <p:nvPicPr>
          <p:cNvPr id="6" name="Picture 5" descr="A mathematical equation with black text&#10;&#10;AI-generated content may be incorrect.">
            <a:extLst>
              <a:ext uri="{FF2B5EF4-FFF2-40B4-BE49-F238E27FC236}">
                <a16:creationId xmlns:a16="http://schemas.microsoft.com/office/drawing/2014/main" id="{9D7D1858-2F72-DBDC-438D-B0DC9CF926DD}"/>
              </a:ext>
            </a:extLst>
          </p:cNvPr>
          <p:cNvPicPr>
            <a:picLocks noChangeAspect="1"/>
          </p:cNvPicPr>
          <p:nvPr/>
        </p:nvPicPr>
        <p:blipFill>
          <a:blip r:embed="rId2"/>
          <a:stretch>
            <a:fillRect/>
          </a:stretch>
        </p:blipFill>
        <p:spPr>
          <a:xfrm>
            <a:off x="1631585" y="2703870"/>
            <a:ext cx="3683223" cy="1997011"/>
          </a:xfrm>
          <a:prstGeom prst="rect">
            <a:avLst/>
          </a:prstGeom>
        </p:spPr>
      </p:pic>
      <p:pic>
        <p:nvPicPr>
          <p:cNvPr id="7" name="Picture 6">
            <a:extLst>
              <a:ext uri="{FF2B5EF4-FFF2-40B4-BE49-F238E27FC236}">
                <a16:creationId xmlns:a16="http://schemas.microsoft.com/office/drawing/2014/main" id="{AFF33A5B-107E-23E8-6777-DCEFC71F6898}"/>
              </a:ext>
            </a:extLst>
          </p:cNvPr>
          <p:cNvPicPr>
            <a:picLocks noChangeAspect="1"/>
          </p:cNvPicPr>
          <p:nvPr/>
        </p:nvPicPr>
        <p:blipFill>
          <a:blip r:embed="rId3"/>
          <a:stretch>
            <a:fillRect/>
          </a:stretch>
        </p:blipFill>
        <p:spPr>
          <a:xfrm>
            <a:off x="7552100" y="1342551"/>
            <a:ext cx="3272790" cy="4777740"/>
          </a:xfrm>
          <a:prstGeom prst="rect">
            <a:avLst/>
          </a:prstGeom>
        </p:spPr>
      </p:pic>
    </p:spTree>
    <p:extLst>
      <p:ext uri="{BB962C8B-B14F-4D97-AF65-F5344CB8AC3E}">
        <p14:creationId xmlns:p14="http://schemas.microsoft.com/office/powerpoint/2010/main" val="5956835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D160-7403-A2C1-F2BD-3BD8528680D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CB2CD05-196D-AE89-9F10-D4C7D5D5E2FA}"/>
              </a:ext>
            </a:extLst>
          </p:cNvPr>
          <p:cNvSpPr>
            <a:spLocks noGrp="1"/>
          </p:cNvSpPr>
          <p:nvPr>
            <p:ph type="body" sz="quarter" idx="15"/>
          </p:nvPr>
        </p:nvSpPr>
        <p:spPr>
          <a:xfrm>
            <a:off x="332395" y="1501157"/>
            <a:ext cx="11319232" cy="4639859"/>
          </a:xfrm>
        </p:spPr>
        <p:txBody>
          <a:bodyPr vert="horz" lIns="91440" tIns="45720" rIns="91440" bIns="45720" numCol="2" spcCol="457200" rtlCol="0" anchor="t">
            <a:noAutofit/>
          </a:bodyPr>
          <a:lstStyle/>
          <a:p>
            <a:pPr marL="121920" indent="0">
              <a:buNone/>
            </a:pPr>
            <a:r>
              <a:rPr lang="en-US" sz="1400" b="1">
                <a:ea typeface="Source Sans Pro"/>
                <a:cs typeface="Calibri" panose="020F0502020204030204"/>
              </a:rPr>
              <a:t>No Wind</a:t>
            </a:r>
          </a:p>
          <a:p>
            <a:pPr marL="579120" indent="-457200">
              <a:lnSpc>
                <a:spcPct val="50000"/>
              </a:lnSpc>
            </a:pPr>
            <a:r>
              <a:rPr lang="en-US" sz="1400">
                <a:ea typeface="Source Sans Pro"/>
                <a:cs typeface="Calibri" panose="020F0502020204030204"/>
              </a:rPr>
              <a:t>Average Apogee: 12873 ft</a:t>
            </a:r>
          </a:p>
          <a:p>
            <a:pPr marL="579120" indent="-457200"/>
            <a:r>
              <a:rPr lang="en-US" sz="1400">
                <a:ea typeface="Source Sans Pro"/>
                <a:cs typeface="Calibri" panose="020F0502020204030204"/>
              </a:rPr>
              <a:t>Average Maximum Velocity: 873 ft/s</a:t>
            </a:r>
          </a:p>
          <a:p>
            <a:pPr marL="579120" indent="-457200"/>
            <a:r>
              <a:rPr lang="en-US" sz="1400">
                <a:ea typeface="Source Sans Pro"/>
                <a:cs typeface="Calibri" panose="020F0502020204030204"/>
              </a:rPr>
              <a:t>Average Maximum Acceleration: 105 ft/s^2</a:t>
            </a:r>
          </a:p>
          <a:p>
            <a:pPr marL="579120" indent="-457200"/>
            <a:r>
              <a:rPr lang="en-US" sz="1400">
                <a:ea typeface="Source Sans Pro"/>
                <a:cs typeface="Calibri" panose="020F0502020204030204"/>
              </a:rPr>
              <a:t>Average Time to Apogee: 31.1 s</a:t>
            </a:r>
          </a:p>
          <a:p>
            <a:pPr marL="121920" indent="0">
              <a:buNone/>
            </a:pPr>
            <a:r>
              <a:rPr lang="en-US" sz="1400" b="1">
                <a:ea typeface="Source Sans Pro"/>
                <a:cs typeface="Calibri" panose="020F0502020204030204"/>
              </a:rPr>
              <a:t>Low Wind-10mph</a:t>
            </a:r>
          </a:p>
          <a:p>
            <a:pPr marL="579120" indent="-457200">
              <a:lnSpc>
                <a:spcPct val="50000"/>
              </a:lnSpc>
            </a:pPr>
            <a:r>
              <a:rPr lang="en-US" sz="1400">
                <a:ea typeface="Source Sans Pro"/>
                <a:cs typeface="Calibri" panose="020F0502020204030204"/>
              </a:rPr>
              <a:t>Average Apogee: 12750 ft</a:t>
            </a:r>
          </a:p>
          <a:p>
            <a:pPr marL="579120" indent="-457200"/>
            <a:r>
              <a:rPr lang="en-US" sz="1400">
                <a:ea typeface="Source Sans Pro"/>
                <a:cs typeface="Calibri" panose="020F0502020204030204"/>
              </a:rPr>
              <a:t>Average Maximum Velocity: 873 ft/s</a:t>
            </a:r>
          </a:p>
          <a:p>
            <a:pPr marL="579120" indent="-457200"/>
            <a:r>
              <a:rPr lang="en-US" sz="1400">
                <a:ea typeface="Source Sans Pro"/>
                <a:cs typeface="Calibri" panose="020F0502020204030204"/>
              </a:rPr>
              <a:t>Average Maximum Acceleration: </a:t>
            </a:r>
            <a:r>
              <a:rPr kumimoji="0" lang="en-US" sz="1400" b="0" i="0" u="none" strike="noStrike" kern="800" cap="none" spc="0" normalizeH="0" baseline="0" noProof="0">
                <a:ln>
                  <a:noFill/>
                </a:ln>
                <a:solidFill>
                  <a:srgbClr val="154734"/>
                </a:solidFill>
                <a:effectLst/>
                <a:uLnTx/>
                <a:uFillTx/>
                <a:latin typeface="Calibri" panose="020F0502020204030204"/>
                <a:ea typeface="Source Sans Pro"/>
                <a:cs typeface="Calibri" panose="020F0502020204030204"/>
              </a:rPr>
              <a:t>105</a:t>
            </a:r>
            <a:r>
              <a:rPr lang="en-US" sz="1400">
                <a:ea typeface="Source Sans Pro"/>
                <a:cs typeface="Calibri" panose="020F0502020204030204"/>
              </a:rPr>
              <a:t> ft/s^2</a:t>
            </a:r>
          </a:p>
          <a:p>
            <a:pPr marL="579120" indent="-457200"/>
            <a:r>
              <a:rPr lang="en-US" sz="1400">
                <a:ea typeface="Source Sans Pro"/>
                <a:cs typeface="Calibri" panose="020F0502020204030204"/>
              </a:rPr>
              <a:t>Average Time to Apogee: 31 s</a:t>
            </a:r>
          </a:p>
          <a:p>
            <a:pPr marL="121920" indent="0">
              <a:buNone/>
            </a:pPr>
            <a:br>
              <a:rPr lang="en-US" sz="1400">
                <a:ea typeface="Source Sans Pro"/>
                <a:cs typeface="Calibri" panose="020F0502020204030204"/>
              </a:rPr>
            </a:br>
            <a:endParaRPr lang="en-US" sz="1400">
              <a:ea typeface="Source Sans Pro"/>
              <a:cs typeface="Calibri" panose="020F0502020204030204"/>
            </a:endParaRPr>
          </a:p>
          <a:p>
            <a:pPr marL="121920" indent="-258445">
              <a:spcBef>
                <a:spcPts val="1000"/>
              </a:spcBef>
              <a:spcAft>
                <a:spcPts val="800"/>
              </a:spcAft>
            </a:pPr>
            <a:r>
              <a:rPr lang="en-US" sz="1400" b="1">
                <a:ea typeface="Calibri"/>
                <a:cs typeface="Calibri"/>
              </a:rPr>
              <a:t>Mid Wind-20mph</a:t>
            </a:r>
            <a:endParaRPr lang="en-US" sz="1400">
              <a:ea typeface="Calibri"/>
              <a:cs typeface="Calibri"/>
            </a:endParaRPr>
          </a:p>
          <a:p>
            <a:pPr marL="579120" indent="-457200">
              <a:lnSpc>
                <a:spcPct val="50000"/>
              </a:lnSpc>
              <a:buFont typeface="Arial"/>
              <a:buChar char="•"/>
            </a:pPr>
            <a:r>
              <a:rPr lang="en-US" sz="1400">
                <a:ea typeface="Calibri"/>
                <a:cs typeface="Calibri"/>
              </a:rPr>
              <a:t>Average Apogee: 12446 ft</a:t>
            </a:r>
          </a:p>
          <a:p>
            <a:pPr marL="579120" indent="-457200">
              <a:buFont typeface="Arial"/>
              <a:buChar char="•"/>
            </a:pPr>
            <a:r>
              <a:rPr lang="en-US" sz="1400">
                <a:ea typeface="Calibri"/>
                <a:cs typeface="Calibri"/>
              </a:rPr>
              <a:t>Average Maximum Velocity: 871 ft/s</a:t>
            </a:r>
          </a:p>
          <a:p>
            <a:pPr marL="579120" indent="-457200">
              <a:spcBef>
                <a:spcPts val="1000"/>
              </a:spcBef>
              <a:spcAft>
                <a:spcPts val="800"/>
              </a:spcAft>
              <a:buFont typeface="Arial"/>
              <a:buChar char="•"/>
            </a:pPr>
            <a:r>
              <a:rPr lang="en-US" sz="1400">
                <a:ea typeface="Calibri"/>
                <a:cs typeface="Calibri"/>
              </a:rPr>
              <a:t>Average Maximum Acceleration: </a:t>
            </a:r>
            <a:r>
              <a:rPr kumimoji="0" lang="en-US" sz="1400" b="0" i="0" u="none" strike="noStrike" kern="800" cap="none" spc="0" normalizeH="0" baseline="0" noProof="0">
                <a:ln>
                  <a:noFill/>
                </a:ln>
                <a:solidFill>
                  <a:srgbClr val="154734"/>
                </a:solidFill>
                <a:effectLst/>
                <a:uLnTx/>
                <a:uFillTx/>
                <a:latin typeface="Calibri" panose="020F0502020204030204"/>
                <a:ea typeface="Source Sans Pro"/>
                <a:cs typeface="Calibri" panose="020F0502020204030204"/>
              </a:rPr>
              <a:t>105</a:t>
            </a:r>
            <a:r>
              <a:rPr lang="en-US" sz="1400">
                <a:ea typeface="Calibri"/>
                <a:cs typeface="Calibri"/>
              </a:rPr>
              <a:t> ft/s^2</a:t>
            </a:r>
          </a:p>
          <a:p>
            <a:pPr marL="579120" indent="-457200">
              <a:buFont typeface="Arial"/>
              <a:buChar char="•"/>
            </a:pPr>
            <a:r>
              <a:rPr lang="en-US" sz="1400">
                <a:ea typeface="Calibri"/>
                <a:cs typeface="Calibri"/>
              </a:rPr>
              <a:t>Average Time to Apogee: 30.7 s</a:t>
            </a:r>
          </a:p>
          <a:p>
            <a:pPr marL="121920" indent="-258445">
              <a:spcBef>
                <a:spcPts val="1000"/>
              </a:spcBef>
              <a:spcAft>
                <a:spcPts val="800"/>
              </a:spcAft>
            </a:pPr>
            <a:r>
              <a:rPr lang="en-US" sz="1400" b="1">
                <a:ea typeface="Calibri"/>
                <a:cs typeface="Calibri"/>
              </a:rPr>
              <a:t>Big Wind-30mph</a:t>
            </a:r>
            <a:endParaRPr lang="en-US" sz="1400">
              <a:ea typeface="Calibri"/>
              <a:cs typeface="Calibri"/>
            </a:endParaRPr>
          </a:p>
          <a:p>
            <a:pPr marL="579120" indent="-457200">
              <a:lnSpc>
                <a:spcPct val="50000"/>
              </a:lnSpc>
              <a:buFont typeface="Arial"/>
              <a:buChar char="•"/>
            </a:pPr>
            <a:r>
              <a:rPr lang="en-US" sz="1400">
                <a:ea typeface="Calibri"/>
                <a:cs typeface="Calibri"/>
              </a:rPr>
              <a:t>Average Apogee: 12085 ft</a:t>
            </a:r>
          </a:p>
          <a:p>
            <a:pPr marL="579120" indent="-457200">
              <a:buFont typeface="Arial"/>
              <a:buChar char="•"/>
            </a:pPr>
            <a:r>
              <a:rPr lang="en-US" sz="1400">
                <a:ea typeface="Calibri"/>
                <a:cs typeface="Calibri"/>
              </a:rPr>
              <a:t>Average Maximum Velocity: 868 ft/s</a:t>
            </a:r>
          </a:p>
          <a:p>
            <a:pPr marL="579120" indent="-457200">
              <a:spcBef>
                <a:spcPts val="1000"/>
              </a:spcBef>
              <a:spcAft>
                <a:spcPts val="800"/>
              </a:spcAft>
              <a:buFont typeface="Arial"/>
              <a:buChar char="•"/>
            </a:pPr>
            <a:r>
              <a:rPr lang="en-US" sz="1400">
                <a:ea typeface="Calibri"/>
                <a:cs typeface="Calibri"/>
              </a:rPr>
              <a:t>Average Maximum Acceleration: </a:t>
            </a:r>
            <a:r>
              <a:rPr kumimoji="0" lang="en-US" sz="1400" b="0" i="0" u="none" strike="noStrike" kern="800" cap="none" spc="0" normalizeH="0" baseline="0" noProof="0">
                <a:ln>
                  <a:noFill/>
                </a:ln>
                <a:solidFill>
                  <a:srgbClr val="154734"/>
                </a:solidFill>
                <a:effectLst/>
                <a:uLnTx/>
                <a:uFillTx/>
                <a:latin typeface="Calibri" panose="020F0502020204030204"/>
                <a:ea typeface="Source Sans Pro"/>
                <a:cs typeface="Calibri" panose="020F0502020204030204"/>
              </a:rPr>
              <a:t>105</a:t>
            </a:r>
            <a:r>
              <a:rPr lang="en-US" sz="1400">
                <a:ea typeface="Calibri"/>
                <a:cs typeface="Calibri"/>
              </a:rPr>
              <a:t> ft/s^2</a:t>
            </a:r>
          </a:p>
          <a:p>
            <a:pPr marL="579120" indent="-457200">
              <a:buFont typeface="Arial"/>
              <a:buChar char="•"/>
            </a:pPr>
            <a:r>
              <a:rPr lang="en-US" sz="1400">
                <a:ea typeface="Calibri"/>
                <a:cs typeface="Calibri"/>
              </a:rPr>
              <a:t>Average Time to Apogee: 30.2 s</a:t>
            </a:r>
            <a:endParaRPr lang="en-US" sz="1400">
              <a:ea typeface="Source Sans Pro"/>
              <a:cs typeface="Calibri" panose="020F0502020204030204"/>
            </a:endParaRPr>
          </a:p>
          <a:p>
            <a:pPr marL="121920" indent="0">
              <a:buNone/>
            </a:pPr>
            <a:endParaRPr lang="en-US" sz="1400" b="1">
              <a:ea typeface="Source Sans Pro"/>
              <a:cs typeface="Calibri" panose="020F0502020204030204"/>
            </a:endParaRPr>
          </a:p>
          <a:p>
            <a:pPr marL="121920" indent="0">
              <a:buNone/>
            </a:pPr>
            <a:endParaRPr lang="en-US" sz="1400">
              <a:ea typeface="Source Sans Pro"/>
              <a:cs typeface="Calibri" panose="020F0502020204030204"/>
            </a:endParaRPr>
          </a:p>
        </p:txBody>
      </p:sp>
      <p:sp>
        <p:nvSpPr>
          <p:cNvPr id="3" name="Footer Placeholder 2">
            <a:extLst>
              <a:ext uri="{FF2B5EF4-FFF2-40B4-BE49-F238E27FC236}">
                <a16:creationId xmlns:a16="http://schemas.microsoft.com/office/drawing/2014/main" id="{90A2C972-92B5-B3A3-D3C1-D63E4AD6C0DF}"/>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C32E4E11-76FF-FE29-0AE6-28449075B370}"/>
              </a:ext>
            </a:extLst>
          </p:cNvPr>
          <p:cNvSpPr>
            <a:spLocks noGrp="1"/>
          </p:cNvSpPr>
          <p:nvPr>
            <p:ph type="sldNum" sz="quarter" idx="17"/>
          </p:nvPr>
        </p:nvSpPr>
        <p:spPr/>
        <p:txBody>
          <a:bodyPr/>
          <a:lstStyle/>
          <a:p>
            <a:r>
              <a:rPr lang="en-US"/>
              <a:t>/   </a:t>
            </a:r>
            <a:fld id="{6C7E6F33-74EE-5541-8108-8353B402F8C1}" type="slidenum">
              <a:rPr lang="en-US" smtClean="0"/>
              <a:pPr/>
              <a:t>72</a:t>
            </a:fld>
            <a:endParaRPr lang="en-US"/>
          </a:p>
        </p:txBody>
      </p:sp>
      <p:sp>
        <p:nvSpPr>
          <p:cNvPr id="5" name="Title 4">
            <a:extLst>
              <a:ext uri="{FF2B5EF4-FFF2-40B4-BE49-F238E27FC236}">
                <a16:creationId xmlns:a16="http://schemas.microsoft.com/office/drawing/2014/main" id="{5BF23510-2C4C-24B7-654F-D2AB82E019E3}"/>
              </a:ext>
            </a:extLst>
          </p:cNvPr>
          <p:cNvSpPr>
            <a:spLocks noGrp="1"/>
          </p:cNvSpPr>
          <p:nvPr>
            <p:ph type="title"/>
          </p:nvPr>
        </p:nvSpPr>
        <p:spPr>
          <a:xfrm>
            <a:off x="531848" y="716984"/>
            <a:ext cx="6747546" cy="625567"/>
          </a:xfrm>
        </p:spPr>
        <p:txBody>
          <a:bodyPr/>
          <a:lstStyle/>
          <a:p>
            <a:r>
              <a:rPr lang="en-US">
                <a:latin typeface="Munistic"/>
              </a:rPr>
              <a:t>Wind Analysis</a:t>
            </a:r>
            <a:endParaRPr lang="en-US"/>
          </a:p>
        </p:txBody>
      </p:sp>
      <p:sp>
        <p:nvSpPr>
          <p:cNvPr id="6" name="TextBox 5">
            <a:extLst>
              <a:ext uri="{FF2B5EF4-FFF2-40B4-BE49-F238E27FC236}">
                <a16:creationId xmlns:a16="http://schemas.microsoft.com/office/drawing/2014/main" id="{0ED2F6BF-3967-38A8-BC72-E082645904FA}"/>
              </a:ext>
            </a:extLst>
          </p:cNvPr>
          <p:cNvSpPr txBox="1"/>
          <p:nvPr/>
        </p:nvSpPr>
        <p:spPr>
          <a:xfrm>
            <a:off x="7495085" y="713559"/>
            <a:ext cx="340687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Average Wind @ FAR: 13.3 mph</a:t>
            </a:r>
          </a:p>
        </p:txBody>
      </p:sp>
    </p:spTree>
    <p:extLst>
      <p:ext uri="{BB962C8B-B14F-4D97-AF65-F5344CB8AC3E}">
        <p14:creationId xmlns:p14="http://schemas.microsoft.com/office/powerpoint/2010/main" val="7761340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5EC1A70-67F3-C931-1297-5349BE0CB8DF}"/>
              </a:ext>
            </a:extLst>
          </p:cNvPr>
          <p:cNvSpPr>
            <a:spLocks noGrp="1"/>
          </p:cNvSpPr>
          <p:nvPr>
            <p:ph type="ftr" sz="quarter" idx="14"/>
          </p:nvPr>
        </p:nvSpPr>
        <p:spPr/>
        <p:txBody>
          <a:bodyPr/>
          <a:lstStyle/>
          <a:p>
            <a:r>
              <a:rPr lang="en-US" sz="900">
                <a:latin typeface="Source Sans Pro"/>
                <a:ea typeface="Source Sans Pro"/>
              </a:rPr>
              <a:t>ARCHERFISH CDR</a:t>
            </a:r>
            <a:endParaRPr lang="en-US">
              <a:ea typeface="Source Sans Pro" panose="020B0503030403020204" pitchFamily="34" charset="0"/>
            </a:endParaRPr>
          </a:p>
        </p:txBody>
      </p:sp>
      <p:sp>
        <p:nvSpPr>
          <p:cNvPr id="4" name="Slide Number Placeholder 3">
            <a:extLst>
              <a:ext uri="{FF2B5EF4-FFF2-40B4-BE49-F238E27FC236}">
                <a16:creationId xmlns:a16="http://schemas.microsoft.com/office/drawing/2014/main" id="{763CAC12-DED1-4FB4-459F-DCE413DD4C72}"/>
              </a:ext>
            </a:extLst>
          </p:cNvPr>
          <p:cNvSpPr>
            <a:spLocks noGrp="1"/>
          </p:cNvSpPr>
          <p:nvPr>
            <p:ph type="sldNum" sz="quarter" idx="15"/>
          </p:nvPr>
        </p:nvSpPr>
        <p:spPr/>
        <p:txBody>
          <a:bodyPr/>
          <a:lstStyle/>
          <a:p>
            <a:r>
              <a:rPr lang="en-US"/>
              <a:t>/   </a:t>
            </a:r>
            <a:fld id="{6C7E6F33-74EE-5541-8108-8353B402F8C1}" type="slidenum">
              <a:rPr lang="en-US" smtClean="0"/>
              <a:pPr/>
              <a:t>73</a:t>
            </a:fld>
            <a:endParaRPr lang="en-US"/>
          </a:p>
        </p:txBody>
      </p:sp>
      <p:sp>
        <p:nvSpPr>
          <p:cNvPr id="5" name="Title 4">
            <a:extLst>
              <a:ext uri="{FF2B5EF4-FFF2-40B4-BE49-F238E27FC236}">
                <a16:creationId xmlns:a16="http://schemas.microsoft.com/office/drawing/2014/main" id="{AB0A3591-EE3C-7192-A292-8A45BD5D1372}"/>
              </a:ext>
            </a:extLst>
          </p:cNvPr>
          <p:cNvSpPr>
            <a:spLocks noGrp="1"/>
          </p:cNvSpPr>
          <p:nvPr>
            <p:ph type="title"/>
          </p:nvPr>
        </p:nvSpPr>
        <p:spPr/>
        <p:txBody>
          <a:bodyPr/>
          <a:lstStyle/>
          <a:p>
            <a:r>
              <a:rPr lang="en-US">
                <a:latin typeface="Munistic"/>
              </a:rPr>
              <a:t>Wind Analysis </a:t>
            </a:r>
            <a:endParaRPr lang="en-US"/>
          </a:p>
        </p:txBody>
      </p:sp>
      <p:sp>
        <p:nvSpPr>
          <p:cNvPr id="6" name="Text Placeholder 5">
            <a:extLst>
              <a:ext uri="{FF2B5EF4-FFF2-40B4-BE49-F238E27FC236}">
                <a16:creationId xmlns:a16="http://schemas.microsoft.com/office/drawing/2014/main" id="{47499556-131F-36D5-F7FF-CCF0C66FBAA2}"/>
              </a:ext>
            </a:extLst>
          </p:cNvPr>
          <p:cNvSpPr>
            <a:spLocks noGrp="1"/>
          </p:cNvSpPr>
          <p:nvPr>
            <p:ph type="body" sz="quarter" idx="13"/>
          </p:nvPr>
        </p:nvSpPr>
        <p:spPr/>
        <p:txBody>
          <a:bodyPr/>
          <a:lstStyle/>
          <a:p>
            <a:r>
              <a:rPr lang="en-US" sz="1850">
                <a:ea typeface="Source Sans Pro"/>
                <a:cs typeface="Calibri"/>
              </a:rPr>
              <a:t>Graphic</a:t>
            </a:r>
            <a:endParaRPr lang="en-US"/>
          </a:p>
        </p:txBody>
      </p:sp>
      <p:graphicFrame>
        <p:nvGraphicFramePr>
          <p:cNvPr id="9" name="Chart 8">
            <a:extLst>
              <a:ext uri="{FF2B5EF4-FFF2-40B4-BE49-F238E27FC236}">
                <a16:creationId xmlns:a16="http://schemas.microsoft.com/office/drawing/2014/main" id="{23979291-E3DB-08E5-9129-8892EC7F5236}"/>
              </a:ext>
            </a:extLst>
          </p:cNvPr>
          <p:cNvGraphicFramePr>
            <a:graphicFrameLocks/>
          </p:cNvGraphicFramePr>
          <p:nvPr>
            <p:extLst>
              <p:ext uri="{D42A27DB-BD31-4B8C-83A1-F6EECF244321}">
                <p14:modId xmlns:p14="http://schemas.microsoft.com/office/powerpoint/2010/main" val="1588166862"/>
              </p:ext>
            </p:extLst>
          </p:nvPr>
        </p:nvGraphicFramePr>
        <p:xfrm>
          <a:off x="1864258" y="1578955"/>
          <a:ext cx="8264480" cy="43495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473714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8465730-2002-FCB5-4EB7-3D20CA4F012A}"/>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DAE4AAE8-B224-5A1B-7F82-F0BD6430307D}"/>
              </a:ext>
            </a:extLst>
          </p:cNvPr>
          <p:cNvSpPr>
            <a:spLocks noGrp="1"/>
          </p:cNvSpPr>
          <p:nvPr>
            <p:ph type="sldNum" sz="quarter" idx="17"/>
          </p:nvPr>
        </p:nvSpPr>
        <p:spPr/>
        <p:txBody>
          <a:bodyPr/>
          <a:lstStyle/>
          <a:p>
            <a:r>
              <a:rPr lang="en-US"/>
              <a:t>/   </a:t>
            </a:r>
            <a:fld id="{6C7E6F33-74EE-5541-8108-8353B402F8C1}" type="slidenum">
              <a:rPr lang="en-US" smtClean="0"/>
              <a:pPr/>
              <a:t>74</a:t>
            </a:fld>
            <a:endParaRPr lang="en-US"/>
          </a:p>
        </p:txBody>
      </p:sp>
      <p:sp>
        <p:nvSpPr>
          <p:cNvPr id="5" name="Title 4">
            <a:extLst>
              <a:ext uri="{FF2B5EF4-FFF2-40B4-BE49-F238E27FC236}">
                <a16:creationId xmlns:a16="http://schemas.microsoft.com/office/drawing/2014/main" id="{23551391-AE8F-B026-0DB0-577DCFBA74B8}"/>
              </a:ext>
            </a:extLst>
          </p:cNvPr>
          <p:cNvSpPr>
            <a:spLocks noGrp="1"/>
          </p:cNvSpPr>
          <p:nvPr>
            <p:ph type="title"/>
          </p:nvPr>
        </p:nvSpPr>
        <p:spPr>
          <a:xfrm>
            <a:off x="531848" y="716984"/>
            <a:ext cx="6747546" cy="625567"/>
          </a:xfrm>
        </p:spPr>
        <p:txBody>
          <a:bodyPr/>
          <a:lstStyle/>
          <a:p>
            <a:r>
              <a:rPr lang="en-US"/>
              <a:t>Aerodynamics BOM</a:t>
            </a:r>
          </a:p>
        </p:txBody>
      </p:sp>
      <p:graphicFrame>
        <p:nvGraphicFramePr>
          <p:cNvPr id="2" name="Table 1">
            <a:extLst>
              <a:ext uri="{FF2B5EF4-FFF2-40B4-BE49-F238E27FC236}">
                <a16:creationId xmlns:a16="http://schemas.microsoft.com/office/drawing/2014/main" id="{B377736C-8CAD-E293-2557-6CF485F902D9}"/>
              </a:ext>
            </a:extLst>
          </p:cNvPr>
          <p:cNvGraphicFramePr>
            <a:graphicFrameLocks noGrp="1"/>
          </p:cNvGraphicFramePr>
          <p:nvPr>
            <p:extLst>
              <p:ext uri="{D42A27DB-BD31-4B8C-83A1-F6EECF244321}">
                <p14:modId xmlns:p14="http://schemas.microsoft.com/office/powerpoint/2010/main" val="1876478736"/>
              </p:ext>
            </p:extLst>
          </p:nvPr>
        </p:nvGraphicFramePr>
        <p:xfrm>
          <a:off x="612375" y="1465652"/>
          <a:ext cx="10967250" cy="3404009"/>
        </p:xfrm>
        <a:graphic>
          <a:graphicData uri="http://schemas.openxmlformats.org/drawingml/2006/table">
            <a:tbl>
              <a:tblPr bandRow="1">
                <a:tableStyleId>{5C22544A-7EE6-4342-B048-85BDC9FD1C3A}</a:tableStyleId>
              </a:tblPr>
              <a:tblGrid>
                <a:gridCol w="513182">
                  <a:extLst>
                    <a:ext uri="{9D8B030D-6E8A-4147-A177-3AD203B41FA5}">
                      <a16:colId xmlns:a16="http://schemas.microsoft.com/office/drawing/2014/main" val="360521789"/>
                    </a:ext>
                  </a:extLst>
                </a:gridCol>
                <a:gridCol w="2515339">
                  <a:extLst>
                    <a:ext uri="{9D8B030D-6E8A-4147-A177-3AD203B41FA5}">
                      <a16:colId xmlns:a16="http://schemas.microsoft.com/office/drawing/2014/main" val="3592925142"/>
                    </a:ext>
                  </a:extLst>
                </a:gridCol>
                <a:gridCol w="1228075">
                  <a:extLst>
                    <a:ext uri="{9D8B030D-6E8A-4147-A177-3AD203B41FA5}">
                      <a16:colId xmlns:a16="http://schemas.microsoft.com/office/drawing/2014/main" val="4284133082"/>
                    </a:ext>
                  </a:extLst>
                </a:gridCol>
                <a:gridCol w="1094912">
                  <a:extLst>
                    <a:ext uri="{9D8B030D-6E8A-4147-A177-3AD203B41FA5}">
                      <a16:colId xmlns:a16="http://schemas.microsoft.com/office/drawing/2014/main" val="3805788829"/>
                    </a:ext>
                  </a:extLst>
                </a:gridCol>
                <a:gridCol w="1020930">
                  <a:extLst>
                    <a:ext uri="{9D8B030D-6E8A-4147-A177-3AD203B41FA5}">
                      <a16:colId xmlns:a16="http://schemas.microsoft.com/office/drawing/2014/main" val="1106370287"/>
                    </a:ext>
                  </a:extLst>
                </a:gridCol>
                <a:gridCol w="932152">
                  <a:extLst>
                    <a:ext uri="{9D8B030D-6E8A-4147-A177-3AD203B41FA5}">
                      <a16:colId xmlns:a16="http://schemas.microsoft.com/office/drawing/2014/main" val="4149231578"/>
                    </a:ext>
                  </a:extLst>
                </a:gridCol>
                <a:gridCol w="872969">
                  <a:extLst>
                    <a:ext uri="{9D8B030D-6E8A-4147-A177-3AD203B41FA5}">
                      <a16:colId xmlns:a16="http://schemas.microsoft.com/office/drawing/2014/main" val="2483966670"/>
                    </a:ext>
                  </a:extLst>
                </a:gridCol>
                <a:gridCol w="981557">
                  <a:extLst>
                    <a:ext uri="{9D8B030D-6E8A-4147-A177-3AD203B41FA5}">
                      <a16:colId xmlns:a16="http://schemas.microsoft.com/office/drawing/2014/main" val="1056265578"/>
                    </a:ext>
                  </a:extLst>
                </a:gridCol>
                <a:gridCol w="761999">
                  <a:extLst>
                    <a:ext uri="{9D8B030D-6E8A-4147-A177-3AD203B41FA5}">
                      <a16:colId xmlns:a16="http://schemas.microsoft.com/office/drawing/2014/main" val="2897210559"/>
                    </a:ext>
                  </a:extLst>
                </a:gridCol>
                <a:gridCol w="1046135">
                  <a:extLst>
                    <a:ext uri="{9D8B030D-6E8A-4147-A177-3AD203B41FA5}">
                      <a16:colId xmlns:a16="http://schemas.microsoft.com/office/drawing/2014/main" val="3220668836"/>
                    </a:ext>
                  </a:extLst>
                </a:gridCol>
              </a:tblGrid>
              <a:tr h="317500">
                <a:tc>
                  <a:txBody>
                    <a:bodyPr/>
                    <a:lstStyle/>
                    <a:p>
                      <a:pPr algn="l" fontAlgn="b"/>
                      <a:endParaRPr lang="en-US" sz="1200" b="0" i="0" u="none" strike="noStrike">
                        <a:solidFill>
                          <a:srgbClr val="154734"/>
                        </a:solidFill>
                        <a:effectLst/>
                        <a:latin typeface="Times New Roman" panose="02020603050405020304" pitchFamily="18" charset="0"/>
                      </a:endParaRP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Description</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Part Number</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Supplier Link</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Unit Price</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Quantity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Subtotal</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Taxes</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Shipping</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Total</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extLst>
                  <a:ext uri="{0D108BD9-81ED-4DB2-BD59-A6C34878D82A}">
                    <a16:rowId xmlns:a16="http://schemas.microsoft.com/office/drawing/2014/main" val="2229692858"/>
                  </a:ext>
                </a:extLst>
              </a:tr>
              <a:tr h="317500">
                <a:tc>
                  <a:txBody>
                    <a:bodyPr/>
                    <a:lstStyle/>
                    <a:p>
                      <a:pPr algn="l" fontAlgn="b"/>
                      <a:r>
                        <a:rPr lang="en-US" sz="1600" b="0" i="0" u="none" strike="noStrike">
                          <a:solidFill>
                            <a:srgbClr val="000000"/>
                          </a:solidFill>
                          <a:effectLst/>
                          <a:latin typeface="Times New Roman"/>
                        </a:rPr>
                        <a:t>1</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Vaccuum Bag</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sng" strike="noStrike">
                          <a:solidFill>
                            <a:srgbClr val="467886"/>
                          </a:solidFill>
                          <a:effectLst/>
                          <a:latin typeface="Aptos Narrow"/>
                          <a:hlinkClick r:id="rId3"/>
                        </a:rPr>
                        <a:t>Link</a:t>
                      </a:r>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$3.33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$166.5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802448835"/>
                  </a:ext>
                </a:extLst>
              </a:tr>
              <a:tr h="317500">
                <a:tc>
                  <a:txBody>
                    <a:bodyPr/>
                    <a:lstStyle/>
                    <a:p>
                      <a:pPr algn="l" fontAlgn="b"/>
                      <a:r>
                        <a:rPr lang="en-US" sz="1600" b="0" i="0" u="none" strike="noStrike">
                          <a:solidFill>
                            <a:srgbClr val="000000"/>
                          </a:solidFill>
                          <a:effectLst/>
                          <a:latin typeface="Times New Roman"/>
                        </a:rPr>
                        <a:t>2</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242424"/>
                          </a:solidFill>
                          <a:effectLst/>
                          <a:latin typeface="Aptos Narrow"/>
                        </a:rPr>
                        <a:t>Heat-Shrink Tape</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a:hlinkClick r:id="rId4"/>
                        </a:rPr>
                        <a:t>Link</a:t>
                      </a:r>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$22.88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$45.76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1578019327"/>
                  </a:ext>
                </a:extLst>
              </a:tr>
              <a:tr h="317500">
                <a:tc>
                  <a:txBody>
                    <a:bodyPr/>
                    <a:lstStyle/>
                    <a:p>
                      <a:pPr algn="l" fontAlgn="b"/>
                      <a:r>
                        <a:rPr lang="en-US" sz="1600" b="0" i="0" u="none" strike="noStrike">
                          <a:solidFill>
                            <a:srgbClr val="000000"/>
                          </a:solidFill>
                          <a:effectLst/>
                          <a:latin typeface="Times New Roman"/>
                        </a:rPr>
                        <a:t>3</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2633894003"/>
                  </a:ext>
                </a:extLst>
              </a:tr>
              <a:tr h="317500">
                <a:tc>
                  <a:txBody>
                    <a:bodyPr/>
                    <a:lstStyle/>
                    <a:p>
                      <a:pPr algn="l" fontAlgn="b"/>
                      <a:r>
                        <a:rPr lang="en-US" sz="1600" b="0" i="0" u="none" strike="noStrike">
                          <a:solidFill>
                            <a:srgbClr val="000000"/>
                          </a:solidFill>
                          <a:effectLst/>
                          <a:latin typeface="Times New Roman"/>
                        </a:rPr>
                        <a:t>4</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2821986693"/>
                  </a:ext>
                </a:extLst>
              </a:tr>
              <a:tr h="317500">
                <a:tc>
                  <a:txBody>
                    <a:bodyPr/>
                    <a:lstStyle/>
                    <a:p>
                      <a:pPr algn="l" fontAlgn="b"/>
                      <a:r>
                        <a:rPr lang="en-US" sz="1600" b="0" i="0" u="none" strike="noStrike">
                          <a:solidFill>
                            <a:srgbClr val="000000"/>
                          </a:solidFill>
                          <a:effectLst/>
                          <a:latin typeface="Times New Roman"/>
                        </a:rPr>
                        <a:t>5</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1415085590"/>
                  </a:ext>
                </a:extLst>
              </a:tr>
              <a:tr h="488271">
                <a:tc>
                  <a:txBody>
                    <a:bodyPr/>
                    <a:lstStyle/>
                    <a:p>
                      <a:pPr lvl="0" algn="l">
                        <a:buNone/>
                      </a:pPr>
                      <a:r>
                        <a:rPr lang="en-US" sz="1600" b="0" i="0" u="none" strike="noStrike">
                          <a:solidFill>
                            <a:srgbClr val="000000"/>
                          </a:solidFill>
                          <a:effectLst/>
                          <a:latin typeface="Times New Roman"/>
                        </a:rPr>
                        <a:t>6</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endParaRPr lang="en-US" sz="1600" b="0" i="0" u="none" strike="noStrike" baseline="0" noProof="0">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endParaRPr lang="en-US" sz="1600" b="0" i="0" u="sng" strike="noStrike" kern="1200">
                        <a:solidFill>
                          <a:srgbClr val="467886"/>
                        </a:solidFill>
                        <a:effectLst/>
                        <a:latin typeface="Aptos Narrow"/>
                        <a:ea typeface="+mn-ea"/>
                        <a:cs typeface="+mn-cs"/>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38326024"/>
                  </a:ext>
                </a:extLst>
              </a:tr>
              <a:tr h="317500">
                <a:tc>
                  <a:txBody>
                    <a:bodyPr/>
                    <a:lstStyle/>
                    <a:p>
                      <a:pPr algn="l" fontAlgn="b"/>
                      <a:r>
                        <a:rPr lang="en-US" sz="1600" b="0" i="0" u="none" strike="noStrike">
                          <a:solidFill>
                            <a:srgbClr val="000000"/>
                          </a:solidFill>
                          <a:effectLst/>
                          <a:latin typeface="Times New Roman"/>
                        </a:rPr>
                        <a:t>7</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1037611048"/>
                  </a:ext>
                </a:extLst>
              </a:tr>
              <a:tr h="375738">
                <a:tc>
                  <a:txBody>
                    <a:bodyPr/>
                    <a:lstStyle/>
                    <a:p>
                      <a:pPr algn="l" fontAlgn="b"/>
                      <a:r>
                        <a:rPr lang="en-US" sz="1600" b="0" i="0" u="none" strike="noStrike">
                          <a:solidFill>
                            <a:srgbClr val="000000"/>
                          </a:solidFill>
                          <a:effectLst/>
                          <a:latin typeface="Times New Roman"/>
                        </a:rPr>
                        <a:t>8</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marL="0" algn="l" defTabSz="914377" rtl="0" eaLnBrk="1" fontAlgn="b" latinLnBrk="0" hangingPunct="1"/>
                      <a:r>
                        <a:rPr lang="en-US" sz="1600" b="0" i="0" u="none" strike="noStrike" kern="1200">
                          <a:solidFill>
                            <a:srgbClr val="000000"/>
                          </a:solidFill>
                          <a:effectLst/>
                          <a:latin typeface="Times New Roman"/>
                          <a:ea typeface="+mn-ea"/>
                          <a:cs typeface="+mn-cs"/>
                        </a:rPr>
                        <a:t>$</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noFill/>
                      <a:prstDash val="solid"/>
                      <a:round/>
                      <a:headEnd type="none" w="med" len="med"/>
                      <a:tailEnd type="none" w="med" len="med"/>
                    </a:lnT>
                    <a:lnB w="0" cap="flat" cmpd="sng" algn="ctr">
                      <a:noFill/>
                      <a:prstDash val="solid"/>
                      <a:round/>
                      <a:headEnd type="none" w="med" len="med"/>
                      <a:tailEnd type="none" w="med" len="med"/>
                    </a:lnB>
                    <a:solidFill>
                      <a:srgbClr val="E7E9E9"/>
                    </a:solidFill>
                  </a:tcPr>
                </a:tc>
                <a:tc>
                  <a:txBody>
                    <a:bodyPr/>
                    <a:lstStyle/>
                    <a:p>
                      <a:pPr marL="0" algn="l" defTabSz="914377" rtl="0" eaLnBrk="1" fontAlgn="b" latinLnBrk="0" hangingPunct="1"/>
                      <a:r>
                        <a:rPr lang="en-US" sz="1600" b="0" i="0" u="none" strike="noStrike" kern="1200">
                          <a:solidFill>
                            <a:srgbClr val="000000"/>
                          </a:solidFill>
                          <a:effectLst/>
                          <a:latin typeface="Times New Roman"/>
                          <a:ea typeface="+mn-ea"/>
                          <a:cs typeface="+mn-cs"/>
                        </a:rPr>
                        <a:t>$</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noFill/>
                      <a:prstDash val="solid"/>
                      <a:round/>
                      <a:headEnd type="none" w="med" len="med"/>
                      <a:tailEnd type="none" w="med" len="med"/>
                    </a:lnT>
                    <a:lnB w="0" cap="flat" cmpd="sng" algn="ctr">
                      <a:no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E7E9E9"/>
                    </a:solidFill>
                  </a:tcPr>
                </a:tc>
                <a:extLst>
                  <a:ext uri="{0D108BD9-81ED-4DB2-BD59-A6C34878D82A}">
                    <a16:rowId xmlns:a16="http://schemas.microsoft.com/office/drawing/2014/main" val="845165910"/>
                  </a:ext>
                </a:extLst>
              </a:tr>
              <a:tr h="317500">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no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noFill/>
                  </a:tcPr>
                </a:tc>
                <a:tc>
                  <a:txBody>
                    <a:bodyPr/>
                    <a:lstStyle/>
                    <a:p>
                      <a:pPr algn="l" fontAlgn="b"/>
                      <a:r>
                        <a:rPr lang="en-US" sz="1600" b="1" i="0" u="sng" strike="noStrike">
                          <a:solidFill>
                            <a:srgbClr val="000000"/>
                          </a:solidFill>
                          <a:effectLst/>
                          <a:latin typeface="Aptos Narrow"/>
                        </a:rPr>
                        <a:t>TOTAL: </a:t>
                      </a:r>
                    </a:p>
                  </a:txBody>
                  <a:tcPr marL="9525" marR="9525" marT="9525" marB="0" anchor="b">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1" i="0" u="sng" strike="noStrike">
                          <a:solidFill>
                            <a:srgbClr val="000000"/>
                          </a:solidFill>
                          <a:effectLst/>
                          <a:latin typeface="Aptos Narrow"/>
                        </a:rPr>
                        <a:t>$212.26</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noFill/>
                      <a:prstDash val="solid"/>
                      <a:round/>
                      <a:headEnd type="none" w="med" len="med"/>
                      <a:tailEnd type="none" w="med" len="med"/>
                    </a:lnT>
                    <a:lnB w="0" cap="flat" cmpd="sng" algn="ctr">
                      <a:noFill/>
                      <a:prstDash val="solid"/>
                      <a:round/>
                      <a:headEnd type="none" w="med" len="med"/>
                      <a:tailEnd type="none" w="med" len="med"/>
                    </a:lnB>
                    <a:solidFill>
                      <a:srgbClr val="CBD1CF"/>
                    </a:solidFill>
                  </a:tcPr>
                </a:tc>
                <a:extLst>
                  <a:ext uri="{0D108BD9-81ED-4DB2-BD59-A6C34878D82A}">
                    <a16:rowId xmlns:a16="http://schemas.microsoft.com/office/drawing/2014/main" val="2638035087"/>
                  </a:ext>
                </a:extLst>
              </a:tr>
            </a:tbl>
          </a:graphicData>
        </a:graphic>
      </p:graphicFrame>
    </p:spTree>
    <p:extLst>
      <p:ext uri="{BB962C8B-B14F-4D97-AF65-F5344CB8AC3E}">
        <p14:creationId xmlns:p14="http://schemas.microsoft.com/office/powerpoint/2010/main" val="33597081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8465730-2002-FCB5-4EB7-3D20CA4F012A}"/>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DAE4AAE8-B224-5A1B-7F82-F0BD6430307D}"/>
              </a:ext>
            </a:extLst>
          </p:cNvPr>
          <p:cNvSpPr>
            <a:spLocks noGrp="1"/>
          </p:cNvSpPr>
          <p:nvPr>
            <p:ph type="sldNum" sz="quarter" idx="17"/>
          </p:nvPr>
        </p:nvSpPr>
        <p:spPr/>
        <p:txBody>
          <a:bodyPr/>
          <a:lstStyle/>
          <a:p>
            <a:r>
              <a:rPr lang="en-US"/>
              <a:t>/   </a:t>
            </a:r>
            <a:fld id="{6C7E6F33-74EE-5541-8108-8353B402F8C1}" type="slidenum">
              <a:rPr lang="en-US" smtClean="0"/>
              <a:pPr/>
              <a:t>75</a:t>
            </a:fld>
            <a:endParaRPr lang="en-US"/>
          </a:p>
        </p:txBody>
      </p:sp>
      <p:sp>
        <p:nvSpPr>
          <p:cNvPr id="5" name="Title 4">
            <a:extLst>
              <a:ext uri="{FF2B5EF4-FFF2-40B4-BE49-F238E27FC236}">
                <a16:creationId xmlns:a16="http://schemas.microsoft.com/office/drawing/2014/main" id="{23551391-AE8F-B026-0DB0-577DCFBA74B8}"/>
              </a:ext>
            </a:extLst>
          </p:cNvPr>
          <p:cNvSpPr>
            <a:spLocks noGrp="1"/>
          </p:cNvSpPr>
          <p:nvPr>
            <p:ph type="title"/>
          </p:nvPr>
        </p:nvSpPr>
        <p:spPr>
          <a:xfrm>
            <a:off x="531848" y="716984"/>
            <a:ext cx="6747546" cy="625567"/>
          </a:xfrm>
        </p:spPr>
        <p:txBody>
          <a:bodyPr/>
          <a:lstStyle/>
          <a:p>
            <a:r>
              <a:rPr lang="en-US">
                <a:latin typeface="Munistic"/>
              </a:rPr>
              <a:t>Next Steps</a:t>
            </a:r>
            <a:endParaRPr lang="en-US"/>
          </a:p>
        </p:txBody>
      </p:sp>
      <p:sp>
        <p:nvSpPr>
          <p:cNvPr id="6" name="TextBox 5">
            <a:extLst>
              <a:ext uri="{FF2B5EF4-FFF2-40B4-BE49-F238E27FC236}">
                <a16:creationId xmlns:a16="http://schemas.microsoft.com/office/drawing/2014/main" id="{9537F276-BD0D-84CC-8ABD-3B68D643C8A0}"/>
              </a:ext>
            </a:extLst>
          </p:cNvPr>
          <p:cNvSpPr txBox="1"/>
          <p:nvPr/>
        </p:nvSpPr>
        <p:spPr>
          <a:xfrm>
            <a:off x="423362" y="1969533"/>
            <a:ext cx="646662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endParaRPr lang="en-US" sz="2000">
              <a:ea typeface="Calibri"/>
              <a:cs typeface="Calibri"/>
            </a:endParaRPr>
          </a:p>
          <a:p>
            <a:pPr marL="285750" indent="-285750">
              <a:buFont typeface="Arial" panose="020B0604020202020204" pitchFamily="34" charset="0"/>
              <a:buChar char="•"/>
            </a:pPr>
            <a:endParaRPr lang="en-US" sz="2000">
              <a:ea typeface="Calibri"/>
              <a:cs typeface="Calibri"/>
            </a:endParaRPr>
          </a:p>
          <a:p>
            <a:pPr marL="285750" indent="-285750">
              <a:buFont typeface="Arial" panose="020B0604020202020204" pitchFamily="34" charset="0"/>
              <a:buChar char="•"/>
            </a:pPr>
            <a:endParaRPr lang="en-US" sz="2000">
              <a:ea typeface="Calibri"/>
              <a:cs typeface="Calibri"/>
            </a:endParaRPr>
          </a:p>
          <a:p>
            <a:endParaRPr lang="en-US" sz="2000">
              <a:ea typeface="Calibri"/>
              <a:cs typeface="Calibri"/>
            </a:endParaRPr>
          </a:p>
        </p:txBody>
      </p:sp>
      <p:sp>
        <p:nvSpPr>
          <p:cNvPr id="7" name="TextBox 6">
            <a:extLst>
              <a:ext uri="{FF2B5EF4-FFF2-40B4-BE49-F238E27FC236}">
                <a16:creationId xmlns:a16="http://schemas.microsoft.com/office/drawing/2014/main" id="{9BAC60E4-201F-EC3B-E9A0-141EAF631867}"/>
              </a:ext>
            </a:extLst>
          </p:cNvPr>
          <p:cNvSpPr txBox="1"/>
          <p:nvPr/>
        </p:nvSpPr>
        <p:spPr>
          <a:xfrm>
            <a:off x="672310" y="1753544"/>
            <a:ext cx="646662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2000">
                <a:ea typeface="Calibri"/>
                <a:cs typeface="Calibri"/>
              </a:rPr>
              <a:t>Start Composite Manufacturing</a:t>
            </a:r>
          </a:p>
          <a:p>
            <a:pPr marL="285750" indent="-285750">
              <a:buFont typeface="Arial" panose="020B0604020202020204" pitchFamily="34" charset="0"/>
              <a:buChar char="•"/>
            </a:pPr>
            <a:endParaRPr lang="en-US" sz="2000">
              <a:ea typeface="Calibri"/>
              <a:cs typeface="Calibri"/>
            </a:endParaRPr>
          </a:p>
          <a:p>
            <a:pPr marL="285750" indent="-285750">
              <a:buFont typeface="Arial" panose="020B0604020202020204" pitchFamily="34" charset="0"/>
              <a:buChar char="•"/>
            </a:pPr>
            <a:r>
              <a:rPr lang="en-US" sz="2000">
                <a:ea typeface="Calibri"/>
                <a:cs typeface="Calibri"/>
              </a:rPr>
              <a:t>Collect real weights as parts get manufactured</a:t>
            </a:r>
            <a:endParaRPr lang="en-US"/>
          </a:p>
          <a:p>
            <a:pPr marL="742950" lvl="1" indent="-285750">
              <a:buFont typeface="Arial" panose="020B0604020202020204" pitchFamily="34" charset="0"/>
              <a:buChar char="•"/>
            </a:pPr>
            <a:endParaRPr lang="en-US" sz="2000">
              <a:ea typeface="Calibri"/>
              <a:cs typeface="Calibri"/>
            </a:endParaRPr>
          </a:p>
          <a:p>
            <a:pPr marL="285750" indent="-285750">
              <a:buFont typeface="Arial" panose="020B0604020202020204" pitchFamily="34" charset="0"/>
              <a:buChar char="•"/>
            </a:pPr>
            <a:endParaRPr lang="en-US" sz="2000">
              <a:ea typeface="Calibri"/>
              <a:cs typeface="Calibri"/>
            </a:endParaRPr>
          </a:p>
          <a:p>
            <a:pPr marL="742950" lvl="1" indent="-285750">
              <a:buFont typeface="Arial" panose="020B0604020202020204" pitchFamily="34" charset="0"/>
              <a:buChar char="•"/>
            </a:pPr>
            <a:endParaRPr lang="en-US" sz="2000">
              <a:ea typeface="Calibri"/>
              <a:cs typeface="Calibri"/>
            </a:endParaRPr>
          </a:p>
          <a:p>
            <a:pPr lvl="1"/>
            <a:endParaRPr lang="en-US" sz="2000">
              <a:ea typeface="Calibri"/>
              <a:cs typeface="Calibri"/>
            </a:endParaRPr>
          </a:p>
          <a:p>
            <a:pPr marL="285750" indent="-285750">
              <a:buFont typeface="Arial" panose="020B0604020202020204" pitchFamily="34" charset="0"/>
              <a:buChar char="•"/>
            </a:pPr>
            <a:endParaRPr lang="en-US" sz="2000">
              <a:ea typeface="Calibri"/>
              <a:cs typeface="Calibri"/>
            </a:endParaRPr>
          </a:p>
          <a:p>
            <a:endParaRPr lang="en-US" sz="2000">
              <a:ea typeface="Calibri"/>
              <a:cs typeface="Calibri"/>
            </a:endParaRPr>
          </a:p>
        </p:txBody>
      </p:sp>
    </p:spTree>
    <p:extLst>
      <p:ext uri="{BB962C8B-B14F-4D97-AF65-F5344CB8AC3E}">
        <p14:creationId xmlns:p14="http://schemas.microsoft.com/office/powerpoint/2010/main" val="14410466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77EE301-EF74-4A9E-5E64-212E95EFC89F}"/>
              </a:ext>
            </a:extLst>
          </p:cNvPr>
          <p:cNvSpPr>
            <a:spLocks noGrp="1"/>
          </p:cNvSpPr>
          <p:nvPr>
            <p:ph type="ftr" sz="quarter" idx="14"/>
          </p:nvPr>
        </p:nvSpPr>
        <p:spPr/>
        <p:txBody>
          <a:bodyPr/>
          <a:lstStyle/>
          <a:p>
            <a:r>
              <a:rPr lang="en-US" sz="900">
                <a:latin typeface="Source Sans Pro"/>
                <a:ea typeface="Source Sans Pro"/>
              </a:rPr>
              <a:t>ARCHERFISH CDR</a:t>
            </a:r>
            <a:endParaRPr lang="en-US"/>
          </a:p>
        </p:txBody>
      </p:sp>
      <p:sp>
        <p:nvSpPr>
          <p:cNvPr id="3" name="Slide Number Placeholder 2">
            <a:extLst>
              <a:ext uri="{FF2B5EF4-FFF2-40B4-BE49-F238E27FC236}">
                <a16:creationId xmlns:a16="http://schemas.microsoft.com/office/drawing/2014/main" id="{9461EF38-5B7E-D8E4-018D-61076F192C47}"/>
              </a:ext>
            </a:extLst>
          </p:cNvPr>
          <p:cNvSpPr>
            <a:spLocks noGrp="1"/>
          </p:cNvSpPr>
          <p:nvPr>
            <p:ph type="sldNum" sz="quarter" idx="15"/>
          </p:nvPr>
        </p:nvSpPr>
        <p:spPr/>
        <p:txBody>
          <a:bodyPr/>
          <a:lstStyle/>
          <a:p>
            <a:r>
              <a:rPr lang="en-US"/>
              <a:t>/   </a:t>
            </a:r>
            <a:fld id="{6C7E6F33-74EE-5541-8108-8353B402F8C1}" type="slidenum">
              <a:rPr lang="en-US" smtClean="0"/>
              <a:pPr/>
              <a:t>76</a:t>
            </a:fld>
            <a:endParaRPr lang="en-US"/>
          </a:p>
        </p:txBody>
      </p:sp>
      <p:sp>
        <p:nvSpPr>
          <p:cNvPr id="4" name="Title 3">
            <a:extLst>
              <a:ext uri="{FF2B5EF4-FFF2-40B4-BE49-F238E27FC236}">
                <a16:creationId xmlns:a16="http://schemas.microsoft.com/office/drawing/2014/main" id="{6C387258-253F-B15A-A835-859F2DB3CF26}"/>
              </a:ext>
            </a:extLst>
          </p:cNvPr>
          <p:cNvSpPr>
            <a:spLocks noGrp="1"/>
          </p:cNvSpPr>
          <p:nvPr>
            <p:ph type="title"/>
          </p:nvPr>
        </p:nvSpPr>
        <p:spPr/>
        <p:txBody>
          <a:bodyPr/>
          <a:lstStyle/>
          <a:p>
            <a:r>
              <a:rPr lang="en-US"/>
              <a:t>Overall Model</a:t>
            </a:r>
          </a:p>
        </p:txBody>
      </p:sp>
      <p:sp>
        <p:nvSpPr>
          <p:cNvPr id="5" name="Text Placeholder 4">
            <a:extLst>
              <a:ext uri="{FF2B5EF4-FFF2-40B4-BE49-F238E27FC236}">
                <a16:creationId xmlns:a16="http://schemas.microsoft.com/office/drawing/2014/main" id="{87FA6E0E-A839-9590-94BF-E5E3CC864874}"/>
              </a:ext>
            </a:extLst>
          </p:cNvPr>
          <p:cNvSpPr>
            <a:spLocks noGrp="1"/>
          </p:cNvSpPr>
          <p:nvPr>
            <p:ph type="body" sz="quarter" idx="13"/>
          </p:nvPr>
        </p:nvSpPr>
        <p:spPr/>
        <p:txBody>
          <a:bodyPr/>
          <a:lstStyle/>
          <a:p>
            <a:endParaRPr lang="en-US"/>
          </a:p>
        </p:txBody>
      </p:sp>
      <p:sp>
        <p:nvSpPr>
          <p:cNvPr id="12" name="Text Placeholder 1">
            <a:extLst>
              <a:ext uri="{FF2B5EF4-FFF2-40B4-BE49-F238E27FC236}">
                <a16:creationId xmlns:a16="http://schemas.microsoft.com/office/drawing/2014/main" id="{E427A637-F80E-523A-C529-47F6E93A989B}"/>
              </a:ext>
            </a:extLst>
          </p:cNvPr>
          <p:cNvSpPr txBox="1">
            <a:spLocks/>
          </p:cNvSpPr>
          <p:nvPr/>
        </p:nvSpPr>
        <p:spPr>
          <a:xfrm>
            <a:off x="4899268" y="5439977"/>
            <a:ext cx="2393462" cy="352898"/>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5.7</a:t>
            </a:r>
            <a:r>
              <a:rPr lang="en-US" sz="1850">
                <a:ea typeface="Source Sans Pro"/>
              </a:rPr>
              <a:t> Overall Model</a:t>
            </a:r>
          </a:p>
        </p:txBody>
      </p:sp>
    </p:spTree>
    <p:extLst>
      <p:ext uri="{BB962C8B-B14F-4D97-AF65-F5344CB8AC3E}">
        <p14:creationId xmlns:p14="http://schemas.microsoft.com/office/powerpoint/2010/main" val="19603335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2BA43-228A-6109-90A8-4F6E91A2A858}"/>
              </a:ext>
            </a:extLst>
          </p:cNvPr>
          <p:cNvSpPr>
            <a:spLocks noGrp="1"/>
          </p:cNvSpPr>
          <p:nvPr>
            <p:ph type="title"/>
          </p:nvPr>
        </p:nvSpPr>
        <p:spPr/>
        <p:txBody>
          <a:bodyPr/>
          <a:lstStyle/>
          <a:p>
            <a:r>
              <a:rPr lang="en-US"/>
              <a:t>Structures</a:t>
            </a:r>
          </a:p>
        </p:txBody>
      </p:sp>
      <p:sp>
        <p:nvSpPr>
          <p:cNvPr id="3" name="Text Placeholder 2">
            <a:extLst>
              <a:ext uri="{FF2B5EF4-FFF2-40B4-BE49-F238E27FC236}">
                <a16:creationId xmlns:a16="http://schemas.microsoft.com/office/drawing/2014/main" id="{12AE0B62-5AE0-F901-AAED-93F829B5220C}"/>
              </a:ext>
            </a:extLst>
          </p:cNvPr>
          <p:cNvSpPr>
            <a:spLocks noGrp="1"/>
          </p:cNvSpPr>
          <p:nvPr>
            <p:ph type="body" sz="quarter" idx="11"/>
          </p:nvPr>
        </p:nvSpPr>
        <p:spPr/>
        <p:txBody>
          <a:bodyPr/>
          <a:lstStyle/>
          <a:p>
            <a:r>
              <a:rPr lang="en-US" sz="2000">
                <a:ea typeface="Source Sans Pro"/>
              </a:rPr>
              <a:t>Presented by: </a:t>
            </a:r>
            <a:r>
              <a:rPr lang="en-US"/>
              <a:t>Timothy Barry</a:t>
            </a:r>
          </a:p>
        </p:txBody>
      </p:sp>
    </p:spTree>
    <p:extLst>
      <p:ext uri="{BB962C8B-B14F-4D97-AF65-F5344CB8AC3E}">
        <p14:creationId xmlns:p14="http://schemas.microsoft.com/office/powerpoint/2010/main" val="15358101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D97EFCE-43F5-E025-5BB6-0EA622704FE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5CA94D2-6547-5010-45D3-688FA8E82BB7}"/>
              </a:ext>
            </a:extLst>
          </p:cNvPr>
          <p:cNvSpPr>
            <a:spLocks noGrp="1"/>
          </p:cNvSpPr>
          <p:nvPr>
            <p:ph type="sldNum" sz="quarter" idx="17"/>
          </p:nvPr>
        </p:nvSpPr>
        <p:spPr/>
        <p:txBody>
          <a:bodyPr/>
          <a:lstStyle/>
          <a:p>
            <a:r>
              <a:rPr lang="en-US"/>
              <a:t>/   </a:t>
            </a:r>
            <a:fld id="{6C7E6F33-74EE-5541-8108-8353B402F8C1}" type="slidenum">
              <a:rPr lang="en-US" smtClean="0"/>
              <a:pPr/>
              <a:t>78</a:t>
            </a:fld>
            <a:endParaRPr lang="en-US"/>
          </a:p>
        </p:txBody>
      </p:sp>
      <p:sp>
        <p:nvSpPr>
          <p:cNvPr id="5" name="Title 4">
            <a:extLst>
              <a:ext uri="{FF2B5EF4-FFF2-40B4-BE49-F238E27FC236}">
                <a16:creationId xmlns:a16="http://schemas.microsoft.com/office/drawing/2014/main" id="{501E42CD-CF3C-85B2-F501-BD8D225CD604}"/>
              </a:ext>
            </a:extLst>
          </p:cNvPr>
          <p:cNvSpPr>
            <a:spLocks noGrp="1"/>
          </p:cNvSpPr>
          <p:nvPr>
            <p:ph type="title"/>
          </p:nvPr>
        </p:nvSpPr>
        <p:spPr/>
        <p:txBody>
          <a:bodyPr/>
          <a:lstStyle/>
          <a:p>
            <a:r>
              <a:rPr lang="en-US">
                <a:latin typeface="Munistic"/>
              </a:rPr>
              <a:t>Content:</a:t>
            </a:r>
            <a:endParaRPr lang="en-US"/>
          </a:p>
        </p:txBody>
      </p:sp>
      <p:sp>
        <p:nvSpPr>
          <p:cNvPr id="7" name="TextBox 6">
            <a:extLst>
              <a:ext uri="{FF2B5EF4-FFF2-40B4-BE49-F238E27FC236}">
                <a16:creationId xmlns:a16="http://schemas.microsoft.com/office/drawing/2014/main" id="{766231E3-4AB2-9EB9-A3B8-70FC88640C9E}"/>
              </a:ext>
            </a:extLst>
          </p:cNvPr>
          <p:cNvSpPr txBox="1"/>
          <p:nvPr/>
        </p:nvSpPr>
        <p:spPr>
          <a:xfrm>
            <a:off x="533186" y="1335868"/>
            <a:ext cx="11393236" cy="27230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08965" indent="-456565">
              <a:lnSpc>
                <a:spcPct val="114999"/>
              </a:lnSpc>
              <a:buFont typeface="Arial"/>
              <a:buChar char="•"/>
            </a:pPr>
            <a:r>
              <a:rPr lang="en-US" sz="1900">
                <a:latin typeface="Calibri"/>
                <a:ea typeface="Calibri"/>
                <a:cs typeface="Arial"/>
              </a:rPr>
              <a:t>Materials of everything</a:t>
            </a:r>
          </a:p>
          <a:p>
            <a:pPr marL="608965" indent="-456565">
              <a:lnSpc>
                <a:spcPct val="114999"/>
              </a:lnSpc>
              <a:buFont typeface="Arial"/>
              <a:buChar char="•"/>
            </a:pPr>
            <a:r>
              <a:rPr lang="en-US" sz="1900">
                <a:latin typeface="Calibri"/>
                <a:ea typeface="Calibri"/>
                <a:cs typeface="Arial"/>
              </a:rPr>
              <a:t>Bulkheads, couplers, AV bay, recovery tube design</a:t>
            </a:r>
          </a:p>
          <a:p>
            <a:pPr marL="608965" indent="-456565">
              <a:lnSpc>
                <a:spcPct val="114999"/>
              </a:lnSpc>
              <a:buFont typeface="Arial"/>
              <a:buChar char="•"/>
            </a:pPr>
            <a:r>
              <a:rPr lang="en-US" sz="1900">
                <a:latin typeface="Calibri"/>
                <a:ea typeface="Calibri"/>
                <a:cs typeface="Arial"/>
              </a:rPr>
              <a:t>Bending calc of AV bay, couplers, etc.</a:t>
            </a:r>
          </a:p>
          <a:p>
            <a:pPr marL="608965" indent="-456565">
              <a:lnSpc>
                <a:spcPct val="114999"/>
              </a:lnSpc>
              <a:buFont typeface="Arial"/>
              <a:buChar char="•"/>
            </a:pPr>
            <a:r>
              <a:rPr lang="en-US" sz="1900">
                <a:latin typeface="Calibri"/>
                <a:ea typeface="Calibri"/>
                <a:cs typeface="Arial"/>
              </a:rPr>
              <a:t>CAD models of what currently have</a:t>
            </a:r>
          </a:p>
          <a:p>
            <a:pPr marL="608965" indent="-456565">
              <a:lnSpc>
                <a:spcPct val="114999"/>
              </a:lnSpc>
              <a:buFont typeface="Arial"/>
              <a:buChar char="•"/>
            </a:pPr>
            <a:r>
              <a:rPr lang="en-US" sz="1900">
                <a:latin typeface="Calibri"/>
                <a:ea typeface="Calibri"/>
                <a:cs typeface="Arial"/>
              </a:rPr>
              <a:t>Include risks/concern slide if you want, leaving it in </a:t>
            </a:r>
            <a:r>
              <a:rPr lang="en-US" sz="1900" err="1">
                <a:latin typeface="Calibri" panose="020F0502020204030204"/>
                <a:ea typeface="Calibri"/>
                <a:cs typeface="Arial"/>
              </a:rPr>
              <a:t>slidedeck</a:t>
            </a:r>
            <a:endParaRPr lang="en-US" sz="1900">
              <a:latin typeface="Calibri" panose="020F0502020204030204"/>
              <a:ea typeface="Calibri"/>
              <a:cs typeface="Arial"/>
            </a:endParaRPr>
          </a:p>
          <a:p>
            <a:pPr marL="608965" indent="-456565">
              <a:lnSpc>
                <a:spcPct val="114999"/>
              </a:lnSpc>
              <a:buFont typeface="Arial"/>
              <a:buChar char="•"/>
            </a:pPr>
            <a:endParaRPr lang="en-US" sz="1900">
              <a:latin typeface="Calibri" panose="020F0502020204030204"/>
              <a:ea typeface="Calibri"/>
              <a:cs typeface="Arial"/>
            </a:endParaRPr>
          </a:p>
          <a:p>
            <a:pPr marL="608965" indent="-456565">
              <a:lnSpc>
                <a:spcPct val="114999"/>
              </a:lnSpc>
              <a:buFont typeface="Arial"/>
              <a:buChar char="•"/>
            </a:pPr>
            <a:endParaRPr lang="en-US" sz="1900">
              <a:latin typeface="Calibri" panose="020F0502020204030204"/>
              <a:ea typeface="Calibri"/>
              <a:cs typeface="Arial"/>
            </a:endParaRPr>
          </a:p>
          <a:p>
            <a:endParaRPr lang="en-US">
              <a:latin typeface="Calibri" panose="020F0502020204030204"/>
              <a:ea typeface="Calibri"/>
              <a:cs typeface="Calibri"/>
            </a:endParaRPr>
          </a:p>
        </p:txBody>
      </p:sp>
      <p:sp>
        <p:nvSpPr>
          <p:cNvPr id="3" name="Footer Placeholder 2">
            <a:extLst>
              <a:ext uri="{FF2B5EF4-FFF2-40B4-BE49-F238E27FC236}">
                <a16:creationId xmlns:a16="http://schemas.microsoft.com/office/drawing/2014/main" id="{472666A9-D43B-21C8-6324-0ED2DF52D753}"/>
              </a:ext>
            </a:extLst>
          </p:cNvPr>
          <p:cNvSpPr>
            <a:spLocks noGrp="1"/>
          </p:cNvSpPr>
          <p:nvPr>
            <p:ph type="ftr" sz="quarter" idx="16"/>
          </p:nvPr>
        </p:nvSpPr>
        <p:spPr>
          <a:xfrm>
            <a:off x="7491867" y="6351113"/>
            <a:ext cx="4114800" cy="366183"/>
          </a:xfrm>
        </p:spPr>
        <p:txBody>
          <a:bodyPr/>
          <a:lstStyle/>
          <a:p>
            <a:r>
              <a:rPr lang="en-US" sz="900">
                <a:latin typeface="Source Sans Pro"/>
                <a:ea typeface="Source Sans Pro"/>
              </a:rPr>
              <a:t>ARCHERFISH CDR</a:t>
            </a:r>
            <a:endParaRPr lang="en-US"/>
          </a:p>
        </p:txBody>
      </p:sp>
    </p:spTree>
    <p:extLst>
      <p:ext uri="{BB962C8B-B14F-4D97-AF65-F5344CB8AC3E}">
        <p14:creationId xmlns:p14="http://schemas.microsoft.com/office/powerpoint/2010/main" val="26463218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9C7F78-B905-6BDC-C513-1F88AD8F3B2E}"/>
              </a:ext>
            </a:extLst>
          </p:cNvPr>
          <p:cNvSpPr>
            <a:spLocks noGrp="1"/>
          </p:cNvSpPr>
          <p:nvPr>
            <p:ph type="sldNum" sz="quarter" idx="17"/>
          </p:nvPr>
        </p:nvSpPr>
        <p:spPr/>
        <p:txBody>
          <a:bodyPr/>
          <a:lstStyle/>
          <a:p>
            <a:r>
              <a:rPr lang="en-US"/>
              <a:t>/   </a:t>
            </a:r>
            <a:fld id="{6C7E6F33-74EE-5541-8108-8353B402F8C1}" type="slidenum">
              <a:rPr lang="en-US" smtClean="0"/>
              <a:pPr/>
              <a:t>79</a:t>
            </a:fld>
            <a:endParaRPr lang="en-US"/>
          </a:p>
        </p:txBody>
      </p:sp>
      <p:sp>
        <p:nvSpPr>
          <p:cNvPr id="5" name="Title 4">
            <a:extLst>
              <a:ext uri="{FF2B5EF4-FFF2-40B4-BE49-F238E27FC236}">
                <a16:creationId xmlns:a16="http://schemas.microsoft.com/office/drawing/2014/main" id="{8753409C-F128-7F80-C614-BE03EF4EE631}"/>
              </a:ext>
            </a:extLst>
          </p:cNvPr>
          <p:cNvSpPr>
            <a:spLocks noGrp="1"/>
          </p:cNvSpPr>
          <p:nvPr>
            <p:ph type="title"/>
          </p:nvPr>
        </p:nvSpPr>
        <p:spPr>
          <a:xfrm>
            <a:off x="531848" y="567514"/>
            <a:ext cx="5564152" cy="625567"/>
          </a:xfrm>
        </p:spPr>
        <p:txBody>
          <a:bodyPr/>
          <a:lstStyle/>
          <a:p>
            <a:r>
              <a:rPr lang="en-US">
                <a:latin typeface="Munistic"/>
              </a:rPr>
              <a:t>Material Choices</a:t>
            </a:r>
            <a:endParaRPr lang="en-US"/>
          </a:p>
        </p:txBody>
      </p:sp>
      <p:sp>
        <p:nvSpPr>
          <p:cNvPr id="7" name="TextBox 6">
            <a:extLst>
              <a:ext uri="{FF2B5EF4-FFF2-40B4-BE49-F238E27FC236}">
                <a16:creationId xmlns:a16="http://schemas.microsoft.com/office/drawing/2014/main" id="{6B8C31DC-585D-1652-2304-3905A26609F8}"/>
              </a:ext>
            </a:extLst>
          </p:cNvPr>
          <p:cNvSpPr txBox="1"/>
          <p:nvPr/>
        </p:nvSpPr>
        <p:spPr>
          <a:xfrm>
            <a:off x="531848" y="1193081"/>
            <a:ext cx="11393236" cy="47405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08965" indent="-456565">
              <a:lnSpc>
                <a:spcPct val="114999"/>
              </a:lnSpc>
              <a:buFont typeface="Arial"/>
              <a:buChar char="•"/>
            </a:pPr>
            <a:r>
              <a:rPr lang="en-US" sz="1900">
                <a:latin typeface="Calibri"/>
                <a:ea typeface="Calibri"/>
                <a:cs typeface="Arial"/>
              </a:rPr>
              <a:t>6061 Aluminum </a:t>
            </a:r>
            <a:endParaRPr lang="en-US">
              <a:latin typeface="Calibri"/>
              <a:ea typeface="Calibri"/>
              <a:cs typeface="Calibri" panose="020F0502020204030204"/>
            </a:endParaRPr>
          </a:p>
          <a:p>
            <a:pPr marL="1066165" lvl="1" indent="-456565">
              <a:lnSpc>
                <a:spcPct val="114999"/>
              </a:lnSpc>
              <a:buFont typeface="Courier New"/>
              <a:buChar char="o"/>
            </a:pPr>
            <a:r>
              <a:rPr lang="en-US" sz="1900">
                <a:latin typeface="Calibri"/>
                <a:ea typeface="Calibri"/>
                <a:cs typeface="Arial"/>
              </a:rPr>
              <a:t>Great Strength to Weight Ratio</a:t>
            </a:r>
            <a:endParaRPr lang="en-US">
              <a:latin typeface="Calibri"/>
              <a:ea typeface="Calibri"/>
              <a:cs typeface="Calibri" panose="020F0502020204030204"/>
            </a:endParaRPr>
          </a:p>
          <a:p>
            <a:pPr marL="1066165" lvl="1" indent="-456565">
              <a:lnSpc>
                <a:spcPct val="114999"/>
              </a:lnSpc>
              <a:buFont typeface="Courier New"/>
              <a:buChar char="o"/>
            </a:pPr>
            <a:r>
              <a:rPr lang="en-US" sz="1900">
                <a:latin typeface="Calibri"/>
                <a:ea typeface="Calibri"/>
                <a:cs typeface="Arial"/>
              </a:rPr>
              <a:t>Easy to machine and work with</a:t>
            </a:r>
            <a:endParaRPr lang="en-US">
              <a:latin typeface="Calibri"/>
              <a:ea typeface="Calibri"/>
              <a:cs typeface="Calibri"/>
            </a:endParaRPr>
          </a:p>
          <a:p>
            <a:pPr marL="1066165" lvl="1" indent="-456565">
              <a:lnSpc>
                <a:spcPct val="114999"/>
              </a:lnSpc>
              <a:buFont typeface="Courier New"/>
              <a:buChar char="o"/>
            </a:pPr>
            <a:r>
              <a:rPr lang="en-US" sz="1900">
                <a:latin typeface="Calibri"/>
                <a:ea typeface="Calibri"/>
                <a:cs typeface="Arial"/>
              </a:rPr>
              <a:t>Familiarity with it overall as a club</a:t>
            </a:r>
            <a:endParaRPr lang="en-US">
              <a:latin typeface="Calibri"/>
              <a:ea typeface="Calibri"/>
              <a:cs typeface="Calibri"/>
            </a:endParaRPr>
          </a:p>
          <a:p>
            <a:pPr marL="608965" indent="-422910">
              <a:lnSpc>
                <a:spcPct val="114999"/>
              </a:lnSpc>
              <a:buFont typeface="Arial"/>
              <a:buChar char="•"/>
            </a:pPr>
            <a:r>
              <a:rPr lang="en-US" sz="1900">
                <a:latin typeface="Calibri"/>
                <a:ea typeface="Calibri"/>
                <a:cs typeface="Arial"/>
              </a:rPr>
              <a:t>Fiberglass</a:t>
            </a:r>
          </a:p>
          <a:p>
            <a:pPr marL="1066165" lvl="1" indent="-422910">
              <a:lnSpc>
                <a:spcPct val="114999"/>
              </a:lnSpc>
              <a:buFont typeface="Courier New"/>
              <a:buChar char="o"/>
            </a:pPr>
            <a:r>
              <a:rPr lang="en-US" sz="1900">
                <a:latin typeface="Calibri"/>
                <a:ea typeface="Calibri"/>
                <a:cs typeface="Arial"/>
              </a:rPr>
              <a:t>Required for avionics signals to get through</a:t>
            </a:r>
            <a:endParaRPr lang="en-US">
              <a:latin typeface="Calibri"/>
              <a:ea typeface="Calibri"/>
              <a:cs typeface="Calibri" panose="020F0502020204030204"/>
            </a:endParaRPr>
          </a:p>
          <a:p>
            <a:pPr marL="1066165" lvl="1" indent="-422910">
              <a:lnSpc>
                <a:spcPct val="114999"/>
              </a:lnSpc>
              <a:buFont typeface="Courier New"/>
              <a:buChar char="o"/>
            </a:pPr>
            <a:r>
              <a:rPr lang="en-US" sz="1900">
                <a:latin typeface="Calibri"/>
                <a:ea typeface="Calibri"/>
                <a:cs typeface="Arial"/>
              </a:rPr>
              <a:t>Still great overall strength</a:t>
            </a:r>
          </a:p>
          <a:p>
            <a:pPr marL="608965" indent="-422910">
              <a:lnSpc>
                <a:spcPct val="114999"/>
              </a:lnSpc>
              <a:buFont typeface="Arial"/>
              <a:buChar char="•"/>
            </a:pPr>
            <a:r>
              <a:rPr lang="en-US" sz="1900">
                <a:latin typeface="Calibri"/>
                <a:ea typeface="Calibri"/>
                <a:cs typeface="Arial"/>
              </a:rPr>
              <a:t>Carbon fiber</a:t>
            </a:r>
          </a:p>
          <a:p>
            <a:pPr marL="1066165" lvl="1" indent="-422910">
              <a:lnSpc>
                <a:spcPct val="114999"/>
              </a:lnSpc>
              <a:buFont typeface="Courier New"/>
              <a:buChar char="o"/>
            </a:pPr>
            <a:r>
              <a:rPr lang="en-US" sz="1900">
                <a:latin typeface="Calibri"/>
                <a:ea typeface="Calibri"/>
                <a:cs typeface="Arial"/>
              </a:rPr>
              <a:t>Low density, high tensile strength</a:t>
            </a:r>
            <a:endParaRPr lang="en-US">
              <a:latin typeface="Calibri"/>
              <a:ea typeface="Calibri"/>
              <a:cs typeface="Calibri"/>
            </a:endParaRPr>
          </a:p>
          <a:p>
            <a:pPr marL="1066165" lvl="1" indent="-422910">
              <a:lnSpc>
                <a:spcPct val="114999"/>
              </a:lnSpc>
              <a:buFont typeface="Courier New"/>
              <a:buChar char="o"/>
            </a:pPr>
            <a:r>
              <a:rPr lang="en-US" sz="1900">
                <a:latin typeface="Calibri"/>
                <a:ea typeface="Calibri"/>
                <a:cs typeface="Arial"/>
              </a:rPr>
              <a:t>Have hours of layup experience with it</a:t>
            </a:r>
          </a:p>
          <a:p>
            <a:pPr marL="1066165" lvl="1" indent="-422910">
              <a:lnSpc>
                <a:spcPct val="114999"/>
              </a:lnSpc>
              <a:buFont typeface="Courier New"/>
              <a:buChar char="o"/>
            </a:pPr>
            <a:r>
              <a:rPr lang="en-US" sz="1900">
                <a:latin typeface="Calibri"/>
                <a:ea typeface="Calibri"/>
                <a:cs typeface="Arial"/>
              </a:rPr>
              <a:t>Still have a large amount of donated material</a:t>
            </a:r>
          </a:p>
          <a:p>
            <a:pPr marL="1066165" lvl="1" indent="-422910">
              <a:lnSpc>
                <a:spcPct val="114999"/>
              </a:lnSpc>
              <a:buFont typeface="Courier New"/>
              <a:buChar char="o"/>
            </a:pPr>
            <a:r>
              <a:rPr lang="en-US" sz="1900">
                <a:latin typeface="Calibri"/>
                <a:ea typeface="Calibri"/>
                <a:cs typeface="Arial"/>
              </a:rPr>
              <a:t>Good for bonding with epoxy</a:t>
            </a:r>
          </a:p>
          <a:p>
            <a:pPr marL="608965" indent="-422910">
              <a:lnSpc>
                <a:spcPct val="114999"/>
              </a:lnSpc>
              <a:buFont typeface="Arial" panose="020B0604020202020204" pitchFamily="34" charset="0"/>
              <a:buChar char="•"/>
            </a:pPr>
            <a:endParaRPr lang="en-US" sz="1900">
              <a:latin typeface="Calibri"/>
              <a:ea typeface="Calibri"/>
              <a:cs typeface="Arial"/>
            </a:endParaRPr>
          </a:p>
          <a:p>
            <a:endParaRPr lang="en-US">
              <a:latin typeface="Calibri" panose="020F0502020204030204"/>
              <a:ea typeface="Calibri"/>
              <a:cs typeface="Calibri"/>
            </a:endParaRPr>
          </a:p>
        </p:txBody>
      </p:sp>
      <p:sp>
        <p:nvSpPr>
          <p:cNvPr id="3" name="Footer Placeholder 2">
            <a:extLst>
              <a:ext uri="{FF2B5EF4-FFF2-40B4-BE49-F238E27FC236}">
                <a16:creationId xmlns:a16="http://schemas.microsoft.com/office/drawing/2014/main" id="{B1FA99E6-D624-437F-52D3-4FCCD87C5D2B}"/>
              </a:ext>
            </a:extLst>
          </p:cNvPr>
          <p:cNvSpPr>
            <a:spLocks noGrp="1"/>
          </p:cNvSpPr>
          <p:nvPr>
            <p:ph type="ftr" sz="quarter" idx="16"/>
          </p:nvPr>
        </p:nvSpPr>
        <p:spPr>
          <a:xfrm>
            <a:off x="7491867" y="6351113"/>
            <a:ext cx="4114800" cy="366183"/>
          </a:xfrm>
        </p:spPr>
        <p:txBody>
          <a:bodyPr/>
          <a:lstStyle/>
          <a:p>
            <a:r>
              <a:rPr lang="en-US" sz="900">
                <a:ea typeface="Source Sans Pro"/>
              </a:rPr>
              <a:t>ARCHERFISH CDR </a:t>
            </a:r>
            <a:endParaRPr lang="en-US"/>
          </a:p>
        </p:txBody>
      </p:sp>
      <p:pic>
        <p:nvPicPr>
          <p:cNvPr id="2050" name="Picture 2" descr="Aluminum Flat Stock Generic 6061 Aluminum Flat Bar 1 X 3 X 8 Long Solid  Stock Machining 6061 T6511 Aluminum Square Bar">
            <a:extLst>
              <a:ext uri="{FF2B5EF4-FFF2-40B4-BE49-F238E27FC236}">
                <a16:creationId xmlns:a16="http://schemas.microsoft.com/office/drawing/2014/main" id="{31F1A89F-5D56-E997-AB2C-2E9E0C615F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7727" y="999304"/>
            <a:ext cx="3028580" cy="2271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0919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A2857-549A-D96A-C980-B4E9DF39F36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75B0DC4-83D3-0F99-B9B1-343AD2C23C4A}"/>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431FB20F-D21F-0CFB-2C28-BC6854E060F0}"/>
              </a:ext>
            </a:extLst>
          </p:cNvPr>
          <p:cNvSpPr>
            <a:spLocks noGrp="1"/>
          </p:cNvSpPr>
          <p:nvPr>
            <p:ph type="sldNum" sz="quarter" idx="17"/>
          </p:nvPr>
        </p:nvSpPr>
        <p:spPr/>
        <p:txBody>
          <a:bodyPr/>
          <a:lstStyle/>
          <a:p>
            <a:r>
              <a:rPr lang="en-US"/>
              <a:t>/   </a:t>
            </a:r>
            <a:fld id="{6C7E6F33-74EE-5541-8108-8353B402F8C1}" type="slidenum">
              <a:rPr lang="en-US" smtClean="0"/>
              <a:pPr/>
              <a:t>80</a:t>
            </a:fld>
            <a:endParaRPr lang="en-US"/>
          </a:p>
        </p:txBody>
      </p:sp>
      <p:sp>
        <p:nvSpPr>
          <p:cNvPr id="5" name="Title 4">
            <a:extLst>
              <a:ext uri="{FF2B5EF4-FFF2-40B4-BE49-F238E27FC236}">
                <a16:creationId xmlns:a16="http://schemas.microsoft.com/office/drawing/2014/main" id="{E9044961-B6D8-C8CC-F4E9-FCACE57807E9}"/>
              </a:ext>
            </a:extLst>
          </p:cNvPr>
          <p:cNvSpPr>
            <a:spLocks noGrp="1"/>
          </p:cNvSpPr>
          <p:nvPr>
            <p:ph type="title"/>
          </p:nvPr>
        </p:nvSpPr>
        <p:spPr/>
        <p:txBody>
          <a:bodyPr/>
          <a:lstStyle/>
          <a:p>
            <a:r>
              <a:rPr lang="en-US">
                <a:latin typeface="Munistic"/>
              </a:rPr>
              <a:t>Main Body</a:t>
            </a:r>
            <a:endParaRPr lang="en-US"/>
          </a:p>
        </p:txBody>
      </p:sp>
      <p:sp>
        <p:nvSpPr>
          <p:cNvPr id="6" name="Text Placeholder 5">
            <a:extLst>
              <a:ext uri="{FF2B5EF4-FFF2-40B4-BE49-F238E27FC236}">
                <a16:creationId xmlns:a16="http://schemas.microsoft.com/office/drawing/2014/main" id="{EF21F71A-B5E7-669E-CE8D-4C9B87DA90D3}"/>
              </a:ext>
            </a:extLst>
          </p:cNvPr>
          <p:cNvSpPr>
            <a:spLocks noGrp="1"/>
          </p:cNvSpPr>
          <p:nvPr>
            <p:ph type="body" sz="quarter" idx="13"/>
          </p:nvPr>
        </p:nvSpPr>
        <p:spPr>
          <a:xfrm>
            <a:off x="1057469" y="1462193"/>
            <a:ext cx="4951445" cy="625567"/>
          </a:xfrm>
        </p:spPr>
        <p:txBody>
          <a:bodyPr/>
          <a:lstStyle/>
          <a:p>
            <a:r>
              <a:rPr lang="en-US"/>
              <a:t>Body Tubes</a:t>
            </a:r>
          </a:p>
        </p:txBody>
      </p:sp>
      <p:sp>
        <p:nvSpPr>
          <p:cNvPr id="7" name="TextBox 6">
            <a:extLst>
              <a:ext uri="{FF2B5EF4-FFF2-40B4-BE49-F238E27FC236}">
                <a16:creationId xmlns:a16="http://schemas.microsoft.com/office/drawing/2014/main" id="{95DDA4D0-7F8F-21EC-7A2D-03AB98ED2A8C}"/>
              </a:ext>
            </a:extLst>
          </p:cNvPr>
          <p:cNvSpPr txBox="1"/>
          <p:nvPr/>
        </p:nvSpPr>
        <p:spPr>
          <a:xfrm>
            <a:off x="634482" y="2107894"/>
            <a:ext cx="11289573" cy="3785652"/>
          </a:xfrm>
          <a:prstGeom prst="rect">
            <a:avLst/>
          </a:prstGeom>
          <a:noFill/>
        </p:spPr>
        <p:txBody>
          <a:bodyPr wrap="square" rtlCol="0">
            <a:spAutoFit/>
          </a:bodyPr>
          <a:lstStyle/>
          <a:p>
            <a:pPr marL="464820" indent="-342900">
              <a:buFont typeface="Arial" panose="020B0604020202020204" pitchFamily="34" charset="0"/>
              <a:buChar char="•"/>
            </a:pPr>
            <a:r>
              <a:rPr lang="en-US" sz="2000">
                <a:ea typeface="Source Sans Pro"/>
              </a:rPr>
              <a:t>Recovery (Carbon Fiber)</a:t>
            </a:r>
          </a:p>
          <a:p>
            <a:pPr marL="742315" lvl="1" indent="-285750">
              <a:buFont typeface="Arial" panose="020B0604020202020204" pitchFamily="34" charset="0"/>
              <a:buChar char="•"/>
            </a:pPr>
            <a:r>
              <a:rPr lang="en-US" sz="2000">
                <a:ea typeface="Source Sans Pro"/>
              </a:rPr>
              <a:t>Inner Diameter: 6in</a:t>
            </a:r>
            <a:endParaRPr lang="en-US" sz="2000">
              <a:ea typeface="Source Sans Pro"/>
              <a:cs typeface="Calibri"/>
            </a:endParaRPr>
          </a:p>
          <a:p>
            <a:pPr marL="742315" lvl="1" indent="-285750">
              <a:buFont typeface="Arial" panose="020B0604020202020204" pitchFamily="34" charset="0"/>
              <a:buChar char="•"/>
            </a:pPr>
            <a:r>
              <a:rPr lang="en-US" sz="2000">
                <a:ea typeface="Source Sans Pro"/>
              </a:rPr>
              <a:t>Wall Thickness: 0.1in</a:t>
            </a:r>
            <a:endParaRPr lang="en-US" sz="2000">
              <a:highlight>
                <a:srgbClr val="FFFF00"/>
              </a:highlight>
              <a:ea typeface="Source Sans Pro"/>
              <a:cs typeface="Calibri"/>
            </a:endParaRPr>
          </a:p>
          <a:p>
            <a:pPr marL="742315" lvl="1" indent="-285750">
              <a:buFont typeface="Arial" panose="020B0604020202020204" pitchFamily="34" charset="0"/>
              <a:buChar char="•"/>
            </a:pPr>
            <a:r>
              <a:rPr lang="en-US" sz="2000">
                <a:ea typeface="Source Sans Pro"/>
              </a:rPr>
              <a:t>Length: 24in (approx.)</a:t>
            </a:r>
            <a:endParaRPr lang="en-US" sz="2000">
              <a:highlight>
                <a:srgbClr val="FFFF00"/>
              </a:highlight>
              <a:ea typeface="Source Sans Pro"/>
              <a:cs typeface="Calibri"/>
            </a:endParaRPr>
          </a:p>
          <a:p>
            <a:pPr marL="742315" lvl="1" indent="-285750">
              <a:buFont typeface="Arial" panose="020B0604020202020204" pitchFamily="34" charset="0"/>
              <a:buChar char="•"/>
            </a:pPr>
            <a:r>
              <a:rPr lang="en-US" sz="2000">
                <a:ea typeface="Source Sans Pro"/>
              </a:rPr>
              <a:t>Manufacturing Method:  Composite Layup</a:t>
            </a:r>
          </a:p>
          <a:p>
            <a:pPr marL="456565" lvl="1"/>
            <a:r>
              <a:rPr lang="en-US" sz="2000">
                <a:ea typeface="Source Sans Pro"/>
              </a:rPr>
              <a:t>	</a:t>
            </a:r>
            <a:endParaRPr lang="en-US" sz="2000">
              <a:cs typeface="Calibri" panose="020F0502020204030204"/>
            </a:endParaRPr>
          </a:p>
          <a:p>
            <a:pPr marL="464820" indent="-342900">
              <a:buFont typeface="Arial" panose="020B0604020202020204" pitchFamily="34" charset="0"/>
              <a:buChar char="•"/>
            </a:pPr>
            <a:r>
              <a:rPr lang="en-US" sz="2000">
                <a:ea typeface="Source Sans Pro"/>
              </a:rPr>
              <a:t>AV Bay (Fiberglass)</a:t>
            </a:r>
            <a:endParaRPr lang="en-US" sz="2000">
              <a:ea typeface="Source Sans Pro"/>
              <a:cs typeface="Calibri"/>
            </a:endParaRPr>
          </a:p>
          <a:p>
            <a:pPr marL="742315" lvl="1" indent="-285750">
              <a:buFont typeface="Arial" panose="020B0604020202020204" pitchFamily="34" charset="0"/>
              <a:buChar char="•"/>
            </a:pPr>
            <a:r>
              <a:rPr lang="en-US" sz="2000">
                <a:ea typeface="Source Sans Pro"/>
              </a:rPr>
              <a:t>Inner Diameter: 6in</a:t>
            </a:r>
            <a:endParaRPr lang="en-US" sz="2000">
              <a:ea typeface="Source Sans Pro"/>
              <a:cs typeface="Calibri"/>
            </a:endParaRPr>
          </a:p>
          <a:p>
            <a:pPr marL="742315" lvl="1" indent="-285750">
              <a:buFont typeface="Arial" panose="020B0604020202020204" pitchFamily="34" charset="0"/>
              <a:buChar char="•"/>
            </a:pPr>
            <a:r>
              <a:rPr lang="en-US" sz="2000">
                <a:ea typeface="Source Sans Pro"/>
              </a:rPr>
              <a:t>Wall Thickness: 0.1in</a:t>
            </a:r>
            <a:endParaRPr lang="en-US" sz="2000">
              <a:ea typeface="Source Sans Pro"/>
              <a:cs typeface="Calibri"/>
            </a:endParaRPr>
          </a:p>
          <a:p>
            <a:pPr marL="742315" lvl="1" indent="-285750">
              <a:buFont typeface="Arial" panose="020B0604020202020204" pitchFamily="34" charset="0"/>
              <a:buChar char="•"/>
            </a:pPr>
            <a:r>
              <a:rPr lang="en-US" sz="2000">
                <a:ea typeface="Source Sans Pro"/>
              </a:rPr>
              <a:t>Length: 14in (approx.)</a:t>
            </a:r>
            <a:endParaRPr lang="en-US" sz="2000">
              <a:highlight>
                <a:srgbClr val="FFFF00"/>
              </a:highlight>
              <a:ea typeface="Source Sans Pro"/>
              <a:cs typeface="Calibri"/>
            </a:endParaRPr>
          </a:p>
          <a:p>
            <a:pPr marL="742315" lvl="1" indent="-285750">
              <a:buFont typeface="Arial" panose="020B0604020202020204" pitchFamily="34" charset="0"/>
              <a:buChar char="•"/>
            </a:pPr>
            <a:r>
              <a:rPr lang="en-US" sz="2000">
                <a:ea typeface="Source Sans Pro"/>
              </a:rPr>
              <a:t>Manufacturing Method: Composite Layup</a:t>
            </a:r>
            <a:endParaRPr lang="en-US" sz="2000">
              <a:ea typeface="Source Sans Pro"/>
              <a:cs typeface="Calibri"/>
            </a:endParaRPr>
          </a:p>
          <a:p>
            <a:endParaRPr lang="en-US" sz="2000"/>
          </a:p>
        </p:txBody>
      </p:sp>
      <p:sp>
        <p:nvSpPr>
          <p:cNvPr id="8" name="AutoShape 2">
            <a:extLst>
              <a:ext uri="{FF2B5EF4-FFF2-40B4-BE49-F238E27FC236}">
                <a16:creationId xmlns:a16="http://schemas.microsoft.com/office/drawing/2014/main" id="{B6F6FFC2-33D1-96BA-131A-3785D5B14F2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0E753426-D933-CA2A-0317-8108EFB0DCAE}"/>
              </a:ext>
            </a:extLst>
          </p:cNvPr>
          <p:cNvPicPr>
            <a:picLocks noChangeAspect="1"/>
          </p:cNvPicPr>
          <p:nvPr/>
        </p:nvPicPr>
        <p:blipFill>
          <a:blip r:embed="rId2"/>
          <a:stretch>
            <a:fillRect/>
          </a:stretch>
        </p:blipFill>
        <p:spPr>
          <a:xfrm>
            <a:off x="7692855" y="419960"/>
            <a:ext cx="2133600" cy="4572000"/>
          </a:xfrm>
          <a:prstGeom prst="rect">
            <a:avLst/>
          </a:prstGeom>
        </p:spPr>
      </p:pic>
      <p:sp>
        <p:nvSpPr>
          <p:cNvPr id="11" name="AutoShape 6">
            <a:extLst>
              <a:ext uri="{FF2B5EF4-FFF2-40B4-BE49-F238E27FC236}">
                <a16:creationId xmlns:a16="http://schemas.microsoft.com/office/drawing/2014/main" id="{91525696-8C4E-DCDD-077C-4EE980F3B7D4}"/>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E4121292-8AB4-7EFB-1416-CEBB62BE2DAE}"/>
              </a:ext>
            </a:extLst>
          </p:cNvPr>
          <p:cNvPicPr>
            <a:picLocks noChangeAspect="1"/>
          </p:cNvPicPr>
          <p:nvPr/>
        </p:nvPicPr>
        <p:blipFill>
          <a:blip r:embed="rId3"/>
          <a:stretch>
            <a:fillRect/>
          </a:stretch>
        </p:blipFill>
        <p:spPr>
          <a:xfrm>
            <a:off x="10008168" y="419960"/>
            <a:ext cx="1625600" cy="4572000"/>
          </a:xfrm>
          <a:prstGeom prst="rect">
            <a:avLst/>
          </a:prstGeom>
        </p:spPr>
      </p:pic>
      <p:sp>
        <p:nvSpPr>
          <p:cNvPr id="14" name="TextBox 13">
            <a:extLst>
              <a:ext uri="{FF2B5EF4-FFF2-40B4-BE49-F238E27FC236}">
                <a16:creationId xmlns:a16="http://schemas.microsoft.com/office/drawing/2014/main" id="{2536E92C-9F09-34E5-AF38-5891341CA27D}"/>
              </a:ext>
            </a:extLst>
          </p:cNvPr>
          <p:cNvSpPr txBox="1"/>
          <p:nvPr/>
        </p:nvSpPr>
        <p:spPr>
          <a:xfrm>
            <a:off x="7844360" y="4950310"/>
            <a:ext cx="206918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t>Fig 7.1 Avionics Tube</a:t>
            </a:r>
            <a:endParaRPr lang="en-US" sz="1600">
              <a:solidFill>
                <a:srgbClr val="000000"/>
              </a:solidFill>
            </a:endParaRPr>
          </a:p>
        </p:txBody>
      </p:sp>
      <p:sp>
        <p:nvSpPr>
          <p:cNvPr id="15" name="TextBox 14">
            <a:extLst>
              <a:ext uri="{FF2B5EF4-FFF2-40B4-BE49-F238E27FC236}">
                <a16:creationId xmlns:a16="http://schemas.microsoft.com/office/drawing/2014/main" id="{4BD6DED1-29CA-DE69-B475-DB329D2C73FF}"/>
              </a:ext>
            </a:extLst>
          </p:cNvPr>
          <p:cNvSpPr txBox="1"/>
          <p:nvPr/>
        </p:nvSpPr>
        <p:spPr>
          <a:xfrm>
            <a:off x="9854874" y="4950310"/>
            <a:ext cx="206918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t>Fig 7.2 Recovery Tube</a:t>
            </a:r>
            <a:endParaRPr lang="en-US" sz="1600">
              <a:solidFill>
                <a:srgbClr val="000000"/>
              </a:solidFill>
            </a:endParaRPr>
          </a:p>
        </p:txBody>
      </p:sp>
    </p:spTree>
    <p:extLst>
      <p:ext uri="{BB962C8B-B14F-4D97-AF65-F5344CB8AC3E}">
        <p14:creationId xmlns:p14="http://schemas.microsoft.com/office/powerpoint/2010/main" val="268197184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76A87-DEB2-9885-8699-6A4439D793C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44F3233-C701-6FA3-B6B8-3F1048F1E0A5}"/>
              </a:ext>
            </a:extLst>
          </p:cNvPr>
          <p:cNvSpPr>
            <a:spLocks noGrp="1"/>
          </p:cNvSpPr>
          <p:nvPr>
            <p:ph type="body" sz="quarter" idx="13"/>
          </p:nvPr>
        </p:nvSpPr>
        <p:spPr>
          <a:xfrm>
            <a:off x="838200" y="1196653"/>
            <a:ext cx="2775740" cy="329032"/>
          </a:xfrm>
        </p:spPr>
        <p:txBody>
          <a:bodyPr/>
          <a:lstStyle/>
          <a:p>
            <a:r>
              <a:rPr lang="en-US"/>
              <a:t>Old Coupler Design</a:t>
            </a:r>
          </a:p>
        </p:txBody>
      </p:sp>
      <p:sp>
        <p:nvSpPr>
          <p:cNvPr id="3" name="Text Placeholder 2">
            <a:extLst>
              <a:ext uri="{FF2B5EF4-FFF2-40B4-BE49-F238E27FC236}">
                <a16:creationId xmlns:a16="http://schemas.microsoft.com/office/drawing/2014/main" id="{3903CAB2-01E6-3E76-6E2A-067C6B1F0720}"/>
              </a:ext>
            </a:extLst>
          </p:cNvPr>
          <p:cNvSpPr>
            <a:spLocks noGrp="1"/>
          </p:cNvSpPr>
          <p:nvPr>
            <p:ph type="body" sz="quarter" idx="16"/>
          </p:nvPr>
        </p:nvSpPr>
        <p:spPr>
          <a:xfrm>
            <a:off x="561396" y="4466835"/>
            <a:ext cx="4572000" cy="1871264"/>
          </a:xfrm>
        </p:spPr>
        <p:txBody>
          <a:bodyPr/>
          <a:lstStyle/>
          <a:p>
            <a:pPr marL="285750" indent="-285750">
              <a:buFont typeface="Arial" panose="020B0604020202020204" pitchFamily="34" charset="0"/>
              <a:buChar char="•"/>
            </a:pPr>
            <a:r>
              <a:rPr lang="en-US"/>
              <a:t>Machine out of hollow aluminum stock</a:t>
            </a:r>
          </a:p>
          <a:p>
            <a:pPr marL="742939" lvl="1" indent="-285750">
              <a:buFont typeface="Arial" panose="020B0604020202020204" pitchFamily="34" charset="0"/>
              <a:buChar char="•"/>
            </a:pPr>
            <a:r>
              <a:rPr lang="en-US"/>
              <a:t>Long time to manufacture due to lathe concentricity issues</a:t>
            </a:r>
          </a:p>
          <a:p>
            <a:pPr marL="742939" lvl="1" indent="-285750">
              <a:buFont typeface="Arial" panose="020B0604020202020204" pitchFamily="34" charset="0"/>
              <a:buChar char="•"/>
            </a:pPr>
            <a:r>
              <a:rPr lang="en-US"/>
              <a:t>Short length is believed to cause stiffness issues with last year's rocket</a:t>
            </a:r>
          </a:p>
        </p:txBody>
      </p:sp>
      <p:sp>
        <p:nvSpPr>
          <p:cNvPr id="4" name="Text Placeholder 3">
            <a:extLst>
              <a:ext uri="{FF2B5EF4-FFF2-40B4-BE49-F238E27FC236}">
                <a16:creationId xmlns:a16="http://schemas.microsoft.com/office/drawing/2014/main" id="{FDE7D801-7DAF-B635-1D07-143D89625757}"/>
              </a:ext>
            </a:extLst>
          </p:cNvPr>
          <p:cNvSpPr>
            <a:spLocks noGrp="1"/>
          </p:cNvSpPr>
          <p:nvPr>
            <p:ph type="body" sz="quarter" idx="19"/>
          </p:nvPr>
        </p:nvSpPr>
        <p:spPr>
          <a:xfrm>
            <a:off x="6969470" y="1144066"/>
            <a:ext cx="2775740" cy="329032"/>
          </a:xfrm>
        </p:spPr>
        <p:txBody>
          <a:bodyPr/>
          <a:lstStyle/>
          <a:p>
            <a:r>
              <a:rPr lang="en-US"/>
              <a:t>New Coupler Design</a:t>
            </a:r>
          </a:p>
        </p:txBody>
      </p:sp>
      <p:sp>
        <p:nvSpPr>
          <p:cNvPr id="5" name="Text Placeholder 4">
            <a:extLst>
              <a:ext uri="{FF2B5EF4-FFF2-40B4-BE49-F238E27FC236}">
                <a16:creationId xmlns:a16="http://schemas.microsoft.com/office/drawing/2014/main" id="{3B17DE5E-1928-A02E-F56F-1FD46A5458C5}"/>
              </a:ext>
            </a:extLst>
          </p:cNvPr>
          <p:cNvSpPr>
            <a:spLocks noGrp="1"/>
          </p:cNvSpPr>
          <p:nvPr>
            <p:ph type="body" sz="quarter" idx="20"/>
          </p:nvPr>
        </p:nvSpPr>
        <p:spPr>
          <a:xfrm>
            <a:off x="6807199" y="4275064"/>
            <a:ext cx="4823405" cy="2877739"/>
          </a:xfrm>
        </p:spPr>
        <p:txBody>
          <a:bodyPr vert="horz" lIns="91440" tIns="45720" rIns="91440" bIns="45720" rtlCol="0" anchor="t">
            <a:noAutofit/>
          </a:bodyPr>
          <a:lstStyle/>
          <a:p>
            <a:pPr marL="285750" indent="-285750">
              <a:buFont typeface="Arial" panose="020B0604020202020204" pitchFamily="34" charset="0"/>
              <a:buChar char="•"/>
            </a:pPr>
            <a:r>
              <a:rPr lang="en-US">
                <a:ea typeface="Source Sans Pro"/>
              </a:rPr>
              <a:t>Still made from hollow aluminum stock</a:t>
            </a:r>
          </a:p>
          <a:p>
            <a:pPr marL="742315" lvl="1" indent="-285750">
              <a:buFont typeface="Arial" panose="020B0604020202020204" pitchFamily="34" charset="0"/>
              <a:buChar char="•"/>
            </a:pPr>
            <a:r>
              <a:rPr lang="en-US">
                <a:ea typeface="Source Sans Pro"/>
              </a:rPr>
              <a:t>Ordered generally to length</a:t>
            </a:r>
            <a:endParaRPr lang="en-US">
              <a:ea typeface="Source Sans Pro"/>
              <a:cs typeface="Calibri"/>
            </a:endParaRPr>
          </a:p>
          <a:p>
            <a:pPr marL="742315" lvl="1" indent="-285750">
              <a:buFont typeface="Arial" panose="020B0604020202020204" pitchFamily="34" charset="0"/>
              <a:buChar char="•"/>
            </a:pPr>
            <a:r>
              <a:rPr lang="en-US">
                <a:ea typeface="Source Sans Pro"/>
              </a:rPr>
              <a:t>Longer and more holes for more stiffness</a:t>
            </a:r>
            <a:endParaRPr lang="en-US">
              <a:ea typeface="Source Sans Pro"/>
              <a:cs typeface="Calibri"/>
            </a:endParaRPr>
          </a:p>
          <a:p>
            <a:pPr marL="285750" indent="-285750">
              <a:buFont typeface="Arial" panose="020B0604020202020204" pitchFamily="34" charset="0"/>
              <a:buChar char="•"/>
            </a:pPr>
            <a:r>
              <a:rPr lang="en-US">
                <a:ea typeface="Source Sans Pro"/>
                <a:cs typeface="Calibri"/>
              </a:rPr>
              <a:t>Coupler Band</a:t>
            </a:r>
          </a:p>
          <a:p>
            <a:pPr marL="742315" lvl="1" indent="-285750">
              <a:buFont typeface="Arial" panose="020B0604020202020204" pitchFamily="34" charset="0"/>
              <a:buChar char="•"/>
            </a:pPr>
            <a:r>
              <a:rPr lang="en-US">
                <a:ea typeface="Source Sans Pro"/>
              </a:rPr>
              <a:t>Will replace metal lip that separates tubes</a:t>
            </a:r>
            <a:endParaRPr lang="en-US">
              <a:ea typeface="Source Sans Pro"/>
              <a:cs typeface="Calibri"/>
            </a:endParaRPr>
          </a:p>
          <a:p>
            <a:pPr marL="742315" lvl="1" indent="-285750">
              <a:buFont typeface="Arial" panose="020B0604020202020204" pitchFamily="34" charset="0"/>
              <a:buChar char="•"/>
            </a:pPr>
            <a:r>
              <a:rPr lang="en-US">
                <a:ea typeface="Source Sans Pro"/>
                <a:cs typeface="Calibri"/>
              </a:rPr>
              <a:t>Changed from ABS to Fiberglass</a:t>
            </a:r>
            <a:endParaRPr lang="en-US">
              <a:cs typeface="Calibri"/>
            </a:endParaRPr>
          </a:p>
          <a:p>
            <a:pPr marL="742315" lvl="1" indent="-285750">
              <a:buFont typeface="Arial" panose="020B0604020202020204" pitchFamily="34" charset="0"/>
              <a:buChar char="•"/>
            </a:pPr>
            <a:endParaRPr lang="en-US">
              <a:cs typeface="Calibri"/>
            </a:endParaRPr>
          </a:p>
        </p:txBody>
      </p:sp>
      <p:sp>
        <p:nvSpPr>
          <p:cNvPr id="6" name="Footer Placeholder 5">
            <a:extLst>
              <a:ext uri="{FF2B5EF4-FFF2-40B4-BE49-F238E27FC236}">
                <a16:creationId xmlns:a16="http://schemas.microsoft.com/office/drawing/2014/main" id="{76113838-780A-5C99-A06D-E30E323CD9B0}"/>
              </a:ext>
            </a:extLst>
          </p:cNvPr>
          <p:cNvSpPr>
            <a:spLocks noGrp="1"/>
          </p:cNvSpPr>
          <p:nvPr>
            <p:ph type="ftr" sz="quarter" idx="21"/>
          </p:nvPr>
        </p:nvSpPr>
        <p:spPr/>
        <p:txBody>
          <a:bodyPr/>
          <a:lstStyle/>
          <a:p>
            <a:r>
              <a:rPr lang="en-US" sz="900">
                <a:ea typeface="Source Sans Pro"/>
              </a:rPr>
              <a:t>ARCHERFISH CDR </a:t>
            </a:r>
            <a:endParaRPr lang="en-US"/>
          </a:p>
        </p:txBody>
      </p:sp>
      <p:sp>
        <p:nvSpPr>
          <p:cNvPr id="7" name="Slide Number Placeholder 6">
            <a:extLst>
              <a:ext uri="{FF2B5EF4-FFF2-40B4-BE49-F238E27FC236}">
                <a16:creationId xmlns:a16="http://schemas.microsoft.com/office/drawing/2014/main" id="{045382EA-EA0D-3B0F-B44C-CA2EB8AA962B}"/>
              </a:ext>
            </a:extLst>
          </p:cNvPr>
          <p:cNvSpPr>
            <a:spLocks noGrp="1"/>
          </p:cNvSpPr>
          <p:nvPr>
            <p:ph type="sldNum" sz="quarter" idx="22"/>
          </p:nvPr>
        </p:nvSpPr>
        <p:spPr/>
        <p:txBody>
          <a:bodyPr/>
          <a:lstStyle/>
          <a:p>
            <a:r>
              <a:rPr lang="en-US"/>
              <a:t>/   </a:t>
            </a:r>
            <a:fld id="{6C7E6F33-74EE-5541-8108-8353B402F8C1}" type="slidenum">
              <a:rPr lang="en-US" smtClean="0"/>
              <a:pPr/>
              <a:t>81</a:t>
            </a:fld>
            <a:endParaRPr lang="en-US"/>
          </a:p>
        </p:txBody>
      </p:sp>
      <p:sp>
        <p:nvSpPr>
          <p:cNvPr id="8" name="Title 7">
            <a:extLst>
              <a:ext uri="{FF2B5EF4-FFF2-40B4-BE49-F238E27FC236}">
                <a16:creationId xmlns:a16="http://schemas.microsoft.com/office/drawing/2014/main" id="{3C88922C-A8D8-90F9-70A1-5BE560B5F19C}"/>
              </a:ext>
            </a:extLst>
          </p:cNvPr>
          <p:cNvSpPr>
            <a:spLocks noGrp="1"/>
          </p:cNvSpPr>
          <p:nvPr>
            <p:ph type="title"/>
          </p:nvPr>
        </p:nvSpPr>
        <p:spPr>
          <a:xfrm>
            <a:off x="531848" y="388359"/>
            <a:ext cx="5564152" cy="625567"/>
          </a:xfrm>
        </p:spPr>
        <p:txBody>
          <a:bodyPr/>
          <a:lstStyle/>
          <a:p>
            <a:r>
              <a:rPr lang="en-US"/>
              <a:t>Couplers</a:t>
            </a:r>
          </a:p>
        </p:txBody>
      </p:sp>
      <p:sp>
        <p:nvSpPr>
          <p:cNvPr id="12" name="TextBox 11">
            <a:extLst>
              <a:ext uri="{FF2B5EF4-FFF2-40B4-BE49-F238E27FC236}">
                <a16:creationId xmlns:a16="http://schemas.microsoft.com/office/drawing/2014/main" id="{C91195D3-A101-A0FF-3924-30E1925723C8}"/>
              </a:ext>
            </a:extLst>
          </p:cNvPr>
          <p:cNvSpPr txBox="1"/>
          <p:nvPr/>
        </p:nvSpPr>
        <p:spPr>
          <a:xfrm>
            <a:off x="534370" y="4222477"/>
            <a:ext cx="352525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t>Fig 7.3 Forte/Fortissimo Coupler</a:t>
            </a:r>
            <a:endParaRPr lang="en-US" sz="1600">
              <a:solidFill>
                <a:srgbClr val="000000"/>
              </a:solidFill>
            </a:endParaRPr>
          </a:p>
        </p:txBody>
      </p:sp>
      <p:sp>
        <p:nvSpPr>
          <p:cNvPr id="16" name="TextBox 15">
            <a:extLst>
              <a:ext uri="{FF2B5EF4-FFF2-40B4-BE49-F238E27FC236}">
                <a16:creationId xmlns:a16="http://schemas.microsoft.com/office/drawing/2014/main" id="{3A4709CE-3DA9-005E-F5E2-2ED4353632C0}"/>
              </a:ext>
            </a:extLst>
          </p:cNvPr>
          <p:cNvSpPr txBox="1"/>
          <p:nvPr/>
        </p:nvSpPr>
        <p:spPr>
          <a:xfrm>
            <a:off x="6361517" y="4053200"/>
            <a:ext cx="352525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t>Fig 7.4 Example Coupler</a:t>
            </a:r>
            <a:endParaRPr lang="en-US" sz="1600">
              <a:solidFill>
                <a:srgbClr val="000000"/>
              </a:solidFill>
            </a:endParaRPr>
          </a:p>
        </p:txBody>
      </p:sp>
      <p:pic>
        <p:nvPicPr>
          <p:cNvPr id="10" name="Picture 9">
            <a:extLst>
              <a:ext uri="{FF2B5EF4-FFF2-40B4-BE49-F238E27FC236}">
                <a16:creationId xmlns:a16="http://schemas.microsoft.com/office/drawing/2014/main" id="{5D0BCD08-EEE9-964A-1792-58AF19282410}"/>
              </a:ext>
            </a:extLst>
          </p:cNvPr>
          <p:cNvPicPr>
            <a:picLocks noChangeAspect="1"/>
          </p:cNvPicPr>
          <p:nvPr/>
        </p:nvPicPr>
        <p:blipFill>
          <a:blip r:embed="rId2"/>
          <a:stretch>
            <a:fillRect/>
          </a:stretch>
        </p:blipFill>
        <p:spPr>
          <a:xfrm>
            <a:off x="1321711" y="1499037"/>
            <a:ext cx="2292229" cy="2723440"/>
          </a:xfrm>
          <a:prstGeom prst="rect">
            <a:avLst/>
          </a:prstGeom>
        </p:spPr>
      </p:pic>
      <p:pic>
        <p:nvPicPr>
          <p:cNvPr id="9" name="Picture 8">
            <a:extLst>
              <a:ext uri="{FF2B5EF4-FFF2-40B4-BE49-F238E27FC236}">
                <a16:creationId xmlns:a16="http://schemas.microsoft.com/office/drawing/2014/main" id="{B91EEC96-616B-40EE-F548-894AC98D2A26}"/>
              </a:ext>
            </a:extLst>
          </p:cNvPr>
          <p:cNvPicPr>
            <a:picLocks noChangeAspect="1"/>
          </p:cNvPicPr>
          <p:nvPr/>
        </p:nvPicPr>
        <p:blipFill>
          <a:blip r:embed="rId3"/>
          <a:stretch>
            <a:fillRect/>
          </a:stretch>
        </p:blipFill>
        <p:spPr>
          <a:xfrm>
            <a:off x="7491867" y="1473098"/>
            <a:ext cx="1777923" cy="2471244"/>
          </a:xfrm>
          <a:prstGeom prst="rect">
            <a:avLst/>
          </a:prstGeom>
        </p:spPr>
      </p:pic>
      <p:sp>
        <p:nvSpPr>
          <p:cNvPr id="11" name="TextBox 10">
            <a:extLst>
              <a:ext uri="{FF2B5EF4-FFF2-40B4-BE49-F238E27FC236}">
                <a16:creationId xmlns:a16="http://schemas.microsoft.com/office/drawing/2014/main" id="{E964E08E-3B99-2302-AFFA-15058443D7DB}"/>
              </a:ext>
            </a:extLst>
          </p:cNvPr>
          <p:cNvSpPr txBox="1"/>
          <p:nvPr/>
        </p:nvSpPr>
        <p:spPr>
          <a:xfrm>
            <a:off x="9398636" y="1991112"/>
            <a:ext cx="2137582" cy="923330"/>
          </a:xfrm>
          <a:prstGeom prst="rect">
            <a:avLst/>
          </a:prstGeom>
          <a:noFill/>
        </p:spPr>
        <p:txBody>
          <a:bodyPr wrap="square" rtlCol="0">
            <a:spAutoFit/>
          </a:bodyPr>
          <a:lstStyle/>
          <a:p>
            <a:r>
              <a:rPr lang="en-US"/>
              <a:t>General Dimensions:</a:t>
            </a:r>
          </a:p>
          <a:p>
            <a:r>
              <a:rPr lang="en-US"/>
              <a:t>6” OD, 5.5”ID</a:t>
            </a:r>
          </a:p>
          <a:p>
            <a:r>
              <a:rPr lang="en-US"/>
              <a:t>4.5-6.5” Long</a:t>
            </a:r>
          </a:p>
        </p:txBody>
      </p:sp>
    </p:spTree>
    <p:extLst>
      <p:ext uri="{BB962C8B-B14F-4D97-AF65-F5344CB8AC3E}">
        <p14:creationId xmlns:p14="http://schemas.microsoft.com/office/powerpoint/2010/main" val="261512984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F5BB80-83E8-E005-DE30-4C33162E764A}"/>
              </a:ext>
            </a:extLst>
          </p:cNvPr>
          <p:cNvSpPr>
            <a:spLocks noGrp="1"/>
          </p:cNvSpPr>
          <p:nvPr>
            <p:ph type="body" sz="quarter" idx="13"/>
          </p:nvPr>
        </p:nvSpPr>
        <p:spPr>
          <a:xfrm>
            <a:off x="838200" y="1196653"/>
            <a:ext cx="2775740" cy="329032"/>
          </a:xfrm>
        </p:spPr>
        <p:txBody>
          <a:bodyPr/>
          <a:lstStyle/>
          <a:p>
            <a:r>
              <a:rPr lang="en-US"/>
              <a:t>Old Bulkhead Design</a:t>
            </a:r>
          </a:p>
        </p:txBody>
      </p:sp>
      <p:sp>
        <p:nvSpPr>
          <p:cNvPr id="3" name="Text Placeholder 2">
            <a:extLst>
              <a:ext uri="{FF2B5EF4-FFF2-40B4-BE49-F238E27FC236}">
                <a16:creationId xmlns:a16="http://schemas.microsoft.com/office/drawing/2014/main" id="{F14A1DA9-D22D-85A1-14EF-9C8049821C55}"/>
              </a:ext>
            </a:extLst>
          </p:cNvPr>
          <p:cNvSpPr>
            <a:spLocks noGrp="1"/>
          </p:cNvSpPr>
          <p:nvPr>
            <p:ph type="body" sz="quarter" idx="16"/>
          </p:nvPr>
        </p:nvSpPr>
        <p:spPr>
          <a:xfrm>
            <a:off x="561396" y="4347390"/>
            <a:ext cx="4572000" cy="1871264"/>
          </a:xfrm>
        </p:spPr>
        <p:txBody>
          <a:bodyPr/>
          <a:lstStyle/>
          <a:p>
            <a:pPr marL="285750" indent="-285750">
              <a:buFont typeface="Arial" panose="020B0604020202020204" pitchFamily="34" charset="0"/>
              <a:buChar char="•"/>
            </a:pPr>
            <a:r>
              <a:rPr lang="en-US"/>
              <a:t>Machine out of solid Aluminum</a:t>
            </a:r>
          </a:p>
          <a:p>
            <a:pPr marL="742939" lvl="1" indent="-285750">
              <a:buFont typeface="Arial" panose="020B0604020202020204" pitchFamily="34" charset="0"/>
              <a:buChar char="•"/>
            </a:pPr>
            <a:r>
              <a:rPr lang="en-US"/>
              <a:t>Very heavy, lots of wasted material</a:t>
            </a:r>
          </a:p>
          <a:p>
            <a:pPr marL="742939" lvl="1" indent="-285750">
              <a:buFont typeface="Arial" panose="020B0604020202020204" pitchFamily="34" charset="0"/>
              <a:buChar char="•"/>
            </a:pPr>
            <a:r>
              <a:rPr lang="en-US"/>
              <a:t>Long time to manufacture</a:t>
            </a:r>
          </a:p>
          <a:p>
            <a:pPr marL="285750" indent="-285750">
              <a:buFont typeface="Arial" panose="020B0604020202020204" pitchFamily="34" charset="0"/>
              <a:buChar char="•"/>
            </a:pPr>
            <a:r>
              <a:rPr lang="en-US"/>
              <a:t>Difficult to line up with couplers and body tubes</a:t>
            </a:r>
          </a:p>
        </p:txBody>
      </p:sp>
      <p:sp>
        <p:nvSpPr>
          <p:cNvPr id="4" name="Text Placeholder 3">
            <a:extLst>
              <a:ext uri="{FF2B5EF4-FFF2-40B4-BE49-F238E27FC236}">
                <a16:creationId xmlns:a16="http://schemas.microsoft.com/office/drawing/2014/main" id="{35B7EC48-15AA-56D8-885D-F9C5A1A4FE92}"/>
              </a:ext>
            </a:extLst>
          </p:cNvPr>
          <p:cNvSpPr>
            <a:spLocks noGrp="1"/>
          </p:cNvSpPr>
          <p:nvPr>
            <p:ph type="body" sz="quarter" idx="19"/>
          </p:nvPr>
        </p:nvSpPr>
        <p:spPr>
          <a:xfrm>
            <a:off x="6969470" y="1196653"/>
            <a:ext cx="2775740" cy="329032"/>
          </a:xfrm>
        </p:spPr>
        <p:txBody>
          <a:bodyPr/>
          <a:lstStyle/>
          <a:p>
            <a:r>
              <a:rPr lang="en-US"/>
              <a:t>New Bulkhead Design</a:t>
            </a:r>
          </a:p>
        </p:txBody>
      </p:sp>
      <p:sp>
        <p:nvSpPr>
          <p:cNvPr id="5" name="Text Placeholder 4">
            <a:extLst>
              <a:ext uri="{FF2B5EF4-FFF2-40B4-BE49-F238E27FC236}">
                <a16:creationId xmlns:a16="http://schemas.microsoft.com/office/drawing/2014/main" id="{8311B095-782E-AD9E-EBEF-05A70E0EB040}"/>
              </a:ext>
            </a:extLst>
          </p:cNvPr>
          <p:cNvSpPr>
            <a:spLocks noGrp="1"/>
          </p:cNvSpPr>
          <p:nvPr>
            <p:ph type="body" sz="quarter" idx="20"/>
          </p:nvPr>
        </p:nvSpPr>
        <p:spPr>
          <a:xfrm>
            <a:off x="6807199" y="4222477"/>
            <a:ext cx="4823405" cy="2877739"/>
          </a:xfrm>
        </p:spPr>
        <p:txBody>
          <a:bodyPr/>
          <a:lstStyle/>
          <a:p>
            <a:pPr marL="285750" indent="-285750">
              <a:buFont typeface="Arial" panose="020B0604020202020204" pitchFamily="34" charset="0"/>
              <a:buChar char="•"/>
            </a:pPr>
            <a:r>
              <a:rPr lang="en-US"/>
              <a:t>Water jetted out of 1/2” Aluminum Sheet</a:t>
            </a:r>
          </a:p>
          <a:p>
            <a:pPr marL="742939" lvl="1" indent="-285750">
              <a:buFont typeface="Arial" panose="020B0604020202020204" pitchFamily="34" charset="0"/>
              <a:buChar char="•"/>
            </a:pPr>
            <a:r>
              <a:rPr lang="en-US"/>
              <a:t>Much lighter and faster to make</a:t>
            </a:r>
          </a:p>
          <a:p>
            <a:pPr marL="285750" indent="-285750">
              <a:buFont typeface="Arial" panose="020B0604020202020204" pitchFamily="34" charset="0"/>
              <a:buChar char="•"/>
            </a:pPr>
            <a:r>
              <a:rPr lang="en-US"/>
              <a:t>Hybrid of Encore Couplers and last year's bulkheads</a:t>
            </a:r>
          </a:p>
          <a:p>
            <a:pPr marL="742939" lvl="1" indent="-285750">
              <a:buFont typeface="Arial" panose="020B0604020202020204" pitchFamily="34" charset="0"/>
              <a:buChar char="•"/>
            </a:pPr>
            <a:r>
              <a:rPr lang="en-US"/>
              <a:t>Inserted inside couplers</a:t>
            </a:r>
          </a:p>
          <a:p>
            <a:pPr marL="742939" lvl="1" indent="-285750">
              <a:buFont typeface="Arial" panose="020B0604020202020204" pitchFamily="34" charset="0"/>
              <a:buChar char="•"/>
            </a:pPr>
            <a:r>
              <a:rPr lang="en-US"/>
              <a:t>No need to line up with body tube first</a:t>
            </a:r>
          </a:p>
          <a:p>
            <a:pPr marL="285750" indent="-285750">
              <a:buFont typeface="Arial" panose="020B0604020202020204" pitchFamily="34" charset="0"/>
              <a:buChar char="•"/>
            </a:pPr>
            <a:r>
              <a:rPr lang="en-US"/>
              <a:t>¼-20 Screws for all holes</a:t>
            </a:r>
          </a:p>
        </p:txBody>
      </p:sp>
      <p:sp>
        <p:nvSpPr>
          <p:cNvPr id="6" name="Footer Placeholder 5">
            <a:extLst>
              <a:ext uri="{FF2B5EF4-FFF2-40B4-BE49-F238E27FC236}">
                <a16:creationId xmlns:a16="http://schemas.microsoft.com/office/drawing/2014/main" id="{3E6D5632-3C23-CD64-C6A5-FF3B0C71BA67}"/>
              </a:ext>
            </a:extLst>
          </p:cNvPr>
          <p:cNvSpPr>
            <a:spLocks noGrp="1"/>
          </p:cNvSpPr>
          <p:nvPr>
            <p:ph type="ftr" sz="quarter" idx="21"/>
          </p:nvPr>
        </p:nvSpPr>
        <p:spPr/>
        <p:txBody>
          <a:bodyPr/>
          <a:lstStyle/>
          <a:p>
            <a:r>
              <a:rPr lang="en-US" sz="900">
                <a:ea typeface="Source Sans Pro"/>
              </a:rPr>
              <a:t>ARCHERFISH CDR </a:t>
            </a:r>
            <a:endParaRPr lang="en-US"/>
          </a:p>
        </p:txBody>
      </p:sp>
      <p:sp>
        <p:nvSpPr>
          <p:cNvPr id="7" name="Slide Number Placeholder 6">
            <a:extLst>
              <a:ext uri="{FF2B5EF4-FFF2-40B4-BE49-F238E27FC236}">
                <a16:creationId xmlns:a16="http://schemas.microsoft.com/office/drawing/2014/main" id="{DD19B937-EF03-B42E-04EA-048B18576CAE}"/>
              </a:ext>
            </a:extLst>
          </p:cNvPr>
          <p:cNvSpPr>
            <a:spLocks noGrp="1"/>
          </p:cNvSpPr>
          <p:nvPr>
            <p:ph type="sldNum" sz="quarter" idx="22"/>
          </p:nvPr>
        </p:nvSpPr>
        <p:spPr/>
        <p:txBody>
          <a:bodyPr/>
          <a:lstStyle/>
          <a:p>
            <a:r>
              <a:rPr lang="en-US"/>
              <a:t>/   </a:t>
            </a:r>
            <a:fld id="{6C7E6F33-74EE-5541-8108-8353B402F8C1}" type="slidenum">
              <a:rPr lang="en-US" smtClean="0"/>
              <a:pPr/>
              <a:t>82</a:t>
            </a:fld>
            <a:endParaRPr lang="en-US"/>
          </a:p>
        </p:txBody>
      </p:sp>
      <p:sp>
        <p:nvSpPr>
          <p:cNvPr id="8" name="Title 7">
            <a:extLst>
              <a:ext uri="{FF2B5EF4-FFF2-40B4-BE49-F238E27FC236}">
                <a16:creationId xmlns:a16="http://schemas.microsoft.com/office/drawing/2014/main" id="{3A10E055-5CBA-44C6-1467-203F193C37E1}"/>
              </a:ext>
            </a:extLst>
          </p:cNvPr>
          <p:cNvSpPr>
            <a:spLocks noGrp="1"/>
          </p:cNvSpPr>
          <p:nvPr>
            <p:ph type="title"/>
          </p:nvPr>
        </p:nvSpPr>
        <p:spPr>
          <a:xfrm>
            <a:off x="531848" y="388359"/>
            <a:ext cx="5564152" cy="625567"/>
          </a:xfrm>
        </p:spPr>
        <p:txBody>
          <a:bodyPr/>
          <a:lstStyle/>
          <a:p>
            <a:r>
              <a:rPr lang="en-US"/>
              <a:t>Bulkheads</a:t>
            </a:r>
          </a:p>
        </p:txBody>
      </p:sp>
      <p:pic>
        <p:nvPicPr>
          <p:cNvPr id="11" name="Picture 10">
            <a:extLst>
              <a:ext uri="{FF2B5EF4-FFF2-40B4-BE49-F238E27FC236}">
                <a16:creationId xmlns:a16="http://schemas.microsoft.com/office/drawing/2014/main" id="{81F74E03-B241-3F33-CAB0-D5C5DA0679C5}"/>
              </a:ext>
            </a:extLst>
          </p:cNvPr>
          <p:cNvPicPr>
            <a:picLocks noChangeAspect="1"/>
          </p:cNvPicPr>
          <p:nvPr/>
        </p:nvPicPr>
        <p:blipFill>
          <a:blip r:embed="rId2"/>
          <a:srcRect l="13738" t="6889" r="11221" b="10009"/>
          <a:stretch>
            <a:fillRect/>
          </a:stretch>
        </p:blipFill>
        <p:spPr>
          <a:xfrm>
            <a:off x="838200" y="1617048"/>
            <a:ext cx="2964873" cy="2204165"/>
          </a:xfrm>
          <a:prstGeom prst="rect">
            <a:avLst/>
          </a:prstGeom>
        </p:spPr>
      </p:pic>
      <p:sp>
        <p:nvSpPr>
          <p:cNvPr id="12" name="TextBox 11">
            <a:extLst>
              <a:ext uri="{FF2B5EF4-FFF2-40B4-BE49-F238E27FC236}">
                <a16:creationId xmlns:a16="http://schemas.microsoft.com/office/drawing/2014/main" id="{0651D934-F5FC-7796-7000-89C4B2AA6E97}"/>
              </a:ext>
            </a:extLst>
          </p:cNvPr>
          <p:cNvSpPr txBox="1"/>
          <p:nvPr/>
        </p:nvSpPr>
        <p:spPr>
          <a:xfrm>
            <a:off x="531848" y="3762615"/>
            <a:ext cx="3525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t>Fig 7.5 Generic Forte/Fortissimo Bulkhead</a:t>
            </a:r>
            <a:endParaRPr lang="en-US" sz="1600">
              <a:solidFill>
                <a:srgbClr val="000000"/>
              </a:solidFill>
            </a:endParaRPr>
          </a:p>
        </p:txBody>
      </p:sp>
      <p:pic>
        <p:nvPicPr>
          <p:cNvPr id="15" name="Picture 14">
            <a:extLst>
              <a:ext uri="{FF2B5EF4-FFF2-40B4-BE49-F238E27FC236}">
                <a16:creationId xmlns:a16="http://schemas.microsoft.com/office/drawing/2014/main" id="{D2412342-FB0B-4D6A-5B8C-C8649FF5E967}"/>
              </a:ext>
            </a:extLst>
          </p:cNvPr>
          <p:cNvPicPr>
            <a:picLocks noChangeAspect="1"/>
          </p:cNvPicPr>
          <p:nvPr/>
        </p:nvPicPr>
        <p:blipFill>
          <a:blip r:embed="rId3"/>
          <a:stretch>
            <a:fillRect/>
          </a:stretch>
        </p:blipFill>
        <p:spPr>
          <a:xfrm>
            <a:off x="6969471" y="1596609"/>
            <a:ext cx="2964874" cy="2166006"/>
          </a:xfrm>
          <a:prstGeom prst="rect">
            <a:avLst/>
          </a:prstGeom>
        </p:spPr>
      </p:pic>
      <p:sp>
        <p:nvSpPr>
          <p:cNvPr id="16" name="TextBox 15">
            <a:extLst>
              <a:ext uri="{FF2B5EF4-FFF2-40B4-BE49-F238E27FC236}">
                <a16:creationId xmlns:a16="http://schemas.microsoft.com/office/drawing/2014/main" id="{ECADDB86-61D1-306A-CC19-45C56677BE2C}"/>
              </a:ext>
            </a:extLst>
          </p:cNvPr>
          <p:cNvSpPr txBox="1"/>
          <p:nvPr/>
        </p:nvSpPr>
        <p:spPr>
          <a:xfrm>
            <a:off x="6969470" y="3762615"/>
            <a:ext cx="352525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t>Fig 7.6 Example Bulkhead for the Recovery section</a:t>
            </a:r>
            <a:endParaRPr lang="en-US" sz="1600">
              <a:solidFill>
                <a:srgbClr val="000000"/>
              </a:solidFill>
            </a:endParaRPr>
          </a:p>
        </p:txBody>
      </p:sp>
      <p:sp>
        <p:nvSpPr>
          <p:cNvPr id="9" name="TextBox 8">
            <a:extLst>
              <a:ext uri="{FF2B5EF4-FFF2-40B4-BE49-F238E27FC236}">
                <a16:creationId xmlns:a16="http://schemas.microsoft.com/office/drawing/2014/main" id="{EC662FBE-0D8B-08D4-4A35-DEF82D9ED867}"/>
              </a:ext>
            </a:extLst>
          </p:cNvPr>
          <p:cNvSpPr txBox="1"/>
          <p:nvPr/>
        </p:nvSpPr>
        <p:spPr>
          <a:xfrm>
            <a:off x="9934345" y="1736436"/>
            <a:ext cx="2137582" cy="923330"/>
          </a:xfrm>
          <a:prstGeom prst="rect">
            <a:avLst/>
          </a:prstGeom>
          <a:noFill/>
        </p:spPr>
        <p:txBody>
          <a:bodyPr wrap="square" rtlCol="0">
            <a:spAutoFit/>
          </a:bodyPr>
          <a:lstStyle/>
          <a:p>
            <a:r>
              <a:rPr lang="en-US"/>
              <a:t>General Dimensions:</a:t>
            </a:r>
          </a:p>
          <a:p>
            <a:r>
              <a:rPr lang="en-US"/>
              <a:t>5.5” OD</a:t>
            </a:r>
          </a:p>
          <a:p>
            <a:r>
              <a:rPr lang="en-US"/>
              <a:t>½” Thick</a:t>
            </a:r>
          </a:p>
        </p:txBody>
      </p:sp>
    </p:spTree>
    <p:extLst>
      <p:ext uri="{BB962C8B-B14F-4D97-AF65-F5344CB8AC3E}">
        <p14:creationId xmlns:p14="http://schemas.microsoft.com/office/powerpoint/2010/main" val="351447879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89C7F-E09C-C331-8674-406FAD90ED2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AD12C43-6EFA-814D-8108-75F49F0869A2}"/>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2C2EA0F6-613C-83B0-62C9-4A6C688772BE}"/>
              </a:ext>
            </a:extLst>
          </p:cNvPr>
          <p:cNvSpPr>
            <a:spLocks noGrp="1"/>
          </p:cNvSpPr>
          <p:nvPr>
            <p:ph type="sldNum" sz="quarter" idx="17"/>
          </p:nvPr>
        </p:nvSpPr>
        <p:spPr/>
        <p:txBody>
          <a:bodyPr/>
          <a:lstStyle/>
          <a:p>
            <a:r>
              <a:rPr lang="en-US"/>
              <a:t>/   </a:t>
            </a:r>
            <a:fld id="{6C7E6F33-74EE-5541-8108-8353B402F8C1}" type="slidenum">
              <a:rPr lang="en-US" smtClean="0"/>
              <a:pPr/>
              <a:t>83</a:t>
            </a:fld>
            <a:endParaRPr lang="en-US"/>
          </a:p>
        </p:txBody>
      </p:sp>
      <p:sp>
        <p:nvSpPr>
          <p:cNvPr id="5" name="Title 4">
            <a:extLst>
              <a:ext uri="{FF2B5EF4-FFF2-40B4-BE49-F238E27FC236}">
                <a16:creationId xmlns:a16="http://schemas.microsoft.com/office/drawing/2014/main" id="{D2BB8783-CA47-72D8-350B-21CF4E34B812}"/>
              </a:ext>
            </a:extLst>
          </p:cNvPr>
          <p:cNvSpPr>
            <a:spLocks noGrp="1"/>
          </p:cNvSpPr>
          <p:nvPr>
            <p:ph type="title"/>
          </p:nvPr>
        </p:nvSpPr>
        <p:spPr/>
        <p:txBody>
          <a:bodyPr/>
          <a:lstStyle/>
          <a:p>
            <a:r>
              <a:rPr lang="en-US"/>
              <a:t>Bulkheads cont.</a:t>
            </a:r>
          </a:p>
        </p:txBody>
      </p:sp>
      <p:pic>
        <p:nvPicPr>
          <p:cNvPr id="9" name="Picture 8">
            <a:extLst>
              <a:ext uri="{FF2B5EF4-FFF2-40B4-BE49-F238E27FC236}">
                <a16:creationId xmlns:a16="http://schemas.microsoft.com/office/drawing/2014/main" id="{A738C330-9876-DBBD-01EC-56D92BAFE6A7}"/>
              </a:ext>
            </a:extLst>
          </p:cNvPr>
          <p:cNvPicPr>
            <a:picLocks noChangeAspect="1"/>
          </p:cNvPicPr>
          <p:nvPr/>
        </p:nvPicPr>
        <p:blipFill>
          <a:blip r:embed="rId2"/>
          <a:stretch>
            <a:fillRect/>
          </a:stretch>
        </p:blipFill>
        <p:spPr>
          <a:xfrm>
            <a:off x="678403" y="1468315"/>
            <a:ext cx="2844758" cy="1983429"/>
          </a:xfrm>
          <a:prstGeom prst="rect">
            <a:avLst/>
          </a:prstGeom>
        </p:spPr>
      </p:pic>
      <p:pic>
        <p:nvPicPr>
          <p:cNvPr id="12" name="Picture 11">
            <a:extLst>
              <a:ext uri="{FF2B5EF4-FFF2-40B4-BE49-F238E27FC236}">
                <a16:creationId xmlns:a16="http://schemas.microsoft.com/office/drawing/2014/main" id="{E11545D8-1610-2918-5B29-47D3691580E1}"/>
              </a:ext>
            </a:extLst>
          </p:cNvPr>
          <p:cNvPicPr>
            <a:picLocks noChangeAspect="1"/>
          </p:cNvPicPr>
          <p:nvPr/>
        </p:nvPicPr>
        <p:blipFill>
          <a:blip r:embed="rId3"/>
          <a:stretch>
            <a:fillRect/>
          </a:stretch>
        </p:blipFill>
        <p:spPr>
          <a:xfrm>
            <a:off x="4998526" y="1451622"/>
            <a:ext cx="2813661" cy="1977378"/>
          </a:xfrm>
          <a:prstGeom prst="rect">
            <a:avLst/>
          </a:prstGeom>
        </p:spPr>
      </p:pic>
      <p:pic>
        <p:nvPicPr>
          <p:cNvPr id="15" name="Picture 14">
            <a:extLst>
              <a:ext uri="{FF2B5EF4-FFF2-40B4-BE49-F238E27FC236}">
                <a16:creationId xmlns:a16="http://schemas.microsoft.com/office/drawing/2014/main" id="{37705217-0AF9-9872-6169-1942F96A779A}"/>
              </a:ext>
            </a:extLst>
          </p:cNvPr>
          <p:cNvPicPr>
            <a:picLocks noChangeAspect="1"/>
          </p:cNvPicPr>
          <p:nvPr/>
        </p:nvPicPr>
        <p:blipFill>
          <a:blip r:embed="rId4"/>
          <a:stretch>
            <a:fillRect/>
          </a:stretch>
        </p:blipFill>
        <p:spPr>
          <a:xfrm>
            <a:off x="9287552" y="1451623"/>
            <a:ext cx="2636503" cy="1977377"/>
          </a:xfrm>
          <a:prstGeom prst="rect">
            <a:avLst/>
          </a:prstGeom>
        </p:spPr>
      </p:pic>
      <p:sp>
        <p:nvSpPr>
          <p:cNvPr id="16" name="TextBox 15">
            <a:extLst>
              <a:ext uri="{FF2B5EF4-FFF2-40B4-BE49-F238E27FC236}">
                <a16:creationId xmlns:a16="http://schemas.microsoft.com/office/drawing/2014/main" id="{66D879ED-42F2-6AE6-A222-BF1EC10362E4}"/>
              </a:ext>
            </a:extLst>
          </p:cNvPr>
          <p:cNvSpPr txBox="1"/>
          <p:nvPr/>
        </p:nvSpPr>
        <p:spPr>
          <a:xfrm>
            <a:off x="338156" y="3429000"/>
            <a:ext cx="352525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t>Fig 7.7 Nose Cone Bulkhead</a:t>
            </a:r>
            <a:endParaRPr lang="en-US" sz="1400">
              <a:solidFill>
                <a:srgbClr val="000000"/>
              </a:solidFill>
            </a:endParaRPr>
          </a:p>
        </p:txBody>
      </p:sp>
      <p:sp>
        <p:nvSpPr>
          <p:cNvPr id="17" name="TextBox 16">
            <a:extLst>
              <a:ext uri="{FF2B5EF4-FFF2-40B4-BE49-F238E27FC236}">
                <a16:creationId xmlns:a16="http://schemas.microsoft.com/office/drawing/2014/main" id="{68E06BBB-C404-3ADE-C464-645CCA973B72}"/>
              </a:ext>
            </a:extLst>
          </p:cNvPr>
          <p:cNvSpPr txBox="1"/>
          <p:nvPr/>
        </p:nvSpPr>
        <p:spPr>
          <a:xfrm>
            <a:off x="4541912" y="3428999"/>
            <a:ext cx="352525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t>Fig 7.8 Recovery Bulkhead</a:t>
            </a:r>
            <a:endParaRPr lang="en-US" sz="1400">
              <a:solidFill>
                <a:srgbClr val="000000"/>
              </a:solidFill>
            </a:endParaRPr>
          </a:p>
        </p:txBody>
      </p:sp>
      <p:sp>
        <p:nvSpPr>
          <p:cNvPr id="18" name="TextBox 17">
            <a:extLst>
              <a:ext uri="{FF2B5EF4-FFF2-40B4-BE49-F238E27FC236}">
                <a16:creationId xmlns:a16="http://schemas.microsoft.com/office/drawing/2014/main" id="{EDAFBF2A-AD28-6B40-361A-D124A5234A31}"/>
              </a:ext>
            </a:extLst>
          </p:cNvPr>
          <p:cNvSpPr txBox="1"/>
          <p:nvPr/>
        </p:nvSpPr>
        <p:spPr>
          <a:xfrm>
            <a:off x="8843177" y="3448111"/>
            <a:ext cx="352525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t>Fig 7.9 Fluids Adapter Bulkhead</a:t>
            </a:r>
            <a:endParaRPr lang="en-US" sz="1400">
              <a:solidFill>
                <a:srgbClr val="000000"/>
              </a:solidFill>
            </a:endParaRPr>
          </a:p>
        </p:txBody>
      </p:sp>
      <p:sp>
        <p:nvSpPr>
          <p:cNvPr id="19" name="TextBox 18">
            <a:extLst>
              <a:ext uri="{FF2B5EF4-FFF2-40B4-BE49-F238E27FC236}">
                <a16:creationId xmlns:a16="http://schemas.microsoft.com/office/drawing/2014/main" id="{8B7A1D5F-823F-E37D-C2E8-43F74AE34570}"/>
              </a:ext>
            </a:extLst>
          </p:cNvPr>
          <p:cNvSpPr txBox="1"/>
          <p:nvPr/>
        </p:nvSpPr>
        <p:spPr>
          <a:xfrm>
            <a:off x="531848" y="3859823"/>
            <a:ext cx="3622431" cy="153151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a:t>Hole for I-bolt for shock cord</a:t>
            </a:r>
          </a:p>
          <a:p>
            <a:pPr marL="285750" indent="-285750">
              <a:lnSpc>
                <a:spcPct val="150000"/>
              </a:lnSpc>
              <a:buFont typeface="Arial" panose="020B0604020202020204" pitchFamily="34" charset="0"/>
              <a:buChar char="•"/>
            </a:pPr>
            <a:r>
              <a:rPr lang="en-US" sz="1600"/>
              <a:t>Four ¼-20 Holes to Secure Bulkhead</a:t>
            </a:r>
          </a:p>
          <a:p>
            <a:pPr marL="285750" indent="-285750">
              <a:lnSpc>
                <a:spcPct val="150000"/>
              </a:lnSpc>
              <a:buFont typeface="Arial" panose="020B0604020202020204" pitchFamily="34" charset="0"/>
              <a:buChar char="•"/>
            </a:pPr>
            <a:r>
              <a:rPr lang="en-US" sz="1600"/>
              <a:t>Epoxy can be used around edges for a pressure seal</a:t>
            </a:r>
          </a:p>
        </p:txBody>
      </p:sp>
      <p:sp>
        <p:nvSpPr>
          <p:cNvPr id="20" name="TextBox 19">
            <a:extLst>
              <a:ext uri="{FF2B5EF4-FFF2-40B4-BE49-F238E27FC236}">
                <a16:creationId xmlns:a16="http://schemas.microsoft.com/office/drawing/2014/main" id="{E9A1F728-F5C8-D42E-A92B-90306BC974D0}"/>
              </a:ext>
            </a:extLst>
          </p:cNvPr>
          <p:cNvSpPr txBox="1"/>
          <p:nvPr/>
        </p:nvSpPr>
        <p:spPr>
          <a:xfrm>
            <a:off x="4727833" y="3708459"/>
            <a:ext cx="3797956" cy="300883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a:t>Made from two water-jetted pieces of ½” Aluminum Sheet</a:t>
            </a:r>
          </a:p>
          <a:p>
            <a:pPr marL="285750" indent="-285750">
              <a:lnSpc>
                <a:spcPct val="150000"/>
              </a:lnSpc>
              <a:buFont typeface="Arial" panose="020B0604020202020204" pitchFamily="34" charset="0"/>
              <a:buChar char="•"/>
            </a:pPr>
            <a:r>
              <a:rPr lang="en-US" sz="1600"/>
              <a:t>Bolted Together</a:t>
            </a:r>
          </a:p>
          <a:p>
            <a:pPr marL="285750" indent="-285750">
              <a:lnSpc>
                <a:spcPct val="150000"/>
              </a:lnSpc>
              <a:buFont typeface="Arial" panose="020B0604020202020204" pitchFamily="34" charset="0"/>
              <a:buChar char="•"/>
            </a:pPr>
            <a:r>
              <a:rPr lang="en-US" sz="1600"/>
              <a:t>Peregrine holes can be water-jetted out</a:t>
            </a:r>
          </a:p>
          <a:p>
            <a:pPr marL="285750" indent="-285750">
              <a:lnSpc>
                <a:spcPct val="150000"/>
              </a:lnSpc>
              <a:buFont typeface="Arial" panose="020B0604020202020204" pitchFamily="34" charset="0"/>
              <a:buChar char="•"/>
            </a:pPr>
            <a:r>
              <a:rPr lang="en-US" sz="1600"/>
              <a:t>Is more like and can be installed like a bulkhead from last year</a:t>
            </a:r>
          </a:p>
          <a:p>
            <a:pPr marL="285750" indent="-285750">
              <a:lnSpc>
                <a:spcPct val="150000"/>
              </a:lnSpc>
              <a:buFont typeface="Arial" panose="020B0604020202020204" pitchFamily="34" charset="0"/>
              <a:buChar char="•"/>
            </a:pPr>
            <a:r>
              <a:rPr lang="en-US" sz="1600"/>
              <a:t>Better for a pressure seal</a:t>
            </a:r>
          </a:p>
          <a:p>
            <a:pPr marL="285750" indent="-285750">
              <a:lnSpc>
                <a:spcPct val="150000"/>
              </a:lnSpc>
              <a:buFont typeface="Arial" panose="020B0604020202020204" pitchFamily="34" charset="0"/>
              <a:buChar char="•"/>
            </a:pPr>
            <a:endParaRPr lang="en-US" sz="1600"/>
          </a:p>
        </p:txBody>
      </p:sp>
      <p:sp>
        <p:nvSpPr>
          <p:cNvPr id="21" name="TextBox 20">
            <a:extLst>
              <a:ext uri="{FF2B5EF4-FFF2-40B4-BE49-F238E27FC236}">
                <a16:creationId xmlns:a16="http://schemas.microsoft.com/office/drawing/2014/main" id="{51F699CE-6D0B-D779-B390-8854537DA528}"/>
              </a:ext>
            </a:extLst>
          </p:cNvPr>
          <p:cNvSpPr txBox="1"/>
          <p:nvPr/>
        </p:nvSpPr>
        <p:spPr>
          <a:xfrm>
            <a:off x="8476620" y="3708459"/>
            <a:ext cx="3622431" cy="227017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a:t>Designed to Secure Oxidizer Bulkhead to top half of rocket</a:t>
            </a:r>
          </a:p>
          <a:p>
            <a:pPr marL="285750" indent="-285750">
              <a:lnSpc>
                <a:spcPct val="150000"/>
              </a:lnSpc>
              <a:buFont typeface="Arial" panose="020B0604020202020204" pitchFamily="34" charset="0"/>
              <a:buChar char="•"/>
            </a:pPr>
            <a:r>
              <a:rPr lang="en-US" sz="1600"/>
              <a:t>Eight ¼-20 Holes to Secure Bulkhead</a:t>
            </a:r>
          </a:p>
          <a:p>
            <a:pPr marL="285750" indent="-285750">
              <a:lnSpc>
                <a:spcPct val="150000"/>
              </a:lnSpc>
              <a:buFont typeface="Arial" panose="020B0604020202020204" pitchFamily="34" charset="0"/>
              <a:buChar char="•"/>
            </a:pPr>
            <a:r>
              <a:rPr lang="en-US" sz="1600"/>
              <a:t>Highly important part to secure rocket together</a:t>
            </a:r>
          </a:p>
          <a:p>
            <a:pPr marL="285750" indent="-285750">
              <a:lnSpc>
                <a:spcPct val="150000"/>
              </a:lnSpc>
              <a:buFont typeface="Arial" panose="020B0604020202020204" pitchFamily="34" charset="0"/>
              <a:buChar char="•"/>
            </a:pPr>
            <a:r>
              <a:rPr lang="en-US" sz="1600"/>
              <a:t>Pockets for weight reduction</a:t>
            </a:r>
          </a:p>
        </p:txBody>
      </p:sp>
    </p:spTree>
    <p:extLst>
      <p:ext uri="{BB962C8B-B14F-4D97-AF65-F5344CB8AC3E}">
        <p14:creationId xmlns:p14="http://schemas.microsoft.com/office/powerpoint/2010/main" val="30197311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5F62AA6-72E9-9F0F-703A-626F821A2717}"/>
              </a:ext>
            </a:extLst>
          </p:cNvPr>
          <p:cNvSpPr>
            <a:spLocks noGrp="1"/>
          </p:cNvSpPr>
          <p:nvPr>
            <p:ph type="ftr" sz="quarter" idx="16"/>
          </p:nvPr>
        </p:nvSpPr>
        <p:spPr/>
        <p:txBody>
          <a:bodyPr/>
          <a:lstStyle/>
          <a:p>
            <a:r>
              <a:rPr lang="en-US" sz="900">
                <a:latin typeface="Source Sans Pro"/>
                <a:ea typeface="Source Sans Pro"/>
              </a:rPr>
              <a:t>ARCHERFISH CDR</a:t>
            </a:r>
            <a:endParaRPr lang="en-US" sz="900">
              <a:ea typeface="Source Sans Pro"/>
            </a:endParaRPr>
          </a:p>
        </p:txBody>
      </p:sp>
      <p:sp>
        <p:nvSpPr>
          <p:cNvPr id="4" name="Slide Number Placeholder 3">
            <a:extLst>
              <a:ext uri="{FF2B5EF4-FFF2-40B4-BE49-F238E27FC236}">
                <a16:creationId xmlns:a16="http://schemas.microsoft.com/office/drawing/2014/main" id="{A4EDDD4C-7C97-7765-DE38-CE29B1AFEB5B}"/>
              </a:ext>
            </a:extLst>
          </p:cNvPr>
          <p:cNvSpPr>
            <a:spLocks noGrp="1"/>
          </p:cNvSpPr>
          <p:nvPr>
            <p:ph type="sldNum" sz="quarter" idx="17"/>
          </p:nvPr>
        </p:nvSpPr>
        <p:spPr/>
        <p:txBody>
          <a:bodyPr/>
          <a:lstStyle/>
          <a:p>
            <a:r>
              <a:rPr lang="en-US"/>
              <a:t>/   </a:t>
            </a:r>
            <a:fld id="{6C7E6F33-74EE-5541-8108-8353B402F8C1}" type="slidenum">
              <a:rPr lang="en-US" smtClean="0"/>
              <a:pPr/>
              <a:t>84</a:t>
            </a:fld>
            <a:endParaRPr lang="en-US"/>
          </a:p>
        </p:txBody>
      </p:sp>
      <p:sp>
        <p:nvSpPr>
          <p:cNvPr id="5" name="Title 4">
            <a:extLst>
              <a:ext uri="{FF2B5EF4-FFF2-40B4-BE49-F238E27FC236}">
                <a16:creationId xmlns:a16="http://schemas.microsoft.com/office/drawing/2014/main" id="{042D732B-FFA4-7E8C-3A31-EA16BD7D4639}"/>
              </a:ext>
            </a:extLst>
          </p:cNvPr>
          <p:cNvSpPr>
            <a:spLocks noGrp="1"/>
          </p:cNvSpPr>
          <p:nvPr>
            <p:ph type="title"/>
          </p:nvPr>
        </p:nvSpPr>
        <p:spPr>
          <a:xfrm>
            <a:off x="531848" y="716984"/>
            <a:ext cx="9932952" cy="625567"/>
          </a:xfrm>
        </p:spPr>
        <p:txBody>
          <a:bodyPr/>
          <a:lstStyle/>
          <a:p>
            <a:r>
              <a:rPr lang="en-US" sz="3600">
                <a:latin typeface="+mn-lt"/>
              </a:rPr>
              <a:t>Integration of Couplers and Bulkheads</a:t>
            </a:r>
          </a:p>
        </p:txBody>
      </p:sp>
      <p:pic>
        <p:nvPicPr>
          <p:cNvPr id="7" name="Picture 6">
            <a:extLst>
              <a:ext uri="{FF2B5EF4-FFF2-40B4-BE49-F238E27FC236}">
                <a16:creationId xmlns:a16="http://schemas.microsoft.com/office/drawing/2014/main" id="{4AF64D03-EF46-E309-75A0-516ABDDE2773}"/>
              </a:ext>
            </a:extLst>
          </p:cNvPr>
          <p:cNvPicPr>
            <a:picLocks noChangeAspect="1"/>
          </p:cNvPicPr>
          <p:nvPr/>
        </p:nvPicPr>
        <p:blipFill>
          <a:blip r:embed="rId2"/>
          <a:stretch>
            <a:fillRect/>
          </a:stretch>
        </p:blipFill>
        <p:spPr>
          <a:xfrm>
            <a:off x="696191" y="1517072"/>
            <a:ext cx="1600200" cy="3048000"/>
          </a:xfrm>
          <a:prstGeom prst="rect">
            <a:avLst/>
          </a:prstGeom>
        </p:spPr>
      </p:pic>
      <p:pic>
        <p:nvPicPr>
          <p:cNvPr id="8" name="Picture 7">
            <a:extLst>
              <a:ext uri="{FF2B5EF4-FFF2-40B4-BE49-F238E27FC236}">
                <a16:creationId xmlns:a16="http://schemas.microsoft.com/office/drawing/2014/main" id="{B62ADA51-B123-2E33-3011-F05F7D9C478A}"/>
              </a:ext>
            </a:extLst>
          </p:cNvPr>
          <p:cNvPicPr>
            <a:picLocks noChangeAspect="1"/>
          </p:cNvPicPr>
          <p:nvPr/>
        </p:nvPicPr>
        <p:blipFill>
          <a:blip r:embed="rId3"/>
          <a:stretch>
            <a:fillRect/>
          </a:stretch>
        </p:blipFill>
        <p:spPr>
          <a:xfrm>
            <a:off x="2592273" y="1517072"/>
            <a:ext cx="2906051" cy="2760749"/>
          </a:xfrm>
          <a:prstGeom prst="rect">
            <a:avLst/>
          </a:prstGeom>
        </p:spPr>
      </p:pic>
      <p:pic>
        <p:nvPicPr>
          <p:cNvPr id="9" name="Picture 8">
            <a:extLst>
              <a:ext uri="{FF2B5EF4-FFF2-40B4-BE49-F238E27FC236}">
                <a16:creationId xmlns:a16="http://schemas.microsoft.com/office/drawing/2014/main" id="{E24B46D1-5882-A6BB-A4AB-31240C5B343D}"/>
              </a:ext>
            </a:extLst>
          </p:cNvPr>
          <p:cNvPicPr>
            <a:picLocks noChangeAspect="1"/>
          </p:cNvPicPr>
          <p:nvPr/>
        </p:nvPicPr>
        <p:blipFill>
          <a:blip r:embed="rId4"/>
          <a:srcRect r="12501" b="9424"/>
          <a:stretch>
            <a:fillRect/>
          </a:stretch>
        </p:blipFill>
        <p:spPr>
          <a:xfrm>
            <a:off x="7047348" y="1517072"/>
            <a:ext cx="2290038" cy="2963170"/>
          </a:xfrm>
          <a:prstGeom prst="rect">
            <a:avLst/>
          </a:prstGeom>
        </p:spPr>
      </p:pic>
      <p:pic>
        <p:nvPicPr>
          <p:cNvPr id="10" name="Picture 9">
            <a:extLst>
              <a:ext uri="{FF2B5EF4-FFF2-40B4-BE49-F238E27FC236}">
                <a16:creationId xmlns:a16="http://schemas.microsoft.com/office/drawing/2014/main" id="{DF819096-E6EB-D76E-5979-DE091A700E04}"/>
              </a:ext>
            </a:extLst>
          </p:cNvPr>
          <p:cNvPicPr>
            <a:picLocks noChangeAspect="1"/>
          </p:cNvPicPr>
          <p:nvPr/>
        </p:nvPicPr>
        <p:blipFill>
          <a:blip r:embed="rId5"/>
          <a:stretch>
            <a:fillRect/>
          </a:stretch>
        </p:blipFill>
        <p:spPr>
          <a:xfrm>
            <a:off x="9334124" y="1342551"/>
            <a:ext cx="2679700" cy="3048000"/>
          </a:xfrm>
          <a:prstGeom prst="rect">
            <a:avLst/>
          </a:prstGeom>
        </p:spPr>
      </p:pic>
      <p:sp>
        <p:nvSpPr>
          <p:cNvPr id="11" name="TextBox 10">
            <a:extLst>
              <a:ext uri="{FF2B5EF4-FFF2-40B4-BE49-F238E27FC236}">
                <a16:creationId xmlns:a16="http://schemas.microsoft.com/office/drawing/2014/main" id="{0166504E-FD12-6475-4B1B-A6F19C48566E}"/>
              </a:ext>
            </a:extLst>
          </p:cNvPr>
          <p:cNvSpPr txBox="1"/>
          <p:nvPr/>
        </p:nvSpPr>
        <p:spPr>
          <a:xfrm>
            <a:off x="531848" y="4277821"/>
            <a:ext cx="212147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t>Fig 7.10 Nose Cone Bulkhead integration</a:t>
            </a:r>
          </a:p>
          <a:p>
            <a:pPr algn="ctr"/>
            <a:endParaRPr lang="en-US" sz="1400">
              <a:solidFill>
                <a:srgbClr val="000000"/>
              </a:solidFill>
            </a:endParaRPr>
          </a:p>
        </p:txBody>
      </p:sp>
      <p:sp>
        <p:nvSpPr>
          <p:cNvPr id="12" name="TextBox 11">
            <a:extLst>
              <a:ext uri="{FF2B5EF4-FFF2-40B4-BE49-F238E27FC236}">
                <a16:creationId xmlns:a16="http://schemas.microsoft.com/office/drawing/2014/main" id="{A4471E6C-15CF-4770-080D-DAF0E95B41C3}"/>
              </a:ext>
            </a:extLst>
          </p:cNvPr>
          <p:cNvSpPr txBox="1"/>
          <p:nvPr/>
        </p:nvSpPr>
        <p:spPr>
          <a:xfrm>
            <a:off x="2888414" y="4277821"/>
            <a:ext cx="2121477"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b="1"/>
              <a:t>Fig 7.11 Fluid Adapter Bulkhead integration</a:t>
            </a:r>
          </a:p>
          <a:p>
            <a:pPr algn="ctr"/>
            <a:endParaRPr lang="en-US" sz="1400">
              <a:solidFill>
                <a:srgbClr val="000000"/>
              </a:solidFill>
            </a:endParaRPr>
          </a:p>
        </p:txBody>
      </p:sp>
      <p:sp>
        <p:nvSpPr>
          <p:cNvPr id="14" name="TextBox 13">
            <a:extLst>
              <a:ext uri="{FF2B5EF4-FFF2-40B4-BE49-F238E27FC236}">
                <a16:creationId xmlns:a16="http://schemas.microsoft.com/office/drawing/2014/main" id="{2859EBF0-3391-C7BE-5975-E0A60A041DD8}"/>
              </a:ext>
            </a:extLst>
          </p:cNvPr>
          <p:cNvSpPr txBox="1"/>
          <p:nvPr/>
        </p:nvSpPr>
        <p:spPr>
          <a:xfrm>
            <a:off x="7299929" y="4277821"/>
            <a:ext cx="1902981" cy="523220"/>
          </a:xfrm>
          <a:prstGeom prst="rect">
            <a:avLst/>
          </a:prstGeom>
          <a:noFill/>
        </p:spPr>
        <p:txBody>
          <a:bodyPr wrap="square">
            <a:spAutoFit/>
          </a:bodyPr>
          <a:lstStyle/>
          <a:p>
            <a:pPr algn="ctr"/>
            <a:r>
              <a:rPr lang="en-US" sz="1400" b="1"/>
              <a:t>Fig 7.12 Full Recovery Coupler Assembly</a:t>
            </a:r>
            <a:endParaRPr lang="en-US" sz="1400">
              <a:solidFill>
                <a:srgbClr val="000000"/>
              </a:solidFill>
            </a:endParaRPr>
          </a:p>
        </p:txBody>
      </p:sp>
      <p:sp>
        <p:nvSpPr>
          <p:cNvPr id="15" name="TextBox 14">
            <a:extLst>
              <a:ext uri="{FF2B5EF4-FFF2-40B4-BE49-F238E27FC236}">
                <a16:creationId xmlns:a16="http://schemas.microsoft.com/office/drawing/2014/main" id="{6B36F8F3-E128-1272-F411-4CA6FB3845CD}"/>
              </a:ext>
            </a:extLst>
          </p:cNvPr>
          <p:cNvSpPr txBox="1"/>
          <p:nvPr/>
        </p:nvSpPr>
        <p:spPr>
          <a:xfrm>
            <a:off x="9656495" y="4277820"/>
            <a:ext cx="1902981" cy="523220"/>
          </a:xfrm>
          <a:prstGeom prst="rect">
            <a:avLst/>
          </a:prstGeom>
          <a:noFill/>
        </p:spPr>
        <p:txBody>
          <a:bodyPr wrap="square">
            <a:spAutoFit/>
          </a:bodyPr>
          <a:lstStyle/>
          <a:p>
            <a:pPr algn="ctr"/>
            <a:r>
              <a:rPr lang="en-US" sz="1400" b="1"/>
              <a:t>Fig 7.13 Recovery Coupler Cross Section</a:t>
            </a:r>
            <a:endParaRPr lang="en-US" sz="1400">
              <a:solidFill>
                <a:srgbClr val="000000"/>
              </a:solidFill>
            </a:endParaRPr>
          </a:p>
        </p:txBody>
      </p:sp>
    </p:spTree>
    <p:extLst>
      <p:ext uri="{BB962C8B-B14F-4D97-AF65-F5344CB8AC3E}">
        <p14:creationId xmlns:p14="http://schemas.microsoft.com/office/powerpoint/2010/main" val="37342052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F8D68-38F7-3427-204B-0384A8502215}"/>
              </a:ext>
            </a:extLst>
          </p:cNvPr>
          <p:cNvSpPr>
            <a:spLocks noGrp="1"/>
          </p:cNvSpPr>
          <p:nvPr>
            <p:ph type="title"/>
          </p:nvPr>
        </p:nvSpPr>
        <p:spPr>
          <a:xfrm>
            <a:off x="531848" y="716984"/>
            <a:ext cx="8707568" cy="625567"/>
          </a:xfrm>
        </p:spPr>
        <p:txBody>
          <a:bodyPr/>
          <a:lstStyle/>
          <a:p>
            <a:r>
              <a:rPr lang="en-US">
                <a:latin typeface="Munistic"/>
              </a:rPr>
              <a:t>Force and Moment Calculations</a:t>
            </a:r>
            <a:endParaRPr lang="en-US"/>
          </a:p>
        </p:txBody>
      </p:sp>
      <p:sp>
        <p:nvSpPr>
          <p:cNvPr id="6" name="Slide Number Placeholder 3">
            <a:extLst>
              <a:ext uri="{FF2B5EF4-FFF2-40B4-BE49-F238E27FC236}">
                <a16:creationId xmlns:a16="http://schemas.microsoft.com/office/drawing/2014/main" id="{9EED3FC7-81DB-C676-2DC0-74D19B71CC92}"/>
              </a:ext>
            </a:extLst>
          </p:cNvPr>
          <p:cNvSpPr>
            <a:spLocks noGrp="1"/>
          </p:cNvSpPr>
          <p:nvPr>
            <p:ph type="sldNum" sz="quarter" idx="17"/>
          </p:nvPr>
        </p:nvSpPr>
        <p:spPr>
          <a:xfrm>
            <a:off x="11379199" y="6351113"/>
            <a:ext cx="544856" cy="366183"/>
          </a:xfrm>
        </p:spPr>
        <p:txBody>
          <a:bodyPr/>
          <a:lstStyle/>
          <a:p>
            <a:r>
              <a:rPr lang="en-US"/>
              <a:t>/   </a:t>
            </a:r>
            <a:fld id="{6C7E6F33-74EE-5541-8108-8353B402F8C1}" type="slidenum">
              <a:rPr lang="en-US" smtClean="0"/>
              <a:pPr/>
              <a:t>85</a:t>
            </a:fld>
            <a:endParaRPr lang="en-US"/>
          </a:p>
        </p:txBody>
      </p:sp>
      <p:sp>
        <p:nvSpPr>
          <p:cNvPr id="10" name="Footer Placeholder 2">
            <a:extLst>
              <a:ext uri="{FF2B5EF4-FFF2-40B4-BE49-F238E27FC236}">
                <a16:creationId xmlns:a16="http://schemas.microsoft.com/office/drawing/2014/main" id="{63A475CD-5600-4F72-C53C-B08A9F672580}"/>
              </a:ext>
            </a:extLst>
          </p:cNvPr>
          <p:cNvSpPr>
            <a:spLocks noGrp="1"/>
          </p:cNvSpPr>
          <p:nvPr>
            <p:ph type="ftr" sz="quarter" idx="16"/>
          </p:nvPr>
        </p:nvSpPr>
        <p:spPr>
          <a:xfrm>
            <a:off x="7491867" y="6351113"/>
            <a:ext cx="4114800" cy="366183"/>
          </a:xfrm>
        </p:spPr>
        <p:txBody>
          <a:bodyPr/>
          <a:lstStyle/>
          <a:p>
            <a:r>
              <a:rPr lang="en-US" sz="900">
                <a:latin typeface="Source Sans Pro"/>
                <a:ea typeface="Source Sans Pro"/>
              </a:rPr>
              <a:t>ARCHERFISH CDR</a:t>
            </a:r>
            <a:endParaRPr lang="en-US"/>
          </a:p>
        </p:txBody>
      </p:sp>
      <p:sp>
        <p:nvSpPr>
          <p:cNvPr id="5" name="TextBox 4">
            <a:extLst>
              <a:ext uri="{FF2B5EF4-FFF2-40B4-BE49-F238E27FC236}">
                <a16:creationId xmlns:a16="http://schemas.microsoft.com/office/drawing/2014/main" id="{0F8E3001-2F5F-9DE4-37A6-D1E4FD08488B}"/>
              </a:ext>
            </a:extLst>
          </p:cNvPr>
          <p:cNvSpPr txBox="1"/>
          <p:nvPr/>
        </p:nvSpPr>
        <p:spPr>
          <a:xfrm>
            <a:off x="7491866" y="5494685"/>
            <a:ext cx="2860447" cy="584775"/>
          </a:xfrm>
          <a:prstGeom prst="rect">
            <a:avLst/>
          </a:prstGeom>
          <a:noFill/>
        </p:spPr>
        <p:txBody>
          <a:bodyPr wrap="square" rtlCol="0">
            <a:spAutoFit/>
          </a:bodyPr>
          <a:lstStyle/>
          <a:p>
            <a:r>
              <a:rPr lang="en-US" sz="1600" b="1"/>
              <a:t>Fig. 7.15 Bending and Shear Diagrams for Archerfish</a:t>
            </a:r>
          </a:p>
        </p:txBody>
      </p:sp>
      <p:pic>
        <p:nvPicPr>
          <p:cNvPr id="8" name="Picture 7" descr="A graph of shear and bending moment&#10;&#10;AI-generated content may be incorrect.">
            <a:extLst>
              <a:ext uri="{FF2B5EF4-FFF2-40B4-BE49-F238E27FC236}">
                <a16:creationId xmlns:a16="http://schemas.microsoft.com/office/drawing/2014/main" id="{DF8AF7DB-4703-28B3-0E7F-D173D74FA43D}"/>
              </a:ext>
            </a:extLst>
          </p:cNvPr>
          <p:cNvPicPr>
            <a:picLocks noChangeAspect="1"/>
          </p:cNvPicPr>
          <p:nvPr/>
        </p:nvPicPr>
        <p:blipFill>
          <a:blip r:embed="rId2"/>
          <a:stretch>
            <a:fillRect/>
          </a:stretch>
        </p:blipFill>
        <p:spPr>
          <a:xfrm>
            <a:off x="5658674" y="1436914"/>
            <a:ext cx="6186969" cy="4057771"/>
          </a:xfrm>
          <a:prstGeom prst="rect">
            <a:avLst/>
          </a:prstGeom>
        </p:spPr>
      </p:pic>
      <p:pic>
        <p:nvPicPr>
          <p:cNvPr id="12" name="Picture 11" descr="A black text on a white background&#10;&#10;AI-generated content may be incorrect.">
            <a:extLst>
              <a:ext uri="{FF2B5EF4-FFF2-40B4-BE49-F238E27FC236}">
                <a16:creationId xmlns:a16="http://schemas.microsoft.com/office/drawing/2014/main" id="{75127347-B10C-9243-69B1-EEB7B6995963}"/>
              </a:ext>
            </a:extLst>
          </p:cNvPr>
          <p:cNvPicPr>
            <a:picLocks noChangeAspect="1"/>
          </p:cNvPicPr>
          <p:nvPr/>
        </p:nvPicPr>
        <p:blipFill>
          <a:blip r:embed="rId3"/>
          <a:stretch>
            <a:fillRect/>
          </a:stretch>
        </p:blipFill>
        <p:spPr>
          <a:xfrm>
            <a:off x="450741" y="4077748"/>
            <a:ext cx="5232400" cy="1511300"/>
          </a:xfrm>
          <a:prstGeom prst="rect">
            <a:avLst/>
          </a:prstGeom>
        </p:spPr>
      </p:pic>
      <p:sp>
        <p:nvSpPr>
          <p:cNvPr id="15" name="TextBox 14">
            <a:extLst>
              <a:ext uri="{FF2B5EF4-FFF2-40B4-BE49-F238E27FC236}">
                <a16:creationId xmlns:a16="http://schemas.microsoft.com/office/drawing/2014/main" id="{DCFBC647-9E77-21C0-B899-B4FEAF40938D}"/>
              </a:ext>
            </a:extLst>
          </p:cNvPr>
          <p:cNvSpPr txBox="1"/>
          <p:nvPr/>
        </p:nvSpPr>
        <p:spPr>
          <a:xfrm>
            <a:off x="197125" y="1643742"/>
            <a:ext cx="5461549" cy="1754326"/>
          </a:xfrm>
          <a:prstGeom prst="rect">
            <a:avLst/>
          </a:prstGeom>
          <a:noFill/>
        </p:spPr>
        <p:txBody>
          <a:bodyPr wrap="square" rtlCol="0">
            <a:spAutoFit/>
          </a:bodyPr>
          <a:lstStyle/>
          <a:p>
            <a:pPr marL="285750" indent="-285750">
              <a:buFont typeface="Arial" panose="020B0604020202020204" pitchFamily="34" charset="0"/>
              <a:buChar char="•"/>
            </a:pPr>
            <a:r>
              <a:rPr lang="en-US">
                <a:ea typeface="Source Sans Pro"/>
                <a:cs typeface="Calibri"/>
              </a:rPr>
              <a:t>Values are between those of Forte and Fortissimo last year</a:t>
            </a:r>
          </a:p>
          <a:p>
            <a:pPr marL="285750" indent="-285750">
              <a:buFont typeface="Arial" panose="020B0604020202020204" pitchFamily="34" charset="0"/>
              <a:buChar char="•"/>
            </a:pPr>
            <a:r>
              <a:rPr lang="en-US">
                <a:ea typeface="Source Sans Pro"/>
                <a:cs typeface="Calibri"/>
              </a:rPr>
              <a:t>Rocket is going faster (Around Mach 0.75)</a:t>
            </a:r>
          </a:p>
          <a:p>
            <a:pPr marL="285750" indent="-285750">
              <a:buFont typeface="Arial" panose="020B0604020202020204" pitchFamily="34" charset="0"/>
              <a:buChar char="•"/>
            </a:pPr>
            <a:r>
              <a:rPr lang="en-US">
                <a:ea typeface="Source Sans Pro"/>
                <a:cs typeface="Calibri"/>
              </a:rPr>
              <a:t>Overall, good safety factors</a:t>
            </a:r>
          </a:p>
          <a:p>
            <a:pPr marL="285750" indent="-285750">
              <a:buFont typeface="Arial" panose="020B0604020202020204" pitchFamily="34" charset="0"/>
              <a:buChar char="•"/>
            </a:pPr>
            <a:r>
              <a:rPr lang="en-US">
                <a:ea typeface="Source Sans Pro"/>
                <a:cs typeface="Calibri"/>
              </a:rPr>
              <a:t>Assumes a thicker wall thickness of around 0.1in </a:t>
            </a:r>
          </a:p>
          <a:p>
            <a:endParaRPr lang="en-US"/>
          </a:p>
        </p:txBody>
      </p:sp>
      <p:sp>
        <p:nvSpPr>
          <p:cNvPr id="16" name="TextBox 15">
            <a:extLst>
              <a:ext uri="{FF2B5EF4-FFF2-40B4-BE49-F238E27FC236}">
                <a16:creationId xmlns:a16="http://schemas.microsoft.com/office/drawing/2014/main" id="{85F1C4E2-3CBF-5F41-5567-1DD16EF1EA5D}"/>
              </a:ext>
            </a:extLst>
          </p:cNvPr>
          <p:cNvSpPr txBox="1"/>
          <p:nvPr/>
        </p:nvSpPr>
        <p:spPr>
          <a:xfrm>
            <a:off x="1227564" y="5589048"/>
            <a:ext cx="2860447" cy="523220"/>
          </a:xfrm>
          <a:prstGeom prst="rect">
            <a:avLst/>
          </a:prstGeom>
          <a:noFill/>
        </p:spPr>
        <p:txBody>
          <a:bodyPr wrap="square" rtlCol="0">
            <a:spAutoFit/>
          </a:bodyPr>
          <a:lstStyle/>
          <a:p>
            <a:r>
              <a:rPr lang="en-US" sz="1400" b="1"/>
              <a:t>Fig. 7.14 Force, Moment and Safety Factor Values</a:t>
            </a:r>
          </a:p>
        </p:txBody>
      </p:sp>
    </p:spTree>
    <p:extLst>
      <p:ext uri="{BB962C8B-B14F-4D97-AF65-F5344CB8AC3E}">
        <p14:creationId xmlns:p14="http://schemas.microsoft.com/office/powerpoint/2010/main" val="37567828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of Product. Back orientation. Button Head Hex Drive Screw, Black-Oxide Alloy Steel, 1/4&quot;-20 Thread, 1&quot; Long.">
            <a:extLst>
              <a:ext uri="{FF2B5EF4-FFF2-40B4-BE49-F238E27FC236}">
                <a16:creationId xmlns:a16="http://schemas.microsoft.com/office/drawing/2014/main" id="{5A738279-3EFF-A59E-41A6-2EE2AD0EEEB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294872" y="1544665"/>
            <a:ext cx="7311842" cy="3691880"/>
          </a:xfrm>
          <a:prstGeom prst="rect">
            <a:avLst/>
          </a:prstGeom>
          <a:solidFill>
            <a:srgbClr val="FFFFFF"/>
          </a:solidFill>
          <a:ln>
            <a:noFill/>
          </a:ln>
          <a:effectLst/>
        </p:spPr>
      </p:pic>
      <p:sp>
        <p:nvSpPr>
          <p:cNvPr id="3" name="Footer Placeholder 2">
            <a:extLst>
              <a:ext uri="{FF2B5EF4-FFF2-40B4-BE49-F238E27FC236}">
                <a16:creationId xmlns:a16="http://schemas.microsoft.com/office/drawing/2014/main" id="{E48B29C7-6683-BFEE-1285-A04FB978D85A}"/>
              </a:ext>
            </a:extLst>
          </p:cNvPr>
          <p:cNvSpPr>
            <a:spLocks noGrp="1"/>
          </p:cNvSpPr>
          <p:nvPr>
            <p:ph type="ftr" sz="quarter" idx="22"/>
          </p:nvPr>
        </p:nvSpPr>
        <p:spPr>
          <a:xfrm>
            <a:off x="7491867" y="6351113"/>
            <a:ext cx="4114800" cy="366183"/>
          </a:xfrm>
        </p:spPr>
        <p:txBody>
          <a:bodyPr anchor="ctr">
            <a:normAutofit/>
          </a:bodyPr>
          <a:lstStyle/>
          <a:p>
            <a:pPr>
              <a:spcAft>
                <a:spcPts val="600"/>
              </a:spcAft>
            </a:pPr>
            <a:r>
              <a:rPr lang="en-US"/>
              <a:t>TEMPLATE (WRITE IN ALL CAPS)</a:t>
            </a:r>
          </a:p>
        </p:txBody>
      </p:sp>
      <p:sp>
        <p:nvSpPr>
          <p:cNvPr id="4" name="Slide Number Placeholder 3">
            <a:extLst>
              <a:ext uri="{FF2B5EF4-FFF2-40B4-BE49-F238E27FC236}">
                <a16:creationId xmlns:a16="http://schemas.microsoft.com/office/drawing/2014/main" id="{5B2ED133-497E-86AD-8CB3-53579F1D54B7}"/>
              </a:ext>
            </a:extLst>
          </p:cNvPr>
          <p:cNvSpPr>
            <a:spLocks noGrp="1"/>
          </p:cNvSpPr>
          <p:nvPr>
            <p:ph type="sldNum" sz="quarter" idx="23"/>
          </p:nvPr>
        </p:nvSpPr>
        <p:spPr>
          <a:xfrm>
            <a:off x="11379199" y="6351113"/>
            <a:ext cx="544856" cy="366183"/>
          </a:xfrm>
        </p:spPr>
        <p:txBody>
          <a:bodyPr anchor="ctr">
            <a:normAutofit/>
          </a:bodyPr>
          <a:lstStyle/>
          <a:p>
            <a:pPr>
              <a:spcAft>
                <a:spcPts val="600"/>
              </a:spcAft>
            </a:pPr>
            <a:r>
              <a:rPr lang="en-US"/>
              <a:t>/   </a:t>
            </a:r>
            <a:fld id="{6C7E6F33-74EE-5541-8108-8353B402F8C1}" type="slidenum">
              <a:rPr lang="en-US" smtClean="0"/>
              <a:pPr>
                <a:spcAft>
                  <a:spcPts val="600"/>
                </a:spcAft>
              </a:pPr>
              <a:t>86</a:t>
            </a:fld>
            <a:endParaRPr lang="en-US"/>
          </a:p>
        </p:txBody>
      </p:sp>
      <p:sp>
        <p:nvSpPr>
          <p:cNvPr id="5" name="Title 4">
            <a:extLst>
              <a:ext uri="{FF2B5EF4-FFF2-40B4-BE49-F238E27FC236}">
                <a16:creationId xmlns:a16="http://schemas.microsoft.com/office/drawing/2014/main" id="{63FB5D2D-260B-8186-2DD3-E56EA91095CC}"/>
              </a:ext>
            </a:extLst>
          </p:cNvPr>
          <p:cNvSpPr>
            <a:spLocks noGrp="1"/>
          </p:cNvSpPr>
          <p:nvPr>
            <p:ph type="title"/>
          </p:nvPr>
        </p:nvSpPr>
        <p:spPr>
          <a:xfrm>
            <a:off x="402398" y="639864"/>
            <a:ext cx="3108207" cy="779362"/>
          </a:xfrm>
        </p:spPr>
        <p:txBody>
          <a:bodyPr anchor="t">
            <a:normAutofit/>
          </a:bodyPr>
          <a:lstStyle/>
          <a:p>
            <a:r>
              <a:rPr lang="en-US"/>
              <a:t>Bolts</a:t>
            </a:r>
          </a:p>
        </p:txBody>
      </p:sp>
      <p:sp>
        <p:nvSpPr>
          <p:cNvPr id="11" name="TextBox 10">
            <a:extLst>
              <a:ext uri="{FF2B5EF4-FFF2-40B4-BE49-F238E27FC236}">
                <a16:creationId xmlns:a16="http://schemas.microsoft.com/office/drawing/2014/main" id="{2D930663-7DCF-AD86-013E-27D44EB02ED2}"/>
              </a:ext>
            </a:extLst>
          </p:cNvPr>
          <p:cNvSpPr txBox="1"/>
          <p:nvPr/>
        </p:nvSpPr>
        <p:spPr>
          <a:xfrm>
            <a:off x="402398" y="1658679"/>
            <a:ext cx="3265835" cy="1723357"/>
          </a:xfrm>
          <a:prstGeom prst="rect">
            <a:avLst/>
          </a:prstGeom>
          <a:noFill/>
        </p:spPr>
        <p:txBody>
          <a:bodyPr wrap="square" rtlCol="0">
            <a:spAutoFit/>
          </a:bodyPr>
          <a:lstStyle/>
          <a:p>
            <a:pPr marL="285750" indent="-285750">
              <a:buFont typeface="Arial" panose="020B0604020202020204" pitchFamily="34" charset="0"/>
              <a:buChar char="•"/>
            </a:pPr>
            <a:r>
              <a:rPr lang="en-US"/>
              <a:t>General Bolt for all Bulkheads and Couplers</a:t>
            </a:r>
          </a:p>
          <a:p>
            <a:pPr marL="742950" lvl="1" indent="-285750">
              <a:buFont typeface="Arial" panose="020B0604020202020204" pitchFamily="34" charset="0"/>
              <a:buChar char="•"/>
            </a:pPr>
            <a:r>
              <a:rPr lang="en-US" sz="1733"/>
              <a:t>¼-20 Bolt (Length Varies)</a:t>
            </a:r>
          </a:p>
          <a:p>
            <a:pPr marL="285750" indent="-285750">
              <a:buFont typeface="Arial" panose="020B0604020202020204" pitchFamily="34" charset="0"/>
              <a:buChar char="•"/>
            </a:pPr>
            <a:r>
              <a:rPr lang="en-US" sz="1733"/>
              <a:t>Shear Safety Factor for Bulkheads: 4250</a:t>
            </a:r>
          </a:p>
          <a:p>
            <a:endParaRPr lang="en-US"/>
          </a:p>
        </p:txBody>
      </p:sp>
    </p:spTree>
    <p:extLst>
      <p:ext uri="{BB962C8B-B14F-4D97-AF65-F5344CB8AC3E}">
        <p14:creationId xmlns:p14="http://schemas.microsoft.com/office/powerpoint/2010/main" val="30518312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A2E71B-7CE7-89FF-9F89-24C36CA42B10}"/>
              </a:ext>
            </a:extLst>
          </p:cNvPr>
          <p:cNvSpPr>
            <a:spLocks noGrp="1"/>
          </p:cNvSpPr>
          <p:nvPr>
            <p:ph type="ftr" sz="quarter" idx="16"/>
          </p:nvPr>
        </p:nvSpPr>
        <p:spPr/>
        <p:txBody>
          <a:bodyPr/>
          <a:lstStyle/>
          <a:p>
            <a:r>
              <a:rPr lang="en-US"/>
              <a:t>TEMPLATE (WRITE IN ALL CAPS)</a:t>
            </a:r>
          </a:p>
        </p:txBody>
      </p:sp>
      <p:sp>
        <p:nvSpPr>
          <p:cNvPr id="4" name="Slide Number Placeholder 3">
            <a:extLst>
              <a:ext uri="{FF2B5EF4-FFF2-40B4-BE49-F238E27FC236}">
                <a16:creationId xmlns:a16="http://schemas.microsoft.com/office/drawing/2014/main" id="{6CADB5CA-DE12-4683-9E97-022C9FBF0F59}"/>
              </a:ext>
            </a:extLst>
          </p:cNvPr>
          <p:cNvSpPr>
            <a:spLocks noGrp="1"/>
          </p:cNvSpPr>
          <p:nvPr>
            <p:ph type="sldNum" sz="quarter" idx="17"/>
          </p:nvPr>
        </p:nvSpPr>
        <p:spPr/>
        <p:txBody>
          <a:bodyPr/>
          <a:lstStyle/>
          <a:p>
            <a:r>
              <a:rPr lang="en-US"/>
              <a:t>/   </a:t>
            </a:r>
            <a:fld id="{6C7E6F33-74EE-5541-8108-8353B402F8C1}" type="slidenum">
              <a:rPr lang="en-US" smtClean="0"/>
              <a:pPr/>
              <a:t>87</a:t>
            </a:fld>
            <a:endParaRPr lang="en-US"/>
          </a:p>
        </p:txBody>
      </p:sp>
      <p:sp>
        <p:nvSpPr>
          <p:cNvPr id="5" name="Title 4">
            <a:extLst>
              <a:ext uri="{FF2B5EF4-FFF2-40B4-BE49-F238E27FC236}">
                <a16:creationId xmlns:a16="http://schemas.microsoft.com/office/drawing/2014/main" id="{E96AD117-A444-907C-6E39-FB6BA492A36F}"/>
              </a:ext>
            </a:extLst>
          </p:cNvPr>
          <p:cNvSpPr>
            <a:spLocks noGrp="1"/>
          </p:cNvSpPr>
          <p:nvPr>
            <p:ph type="title"/>
          </p:nvPr>
        </p:nvSpPr>
        <p:spPr>
          <a:xfrm>
            <a:off x="3528" y="249624"/>
            <a:ext cx="10183777" cy="625567"/>
          </a:xfrm>
        </p:spPr>
        <p:txBody>
          <a:bodyPr/>
          <a:lstStyle/>
          <a:p>
            <a:r>
              <a:rPr lang="en-US">
                <a:latin typeface="Munistic"/>
              </a:rPr>
              <a:t>Manufacturing (Couplers)</a:t>
            </a:r>
            <a:endParaRPr lang="en-US"/>
          </a:p>
        </p:txBody>
      </p:sp>
      <p:pic>
        <p:nvPicPr>
          <p:cNvPr id="7" name="Picture 6" descr="A grey cube with a black circle&#10;&#10;AI-generated content may be incorrect.">
            <a:extLst>
              <a:ext uri="{FF2B5EF4-FFF2-40B4-BE49-F238E27FC236}">
                <a16:creationId xmlns:a16="http://schemas.microsoft.com/office/drawing/2014/main" id="{A460C0DD-67E3-34E7-B2FC-601583B0556D}"/>
              </a:ext>
            </a:extLst>
          </p:cNvPr>
          <p:cNvPicPr>
            <a:picLocks noChangeAspect="1"/>
          </p:cNvPicPr>
          <p:nvPr/>
        </p:nvPicPr>
        <p:blipFill>
          <a:blip r:embed="rId2"/>
          <a:stretch>
            <a:fillRect/>
          </a:stretch>
        </p:blipFill>
        <p:spPr>
          <a:xfrm>
            <a:off x="5294417" y="991030"/>
            <a:ext cx="2995703" cy="2918084"/>
          </a:xfrm>
          <a:prstGeom prst="rect">
            <a:avLst/>
          </a:prstGeom>
        </p:spPr>
      </p:pic>
      <p:pic>
        <p:nvPicPr>
          <p:cNvPr id="8" name="Picture 7" descr="A screenshot of a video game&#10;&#10;AI-generated content may be incorrect.">
            <a:extLst>
              <a:ext uri="{FF2B5EF4-FFF2-40B4-BE49-F238E27FC236}">
                <a16:creationId xmlns:a16="http://schemas.microsoft.com/office/drawing/2014/main" id="{E0F1A286-8B15-FA62-B8D7-0DF0DC80F788}"/>
              </a:ext>
            </a:extLst>
          </p:cNvPr>
          <p:cNvPicPr>
            <a:picLocks noChangeAspect="1"/>
          </p:cNvPicPr>
          <p:nvPr/>
        </p:nvPicPr>
        <p:blipFill>
          <a:blip r:embed="rId3"/>
          <a:srcRect l="5744" t="320" r="5896" b="2697"/>
          <a:stretch>
            <a:fillRect/>
          </a:stretch>
        </p:blipFill>
        <p:spPr>
          <a:xfrm>
            <a:off x="8286529" y="1187627"/>
            <a:ext cx="3810923" cy="2630881"/>
          </a:xfrm>
          <a:prstGeom prst="rect">
            <a:avLst/>
          </a:prstGeom>
        </p:spPr>
      </p:pic>
      <p:sp>
        <p:nvSpPr>
          <p:cNvPr id="9" name="TextBox 8">
            <a:extLst>
              <a:ext uri="{FF2B5EF4-FFF2-40B4-BE49-F238E27FC236}">
                <a16:creationId xmlns:a16="http://schemas.microsoft.com/office/drawing/2014/main" id="{B1549DC7-92E5-144E-A912-F550065B9D28}"/>
              </a:ext>
            </a:extLst>
          </p:cNvPr>
          <p:cNvSpPr txBox="1"/>
          <p:nvPr/>
        </p:nvSpPr>
        <p:spPr>
          <a:xfrm>
            <a:off x="5669280" y="318516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Calibri"/>
                <a:ea typeface="Calibri"/>
                <a:cs typeface="Calibri"/>
              </a:rPr>
              <a:t>​</a:t>
            </a:r>
            <a:endParaRPr lang="en-US"/>
          </a:p>
          <a:p>
            <a:pPr algn="ctr"/>
            <a:endParaRPr lang="en-US"/>
          </a:p>
        </p:txBody>
      </p:sp>
      <p:sp>
        <p:nvSpPr>
          <p:cNvPr id="11" name="TextBox 10">
            <a:extLst>
              <a:ext uri="{FF2B5EF4-FFF2-40B4-BE49-F238E27FC236}">
                <a16:creationId xmlns:a16="http://schemas.microsoft.com/office/drawing/2014/main" id="{A85D02F5-98CE-FB8D-7FAA-31FFBCD30BB3}"/>
              </a:ext>
            </a:extLst>
          </p:cNvPr>
          <p:cNvSpPr txBox="1"/>
          <p:nvPr/>
        </p:nvSpPr>
        <p:spPr>
          <a:xfrm>
            <a:off x="5277336" y="3828900"/>
            <a:ext cx="3284741" cy="738664"/>
          </a:xfrm>
          <a:prstGeom prst="rect">
            <a:avLst/>
          </a:prstGeom>
          <a:noFill/>
        </p:spPr>
        <p:txBody>
          <a:bodyPr wrap="square" lIns="91440" tIns="45720" rIns="91440" bIns="45720" anchor="t">
            <a:spAutoFit/>
          </a:bodyPr>
          <a:lstStyle/>
          <a:p>
            <a:pPr algn="ctr"/>
            <a:r>
              <a:rPr lang="en-US" sz="1400" b="1"/>
              <a:t>Fig 7.16 Isometric View of a coupler with a manufacturing jig</a:t>
            </a:r>
          </a:p>
          <a:p>
            <a:pPr algn="ctr"/>
            <a:endParaRPr lang="en-US" sz="1400" b="1">
              <a:solidFill>
                <a:srgbClr val="154734"/>
              </a:solidFill>
              <a:ea typeface="Calibri"/>
              <a:cs typeface="Calibri"/>
            </a:endParaRPr>
          </a:p>
        </p:txBody>
      </p:sp>
      <p:sp>
        <p:nvSpPr>
          <p:cNvPr id="12" name="TextBox 11">
            <a:extLst>
              <a:ext uri="{FF2B5EF4-FFF2-40B4-BE49-F238E27FC236}">
                <a16:creationId xmlns:a16="http://schemas.microsoft.com/office/drawing/2014/main" id="{2AB636CB-9498-CEBA-D00A-8B7F52EB6439}"/>
              </a:ext>
            </a:extLst>
          </p:cNvPr>
          <p:cNvSpPr txBox="1"/>
          <p:nvPr/>
        </p:nvSpPr>
        <p:spPr>
          <a:xfrm>
            <a:off x="8641049" y="3913565"/>
            <a:ext cx="3284741" cy="738664"/>
          </a:xfrm>
          <a:prstGeom prst="rect">
            <a:avLst/>
          </a:prstGeom>
          <a:noFill/>
        </p:spPr>
        <p:txBody>
          <a:bodyPr wrap="square" lIns="91440" tIns="45720" rIns="91440" bIns="45720" anchor="t">
            <a:spAutoFit/>
          </a:bodyPr>
          <a:lstStyle/>
          <a:p>
            <a:pPr algn="ctr"/>
            <a:r>
              <a:rPr lang="en-US" sz="1400" b="1"/>
              <a:t>Fig 7.17 Sectional View of the Manufacturing Jig</a:t>
            </a:r>
            <a:endParaRPr lang="en-US" sz="1400" b="1">
              <a:ea typeface="Calibri"/>
              <a:cs typeface="Calibri"/>
            </a:endParaRPr>
          </a:p>
          <a:p>
            <a:pPr algn="ctr"/>
            <a:endParaRPr lang="en-US" sz="1400" b="1">
              <a:solidFill>
                <a:srgbClr val="154734"/>
              </a:solidFill>
              <a:ea typeface="Calibri"/>
              <a:cs typeface="Calibri"/>
            </a:endParaRPr>
          </a:p>
        </p:txBody>
      </p:sp>
      <p:sp>
        <p:nvSpPr>
          <p:cNvPr id="17" name="TextBox 16">
            <a:extLst>
              <a:ext uri="{FF2B5EF4-FFF2-40B4-BE49-F238E27FC236}">
                <a16:creationId xmlns:a16="http://schemas.microsoft.com/office/drawing/2014/main" id="{3C270364-3DAB-54FD-E418-9B1F1BF20F0A}"/>
              </a:ext>
            </a:extLst>
          </p:cNvPr>
          <p:cNvSpPr txBox="1"/>
          <p:nvPr/>
        </p:nvSpPr>
        <p:spPr>
          <a:xfrm>
            <a:off x="101600" y="1003300"/>
            <a:ext cx="505460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ea typeface="Calibri" panose="020F0502020204030204"/>
                <a:cs typeface="Calibri" panose="020F0502020204030204"/>
              </a:rPr>
              <a:t>Overall Improved Processed</a:t>
            </a:r>
            <a:endParaRPr lang="en-US"/>
          </a:p>
          <a:p>
            <a:pPr marL="742950" lvl="1" indent="-285750">
              <a:lnSpc>
                <a:spcPct val="150000"/>
              </a:lnSpc>
              <a:buFont typeface="Courier New"/>
              <a:buChar char="o"/>
            </a:pPr>
            <a:r>
              <a:rPr lang="en-US">
                <a:ea typeface="Calibri" panose="020F0502020204030204"/>
                <a:cs typeface="Calibri" panose="020F0502020204030204"/>
              </a:rPr>
              <a:t>Couplers ordered cut generally to length </a:t>
            </a:r>
          </a:p>
          <a:p>
            <a:pPr marL="742950" lvl="1" indent="-285750">
              <a:lnSpc>
                <a:spcPct val="150000"/>
              </a:lnSpc>
              <a:buFont typeface="Courier New"/>
              <a:buChar char="o"/>
            </a:pPr>
            <a:r>
              <a:rPr lang="en-US">
                <a:ea typeface="Calibri" panose="020F0502020204030204"/>
                <a:cs typeface="Calibri" panose="020F0502020204030204"/>
              </a:rPr>
              <a:t>Should result in better end to avoid concentricity issues</a:t>
            </a:r>
          </a:p>
          <a:p>
            <a:pPr marL="285750" indent="-285750">
              <a:lnSpc>
                <a:spcPct val="150000"/>
              </a:lnSpc>
              <a:buFont typeface="Arial"/>
              <a:buChar char="•"/>
            </a:pPr>
            <a:r>
              <a:rPr lang="en-US">
                <a:ea typeface="Calibri" panose="020F0502020204030204"/>
                <a:cs typeface="Calibri" panose="020F0502020204030204"/>
              </a:rPr>
              <a:t>Still will need to face and likely turn down diameter a bit</a:t>
            </a:r>
          </a:p>
          <a:p>
            <a:pPr marL="285750" indent="-285750">
              <a:lnSpc>
                <a:spcPct val="150000"/>
              </a:lnSpc>
              <a:buFont typeface="Arial"/>
              <a:buChar char="•"/>
            </a:pPr>
            <a:r>
              <a:rPr lang="en-US">
                <a:ea typeface="Calibri" panose="020F0502020204030204"/>
                <a:cs typeface="Calibri" panose="020F0502020204030204"/>
              </a:rPr>
              <a:t>New Manufacturing Jig</a:t>
            </a:r>
          </a:p>
          <a:p>
            <a:pPr marL="742950" lvl="1" indent="-285750">
              <a:lnSpc>
                <a:spcPct val="150000"/>
              </a:lnSpc>
              <a:buFont typeface="Courier New"/>
              <a:buChar char="o"/>
            </a:pPr>
            <a:r>
              <a:rPr lang="en-US">
                <a:ea typeface="Calibri" panose="020F0502020204030204"/>
                <a:cs typeface="Calibri" panose="020F0502020204030204"/>
              </a:rPr>
              <a:t>Square Design to use in drill press</a:t>
            </a:r>
          </a:p>
          <a:p>
            <a:pPr marL="742950" lvl="1" indent="-285750">
              <a:lnSpc>
                <a:spcPct val="150000"/>
              </a:lnSpc>
              <a:buFont typeface="Courier New"/>
              <a:buChar char="o"/>
            </a:pPr>
            <a:r>
              <a:rPr lang="en-US">
                <a:ea typeface="Calibri" panose="020F0502020204030204"/>
                <a:cs typeface="Calibri" panose="020F0502020204030204"/>
              </a:rPr>
              <a:t>Should make it easier to hold couplers and have consistent hole locations</a:t>
            </a:r>
          </a:p>
          <a:p>
            <a:pPr marL="285750" indent="-285750">
              <a:buFont typeface="Arial"/>
              <a:buChar char="•"/>
            </a:pPr>
            <a:r>
              <a:rPr lang="en-US">
                <a:ea typeface="Calibri" panose="020F0502020204030204"/>
                <a:cs typeface="Calibri" panose="020F0502020204030204"/>
              </a:rPr>
              <a:t>Overall should be a faster process</a:t>
            </a:r>
          </a:p>
          <a:p>
            <a:pPr marL="742950" lvl="1" indent="-285750">
              <a:buFont typeface="Courier New"/>
              <a:buChar char="o"/>
            </a:pPr>
            <a:endParaRPr lang="en-US">
              <a:ea typeface="Calibri" panose="020F0502020204030204"/>
              <a:cs typeface="Calibri" panose="020F0502020204030204"/>
            </a:endParaRPr>
          </a:p>
        </p:txBody>
      </p:sp>
    </p:spTree>
    <p:extLst>
      <p:ext uri="{BB962C8B-B14F-4D97-AF65-F5344CB8AC3E}">
        <p14:creationId xmlns:p14="http://schemas.microsoft.com/office/powerpoint/2010/main" val="11646999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55A29-517B-AAC9-0843-C66F5139A14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40AAE2A-F101-39F2-9108-A90CC6BBD89D}"/>
              </a:ext>
            </a:extLst>
          </p:cNvPr>
          <p:cNvSpPr>
            <a:spLocks noGrp="1"/>
          </p:cNvSpPr>
          <p:nvPr>
            <p:ph type="ftr" sz="quarter" idx="16"/>
          </p:nvPr>
        </p:nvSpPr>
        <p:spPr/>
        <p:txBody>
          <a:bodyPr/>
          <a:lstStyle/>
          <a:p>
            <a:r>
              <a:rPr lang="en-US"/>
              <a:t>TEMPLATE (WRITE IN ALL CAPS)</a:t>
            </a:r>
          </a:p>
        </p:txBody>
      </p:sp>
      <p:sp>
        <p:nvSpPr>
          <p:cNvPr id="4" name="Slide Number Placeholder 3">
            <a:extLst>
              <a:ext uri="{FF2B5EF4-FFF2-40B4-BE49-F238E27FC236}">
                <a16:creationId xmlns:a16="http://schemas.microsoft.com/office/drawing/2014/main" id="{1F76B088-90C9-5C39-C643-3BF43FE489F5}"/>
              </a:ext>
            </a:extLst>
          </p:cNvPr>
          <p:cNvSpPr>
            <a:spLocks noGrp="1"/>
          </p:cNvSpPr>
          <p:nvPr>
            <p:ph type="sldNum" sz="quarter" idx="17"/>
          </p:nvPr>
        </p:nvSpPr>
        <p:spPr/>
        <p:txBody>
          <a:bodyPr/>
          <a:lstStyle/>
          <a:p>
            <a:r>
              <a:rPr lang="en-US"/>
              <a:t>/   </a:t>
            </a:r>
            <a:fld id="{6C7E6F33-74EE-5541-8108-8353B402F8C1}" type="slidenum">
              <a:rPr lang="en-US" smtClean="0"/>
              <a:pPr/>
              <a:t>88</a:t>
            </a:fld>
            <a:endParaRPr lang="en-US"/>
          </a:p>
        </p:txBody>
      </p:sp>
      <p:sp>
        <p:nvSpPr>
          <p:cNvPr id="5" name="Title 4">
            <a:extLst>
              <a:ext uri="{FF2B5EF4-FFF2-40B4-BE49-F238E27FC236}">
                <a16:creationId xmlns:a16="http://schemas.microsoft.com/office/drawing/2014/main" id="{307F883D-F8A3-4A8B-5A35-9449C8BA0AC9}"/>
              </a:ext>
            </a:extLst>
          </p:cNvPr>
          <p:cNvSpPr>
            <a:spLocks noGrp="1"/>
          </p:cNvSpPr>
          <p:nvPr>
            <p:ph type="title"/>
          </p:nvPr>
        </p:nvSpPr>
        <p:spPr>
          <a:xfrm>
            <a:off x="3528" y="249624"/>
            <a:ext cx="10183777" cy="625567"/>
          </a:xfrm>
        </p:spPr>
        <p:txBody>
          <a:bodyPr/>
          <a:lstStyle/>
          <a:p>
            <a:r>
              <a:rPr lang="en-US">
                <a:latin typeface="Munistic"/>
              </a:rPr>
              <a:t>Manufacturing (Bulkheads)</a:t>
            </a:r>
            <a:endParaRPr lang="en-US"/>
          </a:p>
        </p:txBody>
      </p:sp>
      <p:sp>
        <p:nvSpPr>
          <p:cNvPr id="9" name="TextBox 8">
            <a:extLst>
              <a:ext uri="{FF2B5EF4-FFF2-40B4-BE49-F238E27FC236}">
                <a16:creationId xmlns:a16="http://schemas.microsoft.com/office/drawing/2014/main" id="{1989C2AE-BC2E-F8BC-5C44-DFA84D33B002}"/>
              </a:ext>
            </a:extLst>
          </p:cNvPr>
          <p:cNvSpPr txBox="1"/>
          <p:nvPr/>
        </p:nvSpPr>
        <p:spPr>
          <a:xfrm>
            <a:off x="5669280" y="318516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Calibri"/>
                <a:ea typeface="Calibri"/>
                <a:cs typeface="Calibri"/>
              </a:rPr>
              <a:t>​</a:t>
            </a:r>
            <a:endParaRPr lang="en-US"/>
          </a:p>
          <a:p>
            <a:pPr algn="ctr"/>
            <a:endParaRPr lang="en-US"/>
          </a:p>
        </p:txBody>
      </p:sp>
      <p:sp>
        <p:nvSpPr>
          <p:cNvPr id="11" name="TextBox 10">
            <a:extLst>
              <a:ext uri="{FF2B5EF4-FFF2-40B4-BE49-F238E27FC236}">
                <a16:creationId xmlns:a16="http://schemas.microsoft.com/office/drawing/2014/main" id="{7C4D1E5A-9D18-2DDC-C168-9664E7CD55C3}"/>
              </a:ext>
            </a:extLst>
          </p:cNvPr>
          <p:cNvSpPr txBox="1"/>
          <p:nvPr/>
        </p:nvSpPr>
        <p:spPr>
          <a:xfrm>
            <a:off x="8099558" y="2935196"/>
            <a:ext cx="3284741" cy="738664"/>
          </a:xfrm>
          <a:prstGeom prst="rect">
            <a:avLst/>
          </a:prstGeom>
          <a:noFill/>
        </p:spPr>
        <p:txBody>
          <a:bodyPr wrap="square" lIns="91440" tIns="45720" rIns="91440" bIns="45720" anchor="t">
            <a:spAutoFit/>
          </a:bodyPr>
          <a:lstStyle/>
          <a:p>
            <a:pPr algn="ctr"/>
            <a:r>
              <a:rPr lang="en-US" sz="1400" b="1"/>
              <a:t>Fig 7.18 Isometric View of a Bulkhead with a manufacturing jig</a:t>
            </a:r>
          </a:p>
          <a:p>
            <a:pPr algn="ctr"/>
            <a:endParaRPr lang="en-US" sz="1400" b="1">
              <a:solidFill>
                <a:srgbClr val="154734"/>
              </a:solidFill>
              <a:ea typeface="Calibri"/>
              <a:cs typeface="Calibri"/>
            </a:endParaRPr>
          </a:p>
        </p:txBody>
      </p:sp>
      <p:sp>
        <p:nvSpPr>
          <p:cNvPr id="12" name="TextBox 11">
            <a:extLst>
              <a:ext uri="{FF2B5EF4-FFF2-40B4-BE49-F238E27FC236}">
                <a16:creationId xmlns:a16="http://schemas.microsoft.com/office/drawing/2014/main" id="{4947869D-1B0C-932D-3280-79BC6449F61D}"/>
              </a:ext>
            </a:extLst>
          </p:cNvPr>
          <p:cNvSpPr txBox="1"/>
          <p:nvPr/>
        </p:nvSpPr>
        <p:spPr>
          <a:xfrm>
            <a:off x="8095419" y="4722602"/>
            <a:ext cx="3284741" cy="738664"/>
          </a:xfrm>
          <a:prstGeom prst="rect">
            <a:avLst/>
          </a:prstGeom>
          <a:noFill/>
        </p:spPr>
        <p:txBody>
          <a:bodyPr wrap="square" lIns="91440" tIns="45720" rIns="91440" bIns="45720" anchor="t">
            <a:spAutoFit/>
          </a:bodyPr>
          <a:lstStyle/>
          <a:p>
            <a:pPr algn="ctr"/>
            <a:r>
              <a:rPr lang="en-US" sz="1400" b="1"/>
              <a:t>Fig 7.17 Sectional View of the Bulkhead Jig</a:t>
            </a:r>
            <a:endParaRPr lang="en-US" sz="1400" b="1">
              <a:ea typeface="Calibri"/>
              <a:cs typeface="Calibri"/>
            </a:endParaRPr>
          </a:p>
          <a:p>
            <a:pPr algn="ctr"/>
            <a:endParaRPr lang="en-US" sz="1400" b="1">
              <a:solidFill>
                <a:srgbClr val="154734"/>
              </a:solidFill>
              <a:ea typeface="Calibri"/>
              <a:cs typeface="Calibri"/>
            </a:endParaRPr>
          </a:p>
        </p:txBody>
      </p:sp>
      <p:sp>
        <p:nvSpPr>
          <p:cNvPr id="17" name="TextBox 16">
            <a:extLst>
              <a:ext uri="{FF2B5EF4-FFF2-40B4-BE49-F238E27FC236}">
                <a16:creationId xmlns:a16="http://schemas.microsoft.com/office/drawing/2014/main" id="{6A0348E7-2CC3-DD50-7585-2AE4BAC7D4DF}"/>
              </a:ext>
            </a:extLst>
          </p:cNvPr>
          <p:cNvSpPr txBox="1"/>
          <p:nvPr/>
        </p:nvSpPr>
        <p:spPr>
          <a:xfrm>
            <a:off x="101600" y="1003300"/>
            <a:ext cx="5054600"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ea typeface="Calibri" panose="020F0502020204030204"/>
                <a:cs typeface="Calibri" panose="020F0502020204030204"/>
              </a:rPr>
              <a:t>Significant Improvements Made</a:t>
            </a:r>
          </a:p>
          <a:p>
            <a:pPr marL="742950" lvl="1" indent="-285750">
              <a:lnSpc>
                <a:spcPct val="150000"/>
              </a:lnSpc>
              <a:buFont typeface="Courier New"/>
              <a:buChar char="o"/>
            </a:pPr>
            <a:r>
              <a:rPr lang="en-US">
                <a:ea typeface="Calibri" panose="020F0502020204030204"/>
                <a:cs typeface="Calibri" panose="020F0502020204030204"/>
              </a:rPr>
              <a:t>Water Jetted from 0.5" Aluminum Plate</a:t>
            </a:r>
          </a:p>
          <a:p>
            <a:pPr marL="742950" lvl="1" indent="-285750">
              <a:lnSpc>
                <a:spcPct val="150000"/>
              </a:lnSpc>
              <a:buFont typeface="Courier New"/>
              <a:buChar char="o"/>
            </a:pPr>
            <a:r>
              <a:rPr lang="en-US">
                <a:ea typeface="Calibri" panose="020F0502020204030204"/>
                <a:cs typeface="Calibri" panose="020F0502020204030204"/>
              </a:rPr>
              <a:t>Cuts out additonal holes for like pergrines for recovery</a:t>
            </a:r>
          </a:p>
          <a:p>
            <a:pPr marL="742950" lvl="1" indent="-285750">
              <a:lnSpc>
                <a:spcPct val="150000"/>
              </a:lnSpc>
              <a:buFont typeface="Courier New"/>
              <a:buChar char="o"/>
            </a:pPr>
            <a:r>
              <a:rPr lang="en-US">
                <a:ea typeface="Calibri" panose="020F0502020204030204"/>
                <a:cs typeface="Calibri" panose="020F0502020204030204"/>
              </a:rPr>
              <a:t>Saves loads of time</a:t>
            </a:r>
          </a:p>
          <a:p>
            <a:pPr marL="285750" indent="-285750">
              <a:lnSpc>
                <a:spcPct val="150000"/>
              </a:lnSpc>
              <a:buFont typeface="Arial"/>
              <a:buChar char="•"/>
            </a:pPr>
            <a:r>
              <a:rPr lang="en-US">
                <a:ea typeface="Calibri" panose="020F0502020204030204"/>
                <a:cs typeface="Calibri" panose="020F0502020204030204"/>
              </a:rPr>
              <a:t>New Jig to hold bulkheads so we can drill holes in the drill press</a:t>
            </a:r>
          </a:p>
          <a:p>
            <a:pPr marL="742950" lvl="1" indent="-285750">
              <a:lnSpc>
                <a:spcPct val="150000"/>
              </a:lnSpc>
              <a:buFont typeface="Courier New"/>
              <a:buChar char="o"/>
            </a:pPr>
            <a:endParaRPr lang="en-US">
              <a:ea typeface="Calibri" panose="020F0502020204030204"/>
              <a:cs typeface="Calibri" panose="020F0502020204030204"/>
            </a:endParaRPr>
          </a:p>
          <a:p>
            <a:pPr marL="285750" indent="-285750">
              <a:buFont typeface="Arial"/>
              <a:buChar char="•"/>
            </a:pPr>
            <a:endParaRPr lang="en-US">
              <a:ea typeface="Calibri" panose="020F0502020204030204"/>
              <a:cs typeface="Calibri" panose="020F0502020204030204"/>
            </a:endParaRPr>
          </a:p>
          <a:p>
            <a:pPr marL="742950" lvl="1" indent="-285750">
              <a:buFont typeface="Courier New"/>
              <a:buChar char="o"/>
            </a:pPr>
            <a:endParaRPr lang="en-US">
              <a:ea typeface="Calibri" panose="020F0502020204030204"/>
              <a:cs typeface="Calibri" panose="020F0502020204030204"/>
            </a:endParaRPr>
          </a:p>
        </p:txBody>
      </p:sp>
      <p:pic>
        <p:nvPicPr>
          <p:cNvPr id="2" name="Picture 1" descr="A red circle with holes&#10;&#10;AI-generated content may be incorrect.">
            <a:extLst>
              <a:ext uri="{FF2B5EF4-FFF2-40B4-BE49-F238E27FC236}">
                <a16:creationId xmlns:a16="http://schemas.microsoft.com/office/drawing/2014/main" id="{AC0A665B-265E-B78A-566D-624F959FC80A}"/>
              </a:ext>
            </a:extLst>
          </p:cNvPr>
          <p:cNvPicPr>
            <a:picLocks noChangeAspect="1"/>
          </p:cNvPicPr>
          <p:nvPr/>
        </p:nvPicPr>
        <p:blipFill>
          <a:blip r:embed="rId2"/>
          <a:stretch>
            <a:fillRect/>
          </a:stretch>
        </p:blipFill>
        <p:spPr>
          <a:xfrm>
            <a:off x="7487499" y="253999"/>
            <a:ext cx="4347819" cy="2681112"/>
          </a:xfrm>
          <a:prstGeom prst="rect">
            <a:avLst/>
          </a:prstGeom>
        </p:spPr>
      </p:pic>
      <p:pic>
        <p:nvPicPr>
          <p:cNvPr id="6" name="Picture 5" descr="A red and grey rectangular object&#10;&#10;AI-generated content may be incorrect.">
            <a:extLst>
              <a:ext uri="{FF2B5EF4-FFF2-40B4-BE49-F238E27FC236}">
                <a16:creationId xmlns:a16="http://schemas.microsoft.com/office/drawing/2014/main" id="{1EAADAD1-9AE5-47B0-232A-0718181C17DA}"/>
              </a:ext>
            </a:extLst>
          </p:cNvPr>
          <p:cNvPicPr>
            <a:picLocks noChangeAspect="1"/>
          </p:cNvPicPr>
          <p:nvPr/>
        </p:nvPicPr>
        <p:blipFill>
          <a:blip r:embed="rId3"/>
          <a:stretch>
            <a:fillRect/>
          </a:stretch>
        </p:blipFill>
        <p:spPr>
          <a:xfrm>
            <a:off x="7017926" y="3507196"/>
            <a:ext cx="5277556" cy="1217088"/>
          </a:xfrm>
          <a:prstGeom prst="rect">
            <a:avLst/>
          </a:prstGeom>
        </p:spPr>
      </p:pic>
    </p:spTree>
    <p:extLst>
      <p:ext uri="{BB962C8B-B14F-4D97-AF65-F5344CB8AC3E}">
        <p14:creationId xmlns:p14="http://schemas.microsoft.com/office/powerpoint/2010/main" val="419286601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B120B2-FF5B-0586-1999-40899CEA4024}"/>
              </a:ext>
            </a:extLst>
          </p:cNvPr>
          <p:cNvSpPr>
            <a:spLocks noGrp="1"/>
          </p:cNvSpPr>
          <p:nvPr>
            <p:ph type="body" sz="quarter" idx="15"/>
          </p:nvPr>
        </p:nvSpPr>
        <p:spPr>
          <a:xfrm>
            <a:off x="838200" y="1568882"/>
            <a:ext cx="10515600" cy="4033401"/>
          </a:xfrm>
        </p:spPr>
        <p:txBody>
          <a:bodyPr vert="horz" lIns="91440" tIns="45720" rIns="91440" bIns="45720" numCol="2" spcCol="457200" rtlCol="0" anchor="t">
            <a:noAutofit/>
          </a:bodyPr>
          <a:lstStyle/>
          <a:p>
            <a:pPr marL="380365" indent="-258445"/>
            <a:r>
              <a:rPr lang="en-US" sz="1850">
                <a:ea typeface="Source Sans Pro"/>
                <a:cs typeface="Calibri" panose="020F0502020204030204"/>
              </a:rPr>
              <a:t>Once Rail Button Placement is finalized perform analysis</a:t>
            </a:r>
          </a:p>
          <a:p>
            <a:pPr marL="380365" indent="-258445"/>
            <a:r>
              <a:rPr lang="en-US" sz="1850">
                <a:ea typeface="Source Sans Pro"/>
                <a:cs typeface="Calibri" panose="020F0502020204030204"/>
              </a:rPr>
              <a:t>Pring Jigs and begin to manufacture parts</a:t>
            </a:r>
            <a:endParaRPr lang="en-US" sz="1850">
              <a:cs typeface="Calibri" panose="020F0502020204030204"/>
            </a:endParaRPr>
          </a:p>
        </p:txBody>
      </p:sp>
      <p:sp>
        <p:nvSpPr>
          <p:cNvPr id="4" name="Slide Number Placeholder 3">
            <a:extLst>
              <a:ext uri="{FF2B5EF4-FFF2-40B4-BE49-F238E27FC236}">
                <a16:creationId xmlns:a16="http://schemas.microsoft.com/office/drawing/2014/main" id="{4157C6C3-FC18-C347-A1FF-A48094DDC567}"/>
              </a:ext>
            </a:extLst>
          </p:cNvPr>
          <p:cNvSpPr>
            <a:spLocks noGrp="1"/>
          </p:cNvSpPr>
          <p:nvPr>
            <p:ph type="sldNum" sz="quarter" idx="17"/>
          </p:nvPr>
        </p:nvSpPr>
        <p:spPr/>
        <p:txBody>
          <a:bodyPr/>
          <a:lstStyle/>
          <a:p>
            <a:r>
              <a:rPr lang="en-US"/>
              <a:t>/   </a:t>
            </a:r>
            <a:fld id="{6C7E6F33-74EE-5541-8108-8353B402F8C1}" type="slidenum">
              <a:rPr lang="en-US" smtClean="0"/>
              <a:pPr/>
              <a:t>89</a:t>
            </a:fld>
            <a:endParaRPr lang="en-US"/>
          </a:p>
        </p:txBody>
      </p:sp>
      <p:sp>
        <p:nvSpPr>
          <p:cNvPr id="5" name="Title 4">
            <a:extLst>
              <a:ext uri="{FF2B5EF4-FFF2-40B4-BE49-F238E27FC236}">
                <a16:creationId xmlns:a16="http://schemas.microsoft.com/office/drawing/2014/main" id="{2840864A-1D5F-60CB-49DF-C4945410BB72}"/>
              </a:ext>
            </a:extLst>
          </p:cNvPr>
          <p:cNvSpPr>
            <a:spLocks noGrp="1"/>
          </p:cNvSpPr>
          <p:nvPr>
            <p:ph type="title"/>
          </p:nvPr>
        </p:nvSpPr>
        <p:spPr/>
        <p:txBody>
          <a:bodyPr/>
          <a:lstStyle/>
          <a:p>
            <a:r>
              <a:rPr lang="en-US">
                <a:latin typeface="Munistic"/>
              </a:rPr>
              <a:t>Next Steps</a:t>
            </a:r>
            <a:endParaRPr lang="en-US"/>
          </a:p>
        </p:txBody>
      </p:sp>
      <p:sp>
        <p:nvSpPr>
          <p:cNvPr id="6" name="Text Placeholder 5">
            <a:extLst>
              <a:ext uri="{FF2B5EF4-FFF2-40B4-BE49-F238E27FC236}">
                <a16:creationId xmlns:a16="http://schemas.microsoft.com/office/drawing/2014/main" id="{E9322E45-CD1A-723D-E256-FC3B87E8CA5C}"/>
              </a:ext>
            </a:extLst>
          </p:cNvPr>
          <p:cNvSpPr>
            <a:spLocks noGrp="1"/>
          </p:cNvSpPr>
          <p:nvPr>
            <p:ph type="body" sz="quarter" idx="13"/>
          </p:nvPr>
        </p:nvSpPr>
        <p:spPr/>
        <p:txBody>
          <a:bodyPr/>
          <a:lstStyle/>
          <a:p>
            <a:endParaRPr lang="en-US"/>
          </a:p>
        </p:txBody>
      </p:sp>
      <p:sp>
        <p:nvSpPr>
          <p:cNvPr id="9" name="Text Placeholder 1">
            <a:extLst>
              <a:ext uri="{FF2B5EF4-FFF2-40B4-BE49-F238E27FC236}">
                <a16:creationId xmlns:a16="http://schemas.microsoft.com/office/drawing/2014/main" id="{C18896CD-B6C5-2386-B2B6-E9A45EECC62E}"/>
              </a:ext>
            </a:extLst>
          </p:cNvPr>
          <p:cNvSpPr txBox="1">
            <a:spLocks/>
          </p:cNvSpPr>
          <p:nvPr/>
        </p:nvSpPr>
        <p:spPr>
          <a:xfrm>
            <a:off x="7177893" y="5603166"/>
            <a:ext cx="4202687" cy="389888"/>
          </a:xfrm>
          <a:prstGeom prst="rect">
            <a:avLst/>
          </a:prstGeom>
        </p:spPr>
        <p:txBody>
          <a:bodyPr vert="horz" lIns="91440" tIns="45720" rIns="91440" bIns="45720" numCol="1"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6.13</a:t>
            </a:r>
            <a:r>
              <a:rPr lang="en-US" sz="1850">
                <a:ea typeface="Source Sans Pro"/>
              </a:rPr>
              <a:t>  Figure of the next step above</a:t>
            </a:r>
            <a:endParaRPr lang="en-US" sz="1850">
              <a:ea typeface="Source Sans Pro"/>
              <a:cs typeface="Calibri"/>
            </a:endParaRPr>
          </a:p>
        </p:txBody>
      </p:sp>
      <p:sp>
        <p:nvSpPr>
          <p:cNvPr id="8" name="Footer Placeholder 2">
            <a:extLst>
              <a:ext uri="{FF2B5EF4-FFF2-40B4-BE49-F238E27FC236}">
                <a16:creationId xmlns:a16="http://schemas.microsoft.com/office/drawing/2014/main" id="{C5316C72-209D-1BFA-932D-716821E2B4A6}"/>
              </a:ext>
            </a:extLst>
          </p:cNvPr>
          <p:cNvSpPr>
            <a:spLocks noGrp="1"/>
          </p:cNvSpPr>
          <p:nvPr>
            <p:ph type="ftr" sz="quarter" idx="16"/>
          </p:nvPr>
        </p:nvSpPr>
        <p:spPr>
          <a:xfrm>
            <a:off x="7491867" y="6351113"/>
            <a:ext cx="4114800" cy="366183"/>
          </a:xfrm>
        </p:spPr>
        <p:txBody>
          <a:bodyPr/>
          <a:lstStyle/>
          <a:p>
            <a:r>
              <a:rPr lang="en-US" sz="900">
                <a:latin typeface="Source Sans Pro"/>
                <a:ea typeface="Source Sans Pro"/>
              </a:rPr>
              <a:t>ARCHERFISH CDR</a:t>
            </a:r>
            <a:endParaRPr lang="en-US"/>
          </a:p>
        </p:txBody>
      </p:sp>
    </p:spTree>
    <p:extLst>
      <p:ext uri="{BB962C8B-B14F-4D97-AF65-F5344CB8AC3E}">
        <p14:creationId xmlns:p14="http://schemas.microsoft.com/office/powerpoint/2010/main" val="21924756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0D420D-10B0-2A75-5E42-EAA29CF68289}"/>
              </a:ext>
            </a:extLst>
          </p:cNvPr>
          <p:cNvSpPr>
            <a:spLocks noGrp="1"/>
          </p:cNvSpPr>
          <p:nvPr>
            <p:ph type="sldNum" sz="quarter" idx="17"/>
          </p:nvPr>
        </p:nvSpPr>
        <p:spPr/>
        <p:txBody>
          <a:bodyPr/>
          <a:lstStyle/>
          <a:p>
            <a:r>
              <a:rPr lang="en-US"/>
              <a:t>/   </a:t>
            </a:r>
            <a:fld id="{6C7E6F33-74EE-5541-8108-8353B402F8C1}" type="slidenum">
              <a:rPr lang="en-US" smtClean="0"/>
              <a:pPr/>
              <a:t>90</a:t>
            </a:fld>
            <a:endParaRPr lang="en-US"/>
          </a:p>
        </p:txBody>
      </p:sp>
      <p:sp>
        <p:nvSpPr>
          <p:cNvPr id="5" name="Title 4">
            <a:extLst>
              <a:ext uri="{FF2B5EF4-FFF2-40B4-BE49-F238E27FC236}">
                <a16:creationId xmlns:a16="http://schemas.microsoft.com/office/drawing/2014/main" id="{0426AC77-3DA4-9186-E836-057B10EF9DDD}"/>
              </a:ext>
            </a:extLst>
          </p:cNvPr>
          <p:cNvSpPr>
            <a:spLocks noGrp="1"/>
          </p:cNvSpPr>
          <p:nvPr>
            <p:ph type="title"/>
          </p:nvPr>
        </p:nvSpPr>
        <p:spPr>
          <a:xfrm>
            <a:off x="531848" y="716984"/>
            <a:ext cx="7901813" cy="625567"/>
          </a:xfrm>
        </p:spPr>
        <p:txBody>
          <a:bodyPr/>
          <a:lstStyle/>
          <a:p>
            <a:r>
              <a:rPr lang="en-US">
                <a:latin typeface="Munistic"/>
              </a:rPr>
              <a:t>Preliminary Structures BOM</a:t>
            </a:r>
          </a:p>
        </p:txBody>
      </p:sp>
      <p:graphicFrame>
        <p:nvGraphicFramePr>
          <p:cNvPr id="9" name="Table 8">
            <a:extLst>
              <a:ext uri="{FF2B5EF4-FFF2-40B4-BE49-F238E27FC236}">
                <a16:creationId xmlns:a16="http://schemas.microsoft.com/office/drawing/2014/main" id="{BF406D6F-76B3-3BD1-7B83-95501BA48759}"/>
              </a:ext>
            </a:extLst>
          </p:cNvPr>
          <p:cNvGraphicFramePr>
            <a:graphicFrameLocks noGrp="1"/>
          </p:cNvGraphicFramePr>
          <p:nvPr>
            <p:extLst>
              <p:ext uri="{D42A27DB-BD31-4B8C-83A1-F6EECF244321}">
                <p14:modId xmlns:p14="http://schemas.microsoft.com/office/powerpoint/2010/main" val="2803586441"/>
              </p:ext>
            </p:extLst>
          </p:nvPr>
        </p:nvGraphicFramePr>
        <p:xfrm>
          <a:off x="612375" y="1465652"/>
          <a:ext cx="10967250" cy="4874034"/>
        </p:xfrm>
        <a:graphic>
          <a:graphicData uri="http://schemas.openxmlformats.org/drawingml/2006/table">
            <a:tbl>
              <a:tblPr bandRow="1">
                <a:tableStyleId>{5C22544A-7EE6-4342-B048-85BDC9FD1C3A}</a:tableStyleId>
              </a:tblPr>
              <a:tblGrid>
                <a:gridCol w="513182">
                  <a:extLst>
                    <a:ext uri="{9D8B030D-6E8A-4147-A177-3AD203B41FA5}">
                      <a16:colId xmlns:a16="http://schemas.microsoft.com/office/drawing/2014/main" val="360521789"/>
                    </a:ext>
                  </a:extLst>
                </a:gridCol>
                <a:gridCol w="2515339">
                  <a:extLst>
                    <a:ext uri="{9D8B030D-6E8A-4147-A177-3AD203B41FA5}">
                      <a16:colId xmlns:a16="http://schemas.microsoft.com/office/drawing/2014/main" val="3592925142"/>
                    </a:ext>
                  </a:extLst>
                </a:gridCol>
                <a:gridCol w="1228075">
                  <a:extLst>
                    <a:ext uri="{9D8B030D-6E8A-4147-A177-3AD203B41FA5}">
                      <a16:colId xmlns:a16="http://schemas.microsoft.com/office/drawing/2014/main" val="4284133082"/>
                    </a:ext>
                  </a:extLst>
                </a:gridCol>
                <a:gridCol w="1094912">
                  <a:extLst>
                    <a:ext uri="{9D8B030D-6E8A-4147-A177-3AD203B41FA5}">
                      <a16:colId xmlns:a16="http://schemas.microsoft.com/office/drawing/2014/main" val="3805788829"/>
                    </a:ext>
                  </a:extLst>
                </a:gridCol>
                <a:gridCol w="1020930">
                  <a:extLst>
                    <a:ext uri="{9D8B030D-6E8A-4147-A177-3AD203B41FA5}">
                      <a16:colId xmlns:a16="http://schemas.microsoft.com/office/drawing/2014/main" val="1106370287"/>
                    </a:ext>
                  </a:extLst>
                </a:gridCol>
                <a:gridCol w="932152">
                  <a:extLst>
                    <a:ext uri="{9D8B030D-6E8A-4147-A177-3AD203B41FA5}">
                      <a16:colId xmlns:a16="http://schemas.microsoft.com/office/drawing/2014/main" val="4149231578"/>
                    </a:ext>
                  </a:extLst>
                </a:gridCol>
                <a:gridCol w="872969">
                  <a:extLst>
                    <a:ext uri="{9D8B030D-6E8A-4147-A177-3AD203B41FA5}">
                      <a16:colId xmlns:a16="http://schemas.microsoft.com/office/drawing/2014/main" val="2483966670"/>
                    </a:ext>
                  </a:extLst>
                </a:gridCol>
                <a:gridCol w="981557">
                  <a:extLst>
                    <a:ext uri="{9D8B030D-6E8A-4147-A177-3AD203B41FA5}">
                      <a16:colId xmlns:a16="http://schemas.microsoft.com/office/drawing/2014/main" val="1056265578"/>
                    </a:ext>
                  </a:extLst>
                </a:gridCol>
                <a:gridCol w="1097942">
                  <a:extLst>
                    <a:ext uri="{9D8B030D-6E8A-4147-A177-3AD203B41FA5}">
                      <a16:colId xmlns:a16="http://schemas.microsoft.com/office/drawing/2014/main" val="2897210559"/>
                    </a:ext>
                  </a:extLst>
                </a:gridCol>
                <a:gridCol w="710192">
                  <a:extLst>
                    <a:ext uri="{9D8B030D-6E8A-4147-A177-3AD203B41FA5}">
                      <a16:colId xmlns:a16="http://schemas.microsoft.com/office/drawing/2014/main" val="3220668836"/>
                    </a:ext>
                  </a:extLst>
                </a:gridCol>
              </a:tblGrid>
              <a:tr h="317500">
                <a:tc>
                  <a:txBody>
                    <a:bodyPr/>
                    <a:lstStyle/>
                    <a:p>
                      <a:pPr algn="l" fontAlgn="b"/>
                      <a:endParaRPr lang="en-US" sz="1200" b="0" i="0" u="none" strike="noStrike">
                        <a:solidFill>
                          <a:srgbClr val="154734"/>
                        </a:solidFill>
                        <a:effectLst/>
                        <a:latin typeface="Times New Roman" panose="02020603050405020304" pitchFamily="18" charset="0"/>
                      </a:endParaRP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Description</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Part Number</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Supplier Link</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Unit Price</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Quantity</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Subtotal</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Taxes</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Shipping</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tc>
                  <a:txBody>
                    <a:bodyPr/>
                    <a:lstStyle/>
                    <a:p>
                      <a:pPr algn="l" fontAlgn="b"/>
                      <a:r>
                        <a:rPr lang="en-US" sz="1200" b="1" i="0" u="none" strike="noStrike">
                          <a:solidFill>
                            <a:srgbClr val="FFFFFF"/>
                          </a:solidFill>
                          <a:effectLst/>
                          <a:latin typeface="Times New Roman"/>
                        </a:rPr>
                        <a:t>Total</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35642"/>
                    </a:solidFill>
                  </a:tcPr>
                </a:tc>
                <a:extLst>
                  <a:ext uri="{0D108BD9-81ED-4DB2-BD59-A6C34878D82A}">
                    <a16:rowId xmlns:a16="http://schemas.microsoft.com/office/drawing/2014/main" val="2229692858"/>
                  </a:ext>
                </a:extLst>
              </a:tr>
              <a:tr h="317500">
                <a:tc>
                  <a:txBody>
                    <a:bodyPr/>
                    <a:lstStyle/>
                    <a:p>
                      <a:pPr algn="l" fontAlgn="b"/>
                      <a:r>
                        <a:rPr lang="en-US" sz="1600" b="0" i="0" u="none" strike="noStrike">
                          <a:solidFill>
                            <a:srgbClr val="000000"/>
                          </a:solidFill>
                          <a:effectLst/>
                          <a:latin typeface="Times New Roman"/>
                        </a:rPr>
                        <a:t>1</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buNone/>
                      </a:pPr>
                      <a:r>
                        <a:rPr lang="en-US"/>
                        <a:t>Aluminum Round Tubing (6" OD, 5.5ID, 6.5" long)</a:t>
                      </a:r>
                    </a:p>
                  </a:txBody>
                  <a:tcPr anchor="ctr">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242424"/>
                          </a:solidFill>
                          <a:effectLst/>
                          <a:latin typeface="Aptos Narrow"/>
                        </a:rPr>
                        <a:t>N/A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sng" strike="noStrike">
                          <a:solidFill>
                            <a:srgbClr val="467886"/>
                          </a:solidFill>
                          <a:effectLst/>
                          <a:latin typeface="Aptos Narrow"/>
                        </a:rPr>
                        <a:t>Link</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$57.06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$57.06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$4.99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Combined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802448835"/>
                  </a:ext>
                </a:extLst>
              </a:tr>
              <a:tr h="317500">
                <a:tc>
                  <a:txBody>
                    <a:bodyPr/>
                    <a:lstStyle/>
                    <a:p>
                      <a:pPr algn="l" fontAlgn="b"/>
                      <a:r>
                        <a:rPr lang="en-US" sz="1600" b="0" i="0" u="none" strike="noStrike">
                          <a:solidFill>
                            <a:srgbClr val="000000"/>
                          </a:solidFill>
                          <a:effectLst/>
                          <a:latin typeface="Times New Roman"/>
                        </a:rPr>
                        <a:t>2</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buNone/>
                      </a:pPr>
                      <a:r>
                        <a:rPr lang="en-US"/>
                        <a:t>Aluminum Round Tubing (6" OD, 5.5ID, 5.5" long)</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242424"/>
                          </a:solidFill>
                          <a:effectLst/>
                          <a:latin typeface="Aptos Narrow"/>
                        </a:rPr>
                        <a:t>N/A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$51.77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$51.77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$4.53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Combined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1578019327"/>
                  </a:ext>
                </a:extLst>
              </a:tr>
              <a:tr h="317500">
                <a:tc>
                  <a:txBody>
                    <a:bodyPr/>
                    <a:lstStyle/>
                    <a:p>
                      <a:pPr algn="l" fontAlgn="b"/>
                      <a:r>
                        <a:rPr lang="en-US" sz="1600" b="0" i="0" u="none" strike="noStrike">
                          <a:solidFill>
                            <a:srgbClr val="000000"/>
                          </a:solidFill>
                          <a:effectLst/>
                          <a:latin typeface="Times New Roman"/>
                        </a:rPr>
                        <a:t>3</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buNone/>
                      </a:pPr>
                      <a:r>
                        <a:rPr lang="en-US"/>
                        <a:t>Aluminum Round Tubing (6" OD, 5.5ID, 4.5" long)</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242424"/>
                          </a:solidFill>
                          <a:effectLst/>
                          <a:latin typeface="Aptos Narrow"/>
                        </a:rPr>
                        <a:t>N/A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$51.77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$51.77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$4.06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Combined</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2633894003"/>
                  </a:ext>
                </a:extLst>
              </a:tr>
              <a:tr h="317500">
                <a:tc>
                  <a:txBody>
                    <a:bodyPr/>
                    <a:lstStyle/>
                    <a:p>
                      <a:pPr algn="l" fontAlgn="b"/>
                      <a:r>
                        <a:rPr lang="en-US" sz="1600" b="0" i="0" u="none" strike="noStrike">
                          <a:solidFill>
                            <a:srgbClr val="000000"/>
                          </a:solidFill>
                          <a:effectLst/>
                          <a:latin typeface="Times New Roman"/>
                        </a:rPr>
                        <a:t>4</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buNone/>
                      </a:pPr>
                      <a:r>
                        <a:rPr lang="en-US"/>
                        <a:t>1/2" Aluminum Plate (18"x18")</a:t>
                      </a: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242424"/>
                          </a:solidFill>
                          <a:effectLst/>
                          <a:latin typeface="Aptos Narrow"/>
                        </a:rPr>
                        <a:t>N/A</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$233.06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$233.06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$20.39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$26.45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$448.98</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2821986693"/>
                  </a:ext>
                </a:extLst>
              </a:tr>
              <a:tr h="317500">
                <a:tc>
                  <a:txBody>
                    <a:bodyPr/>
                    <a:lstStyle/>
                    <a:p>
                      <a:pPr algn="l" fontAlgn="b"/>
                      <a:r>
                        <a:rPr lang="en-US" sz="1600" b="0" i="0" u="none" strike="noStrike">
                          <a:solidFill>
                            <a:srgbClr val="000000"/>
                          </a:solidFill>
                          <a:effectLst/>
                          <a:latin typeface="Times New Roman"/>
                        </a:rPr>
                        <a:t>5</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242424"/>
                          </a:solidFill>
                          <a:effectLst/>
                          <a:latin typeface="Aptos Narrow"/>
                        </a:rPr>
                        <a:t>Bambu Lab White ABS Filament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242424"/>
                          </a:solidFill>
                          <a:effectLst/>
                          <a:latin typeface="Aptos Narrow"/>
                        </a:rPr>
                        <a:t>Bambu Lab</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$19.99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$45.98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$3.49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Unknown</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$49.47</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1415085590"/>
                  </a:ext>
                </a:extLst>
              </a:tr>
              <a:tr h="488271">
                <a:tc>
                  <a:txBody>
                    <a:bodyPr/>
                    <a:lstStyle/>
                    <a:p>
                      <a:pPr lvl="0" algn="l">
                        <a:buNone/>
                      </a:pPr>
                      <a:r>
                        <a:rPr lang="en-US" sz="1600" b="0" i="0" u="none" strike="noStrike">
                          <a:solidFill>
                            <a:srgbClr val="000000"/>
                          </a:solidFill>
                          <a:effectLst/>
                          <a:latin typeface="Times New Roman"/>
                        </a:rPr>
                        <a:t>6</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endParaRPr lang="en-US" sz="1600" b="0" i="0" u="none" strike="noStrike" baseline="0" noProof="0">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endParaRPr lang="en-US" sz="1600" b="0" i="0" u="sng" strike="noStrike" kern="1200">
                        <a:solidFill>
                          <a:srgbClr val="467886"/>
                        </a:solidFill>
                        <a:effectLst/>
                        <a:latin typeface="Aptos Narrow"/>
                        <a:ea typeface="+mn-ea"/>
                        <a:cs typeface="+mn-cs"/>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lvl="0" algn="l">
                        <a:buNone/>
                      </a:pPr>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38326024"/>
                  </a:ext>
                </a:extLst>
              </a:tr>
              <a:tr h="317500">
                <a:tc>
                  <a:txBody>
                    <a:bodyPr/>
                    <a:lstStyle/>
                    <a:p>
                      <a:pPr algn="l" fontAlgn="b"/>
                      <a:r>
                        <a:rPr lang="en-US" sz="1600" b="0" i="0" u="none" strike="noStrike">
                          <a:solidFill>
                            <a:srgbClr val="000000"/>
                          </a:solidFill>
                          <a:effectLst/>
                          <a:latin typeface="Times New Roman"/>
                        </a:rPr>
                        <a:t>7</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1037611048"/>
                  </a:ext>
                </a:extLst>
              </a:tr>
              <a:tr h="375738">
                <a:tc>
                  <a:txBody>
                    <a:bodyPr/>
                    <a:lstStyle/>
                    <a:p>
                      <a:pPr algn="l" fontAlgn="b"/>
                      <a:r>
                        <a:rPr lang="en-US" sz="1600" b="0" i="0" u="none" strike="noStrike">
                          <a:solidFill>
                            <a:srgbClr val="000000"/>
                          </a:solidFill>
                          <a:effectLst/>
                          <a:latin typeface="Times New Roman"/>
                        </a:rPr>
                        <a:t>8</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242424"/>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sng" strike="noStrike">
                        <a:solidFill>
                          <a:srgbClr val="467886"/>
                        </a:solidFill>
                        <a:effectLst/>
                        <a:latin typeface="Aptos Narrow"/>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endParaRPr lang="en-US" sz="1600" b="0" i="0" u="none" strike="noStrike">
                        <a:solidFill>
                          <a:srgbClr val="000000"/>
                        </a:solidFill>
                        <a:effectLst/>
                        <a:latin typeface="Times New Roman"/>
                      </a:endParaRPr>
                    </a:p>
                  </a:txBody>
                  <a:tcPr marL="9525" marR="9525" marT="9525" marB="0" anchor="b">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marL="0" algn="l" defTabSz="914377" rtl="0" eaLnBrk="1" fontAlgn="b" latinLnBrk="0" hangingPunct="1"/>
                      <a:r>
                        <a:rPr lang="en-US" sz="1600" b="0" i="0" u="none" strike="noStrike" kern="1200">
                          <a:solidFill>
                            <a:srgbClr val="000000"/>
                          </a:solidFill>
                          <a:effectLst/>
                          <a:latin typeface="Times New Roman"/>
                          <a:ea typeface="+mn-ea"/>
                          <a:cs typeface="+mn-cs"/>
                        </a:rPr>
                        <a:t>$</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E7E9E9"/>
                    </a:solidFill>
                  </a:tcPr>
                </a:tc>
                <a:tc>
                  <a:txBody>
                    <a:bodyPr/>
                    <a:lstStyle/>
                    <a:p>
                      <a:pPr marL="0" algn="l" defTabSz="914377" rtl="0" eaLnBrk="1" fontAlgn="b" latinLnBrk="0" hangingPunct="1"/>
                      <a:r>
                        <a:rPr lang="en-US" sz="1600" b="0" i="0" u="none" strike="noStrike" kern="1200">
                          <a:solidFill>
                            <a:srgbClr val="000000"/>
                          </a:solidFill>
                          <a:effectLst/>
                          <a:latin typeface="Times New Roman"/>
                          <a:ea typeface="+mn-ea"/>
                          <a:cs typeface="+mn-cs"/>
                        </a:rPr>
                        <a:t>$</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0" cap="flat" cmpd="sng" algn="ctr">
                      <a:no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7E9E9"/>
                    </a:solidFill>
                  </a:tcPr>
                </a:tc>
                <a:tc>
                  <a:txBody>
                    <a:bodyPr/>
                    <a:lstStyle/>
                    <a:p>
                      <a:pPr algn="l" fontAlgn="b"/>
                      <a:r>
                        <a:rPr lang="en-US" sz="1600" b="0" i="0" u="none" strike="noStrike">
                          <a:solidFill>
                            <a:srgbClr val="000000"/>
                          </a:solidFill>
                          <a:effectLst/>
                          <a:latin typeface="Times New Roman"/>
                        </a:rPr>
                        <a:t>$</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0" cap="flat" cmpd="sng" algn="ctr">
                      <a:noFill/>
                      <a:prstDash val="solid"/>
                      <a:round/>
                      <a:headEnd type="none" w="med" len="med"/>
                      <a:tailEnd type="none" w="med" len="med"/>
                    </a:lnB>
                    <a:solidFill>
                      <a:srgbClr val="E7E9E9"/>
                    </a:solidFill>
                  </a:tcPr>
                </a:tc>
                <a:extLst>
                  <a:ext uri="{0D108BD9-81ED-4DB2-BD59-A6C34878D82A}">
                    <a16:rowId xmlns:a16="http://schemas.microsoft.com/office/drawing/2014/main" val="845165910"/>
                  </a:ext>
                </a:extLst>
              </a:tr>
              <a:tr h="317500">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a:noFill/>
                    </a:lnR>
                    <a:lnT w="0" cap="flat" cmpd="sng" algn="ctr">
                      <a:noFill/>
                      <a:prstDash val="solid"/>
                      <a:round/>
                      <a:headEnd type="none" w="med" len="med"/>
                      <a:tailEnd type="none" w="med" len="med"/>
                    </a:lnT>
                    <a:lnB>
                      <a:noFill/>
                    </a:lnB>
                    <a:noFill/>
                  </a:tcPr>
                </a:tc>
                <a:tc>
                  <a:txBody>
                    <a:bodyPr/>
                    <a:lstStyle/>
                    <a:p>
                      <a:pPr algn="l" fontAlgn="b"/>
                      <a:endParaRPr lang="en-US" sz="1600" b="0" i="0" u="none" strike="noStrike">
                        <a:solidFill>
                          <a:srgbClr val="000000"/>
                        </a:solidFill>
                        <a:effectLst/>
                        <a:latin typeface="Aptos Narrow" panose="020B0004020202020204" pitchFamily="34" charset="0"/>
                      </a:endParaRPr>
                    </a:p>
                  </a:txBody>
                  <a:tcPr marL="9525" marR="9525" marT="9525" marB="0" anchor="b">
                    <a:lnL>
                      <a:noFill/>
                    </a:lnL>
                    <a:lnR w="6350" cap="flat" cmpd="sng" algn="ctr">
                      <a:solidFill>
                        <a:srgbClr val="FFFFFF"/>
                      </a:solidFill>
                      <a:prstDash val="solid"/>
                      <a:round/>
                      <a:headEnd type="none" w="med" len="med"/>
                      <a:tailEnd type="none" w="med" len="med"/>
                    </a:lnR>
                    <a:lnT w="0" cap="flat" cmpd="sng" algn="ctr">
                      <a:noFill/>
                      <a:prstDash val="solid"/>
                      <a:round/>
                      <a:headEnd type="none" w="med" len="med"/>
                      <a:tailEnd type="none" w="med" len="med"/>
                    </a:lnT>
                    <a:lnB>
                      <a:noFill/>
                    </a:lnB>
                    <a:noFill/>
                  </a:tcPr>
                </a:tc>
                <a:tc>
                  <a:txBody>
                    <a:bodyPr/>
                    <a:lstStyle/>
                    <a:p>
                      <a:pPr algn="l" fontAlgn="b"/>
                      <a:r>
                        <a:rPr lang="en-US" sz="1600" b="1" i="0" u="sng" strike="noStrike">
                          <a:solidFill>
                            <a:srgbClr val="000000"/>
                          </a:solidFill>
                          <a:effectLst/>
                          <a:latin typeface="Aptos Narrow"/>
                        </a:rPr>
                        <a:t>TOTAL: </a:t>
                      </a:r>
                    </a:p>
                  </a:txBody>
                  <a:tcPr marL="9525" marR="9525" marT="9525" marB="0" anchor="b">
                    <a:lnL w="6350" cap="flat" cmpd="sng" algn="ctr">
                      <a:solidFill>
                        <a:srgbClr val="FFFFFF"/>
                      </a:solid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BD1CF"/>
                    </a:solidFill>
                  </a:tcPr>
                </a:tc>
                <a:tc>
                  <a:txBody>
                    <a:bodyPr/>
                    <a:lstStyle/>
                    <a:p>
                      <a:pPr algn="l" fontAlgn="b"/>
                      <a:r>
                        <a:rPr lang="en-US" sz="1600" b="1" i="0" u="sng" strike="noStrike">
                          <a:solidFill>
                            <a:srgbClr val="000000"/>
                          </a:solidFill>
                          <a:effectLst/>
                          <a:latin typeface="Aptos Narrow"/>
                        </a:rPr>
                        <a:t>$498.95</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CBD1CF"/>
                    </a:solidFill>
                  </a:tcPr>
                </a:tc>
                <a:extLst>
                  <a:ext uri="{0D108BD9-81ED-4DB2-BD59-A6C34878D82A}">
                    <a16:rowId xmlns:a16="http://schemas.microsoft.com/office/drawing/2014/main" val="2638035087"/>
                  </a:ext>
                </a:extLst>
              </a:tr>
            </a:tbl>
          </a:graphicData>
        </a:graphic>
      </p:graphicFrame>
      <p:sp>
        <p:nvSpPr>
          <p:cNvPr id="3" name="Footer Placeholder 2">
            <a:extLst>
              <a:ext uri="{FF2B5EF4-FFF2-40B4-BE49-F238E27FC236}">
                <a16:creationId xmlns:a16="http://schemas.microsoft.com/office/drawing/2014/main" id="{9842D937-3FB6-BC57-E1EC-78EC1E18EBC5}"/>
              </a:ext>
            </a:extLst>
          </p:cNvPr>
          <p:cNvSpPr>
            <a:spLocks noGrp="1"/>
          </p:cNvSpPr>
          <p:nvPr>
            <p:ph type="ftr" sz="quarter" idx="16"/>
          </p:nvPr>
        </p:nvSpPr>
        <p:spPr>
          <a:xfrm>
            <a:off x="7491867" y="6351113"/>
            <a:ext cx="4114800" cy="366183"/>
          </a:xfrm>
        </p:spPr>
        <p:txBody>
          <a:bodyPr/>
          <a:lstStyle/>
          <a:p>
            <a:r>
              <a:rPr lang="en-US" sz="900">
                <a:latin typeface="Source Sans Pro"/>
                <a:ea typeface="Source Sans Pro"/>
              </a:rPr>
              <a:t>ARCHERFISH CDR</a:t>
            </a:r>
            <a:endParaRPr lang="en-US"/>
          </a:p>
        </p:txBody>
      </p:sp>
    </p:spTree>
    <p:extLst>
      <p:ext uri="{BB962C8B-B14F-4D97-AF65-F5344CB8AC3E}">
        <p14:creationId xmlns:p14="http://schemas.microsoft.com/office/powerpoint/2010/main" val="261910130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0F403-BA5C-7DA3-2C01-3FA6957466B4}"/>
              </a:ext>
            </a:extLst>
          </p:cNvPr>
          <p:cNvSpPr>
            <a:spLocks noGrp="1"/>
          </p:cNvSpPr>
          <p:nvPr>
            <p:ph type="title"/>
          </p:nvPr>
        </p:nvSpPr>
        <p:spPr/>
        <p:txBody>
          <a:bodyPr/>
          <a:lstStyle/>
          <a:p>
            <a:r>
              <a:rPr lang="en-US"/>
              <a:t>Recovery</a:t>
            </a:r>
          </a:p>
        </p:txBody>
      </p:sp>
      <p:sp>
        <p:nvSpPr>
          <p:cNvPr id="3" name="Text Placeholder 2">
            <a:extLst>
              <a:ext uri="{FF2B5EF4-FFF2-40B4-BE49-F238E27FC236}">
                <a16:creationId xmlns:a16="http://schemas.microsoft.com/office/drawing/2014/main" id="{15D97A78-C4A7-6FC2-A791-98B7CFDEE8B1}"/>
              </a:ext>
            </a:extLst>
          </p:cNvPr>
          <p:cNvSpPr>
            <a:spLocks noGrp="1"/>
          </p:cNvSpPr>
          <p:nvPr>
            <p:ph type="body" sz="quarter" idx="11"/>
          </p:nvPr>
        </p:nvSpPr>
        <p:spPr>
          <a:noFill/>
        </p:spPr>
        <p:txBody>
          <a:bodyPr/>
          <a:lstStyle/>
          <a:p>
            <a:r>
              <a:rPr lang="en-US" sz="1850">
                <a:ea typeface="Source Sans Pro"/>
              </a:rPr>
              <a:t>Presented by: Metztli Singha</a:t>
            </a:r>
            <a:endParaRPr lang="en-US" sz="1850">
              <a:cs typeface="Calibri"/>
            </a:endParaRPr>
          </a:p>
        </p:txBody>
      </p:sp>
    </p:spTree>
    <p:extLst>
      <p:ext uri="{BB962C8B-B14F-4D97-AF65-F5344CB8AC3E}">
        <p14:creationId xmlns:p14="http://schemas.microsoft.com/office/powerpoint/2010/main" val="2767300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0F026C2-F9D4-FC88-4398-061E4A9028C9}"/>
              </a:ext>
            </a:extLst>
          </p:cNvPr>
          <p:cNvPicPr>
            <a:picLocks noChangeAspect="1"/>
          </p:cNvPicPr>
          <p:nvPr/>
        </p:nvPicPr>
        <p:blipFill>
          <a:blip r:embed="rId2"/>
          <a:srcRect l="1897" t="19340" b="40302"/>
          <a:stretch>
            <a:fillRect/>
          </a:stretch>
        </p:blipFill>
        <p:spPr>
          <a:xfrm>
            <a:off x="409519" y="2347855"/>
            <a:ext cx="9862857" cy="1827928"/>
          </a:xfrm>
          <a:prstGeom prst="rect">
            <a:avLst/>
          </a:prstGeom>
        </p:spPr>
      </p:pic>
      <p:sp>
        <p:nvSpPr>
          <p:cNvPr id="2" name="Title 1">
            <a:extLst>
              <a:ext uri="{FF2B5EF4-FFF2-40B4-BE49-F238E27FC236}">
                <a16:creationId xmlns:a16="http://schemas.microsoft.com/office/drawing/2014/main" id="{DC202AA1-FE6A-F951-F1D7-E63CA5F2975E}"/>
              </a:ext>
            </a:extLst>
          </p:cNvPr>
          <p:cNvSpPr>
            <a:spLocks noGrp="1"/>
          </p:cNvSpPr>
          <p:nvPr>
            <p:ph type="title"/>
          </p:nvPr>
        </p:nvSpPr>
        <p:spPr/>
        <p:txBody>
          <a:bodyPr>
            <a:normAutofit fontScale="90000"/>
          </a:bodyPr>
          <a:lstStyle/>
          <a:p>
            <a:r>
              <a:rPr lang="en-US">
                <a:latin typeface="Munistic"/>
              </a:rPr>
              <a:t>Recovery Layout</a:t>
            </a:r>
            <a:endParaRPr lang="en-US"/>
          </a:p>
        </p:txBody>
      </p:sp>
      <p:sp>
        <p:nvSpPr>
          <p:cNvPr id="3" name="Slide Number Placeholder 2">
            <a:extLst>
              <a:ext uri="{FF2B5EF4-FFF2-40B4-BE49-F238E27FC236}">
                <a16:creationId xmlns:a16="http://schemas.microsoft.com/office/drawing/2014/main" id="{1AE837DA-9ABF-F201-FCB6-F7F0F044C1A9}"/>
              </a:ext>
            </a:extLst>
          </p:cNvPr>
          <p:cNvSpPr>
            <a:spLocks noGrp="1"/>
          </p:cNvSpPr>
          <p:nvPr>
            <p:ph type="sldNum" idx="12"/>
          </p:nvPr>
        </p:nvSpPr>
        <p:spPr>
          <a:xfrm>
            <a:off x="11354939" y="6323867"/>
            <a:ext cx="636533" cy="530444"/>
          </a:xfrm>
        </p:spPr>
        <p:txBody>
          <a:bodyPr>
            <a:normAutofit/>
          </a:bodyPr>
          <a:lstStyle/>
          <a:p>
            <a:r>
              <a:rPr lang="en" sz="900">
                <a:latin typeface="Source Sans Pro"/>
                <a:ea typeface="Source Sans Pro"/>
              </a:rPr>
              <a:t>/  </a:t>
            </a:r>
            <a:fld id="{00000000-1234-1234-1234-123412341234}" type="slidenum">
              <a:rPr lang="en" sz="900" dirty="0">
                <a:latin typeface="Source Sans Pro"/>
                <a:ea typeface="Source Sans Pro"/>
              </a:rPr>
              <a:pPr/>
              <a:t>92</a:t>
            </a:fld>
            <a:endParaRPr lang="en" sz="900">
              <a:latin typeface="Source Sans Pro"/>
              <a:ea typeface="Source Sans Pro"/>
            </a:endParaRPr>
          </a:p>
        </p:txBody>
      </p:sp>
      <p:sp>
        <p:nvSpPr>
          <p:cNvPr id="6" name="TextBox 5">
            <a:extLst>
              <a:ext uri="{FF2B5EF4-FFF2-40B4-BE49-F238E27FC236}">
                <a16:creationId xmlns:a16="http://schemas.microsoft.com/office/drawing/2014/main" id="{09FB0476-7DAD-78A6-DD25-60F0D36645C5}"/>
              </a:ext>
            </a:extLst>
          </p:cNvPr>
          <p:cNvSpPr txBox="1"/>
          <p:nvPr/>
        </p:nvSpPr>
        <p:spPr>
          <a:xfrm>
            <a:off x="4227554" y="4758821"/>
            <a:ext cx="154405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cs typeface="Calibri"/>
              </a:rPr>
              <a:t>Body Tube</a:t>
            </a:r>
            <a:endParaRPr lang="en-US" sz="2000"/>
          </a:p>
        </p:txBody>
      </p:sp>
      <p:sp>
        <p:nvSpPr>
          <p:cNvPr id="8" name="TextBox 7">
            <a:extLst>
              <a:ext uri="{FF2B5EF4-FFF2-40B4-BE49-F238E27FC236}">
                <a16:creationId xmlns:a16="http://schemas.microsoft.com/office/drawing/2014/main" id="{A9E9AAD6-A8CB-E7FC-50F1-5BD4AB574CBA}"/>
              </a:ext>
            </a:extLst>
          </p:cNvPr>
          <p:cNvSpPr txBox="1"/>
          <p:nvPr/>
        </p:nvSpPr>
        <p:spPr>
          <a:xfrm>
            <a:off x="5939323" y="4508261"/>
            <a:ext cx="137962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Shock Cord</a:t>
            </a:r>
          </a:p>
        </p:txBody>
      </p:sp>
      <p:sp>
        <p:nvSpPr>
          <p:cNvPr id="10" name="TextBox 9">
            <a:extLst>
              <a:ext uri="{FF2B5EF4-FFF2-40B4-BE49-F238E27FC236}">
                <a16:creationId xmlns:a16="http://schemas.microsoft.com/office/drawing/2014/main" id="{5A22B17B-33EC-CD59-D6F2-5945160A393E}"/>
              </a:ext>
            </a:extLst>
          </p:cNvPr>
          <p:cNvSpPr txBox="1"/>
          <p:nvPr/>
        </p:nvSpPr>
        <p:spPr>
          <a:xfrm>
            <a:off x="7477335" y="4475710"/>
            <a:ext cx="223898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Tender Descenders</a:t>
            </a:r>
          </a:p>
        </p:txBody>
      </p:sp>
      <p:sp>
        <p:nvSpPr>
          <p:cNvPr id="12" name="TextBox 11">
            <a:extLst>
              <a:ext uri="{FF2B5EF4-FFF2-40B4-BE49-F238E27FC236}">
                <a16:creationId xmlns:a16="http://schemas.microsoft.com/office/drawing/2014/main" id="{D48CB874-E9B7-E338-98F9-FE40C7AE8E18}"/>
              </a:ext>
            </a:extLst>
          </p:cNvPr>
          <p:cNvSpPr txBox="1"/>
          <p:nvPr/>
        </p:nvSpPr>
        <p:spPr>
          <a:xfrm>
            <a:off x="9572487" y="4446448"/>
            <a:ext cx="189969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t> CO2 Peregrines</a:t>
            </a:r>
            <a:endParaRPr lang="en-US" sz="2000">
              <a:cs typeface="Calibri"/>
            </a:endParaRPr>
          </a:p>
        </p:txBody>
      </p:sp>
      <p:sp>
        <p:nvSpPr>
          <p:cNvPr id="14" name="TextBox 13">
            <a:extLst>
              <a:ext uri="{FF2B5EF4-FFF2-40B4-BE49-F238E27FC236}">
                <a16:creationId xmlns:a16="http://schemas.microsoft.com/office/drawing/2014/main" id="{A4E87AEB-B694-F815-02CD-84BE1DABABA7}"/>
              </a:ext>
            </a:extLst>
          </p:cNvPr>
          <p:cNvSpPr txBox="1"/>
          <p:nvPr/>
        </p:nvSpPr>
        <p:spPr>
          <a:xfrm>
            <a:off x="6899212" y="1677080"/>
            <a:ext cx="213727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Main Chute + Bag</a:t>
            </a:r>
          </a:p>
        </p:txBody>
      </p:sp>
      <p:sp>
        <p:nvSpPr>
          <p:cNvPr id="15" name="TextBox 14">
            <a:extLst>
              <a:ext uri="{FF2B5EF4-FFF2-40B4-BE49-F238E27FC236}">
                <a16:creationId xmlns:a16="http://schemas.microsoft.com/office/drawing/2014/main" id="{875C3DD6-6088-D9D0-F704-FF8AB0B7E401}"/>
              </a:ext>
            </a:extLst>
          </p:cNvPr>
          <p:cNvSpPr txBox="1"/>
          <p:nvPr/>
        </p:nvSpPr>
        <p:spPr>
          <a:xfrm>
            <a:off x="5148358" y="1695459"/>
            <a:ext cx="161022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cs typeface="Calibri"/>
              </a:rPr>
              <a:t>Drogue Chute</a:t>
            </a:r>
          </a:p>
        </p:txBody>
      </p:sp>
      <p:sp>
        <p:nvSpPr>
          <p:cNvPr id="16" name="TextBox 15">
            <a:extLst>
              <a:ext uri="{FF2B5EF4-FFF2-40B4-BE49-F238E27FC236}">
                <a16:creationId xmlns:a16="http://schemas.microsoft.com/office/drawing/2014/main" id="{92558610-6FBB-8455-A661-630A533981E0}"/>
              </a:ext>
            </a:extLst>
          </p:cNvPr>
          <p:cNvSpPr txBox="1"/>
          <p:nvPr/>
        </p:nvSpPr>
        <p:spPr>
          <a:xfrm>
            <a:off x="1756456" y="1553913"/>
            <a:ext cx="161022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Top Coupler</a:t>
            </a:r>
            <a:endParaRPr lang="en-US" sz="2000">
              <a:cs typeface="Calibri"/>
            </a:endParaRPr>
          </a:p>
        </p:txBody>
      </p:sp>
      <p:sp>
        <p:nvSpPr>
          <p:cNvPr id="17" name="TextBox 16">
            <a:extLst>
              <a:ext uri="{FF2B5EF4-FFF2-40B4-BE49-F238E27FC236}">
                <a16:creationId xmlns:a16="http://schemas.microsoft.com/office/drawing/2014/main" id="{C0F2A64B-DC6E-61DB-937A-6F1B14386C1A}"/>
              </a:ext>
            </a:extLst>
          </p:cNvPr>
          <p:cNvSpPr txBox="1"/>
          <p:nvPr/>
        </p:nvSpPr>
        <p:spPr>
          <a:xfrm>
            <a:off x="9036484" y="1708240"/>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Bottom Coupler</a:t>
            </a:r>
          </a:p>
        </p:txBody>
      </p:sp>
      <p:sp>
        <p:nvSpPr>
          <p:cNvPr id="19" name="Arrow: Right 18">
            <a:extLst>
              <a:ext uri="{FF2B5EF4-FFF2-40B4-BE49-F238E27FC236}">
                <a16:creationId xmlns:a16="http://schemas.microsoft.com/office/drawing/2014/main" id="{FE93510C-67E0-13BF-565F-126CBCFC8000}"/>
              </a:ext>
            </a:extLst>
          </p:cNvPr>
          <p:cNvSpPr/>
          <p:nvPr/>
        </p:nvSpPr>
        <p:spPr>
          <a:xfrm rot="3060000">
            <a:off x="2432546" y="2333834"/>
            <a:ext cx="1233236" cy="220581"/>
          </a:xfrm>
          <a:prstGeom prst="rightArrow">
            <a:avLst/>
          </a:prstGeom>
          <a:solidFill>
            <a:schemeClr val="tx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8786F31E-1E25-2F8D-3075-0A8F9D017BFB}"/>
              </a:ext>
            </a:extLst>
          </p:cNvPr>
          <p:cNvSpPr/>
          <p:nvPr/>
        </p:nvSpPr>
        <p:spPr>
          <a:xfrm rot="5400000">
            <a:off x="7511651" y="2354348"/>
            <a:ext cx="912394" cy="220580"/>
          </a:xfrm>
          <a:prstGeom prst="rightArrow">
            <a:avLst/>
          </a:prstGeom>
          <a:solidFill>
            <a:schemeClr val="tx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A3DA685E-77A3-E5AA-2860-1CB5692766AD}"/>
              </a:ext>
            </a:extLst>
          </p:cNvPr>
          <p:cNvSpPr/>
          <p:nvPr/>
        </p:nvSpPr>
        <p:spPr>
          <a:xfrm rot="17937439">
            <a:off x="6570539" y="3944557"/>
            <a:ext cx="1070193" cy="237051"/>
          </a:xfrm>
          <a:prstGeom prst="rightArrow">
            <a:avLst/>
          </a:prstGeom>
          <a:solidFill>
            <a:schemeClr val="tx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3F424D33-7614-1255-A05E-9553496747B3}"/>
              </a:ext>
            </a:extLst>
          </p:cNvPr>
          <p:cNvSpPr/>
          <p:nvPr/>
        </p:nvSpPr>
        <p:spPr>
          <a:xfrm rot="3885768">
            <a:off x="5847435" y="2379110"/>
            <a:ext cx="912394" cy="220580"/>
          </a:xfrm>
          <a:prstGeom prst="rightArrow">
            <a:avLst/>
          </a:prstGeom>
          <a:solidFill>
            <a:schemeClr val="tx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B454B9FB-4359-5F3D-9B43-311E5FB2256D}"/>
              </a:ext>
            </a:extLst>
          </p:cNvPr>
          <p:cNvSpPr/>
          <p:nvPr/>
        </p:nvSpPr>
        <p:spPr>
          <a:xfrm rot="16200000">
            <a:off x="4441741" y="4314898"/>
            <a:ext cx="763569" cy="210554"/>
          </a:xfrm>
          <a:prstGeom prst="rightArrow">
            <a:avLst/>
          </a:prstGeom>
          <a:solidFill>
            <a:schemeClr val="tx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51850E09-8278-CD9A-94A4-D07B574507B9}"/>
              </a:ext>
            </a:extLst>
          </p:cNvPr>
          <p:cNvSpPr/>
          <p:nvPr/>
        </p:nvSpPr>
        <p:spPr>
          <a:xfrm rot="14580000">
            <a:off x="9537830" y="3867135"/>
            <a:ext cx="1062789" cy="230607"/>
          </a:xfrm>
          <a:prstGeom prst="rightArrow">
            <a:avLst/>
          </a:prstGeom>
          <a:solidFill>
            <a:schemeClr val="tx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860D992-D56C-5B6E-E52D-C1D74EA1A523}"/>
              </a:ext>
            </a:extLst>
          </p:cNvPr>
          <p:cNvSpPr txBox="1"/>
          <p:nvPr/>
        </p:nvSpPr>
        <p:spPr>
          <a:xfrm>
            <a:off x="5114867" y="5487043"/>
            <a:ext cx="3287434" cy="3770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50" b="1">
                <a:cs typeface="Calibri"/>
              </a:rPr>
              <a:t>Fig 8.1 Recovery System Layout</a:t>
            </a:r>
            <a:endParaRPr lang="en-US"/>
          </a:p>
        </p:txBody>
      </p:sp>
      <p:sp>
        <p:nvSpPr>
          <p:cNvPr id="13" name="Footer Placeholder 7">
            <a:extLst>
              <a:ext uri="{FF2B5EF4-FFF2-40B4-BE49-F238E27FC236}">
                <a16:creationId xmlns:a16="http://schemas.microsoft.com/office/drawing/2014/main" id="{792D20F3-0C89-D24C-6509-E6F7242C9A51}"/>
              </a:ext>
            </a:extLst>
          </p:cNvPr>
          <p:cNvSpPr txBox="1">
            <a:spLocks/>
          </p:cNvSpPr>
          <p:nvPr/>
        </p:nvSpPr>
        <p:spPr>
          <a:xfrm>
            <a:off x="7712001" y="6475292"/>
            <a:ext cx="3990623" cy="253294"/>
          </a:xfrm>
          <a:prstGeom prst="rect">
            <a:avLst/>
          </a:prstGeom>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spc="133">
                <a:solidFill>
                  <a:schemeClr val="tx1">
                    <a:tint val="75000"/>
                  </a:schemeClr>
                </a:solidFill>
                <a:latin typeface="Source Sans Pro"/>
                <a:ea typeface="Source Sans Pro"/>
              </a:rPr>
              <a:t>ARCHERFISH CDR</a:t>
            </a:r>
            <a:endParaRPr lang="en-US"/>
          </a:p>
        </p:txBody>
      </p:sp>
      <p:sp>
        <p:nvSpPr>
          <p:cNvPr id="18" name="Arrow: Right 17">
            <a:extLst>
              <a:ext uri="{FF2B5EF4-FFF2-40B4-BE49-F238E27FC236}">
                <a16:creationId xmlns:a16="http://schemas.microsoft.com/office/drawing/2014/main" id="{2ACFB491-4F14-5DCF-4751-3B92155E1F5F}"/>
              </a:ext>
            </a:extLst>
          </p:cNvPr>
          <p:cNvSpPr/>
          <p:nvPr/>
        </p:nvSpPr>
        <p:spPr>
          <a:xfrm rot="7262352">
            <a:off x="9116290" y="2362800"/>
            <a:ext cx="912394" cy="220580"/>
          </a:xfrm>
          <a:prstGeom prst="rightArrow">
            <a:avLst/>
          </a:prstGeom>
          <a:solidFill>
            <a:schemeClr val="tx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D34D5135-2926-BC5E-987A-74EBF8399DD7}"/>
              </a:ext>
            </a:extLst>
          </p:cNvPr>
          <p:cNvSpPr/>
          <p:nvPr/>
        </p:nvSpPr>
        <p:spPr>
          <a:xfrm rot="14019112">
            <a:off x="7828416" y="3940235"/>
            <a:ext cx="1070193" cy="237051"/>
          </a:xfrm>
          <a:prstGeom prst="rightArrow">
            <a:avLst/>
          </a:prstGeom>
          <a:solidFill>
            <a:schemeClr val="tx1">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4141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147F6-5D92-5C79-DA17-C76DAAAC805A}"/>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19E10F2-6C6B-2410-DAD6-288A0FECBD38}"/>
              </a:ext>
            </a:extLst>
          </p:cNvPr>
          <p:cNvSpPr>
            <a:spLocks noGrp="1"/>
          </p:cNvSpPr>
          <p:nvPr>
            <p:ph type="ftr" sz="quarter" idx="17"/>
          </p:nvPr>
        </p:nvSpPr>
        <p:spPr/>
        <p:txBody>
          <a:bodyPr/>
          <a:lstStyle/>
          <a:p>
            <a:r>
              <a:rPr lang="en-US" sz="900">
                <a:latin typeface="Source Sans Pro"/>
                <a:ea typeface="Source Sans Pro"/>
              </a:rPr>
              <a:t>ARCHERFISH CDR</a:t>
            </a:r>
            <a:endParaRPr lang="en-US"/>
          </a:p>
        </p:txBody>
      </p:sp>
      <p:sp>
        <p:nvSpPr>
          <p:cNvPr id="6" name="Slide Number Placeholder 5">
            <a:extLst>
              <a:ext uri="{FF2B5EF4-FFF2-40B4-BE49-F238E27FC236}">
                <a16:creationId xmlns:a16="http://schemas.microsoft.com/office/drawing/2014/main" id="{160FD224-D42E-ED61-3C37-F9889F369F28}"/>
              </a:ext>
            </a:extLst>
          </p:cNvPr>
          <p:cNvSpPr>
            <a:spLocks noGrp="1"/>
          </p:cNvSpPr>
          <p:nvPr>
            <p:ph type="sldNum" sz="quarter" idx="18"/>
          </p:nvPr>
        </p:nvSpPr>
        <p:spPr/>
        <p:txBody>
          <a:bodyPr/>
          <a:lstStyle/>
          <a:p>
            <a:r>
              <a:rPr lang="en-US"/>
              <a:t>/   </a:t>
            </a:r>
            <a:fld id="{6C7E6F33-74EE-5541-8108-8353B402F8C1}" type="slidenum">
              <a:rPr lang="en-US" smtClean="0"/>
              <a:pPr/>
              <a:t>93</a:t>
            </a:fld>
            <a:endParaRPr lang="en-US"/>
          </a:p>
        </p:txBody>
      </p:sp>
      <p:sp>
        <p:nvSpPr>
          <p:cNvPr id="7" name="Title 6">
            <a:extLst>
              <a:ext uri="{FF2B5EF4-FFF2-40B4-BE49-F238E27FC236}">
                <a16:creationId xmlns:a16="http://schemas.microsoft.com/office/drawing/2014/main" id="{1C7BE8E0-129B-B80E-C510-1DD8BB1E409D}"/>
              </a:ext>
            </a:extLst>
          </p:cNvPr>
          <p:cNvSpPr>
            <a:spLocks noGrp="1"/>
          </p:cNvSpPr>
          <p:nvPr>
            <p:ph type="title"/>
          </p:nvPr>
        </p:nvSpPr>
        <p:spPr/>
        <p:txBody>
          <a:bodyPr/>
          <a:lstStyle/>
          <a:p>
            <a:r>
              <a:rPr lang="en-US" sz="4000">
                <a:latin typeface="Munistic"/>
              </a:rPr>
              <a:t>Internal Components</a:t>
            </a:r>
            <a:endParaRPr lang="en-US" sz="4000"/>
          </a:p>
        </p:txBody>
      </p:sp>
      <p:sp>
        <p:nvSpPr>
          <p:cNvPr id="8" name="Text Placeholder 7">
            <a:extLst>
              <a:ext uri="{FF2B5EF4-FFF2-40B4-BE49-F238E27FC236}">
                <a16:creationId xmlns:a16="http://schemas.microsoft.com/office/drawing/2014/main" id="{D90FEB37-7C01-3DFB-0276-2E2588994226}"/>
              </a:ext>
            </a:extLst>
          </p:cNvPr>
          <p:cNvSpPr>
            <a:spLocks noGrp="1"/>
          </p:cNvSpPr>
          <p:nvPr>
            <p:ph type="body" sz="quarter" idx="19"/>
          </p:nvPr>
        </p:nvSpPr>
        <p:spPr/>
        <p:txBody>
          <a:bodyPr/>
          <a:lstStyle/>
          <a:p>
            <a:r>
              <a:rPr lang="en-US" sz="2400">
                <a:ea typeface="Source Sans Pro"/>
                <a:cs typeface="Calibri"/>
              </a:rPr>
              <a:t>Line Diagram</a:t>
            </a:r>
            <a:endParaRPr lang="en-US" sz="2400"/>
          </a:p>
        </p:txBody>
      </p:sp>
      <p:pic>
        <p:nvPicPr>
          <p:cNvPr id="9" name="Picture 8">
            <a:extLst>
              <a:ext uri="{FF2B5EF4-FFF2-40B4-BE49-F238E27FC236}">
                <a16:creationId xmlns:a16="http://schemas.microsoft.com/office/drawing/2014/main" id="{B7B0DFE4-DDCB-732B-E31F-457C5FF3988C}"/>
              </a:ext>
            </a:extLst>
          </p:cNvPr>
          <p:cNvPicPr>
            <a:picLocks noChangeAspect="1"/>
          </p:cNvPicPr>
          <p:nvPr/>
        </p:nvPicPr>
        <p:blipFill>
          <a:blip r:embed="rId3"/>
          <a:srcRect t="2964" b="1290"/>
          <a:stretch>
            <a:fillRect/>
          </a:stretch>
        </p:blipFill>
        <p:spPr>
          <a:xfrm>
            <a:off x="1837503" y="1428462"/>
            <a:ext cx="2908233" cy="4408292"/>
          </a:xfrm>
          <a:prstGeom prst="rect">
            <a:avLst/>
          </a:prstGeom>
        </p:spPr>
      </p:pic>
      <p:pic>
        <p:nvPicPr>
          <p:cNvPr id="12" name="Picture 11">
            <a:extLst>
              <a:ext uri="{FF2B5EF4-FFF2-40B4-BE49-F238E27FC236}">
                <a16:creationId xmlns:a16="http://schemas.microsoft.com/office/drawing/2014/main" id="{ACF0058B-42C5-EAD3-D93D-444BFE11F581}"/>
              </a:ext>
            </a:extLst>
          </p:cNvPr>
          <p:cNvPicPr>
            <a:picLocks noChangeAspect="1"/>
          </p:cNvPicPr>
          <p:nvPr/>
        </p:nvPicPr>
        <p:blipFill>
          <a:blip r:embed="rId4"/>
          <a:srcRect l="4032" t="2052" r="7222"/>
          <a:stretch>
            <a:fillRect/>
          </a:stretch>
        </p:blipFill>
        <p:spPr>
          <a:xfrm>
            <a:off x="6504286" y="1389238"/>
            <a:ext cx="3535826" cy="4533426"/>
          </a:xfrm>
          <a:prstGeom prst="rect">
            <a:avLst/>
          </a:prstGeom>
        </p:spPr>
      </p:pic>
      <p:sp>
        <p:nvSpPr>
          <p:cNvPr id="13" name="Rectangle 12">
            <a:extLst>
              <a:ext uri="{FF2B5EF4-FFF2-40B4-BE49-F238E27FC236}">
                <a16:creationId xmlns:a16="http://schemas.microsoft.com/office/drawing/2014/main" id="{F3480C89-0725-9BE7-FA23-A288F5958126}"/>
              </a:ext>
            </a:extLst>
          </p:cNvPr>
          <p:cNvSpPr/>
          <p:nvPr/>
        </p:nvSpPr>
        <p:spPr>
          <a:xfrm>
            <a:off x="9052560" y="5897880"/>
            <a:ext cx="987552" cy="24313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solidFill>
                <a:schemeClr val="bg1"/>
              </a:solidFill>
            </a:endParaRPr>
          </a:p>
        </p:txBody>
      </p:sp>
      <p:sp>
        <p:nvSpPr>
          <p:cNvPr id="14" name="TextBox 13">
            <a:extLst>
              <a:ext uri="{FF2B5EF4-FFF2-40B4-BE49-F238E27FC236}">
                <a16:creationId xmlns:a16="http://schemas.microsoft.com/office/drawing/2014/main" id="{4BE752D1-A1C1-E0A3-E874-F607D7B2C829}"/>
              </a:ext>
            </a:extLst>
          </p:cNvPr>
          <p:cNvSpPr txBox="1"/>
          <p:nvPr/>
        </p:nvSpPr>
        <p:spPr>
          <a:xfrm>
            <a:off x="1837503" y="5922665"/>
            <a:ext cx="3535826"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a:cs typeface="Calibri"/>
              </a:rPr>
              <a:t>Fig 8.2 Before Tender Descender Ignition</a:t>
            </a:r>
          </a:p>
        </p:txBody>
      </p:sp>
      <p:sp>
        <p:nvSpPr>
          <p:cNvPr id="15" name="TextBox 14">
            <a:extLst>
              <a:ext uri="{FF2B5EF4-FFF2-40B4-BE49-F238E27FC236}">
                <a16:creationId xmlns:a16="http://schemas.microsoft.com/office/drawing/2014/main" id="{5BC4C371-56F1-9C9F-5024-6091D6DEAC76}"/>
              </a:ext>
            </a:extLst>
          </p:cNvPr>
          <p:cNvSpPr txBox="1"/>
          <p:nvPr/>
        </p:nvSpPr>
        <p:spPr>
          <a:xfrm>
            <a:off x="6394558" y="5922665"/>
            <a:ext cx="3535826"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a:cs typeface="Calibri"/>
              </a:rPr>
              <a:t>Fig 8.3 After Tender Descender Ignition</a:t>
            </a:r>
          </a:p>
        </p:txBody>
      </p:sp>
    </p:spTree>
    <p:extLst>
      <p:ext uri="{BB962C8B-B14F-4D97-AF65-F5344CB8AC3E}">
        <p14:creationId xmlns:p14="http://schemas.microsoft.com/office/powerpoint/2010/main" val="1603762852"/>
      </p:ext>
    </p:extLst>
  </p:cSld>
  <p:clrMapOvr>
    <a:masterClrMapping/>
  </p:clrMapOvr>
  <p:extLst>
    <p:ext uri="{6950BFC3-D8DA-4A85-94F7-54DA5524770B}">
      <p188:commentRel xmlns:p188="http://schemas.microsoft.com/office/powerpoint/2018/8/main" r:id="rId2"/>
    </p:ext>
  </p:extLs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707573-3EE4-9D99-A194-189D681F13AA}"/>
              </a:ext>
            </a:extLst>
          </p:cNvPr>
          <p:cNvSpPr>
            <a:spLocks noGrp="1"/>
          </p:cNvSpPr>
          <p:nvPr>
            <p:ph type="body" sz="quarter" idx="15"/>
          </p:nvPr>
        </p:nvSpPr>
        <p:spPr>
          <a:xfrm>
            <a:off x="531361" y="1550462"/>
            <a:ext cx="6185269" cy="4490830"/>
          </a:xfrm>
        </p:spPr>
        <p:txBody>
          <a:bodyPr vert="horz" lIns="91440" tIns="45720" rIns="91440" bIns="45720" rtlCol="0" anchor="t">
            <a:noAutofit/>
          </a:bodyPr>
          <a:lstStyle/>
          <a:p>
            <a:pPr marL="342900" indent="-342900">
              <a:buChar char="•"/>
            </a:pPr>
            <a:r>
              <a:rPr lang="en-US" sz="2000">
                <a:ea typeface="Source Sans Pro"/>
                <a:cs typeface="Calibri" panose="020F0502020204030204"/>
              </a:rPr>
              <a:t>Pressure vessel created from a carbon fiber body tube and aluminum couplers/bulkheads</a:t>
            </a:r>
          </a:p>
          <a:p>
            <a:pPr marL="799465" lvl="1" indent="-342900">
              <a:buFont typeface="Courier New" panose="020B0604020202020204" pitchFamily="34" charset="0"/>
              <a:buChar char="o"/>
            </a:pPr>
            <a:r>
              <a:rPr lang="en-US" sz="1800" kern="800" spc="0">
                <a:ea typeface="Source Sans Pro"/>
                <a:cs typeface="Calibri" panose="020F0502020204030204"/>
              </a:rPr>
              <a:t>Nose cone rests on the lid of the pressure vessel</a:t>
            </a:r>
          </a:p>
          <a:p>
            <a:pPr marL="342276" indent="-342900">
              <a:buFont typeface="Courier New" panose="020B0604020202020204" pitchFamily="34" charset="0"/>
              <a:buChar char="o"/>
            </a:pPr>
            <a:r>
              <a:rPr lang="en-US" sz="2000" kern="800" spc="0">
                <a:ea typeface="Source Sans Pro"/>
                <a:cs typeface="Calibri" panose="020F0502020204030204"/>
              </a:rPr>
              <a:t>Bottom bulkhead will require four through holes</a:t>
            </a:r>
            <a:endParaRPr lang="en-US" sz="2000" kern="800" spc="0">
              <a:cs typeface="Calibri" panose="020F0502020204030204"/>
            </a:endParaRPr>
          </a:p>
          <a:p>
            <a:pPr marL="799477" lvl="1" indent="-342900">
              <a:spcAft>
                <a:spcPts val="800"/>
              </a:spcAft>
              <a:buFont typeface="Wingdings" panose="020B0604020202020204" pitchFamily="34" charset="0"/>
              <a:buChar char="§"/>
            </a:pPr>
            <a:r>
              <a:rPr lang="en-US" sz="1800" kern="800" spc="0">
                <a:ea typeface="Source Sans Pro"/>
                <a:cs typeface="Calibri" panose="020F0502020204030204"/>
              </a:rPr>
              <a:t>One 1/4" eyebolt secured with backing located in center of bulkhead</a:t>
            </a:r>
          </a:p>
          <a:p>
            <a:pPr marL="799477" lvl="1" indent="-342900">
              <a:spcAft>
                <a:spcPts val="800"/>
              </a:spcAft>
              <a:buFont typeface="Wingdings" panose="020B0604020202020204" pitchFamily="34" charset="0"/>
              <a:buChar char="§"/>
            </a:pPr>
            <a:r>
              <a:rPr lang="en-US" sz="1800" kern="800" spc="0">
                <a:ea typeface="Source Sans Pro"/>
                <a:cs typeface="Calibri" panose="020F0502020204030204"/>
              </a:rPr>
              <a:t>One small hole to allow wires to connect from tender descenders to avionics</a:t>
            </a:r>
          </a:p>
          <a:p>
            <a:pPr marL="799477" lvl="1" indent="-342900">
              <a:spcAft>
                <a:spcPts val="800"/>
              </a:spcAft>
              <a:buFont typeface="Wingdings" panose="020B0604020202020204" pitchFamily="34" charset="0"/>
              <a:buChar char="§"/>
            </a:pPr>
            <a:r>
              <a:rPr lang="en-US" sz="1800" kern="800" spc="0">
                <a:ea typeface="Source Sans Pro"/>
                <a:cs typeface="Calibri" panose="020F0502020204030204"/>
              </a:rPr>
              <a:t>Two holes to secure CO2 peregrines</a:t>
            </a:r>
          </a:p>
          <a:p>
            <a:pPr marL="342276" indent="-342900">
              <a:buFont typeface="Courier New" panose="020B0604020202020204" pitchFamily="34" charset="0"/>
              <a:buChar char="o"/>
            </a:pPr>
            <a:r>
              <a:rPr lang="en-US" sz="2000" kern="800" spc="0">
                <a:ea typeface="Source Sans Pro"/>
                <a:cs typeface="Calibri" panose="020F0502020204030204"/>
              </a:rPr>
              <a:t>Top bulkhead will require one through hole</a:t>
            </a:r>
          </a:p>
          <a:p>
            <a:pPr marL="799477" lvl="1" indent="-342900">
              <a:spcAft>
                <a:spcPts val="800"/>
              </a:spcAft>
              <a:buFont typeface="Wingdings" panose="020B0604020202020204" pitchFamily="34" charset="0"/>
              <a:buChar char="§"/>
            </a:pPr>
            <a:r>
              <a:rPr lang="en-US" sz="1800" kern="800" spc="0">
                <a:ea typeface="Source Sans Pro"/>
                <a:cs typeface="Calibri" panose="020F0502020204030204"/>
              </a:rPr>
              <a:t>Another 1/4" eyebolt</a:t>
            </a:r>
            <a:endParaRPr lang="en-US" sz="2000" kern="800" spc="0">
              <a:cs typeface="Calibri" panose="020F0502020204030204"/>
            </a:endParaRPr>
          </a:p>
          <a:p>
            <a:pPr marL="1256665" lvl="2" indent="-342900">
              <a:spcAft>
                <a:spcPts val="800"/>
              </a:spcAft>
              <a:buFont typeface="Wingdings" panose="020B0604020202020204" pitchFamily="34" charset="0"/>
              <a:buChar char="§"/>
            </a:pPr>
            <a:endParaRPr lang="en-US" sz="1800" kern="800" spc="0">
              <a:cs typeface="Calibri" panose="020F0502020204030204"/>
            </a:endParaRPr>
          </a:p>
          <a:p>
            <a:pPr marL="799465" lvl="1" indent="-342900">
              <a:buFont typeface="Courier New" panose="020B0604020202020204" pitchFamily="34" charset="0"/>
              <a:buChar char="o"/>
            </a:pPr>
            <a:endParaRPr lang="en-US">
              <a:cs typeface="Calibri" panose="020F0502020204030204"/>
            </a:endParaRPr>
          </a:p>
          <a:p>
            <a:pPr marL="342900" indent="-342900">
              <a:buFont typeface="Arial" panose="020B0604020202020204" pitchFamily="34" charset="0"/>
              <a:buChar char="•"/>
            </a:pPr>
            <a:endParaRPr lang="en-US" sz="1850">
              <a:cs typeface="Calibri" panose="020F0502020204030204"/>
            </a:endParaRPr>
          </a:p>
        </p:txBody>
      </p:sp>
      <p:sp>
        <p:nvSpPr>
          <p:cNvPr id="5" name="Footer Placeholder 4">
            <a:extLst>
              <a:ext uri="{FF2B5EF4-FFF2-40B4-BE49-F238E27FC236}">
                <a16:creationId xmlns:a16="http://schemas.microsoft.com/office/drawing/2014/main" id="{BF3884C1-0529-8A1A-494C-0BD107CC987A}"/>
              </a:ext>
            </a:extLst>
          </p:cNvPr>
          <p:cNvSpPr>
            <a:spLocks noGrp="1"/>
          </p:cNvSpPr>
          <p:nvPr>
            <p:ph type="ftr" sz="quarter" idx="17"/>
          </p:nvPr>
        </p:nvSpPr>
        <p:spPr/>
        <p:txBody>
          <a:bodyPr/>
          <a:lstStyle/>
          <a:p>
            <a:r>
              <a:rPr lang="en-US" sz="900">
                <a:latin typeface="Source Sans Pro"/>
                <a:ea typeface="Source Sans Pro"/>
              </a:rPr>
              <a:t>ARCHERFISH CDR</a:t>
            </a:r>
            <a:endParaRPr lang="en-US"/>
          </a:p>
        </p:txBody>
      </p:sp>
      <p:sp>
        <p:nvSpPr>
          <p:cNvPr id="6" name="Slide Number Placeholder 5">
            <a:extLst>
              <a:ext uri="{FF2B5EF4-FFF2-40B4-BE49-F238E27FC236}">
                <a16:creationId xmlns:a16="http://schemas.microsoft.com/office/drawing/2014/main" id="{1C60BE82-6BF3-14A5-2215-47DB0AE18631}"/>
              </a:ext>
            </a:extLst>
          </p:cNvPr>
          <p:cNvSpPr>
            <a:spLocks noGrp="1"/>
          </p:cNvSpPr>
          <p:nvPr>
            <p:ph type="sldNum" sz="quarter" idx="18"/>
          </p:nvPr>
        </p:nvSpPr>
        <p:spPr/>
        <p:txBody>
          <a:bodyPr/>
          <a:lstStyle/>
          <a:p>
            <a:r>
              <a:rPr lang="en-US"/>
              <a:t>/   </a:t>
            </a:r>
            <a:fld id="{6C7E6F33-74EE-5541-8108-8353B402F8C1}" type="slidenum">
              <a:rPr lang="en-US" smtClean="0"/>
              <a:pPr/>
              <a:t>94</a:t>
            </a:fld>
            <a:endParaRPr lang="en-US"/>
          </a:p>
        </p:txBody>
      </p:sp>
      <p:sp>
        <p:nvSpPr>
          <p:cNvPr id="7" name="Title 6">
            <a:extLst>
              <a:ext uri="{FF2B5EF4-FFF2-40B4-BE49-F238E27FC236}">
                <a16:creationId xmlns:a16="http://schemas.microsoft.com/office/drawing/2014/main" id="{DB4B717E-3F55-56D1-6260-EDCDA02AD926}"/>
              </a:ext>
            </a:extLst>
          </p:cNvPr>
          <p:cNvSpPr>
            <a:spLocks noGrp="1"/>
          </p:cNvSpPr>
          <p:nvPr>
            <p:ph type="title"/>
          </p:nvPr>
        </p:nvSpPr>
        <p:spPr/>
        <p:txBody>
          <a:bodyPr/>
          <a:lstStyle/>
          <a:p>
            <a:r>
              <a:rPr lang="en-US">
                <a:latin typeface="Munistic"/>
              </a:rPr>
              <a:t>Outer Profile</a:t>
            </a:r>
            <a:endParaRPr lang="en-US"/>
          </a:p>
        </p:txBody>
      </p:sp>
      <p:sp>
        <p:nvSpPr>
          <p:cNvPr id="8" name="Text Placeholder 7">
            <a:extLst>
              <a:ext uri="{FF2B5EF4-FFF2-40B4-BE49-F238E27FC236}">
                <a16:creationId xmlns:a16="http://schemas.microsoft.com/office/drawing/2014/main" id="{D3B6169A-3FE7-CBAF-8C1E-0E372870A136}"/>
              </a:ext>
            </a:extLst>
          </p:cNvPr>
          <p:cNvSpPr>
            <a:spLocks noGrp="1"/>
          </p:cNvSpPr>
          <p:nvPr>
            <p:ph type="body" sz="quarter" idx="19"/>
          </p:nvPr>
        </p:nvSpPr>
        <p:spPr/>
        <p:txBody>
          <a:bodyPr/>
          <a:lstStyle/>
          <a:p>
            <a:r>
              <a:rPr lang="en-US"/>
              <a:t>Body Tube &amp; Couplers/Bulkheads</a:t>
            </a:r>
          </a:p>
        </p:txBody>
      </p:sp>
      <p:sp>
        <p:nvSpPr>
          <p:cNvPr id="10" name="Rectangle 9">
            <a:extLst>
              <a:ext uri="{FF2B5EF4-FFF2-40B4-BE49-F238E27FC236}">
                <a16:creationId xmlns:a16="http://schemas.microsoft.com/office/drawing/2014/main" id="{F2BF0BFE-6EEC-058F-B434-8C725C98EAFD}"/>
              </a:ext>
            </a:extLst>
          </p:cNvPr>
          <p:cNvSpPr/>
          <p:nvPr/>
        </p:nvSpPr>
        <p:spPr>
          <a:xfrm>
            <a:off x="8667206" y="5775156"/>
            <a:ext cx="1363579" cy="3709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4CE1488-3579-A6C6-6615-8CB1BEBEF73B}"/>
              </a:ext>
            </a:extLst>
          </p:cNvPr>
          <p:cNvSpPr txBox="1"/>
          <p:nvPr/>
        </p:nvSpPr>
        <p:spPr>
          <a:xfrm>
            <a:off x="9598630" y="5769177"/>
            <a:ext cx="206200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cs typeface="Calibri"/>
              </a:rPr>
              <a:t>Fig 8.6 Sectional View of the Recovery Tube</a:t>
            </a:r>
            <a:endParaRPr lang="en-US" sz="1400" b="1">
              <a:ea typeface="Calibri"/>
              <a:cs typeface="Calibri"/>
            </a:endParaRPr>
          </a:p>
        </p:txBody>
      </p:sp>
      <p:sp>
        <p:nvSpPr>
          <p:cNvPr id="21" name="TextBox 20">
            <a:extLst>
              <a:ext uri="{FF2B5EF4-FFF2-40B4-BE49-F238E27FC236}">
                <a16:creationId xmlns:a16="http://schemas.microsoft.com/office/drawing/2014/main" id="{3C4AC1DD-DC94-6F3F-5641-422D02BDA812}"/>
              </a:ext>
            </a:extLst>
          </p:cNvPr>
          <p:cNvSpPr txBox="1"/>
          <p:nvPr/>
        </p:nvSpPr>
        <p:spPr>
          <a:xfrm>
            <a:off x="7069993" y="3294254"/>
            <a:ext cx="206292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t>Fig 8.4 Top-down View of Bottom Coupler</a:t>
            </a:r>
            <a:endParaRPr lang="en-US" sz="1400" b="1">
              <a:ea typeface="Calibri"/>
              <a:cs typeface="Calibri"/>
            </a:endParaRPr>
          </a:p>
        </p:txBody>
      </p:sp>
      <p:pic>
        <p:nvPicPr>
          <p:cNvPr id="1026" name="Picture 2">
            <a:extLst>
              <a:ext uri="{FF2B5EF4-FFF2-40B4-BE49-F238E27FC236}">
                <a16:creationId xmlns:a16="http://schemas.microsoft.com/office/drawing/2014/main" id="{8C66570F-D64F-AD2F-5272-CDC8B4A96E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9914" y="1550462"/>
            <a:ext cx="2062925" cy="177420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2EB71C5-5671-1252-AFE4-97CE70948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634" y="3817474"/>
            <a:ext cx="2041481" cy="192938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D9F5B38-B377-328B-16BC-2F0B6EA92847}"/>
              </a:ext>
            </a:extLst>
          </p:cNvPr>
          <p:cNvSpPr txBox="1"/>
          <p:nvPr/>
        </p:nvSpPr>
        <p:spPr>
          <a:xfrm>
            <a:off x="7037352" y="5699032"/>
            <a:ext cx="206292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a:t>Fig 8.5 Top-down View of Nose Cone Coupler</a:t>
            </a:r>
            <a:endParaRPr lang="en-US" sz="1400" b="1">
              <a:ea typeface="Calibri"/>
              <a:cs typeface="Calibri"/>
            </a:endParaRPr>
          </a:p>
        </p:txBody>
      </p:sp>
      <p:pic>
        <p:nvPicPr>
          <p:cNvPr id="4" name="Picture 3" descr="A blue and green object with a purple top&#10;&#10;AI-generated content may be incorrect.">
            <a:extLst>
              <a:ext uri="{FF2B5EF4-FFF2-40B4-BE49-F238E27FC236}">
                <a16:creationId xmlns:a16="http://schemas.microsoft.com/office/drawing/2014/main" id="{4BA553AB-672E-DEAE-6133-F97451692A53}"/>
              </a:ext>
            </a:extLst>
          </p:cNvPr>
          <p:cNvPicPr>
            <a:picLocks noChangeAspect="1"/>
          </p:cNvPicPr>
          <p:nvPr/>
        </p:nvPicPr>
        <p:blipFill>
          <a:blip r:embed="rId4"/>
          <a:stretch>
            <a:fillRect/>
          </a:stretch>
        </p:blipFill>
        <p:spPr>
          <a:xfrm>
            <a:off x="10023893" y="1543050"/>
            <a:ext cx="1069139" cy="4152900"/>
          </a:xfrm>
          <a:prstGeom prst="rect">
            <a:avLst/>
          </a:prstGeom>
        </p:spPr>
      </p:pic>
    </p:spTree>
    <p:extLst>
      <p:ext uri="{BB962C8B-B14F-4D97-AF65-F5344CB8AC3E}">
        <p14:creationId xmlns:p14="http://schemas.microsoft.com/office/powerpoint/2010/main" val="39453699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D60EA3-578A-3C4B-80E0-6CA262A11E3E}"/>
              </a:ext>
            </a:extLst>
          </p:cNvPr>
          <p:cNvSpPr>
            <a:spLocks noGrp="1"/>
          </p:cNvSpPr>
          <p:nvPr>
            <p:ph type="body" sz="quarter" idx="15"/>
          </p:nvPr>
        </p:nvSpPr>
        <p:spPr>
          <a:xfrm>
            <a:off x="531361" y="1460226"/>
            <a:ext cx="4338252" cy="4561013"/>
          </a:xfrm>
        </p:spPr>
        <p:txBody>
          <a:bodyPr vert="horz" lIns="91440" tIns="45720" rIns="91440" bIns="45720" rtlCol="0" anchor="t">
            <a:noAutofit/>
          </a:bodyPr>
          <a:lstStyle/>
          <a:p>
            <a:pPr marL="342900" indent="-342900">
              <a:buChar char="•"/>
            </a:pPr>
            <a:r>
              <a:rPr lang="en-US" sz="2000">
                <a:ea typeface="Source Sans Pro"/>
                <a:cs typeface="Calibri" panose="020F0502020204030204"/>
              </a:rPr>
              <a:t>CO2 Peregrine Kits from Tinder Rocketry (12 g)</a:t>
            </a:r>
          </a:p>
          <a:p>
            <a:pPr marL="799465" lvl="1" indent="-342900">
              <a:spcAft>
                <a:spcPts val="800"/>
              </a:spcAft>
              <a:buFont typeface="Courier New" panose="020B0604020202020204" pitchFamily="34" charset="0"/>
              <a:buChar char="o"/>
            </a:pPr>
            <a:r>
              <a:rPr lang="en-US" sz="1800" kern="800" spc="0">
                <a:ea typeface="Source Sans Pro"/>
                <a:cs typeface="Calibri" panose="020F0502020204030204"/>
              </a:rPr>
              <a:t>Placed around eyebolt, sticks through the bottom coupler</a:t>
            </a:r>
          </a:p>
          <a:p>
            <a:pPr marL="799465" lvl="1" indent="-342900">
              <a:spcAft>
                <a:spcPts val="800"/>
              </a:spcAft>
              <a:buFont typeface="Courier New" panose="020B0604020202020204" pitchFamily="34" charset="0"/>
              <a:buChar char="o"/>
            </a:pPr>
            <a:r>
              <a:rPr lang="en-US" sz="1800" kern="800" spc="0">
                <a:ea typeface="Source Sans Pro"/>
                <a:cs typeface="Calibri" panose="020F0502020204030204"/>
              </a:rPr>
              <a:t>Two are used for redundancy</a:t>
            </a:r>
          </a:p>
          <a:p>
            <a:pPr marL="342900" indent="-342900">
              <a:spcAft>
                <a:spcPts val="800"/>
              </a:spcAft>
              <a:buFont typeface="Arial" panose="020B0604020202020204" pitchFamily="34" charset="0"/>
              <a:buChar char="•"/>
            </a:pPr>
            <a:r>
              <a:rPr lang="en-US" sz="2000" kern="800" spc="0">
                <a:ea typeface="Source Sans Pro"/>
                <a:cs typeface="Calibri" panose="020F0502020204030204"/>
              </a:rPr>
              <a:t>Used to release drogue chute at apogee</a:t>
            </a:r>
          </a:p>
          <a:p>
            <a:pPr marL="799465" lvl="1" indent="-342900">
              <a:spcAft>
                <a:spcPts val="800"/>
              </a:spcAft>
              <a:buFont typeface="Courier New" panose="020B0604020202020204" pitchFamily="34" charset="0"/>
              <a:buChar char="o"/>
            </a:pPr>
            <a:r>
              <a:rPr lang="en-US" sz="1800" kern="800" spc="0">
                <a:ea typeface="Source Sans Pro"/>
                <a:cs typeface="Calibri" panose="020F0502020204030204"/>
              </a:rPr>
              <a:t>CO2 will fill pressure vessel</a:t>
            </a:r>
          </a:p>
          <a:p>
            <a:pPr marL="799465" lvl="1" indent="-342900">
              <a:spcAft>
                <a:spcPts val="800"/>
              </a:spcAft>
              <a:buFont typeface="Courier New" panose="020B0604020202020204" pitchFamily="34" charset="0"/>
              <a:buChar char="o"/>
            </a:pPr>
            <a:r>
              <a:rPr lang="en-US" sz="1800" kern="800" spc="0">
                <a:ea typeface="Source Sans Pro"/>
                <a:cs typeface="Calibri" panose="020F0502020204030204"/>
              </a:rPr>
              <a:t>Resulting pressure will force off top coupler and pull out the drogue</a:t>
            </a:r>
          </a:p>
          <a:p>
            <a:pPr marL="799465" lvl="1" indent="-342900">
              <a:spcAft>
                <a:spcPts val="800"/>
              </a:spcAft>
              <a:buFont typeface="Courier New" panose="020B0604020202020204" pitchFamily="34" charset="0"/>
              <a:buChar char="o"/>
            </a:pPr>
            <a:endParaRPr lang="en-US" kern="800" spc="0">
              <a:ea typeface="Source Sans Pro"/>
              <a:cs typeface="Calibri" panose="020F0502020204030204"/>
            </a:endParaRPr>
          </a:p>
          <a:p>
            <a:pPr marL="799465" lvl="1" indent="-342900">
              <a:spcAft>
                <a:spcPts val="800"/>
              </a:spcAft>
              <a:buFont typeface="Courier New" panose="020B0604020202020204" pitchFamily="34" charset="0"/>
              <a:buChar char="o"/>
            </a:pPr>
            <a:endParaRPr lang="en-US" kern="800" spc="0">
              <a:ea typeface="Source Sans Pro"/>
              <a:cs typeface="Calibri" panose="020F0502020204030204"/>
            </a:endParaRPr>
          </a:p>
        </p:txBody>
      </p:sp>
      <p:sp>
        <p:nvSpPr>
          <p:cNvPr id="5" name="Footer Placeholder 4">
            <a:extLst>
              <a:ext uri="{FF2B5EF4-FFF2-40B4-BE49-F238E27FC236}">
                <a16:creationId xmlns:a16="http://schemas.microsoft.com/office/drawing/2014/main" id="{5CE71814-92C5-92E8-721A-67C6879BE0B8}"/>
              </a:ext>
            </a:extLst>
          </p:cNvPr>
          <p:cNvSpPr>
            <a:spLocks noGrp="1"/>
          </p:cNvSpPr>
          <p:nvPr>
            <p:ph type="ftr" sz="quarter" idx="17"/>
          </p:nvPr>
        </p:nvSpPr>
        <p:spPr/>
        <p:txBody>
          <a:bodyPr/>
          <a:lstStyle/>
          <a:p>
            <a:r>
              <a:rPr lang="en-US" sz="900">
                <a:latin typeface="Source Sans Pro"/>
                <a:ea typeface="Source Sans Pro"/>
              </a:rPr>
              <a:t>ARCHERFISH CDR</a:t>
            </a:r>
            <a:endParaRPr lang="en-US"/>
          </a:p>
        </p:txBody>
      </p:sp>
      <p:sp>
        <p:nvSpPr>
          <p:cNvPr id="6" name="Slide Number Placeholder 5">
            <a:extLst>
              <a:ext uri="{FF2B5EF4-FFF2-40B4-BE49-F238E27FC236}">
                <a16:creationId xmlns:a16="http://schemas.microsoft.com/office/drawing/2014/main" id="{269F3604-05AF-FD20-CE1B-3B1C410A4C7C}"/>
              </a:ext>
            </a:extLst>
          </p:cNvPr>
          <p:cNvSpPr>
            <a:spLocks noGrp="1"/>
          </p:cNvSpPr>
          <p:nvPr>
            <p:ph type="sldNum" sz="quarter" idx="18"/>
          </p:nvPr>
        </p:nvSpPr>
        <p:spPr/>
        <p:txBody>
          <a:bodyPr/>
          <a:lstStyle/>
          <a:p>
            <a:r>
              <a:rPr lang="en-US"/>
              <a:t>/   </a:t>
            </a:r>
            <a:fld id="{6C7E6F33-74EE-5541-8108-8353B402F8C1}" type="slidenum">
              <a:rPr lang="en-US" smtClean="0"/>
              <a:pPr/>
              <a:t>95</a:t>
            </a:fld>
            <a:endParaRPr lang="en-US"/>
          </a:p>
        </p:txBody>
      </p:sp>
      <p:sp>
        <p:nvSpPr>
          <p:cNvPr id="7" name="Title 6">
            <a:extLst>
              <a:ext uri="{FF2B5EF4-FFF2-40B4-BE49-F238E27FC236}">
                <a16:creationId xmlns:a16="http://schemas.microsoft.com/office/drawing/2014/main" id="{C0720518-FD12-B7DC-9467-5E5E5E982CDA}"/>
              </a:ext>
            </a:extLst>
          </p:cNvPr>
          <p:cNvSpPr>
            <a:spLocks noGrp="1"/>
          </p:cNvSpPr>
          <p:nvPr>
            <p:ph type="title"/>
          </p:nvPr>
        </p:nvSpPr>
        <p:spPr/>
        <p:txBody>
          <a:bodyPr/>
          <a:lstStyle/>
          <a:p>
            <a:r>
              <a:rPr lang="en-US" sz="4000">
                <a:latin typeface="Munistic"/>
              </a:rPr>
              <a:t>Internal Components</a:t>
            </a:r>
            <a:endParaRPr lang="en-US" sz="4000"/>
          </a:p>
        </p:txBody>
      </p:sp>
      <p:sp>
        <p:nvSpPr>
          <p:cNvPr id="8" name="Text Placeholder 7">
            <a:extLst>
              <a:ext uri="{FF2B5EF4-FFF2-40B4-BE49-F238E27FC236}">
                <a16:creationId xmlns:a16="http://schemas.microsoft.com/office/drawing/2014/main" id="{24AB73A9-688C-B0FF-6EF3-AD1929D7B626}"/>
              </a:ext>
            </a:extLst>
          </p:cNvPr>
          <p:cNvSpPr>
            <a:spLocks noGrp="1"/>
          </p:cNvSpPr>
          <p:nvPr>
            <p:ph type="body" sz="quarter" idx="19"/>
          </p:nvPr>
        </p:nvSpPr>
        <p:spPr/>
        <p:txBody>
          <a:bodyPr/>
          <a:lstStyle/>
          <a:p>
            <a:r>
              <a:rPr lang="en-US" sz="2400">
                <a:ea typeface="Source Sans Pro"/>
                <a:cs typeface="Calibri"/>
              </a:rPr>
              <a:t>CO2 Peregrines</a:t>
            </a:r>
            <a:endParaRPr lang="en-US" sz="2400"/>
          </a:p>
        </p:txBody>
      </p:sp>
      <p:pic>
        <p:nvPicPr>
          <p:cNvPr id="10" name="Picture 9" descr="Rocketry CO2 Ejection | tinder-rocketry">
            <a:extLst>
              <a:ext uri="{FF2B5EF4-FFF2-40B4-BE49-F238E27FC236}">
                <a16:creationId xmlns:a16="http://schemas.microsoft.com/office/drawing/2014/main" id="{950C8EE9-48FA-B258-7428-309DEC568021}"/>
              </a:ext>
            </a:extLst>
          </p:cNvPr>
          <p:cNvPicPr>
            <a:picLocks noChangeAspect="1"/>
          </p:cNvPicPr>
          <p:nvPr/>
        </p:nvPicPr>
        <p:blipFill>
          <a:blip r:embed="rId2"/>
          <a:stretch>
            <a:fillRect/>
          </a:stretch>
        </p:blipFill>
        <p:spPr>
          <a:xfrm>
            <a:off x="5172826" y="2096754"/>
            <a:ext cx="6749215" cy="3145756"/>
          </a:xfrm>
          <a:prstGeom prst="rect">
            <a:avLst/>
          </a:prstGeom>
        </p:spPr>
      </p:pic>
      <p:sp>
        <p:nvSpPr>
          <p:cNvPr id="11" name="Rectangle 10">
            <a:extLst>
              <a:ext uri="{FF2B5EF4-FFF2-40B4-BE49-F238E27FC236}">
                <a16:creationId xmlns:a16="http://schemas.microsoft.com/office/drawing/2014/main" id="{5F719124-317B-B81D-172B-31D815E1AC5A}"/>
              </a:ext>
            </a:extLst>
          </p:cNvPr>
          <p:cNvSpPr/>
          <p:nvPr/>
        </p:nvSpPr>
        <p:spPr>
          <a:xfrm>
            <a:off x="8933447" y="5775157"/>
            <a:ext cx="1363579" cy="3709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4CDCADA-357F-49A6-04E7-57F75EE3D5C1}"/>
              </a:ext>
            </a:extLst>
          </p:cNvPr>
          <p:cNvSpPr txBox="1"/>
          <p:nvPr/>
        </p:nvSpPr>
        <p:spPr>
          <a:xfrm>
            <a:off x="6719637" y="5245768"/>
            <a:ext cx="3986463"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cs typeface="Calibri"/>
              </a:rPr>
              <a:t>Fig 8.7 Labelled Diagram of CO2 Peregrines</a:t>
            </a:r>
          </a:p>
        </p:txBody>
      </p:sp>
    </p:spTree>
    <p:extLst>
      <p:ext uri="{BB962C8B-B14F-4D97-AF65-F5344CB8AC3E}">
        <p14:creationId xmlns:p14="http://schemas.microsoft.com/office/powerpoint/2010/main" val="42788267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D60EA3-578A-3C4B-80E0-6CA262A11E3E}"/>
              </a:ext>
            </a:extLst>
          </p:cNvPr>
          <p:cNvSpPr>
            <a:spLocks noGrp="1"/>
          </p:cNvSpPr>
          <p:nvPr>
            <p:ph type="body" sz="quarter" idx="15"/>
          </p:nvPr>
        </p:nvSpPr>
        <p:spPr>
          <a:xfrm>
            <a:off x="519834" y="1465346"/>
            <a:ext cx="7002910" cy="4675670"/>
          </a:xfrm>
        </p:spPr>
        <p:txBody>
          <a:bodyPr vert="horz" lIns="91440" tIns="45720" rIns="91440" bIns="45720" rtlCol="0" anchor="t">
            <a:noAutofit/>
          </a:bodyPr>
          <a:lstStyle/>
          <a:p>
            <a:pPr marL="342900" indent="-342900">
              <a:buChar char="•"/>
            </a:pPr>
            <a:r>
              <a:rPr lang="en-US" sz="2000">
                <a:ea typeface="Source Sans Pro"/>
                <a:cs typeface="Calibri" panose="020F0502020204030204"/>
              </a:rPr>
              <a:t>Tender Descenders from Tinder Rocketry</a:t>
            </a:r>
          </a:p>
          <a:p>
            <a:pPr marL="799465" lvl="1" indent="-342900">
              <a:spcAft>
                <a:spcPts val="800"/>
              </a:spcAft>
              <a:buFont typeface="Courier New" panose="020B0604020202020204" pitchFamily="34" charset="0"/>
              <a:buChar char="o"/>
            </a:pPr>
            <a:r>
              <a:rPr lang="en-US" sz="1800" kern="800" spc="0">
                <a:ea typeface="Source Sans Pro"/>
                <a:cs typeface="Calibri" panose="020F0502020204030204"/>
              </a:rPr>
              <a:t>Placed in series, connects top portion of shock cord to eyebolt</a:t>
            </a:r>
          </a:p>
          <a:p>
            <a:pPr marL="1256653" lvl="2" indent="-342900">
              <a:spcAft>
                <a:spcPts val="800"/>
              </a:spcAft>
              <a:buFont typeface="Courier New" panose="020B0604020202020204" pitchFamily="34" charset="0"/>
              <a:buChar char="o"/>
            </a:pPr>
            <a:r>
              <a:rPr lang="en-US" sz="1600" kern="800" spc="0">
                <a:ea typeface="Source Sans Pro"/>
                <a:cs typeface="Calibri" panose="020F0502020204030204"/>
              </a:rPr>
              <a:t>Keeps main chute and main chute shock chord length inside body tube until deployment</a:t>
            </a:r>
          </a:p>
          <a:p>
            <a:pPr marL="799465" lvl="1" indent="-342900">
              <a:buFont typeface="Courier New" panose="020B0604020202020204" pitchFamily="34" charset="0"/>
              <a:buChar char="o"/>
            </a:pPr>
            <a:r>
              <a:rPr lang="en-US" sz="1800" kern="800" spc="0">
                <a:ea typeface="Source Sans Pro"/>
                <a:cs typeface="Calibri" panose="020F0502020204030204"/>
              </a:rPr>
              <a:t>Two tender descenders used for redundancy</a:t>
            </a:r>
            <a:endParaRPr lang="en-US" sz="1800">
              <a:ea typeface="Source Sans Pro"/>
              <a:cs typeface="Calibri" panose="020F0502020204030204"/>
            </a:endParaRPr>
          </a:p>
          <a:p>
            <a:pPr marL="342900" indent="-342900">
              <a:buChar char="•"/>
            </a:pPr>
            <a:r>
              <a:rPr lang="en-US" sz="2000">
                <a:ea typeface="Source Sans Pro"/>
                <a:cs typeface="Calibri" panose="020F0502020204030204"/>
              </a:rPr>
              <a:t>Used to release main chute</a:t>
            </a:r>
          </a:p>
          <a:p>
            <a:pPr marL="799465" lvl="1" indent="-342900">
              <a:spcAft>
                <a:spcPts val="800"/>
              </a:spcAft>
              <a:buFont typeface="Courier New" panose="020B0604020202020204" pitchFamily="34" charset="0"/>
              <a:buChar char="o"/>
            </a:pPr>
            <a:r>
              <a:rPr lang="en-US" sz="1800" kern="800" spc="0">
                <a:ea typeface="Source Sans Pro"/>
                <a:cs typeface="Calibri" panose="020F0502020204030204"/>
              </a:rPr>
              <a:t>Will deploy at 1000 ft</a:t>
            </a:r>
          </a:p>
          <a:p>
            <a:pPr marL="799465" lvl="1" indent="-342900">
              <a:spcAft>
                <a:spcPts val="800"/>
              </a:spcAft>
              <a:buFont typeface="Courier New" panose="020B0604020202020204" pitchFamily="34" charset="0"/>
              <a:buChar char="o"/>
            </a:pPr>
            <a:r>
              <a:rPr lang="en-US" sz="1800" kern="800" spc="0">
                <a:ea typeface="Source Sans Pro"/>
                <a:cs typeface="Calibri" panose="020F0502020204030204"/>
              </a:rPr>
              <a:t>Black powder within tender descenders will detonate upon receiving signal from avionics</a:t>
            </a:r>
          </a:p>
          <a:p>
            <a:pPr marL="799465" lvl="1" indent="-342900">
              <a:spcAft>
                <a:spcPts val="800"/>
              </a:spcAft>
              <a:buFont typeface="Courier New" panose="020B0604020202020204" pitchFamily="34" charset="0"/>
              <a:buChar char="o"/>
            </a:pPr>
            <a:r>
              <a:rPr lang="en-US" sz="1800" kern="800" spc="0">
                <a:ea typeface="Source Sans Pro"/>
                <a:cs typeface="Calibri" panose="020F0502020204030204"/>
              </a:rPr>
              <a:t>Allows main chute to be pulled out of its bag by the drogue</a:t>
            </a:r>
            <a:endParaRPr lang="en-US" sz="1800" kern="800" spc="0">
              <a:cs typeface="Calibri" panose="020F0502020204030204"/>
            </a:endParaRPr>
          </a:p>
        </p:txBody>
      </p:sp>
      <p:sp>
        <p:nvSpPr>
          <p:cNvPr id="5" name="Footer Placeholder 4">
            <a:extLst>
              <a:ext uri="{FF2B5EF4-FFF2-40B4-BE49-F238E27FC236}">
                <a16:creationId xmlns:a16="http://schemas.microsoft.com/office/drawing/2014/main" id="{5CE71814-92C5-92E8-721A-67C6879BE0B8}"/>
              </a:ext>
            </a:extLst>
          </p:cNvPr>
          <p:cNvSpPr>
            <a:spLocks noGrp="1"/>
          </p:cNvSpPr>
          <p:nvPr>
            <p:ph type="ftr" sz="quarter" idx="17"/>
          </p:nvPr>
        </p:nvSpPr>
        <p:spPr/>
        <p:txBody>
          <a:bodyPr/>
          <a:lstStyle/>
          <a:p>
            <a:r>
              <a:rPr lang="en-US" sz="900">
                <a:latin typeface="Source Sans Pro"/>
                <a:ea typeface="Source Sans Pro"/>
              </a:rPr>
              <a:t>ARCHERFISH CDR</a:t>
            </a:r>
            <a:endParaRPr lang="en-US"/>
          </a:p>
        </p:txBody>
      </p:sp>
      <p:sp>
        <p:nvSpPr>
          <p:cNvPr id="6" name="Slide Number Placeholder 5">
            <a:extLst>
              <a:ext uri="{FF2B5EF4-FFF2-40B4-BE49-F238E27FC236}">
                <a16:creationId xmlns:a16="http://schemas.microsoft.com/office/drawing/2014/main" id="{269F3604-05AF-FD20-CE1B-3B1C410A4C7C}"/>
              </a:ext>
            </a:extLst>
          </p:cNvPr>
          <p:cNvSpPr>
            <a:spLocks noGrp="1"/>
          </p:cNvSpPr>
          <p:nvPr>
            <p:ph type="sldNum" sz="quarter" idx="18"/>
          </p:nvPr>
        </p:nvSpPr>
        <p:spPr/>
        <p:txBody>
          <a:bodyPr/>
          <a:lstStyle/>
          <a:p>
            <a:r>
              <a:rPr lang="en-US"/>
              <a:t>/   </a:t>
            </a:r>
            <a:fld id="{6C7E6F33-74EE-5541-8108-8353B402F8C1}" type="slidenum">
              <a:rPr lang="en-US" smtClean="0"/>
              <a:pPr/>
              <a:t>96</a:t>
            </a:fld>
            <a:endParaRPr lang="en-US"/>
          </a:p>
        </p:txBody>
      </p:sp>
      <p:sp>
        <p:nvSpPr>
          <p:cNvPr id="7" name="Title 6">
            <a:extLst>
              <a:ext uri="{FF2B5EF4-FFF2-40B4-BE49-F238E27FC236}">
                <a16:creationId xmlns:a16="http://schemas.microsoft.com/office/drawing/2014/main" id="{C0720518-FD12-B7DC-9467-5E5E5E982CDA}"/>
              </a:ext>
            </a:extLst>
          </p:cNvPr>
          <p:cNvSpPr>
            <a:spLocks noGrp="1"/>
          </p:cNvSpPr>
          <p:nvPr>
            <p:ph type="title"/>
          </p:nvPr>
        </p:nvSpPr>
        <p:spPr/>
        <p:txBody>
          <a:bodyPr/>
          <a:lstStyle/>
          <a:p>
            <a:r>
              <a:rPr lang="en-US" sz="4000">
                <a:latin typeface="Munistic"/>
              </a:rPr>
              <a:t>Internal Components</a:t>
            </a:r>
            <a:endParaRPr lang="en-US" sz="4000"/>
          </a:p>
        </p:txBody>
      </p:sp>
      <p:sp>
        <p:nvSpPr>
          <p:cNvPr id="8" name="Text Placeholder 7">
            <a:extLst>
              <a:ext uri="{FF2B5EF4-FFF2-40B4-BE49-F238E27FC236}">
                <a16:creationId xmlns:a16="http://schemas.microsoft.com/office/drawing/2014/main" id="{24AB73A9-688C-B0FF-6EF3-AD1929D7B626}"/>
              </a:ext>
            </a:extLst>
          </p:cNvPr>
          <p:cNvSpPr>
            <a:spLocks noGrp="1"/>
          </p:cNvSpPr>
          <p:nvPr>
            <p:ph type="body" sz="quarter" idx="19"/>
          </p:nvPr>
        </p:nvSpPr>
        <p:spPr/>
        <p:txBody>
          <a:bodyPr/>
          <a:lstStyle/>
          <a:p>
            <a:r>
              <a:rPr lang="en-US" sz="2400">
                <a:ea typeface="Source Sans Pro"/>
                <a:cs typeface="Calibri"/>
              </a:rPr>
              <a:t>Tender Descenders</a:t>
            </a:r>
            <a:endParaRPr lang="en-US" sz="2400"/>
          </a:p>
        </p:txBody>
      </p:sp>
      <p:pic>
        <p:nvPicPr>
          <p:cNvPr id="9" name="Picture 8" descr="A close up of a tool&#10;&#10;Description automatically generated">
            <a:extLst>
              <a:ext uri="{FF2B5EF4-FFF2-40B4-BE49-F238E27FC236}">
                <a16:creationId xmlns:a16="http://schemas.microsoft.com/office/drawing/2014/main" id="{0F709CBB-4287-5369-7575-97E5AE4F86ED}"/>
              </a:ext>
            </a:extLst>
          </p:cNvPr>
          <p:cNvPicPr>
            <a:picLocks noChangeAspect="1"/>
          </p:cNvPicPr>
          <p:nvPr/>
        </p:nvPicPr>
        <p:blipFill>
          <a:blip r:embed="rId2"/>
          <a:stretch>
            <a:fillRect/>
          </a:stretch>
        </p:blipFill>
        <p:spPr>
          <a:xfrm>
            <a:off x="8217318" y="1465346"/>
            <a:ext cx="2675523" cy="1571124"/>
          </a:xfrm>
          <a:prstGeom prst="rect">
            <a:avLst/>
          </a:prstGeom>
        </p:spPr>
      </p:pic>
      <p:sp>
        <p:nvSpPr>
          <p:cNvPr id="12" name="Rectangle 11">
            <a:extLst>
              <a:ext uri="{FF2B5EF4-FFF2-40B4-BE49-F238E27FC236}">
                <a16:creationId xmlns:a16="http://schemas.microsoft.com/office/drawing/2014/main" id="{19DC1E21-11F4-E867-7D0B-E99F2C223A1F}"/>
              </a:ext>
            </a:extLst>
          </p:cNvPr>
          <p:cNvSpPr/>
          <p:nvPr/>
        </p:nvSpPr>
        <p:spPr>
          <a:xfrm>
            <a:off x="8933447" y="5775157"/>
            <a:ext cx="1363579" cy="37097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picture containing text, stationary&#10;&#10;Description automatically generated">
            <a:extLst>
              <a:ext uri="{FF2B5EF4-FFF2-40B4-BE49-F238E27FC236}">
                <a16:creationId xmlns:a16="http://schemas.microsoft.com/office/drawing/2014/main" id="{371AEC9A-5793-93FF-7EB9-8D0875D553AB}"/>
              </a:ext>
            </a:extLst>
          </p:cNvPr>
          <p:cNvPicPr>
            <a:picLocks noChangeAspect="1"/>
          </p:cNvPicPr>
          <p:nvPr/>
        </p:nvPicPr>
        <p:blipFill>
          <a:blip r:embed="rId3"/>
          <a:stretch>
            <a:fillRect/>
          </a:stretch>
        </p:blipFill>
        <p:spPr>
          <a:xfrm>
            <a:off x="8238876" y="3610978"/>
            <a:ext cx="2752725" cy="2343150"/>
          </a:xfrm>
          <a:prstGeom prst="rect">
            <a:avLst/>
          </a:prstGeom>
        </p:spPr>
      </p:pic>
      <p:sp>
        <p:nvSpPr>
          <p:cNvPr id="13" name="TextBox 12">
            <a:extLst>
              <a:ext uri="{FF2B5EF4-FFF2-40B4-BE49-F238E27FC236}">
                <a16:creationId xmlns:a16="http://schemas.microsoft.com/office/drawing/2014/main" id="{0CF36E2C-6776-68A4-E7E6-7B78B63C5EB0}"/>
              </a:ext>
            </a:extLst>
          </p:cNvPr>
          <p:cNvSpPr txBox="1"/>
          <p:nvPr/>
        </p:nvSpPr>
        <p:spPr>
          <a:xfrm>
            <a:off x="7752347" y="5957636"/>
            <a:ext cx="371575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cs typeface="Calibri"/>
              </a:rPr>
              <a:t>Fig 8.9 Labelled Parts of a Tender Descender</a:t>
            </a:r>
          </a:p>
        </p:txBody>
      </p:sp>
      <p:sp>
        <p:nvSpPr>
          <p:cNvPr id="14" name="TextBox 13">
            <a:extLst>
              <a:ext uri="{FF2B5EF4-FFF2-40B4-BE49-F238E27FC236}">
                <a16:creationId xmlns:a16="http://schemas.microsoft.com/office/drawing/2014/main" id="{6F56767A-F19C-FA28-7B49-058BA09EF69A}"/>
              </a:ext>
            </a:extLst>
          </p:cNvPr>
          <p:cNvSpPr txBox="1"/>
          <p:nvPr/>
        </p:nvSpPr>
        <p:spPr>
          <a:xfrm>
            <a:off x="7782427" y="3060032"/>
            <a:ext cx="3525252" cy="3231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500" b="1"/>
              <a:t>Fig 8.8 Fully Assembled Tender Descender</a:t>
            </a:r>
            <a:endParaRPr lang="en-US" sz="1500" b="1">
              <a:cs typeface="Calibri"/>
            </a:endParaRPr>
          </a:p>
        </p:txBody>
      </p:sp>
    </p:spTree>
    <p:extLst>
      <p:ext uri="{BB962C8B-B14F-4D97-AF65-F5344CB8AC3E}">
        <p14:creationId xmlns:p14="http://schemas.microsoft.com/office/powerpoint/2010/main" val="40141823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D60EA3-578A-3C4B-80E0-6CA262A11E3E}"/>
              </a:ext>
            </a:extLst>
          </p:cNvPr>
          <p:cNvSpPr>
            <a:spLocks noGrp="1"/>
          </p:cNvSpPr>
          <p:nvPr>
            <p:ph type="body" sz="quarter" idx="15"/>
          </p:nvPr>
        </p:nvSpPr>
        <p:spPr>
          <a:xfrm>
            <a:off x="681219" y="1710520"/>
            <a:ext cx="8111163" cy="4430671"/>
          </a:xfrm>
        </p:spPr>
        <p:txBody>
          <a:bodyPr vert="horz" lIns="91440" tIns="45720" rIns="91440" bIns="45720" rtlCol="0" anchor="t">
            <a:noAutofit/>
          </a:bodyPr>
          <a:lstStyle/>
          <a:p>
            <a:pPr marL="342900" indent="-342900">
              <a:buChar char="•"/>
            </a:pPr>
            <a:r>
              <a:rPr lang="en-US" sz="2000">
                <a:ea typeface="Source Sans Pro"/>
                <a:cs typeface="Calibri" panose="020F0502020204030204"/>
              </a:rPr>
              <a:t>Egg Timer</a:t>
            </a:r>
          </a:p>
          <a:p>
            <a:pPr marL="799465" lvl="1" indent="-342900">
              <a:spcAft>
                <a:spcPts val="800"/>
              </a:spcAft>
              <a:buFont typeface="Courier New" panose="020B0604020202020204" pitchFamily="34" charset="0"/>
              <a:buChar char="o"/>
            </a:pPr>
            <a:r>
              <a:rPr lang="en-US" sz="1800" kern="800" spc="0">
                <a:ea typeface="Source Sans Pro"/>
                <a:cs typeface="Calibri" panose="020F0502020204030204"/>
              </a:rPr>
              <a:t>Connected to CO2 peregrines and programmed to apogee</a:t>
            </a:r>
            <a:endParaRPr lang="en-US" sz="1800" kern="800" spc="0">
              <a:cs typeface="Calibri" panose="020F0502020204030204"/>
            </a:endParaRPr>
          </a:p>
          <a:p>
            <a:pPr marL="799465" lvl="1" indent="-342900">
              <a:buFont typeface="Courier New" panose="020B0604020202020204" pitchFamily="34" charset="0"/>
              <a:buChar char="o"/>
            </a:pPr>
            <a:r>
              <a:rPr lang="en-US" sz="1800" kern="800" spc="0">
                <a:ea typeface="Source Sans Pro"/>
                <a:cs typeface="Calibri" panose="020F0502020204030204"/>
              </a:rPr>
              <a:t>Connected to each tender descender and programmed to sense altitude of 1000 ft</a:t>
            </a:r>
            <a:endParaRPr lang="en-US" sz="1800" kern="800" spc="0">
              <a:cs typeface="Calibri" panose="020F0502020204030204"/>
            </a:endParaRPr>
          </a:p>
          <a:p>
            <a:pPr marL="799465" lvl="1" indent="-342900">
              <a:buFont typeface="Courier New" panose="020B0604020202020204" pitchFamily="34" charset="0"/>
              <a:buChar char="o"/>
            </a:pPr>
            <a:r>
              <a:rPr lang="en-US" sz="1800" kern="800" spc="0">
                <a:ea typeface="Source Sans Pro"/>
                <a:cs typeface="Calibri" panose="020F0502020204030204"/>
              </a:rPr>
              <a:t>Avionics system will serve as redundant system</a:t>
            </a:r>
            <a:endParaRPr lang="en-US" sz="1800">
              <a:cs typeface="Calibri" panose="020F0502020204030204"/>
            </a:endParaRPr>
          </a:p>
          <a:p>
            <a:pPr marL="799465" lvl="1" indent="-342900">
              <a:spcAft>
                <a:spcPts val="0"/>
              </a:spcAft>
              <a:buFont typeface="Courier New" panose="020B0604020202020204" pitchFamily="34" charset="0"/>
              <a:buChar char="o"/>
            </a:pPr>
            <a:endParaRPr lang="en-US">
              <a:ea typeface="Source Sans Pro"/>
              <a:cs typeface="Calibri" panose="020F0502020204030204"/>
            </a:endParaRPr>
          </a:p>
          <a:p>
            <a:pPr marL="342900" indent="-342900">
              <a:spcAft>
                <a:spcPts val="0"/>
              </a:spcAft>
              <a:buFont typeface="Arial" panose="020B0604020202020204" pitchFamily="34" charset="0"/>
              <a:buChar char="•"/>
            </a:pPr>
            <a:r>
              <a:rPr lang="en-US" sz="2000">
                <a:ea typeface="Source Sans Pro"/>
                <a:cs typeface="Calibri" panose="020F0502020204030204"/>
              </a:rPr>
              <a:t>E-Matches</a:t>
            </a:r>
            <a:endParaRPr lang="en-US" sz="2000" kern="1200" spc="27">
              <a:cs typeface="Calibri" panose="020F0502020204030204"/>
            </a:endParaRPr>
          </a:p>
          <a:p>
            <a:pPr marL="799465" lvl="1" indent="-342900">
              <a:buFont typeface="Courier New" panose="020B0604020202020204" pitchFamily="34" charset="0"/>
              <a:buChar char="o"/>
            </a:pPr>
            <a:r>
              <a:rPr lang="en-US" sz="1800" kern="800" spc="0">
                <a:ea typeface="Source Sans Pro"/>
                <a:cs typeface="Calibri" panose="020F0502020204030204"/>
              </a:rPr>
              <a:t>Used to ignite the pyrotechnics</a:t>
            </a:r>
          </a:p>
          <a:p>
            <a:pPr marL="1256653" lvl="2" indent="-342900">
              <a:buFont typeface="Courier New" panose="020B0604020202020204" pitchFamily="34" charset="0"/>
              <a:buChar char="o"/>
            </a:pPr>
            <a:r>
              <a:rPr lang="en-US" sz="1600" kern="800" spc="0">
                <a:ea typeface="Source Sans Pro"/>
                <a:cs typeface="Calibri" panose="020F0502020204030204"/>
              </a:rPr>
              <a:t>Ideally 10 feet in length</a:t>
            </a:r>
            <a:endParaRPr lang="en-US" sz="1600" kern="800" spc="0">
              <a:cs typeface="Calibri" panose="020F0502020204030204"/>
            </a:endParaRPr>
          </a:p>
          <a:p>
            <a:pPr marL="799465" lvl="1" indent="-342900">
              <a:buFont typeface="Courier New" panose="020B0604020202020204" pitchFamily="34" charset="0"/>
              <a:buChar char="o"/>
            </a:pPr>
            <a:r>
              <a:rPr lang="en-US" sz="1800" kern="800" spc="0">
                <a:ea typeface="Source Sans Pro"/>
                <a:cs typeface="Calibri" panose="020F0502020204030204"/>
              </a:rPr>
              <a:t>Connects from Tender Descenders and Peregrines to avionics</a:t>
            </a:r>
          </a:p>
          <a:p>
            <a:pPr marL="1256653" lvl="2" indent="-342900">
              <a:buFont typeface="Courier New" panose="020B0604020202020204" pitchFamily="34" charset="0"/>
              <a:buChar char="o"/>
            </a:pPr>
            <a:r>
              <a:rPr lang="en-US" sz="1600" kern="800" spc="0">
                <a:ea typeface="Source Sans Pro"/>
                <a:cs typeface="Calibri" panose="020F0502020204030204"/>
              </a:rPr>
              <a:t>Tender Descender wires route through bottom bulkhead/coupler</a:t>
            </a:r>
            <a:endParaRPr lang="en-US" sz="1600" kern="800" spc="0">
              <a:cs typeface="Calibri" panose="020F0502020204030204"/>
            </a:endParaRPr>
          </a:p>
          <a:p>
            <a:pPr marL="342900" indent="-342900">
              <a:buChar char="•"/>
            </a:pPr>
            <a:endParaRPr lang="en-US" sz="1850">
              <a:cs typeface="Calibri" panose="020F0502020204030204"/>
            </a:endParaRPr>
          </a:p>
        </p:txBody>
      </p:sp>
      <p:sp>
        <p:nvSpPr>
          <p:cNvPr id="5" name="Footer Placeholder 4">
            <a:extLst>
              <a:ext uri="{FF2B5EF4-FFF2-40B4-BE49-F238E27FC236}">
                <a16:creationId xmlns:a16="http://schemas.microsoft.com/office/drawing/2014/main" id="{5CE71814-92C5-92E8-721A-67C6879BE0B8}"/>
              </a:ext>
            </a:extLst>
          </p:cNvPr>
          <p:cNvSpPr>
            <a:spLocks noGrp="1"/>
          </p:cNvSpPr>
          <p:nvPr>
            <p:ph type="ftr" sz="quarter" idx="17"/>
          </p:nvPr>
        </p:nvSpPr>
        <p:spPr/>
        <p:txBody>
          <a:bodyPr/>
          <a:lstStyle/>
          <a:p>
            <a:r>
              <a:rPr lang="en-US" sz="900">
                <a:latin typeface="Source Sans Pro"/>
                <a:ea typeface="Source Sans Pro"/>
              </a:rPr>
              <a:t>ARCHERFISH CDR</a:t>
            </a:r>
            <a:endParaRPr lang="en-US"/>
          </a:p>
        </p:txBody>
      </p:sp>
      <p:sp>
        <p:nvSpPr>
          <p:cNvPr id="6" name="Slide Number Placeholder 5">
            <a:extLst>
              <a:ext uri="{FF2B5EF4-FFF2-40B4-BE49-F238E27FC236}">
                <a16:creationId xmlns:a16="http://schemas.microsoft.com/office/drawing/2014/main" id="{269F3604-05AF-FD20-CE1B-3B1C410A4C7C}"/>
              </a:ext>
            </a:extLst>
          </p:cNvPr>
          <p:cNvSpPr>
            <a:spLocks noGrp="1"/>
          </p:cNvSpPr>
          <p:nvPr>
            <p:ph type="sldNum" sz="quarter" idx="18"/>
          </p:nvPr>
        </p:nvSpPr>
        <p:spPr/>
        <p:txBody>
          <a:bodyPr/>
          <a:lstStyle/>
          <a:p>
            <a:r>
              <a:rPr lang="en-US"/>
              <a:t>/   </a:t>
            </a:r>
            <a:fld id="{6C7E6F33-74EE-5541-8108-8353B402F8C1}" type="slidenum">
              <a:rPr lang="en-US" smtClean="0"/>
              <a:pPr/>
              <a:t>97</a:t>
            </a:fld>
            <a:endParaRPr lang="en-US"/>
          </a:p>
        </p:txBody>
      </p:sp>
      <p:sp>
        <p:nvSpPr>
          <p:cNvPr id="7" name="Title 6">
            <a:extLst>
              <a:ext uri="{FF2B5EF4-FFF2-40B4-BE49-F238E27FC236}">
                <a16:creationId xmlns:a16="http://schemas.microsoft.com/office/drawing/2014/main" id="{C0720518-FD12-B7DC-9467-5E5E5E982CDA}"/>
              </a:ext>
            </a:extLst>
          </p:cNvPr>
          <p:cNvSpPr>
            <a:spLocks noGrp="1"/>
          </p:cNvSpPr>
          <p:nvPr>
            <p:ph type="title"/>
          </p:nvPr>
        </p:nvSpPr>
        <p:spPr/>
        <p:txBody>
          <a:bodyPr/>
          <a:lstStyle/>
          <a:p>
            <a:r>
              <a:rPr lang="en-US" sz="4000">
                <a:latin typeface="Munistic"/>
              </a:rPr>
              <a:t>Internal Components</a:t>
            </a:r>
            <a:endParaRPr lang="en-US" sz="4000"/>
          </a:p>
        </p:txBody>
      </p:sp>
      <p:sp>
        <p:nvSpPr>
          <p:cNvPr id="8" name="Text Placeholder 7">
            <a:extLst>
              <a:ext uri="{FF2B5EF4-FFF2-40B4-BE49-F238E27FC236}">
                <a16:creationId xmlns:a16="http://schemas.microsoft.com/office/drawing/2014/main" id="{24AB73A9-688C-B0FF-6EF3-AD1929D7B626}"/>
              </a:ext>
            </a:extLst>
          </p:cNvPr>
          <p:cNvSpPr>
            <a:spLocks noGrp="1"/>
          </p:cNvSpPr>
          <p:nvPr>
            <p:ph type="body" sz="quarter" idx="19"/>
          </p:nvPr>
        </p:nvSpPr>
        <p:spPr/>
        <p:txBody>
          <a:bodyPr/>
          <a:lstStyle/>
          <a:p>
            <a:r>
              <a:rPr lang="en-US" sz="2400">
                <a:ea typeface="Source Sans Pro"/>
                <a:cs typeface="Calibri"/>
              </a:rPr>
              <a:t>Altimeters &amp; Related Avionics</a:t>
            </a:r>
            <a:endParaRPr lang="en-US" sz="2400"/>
          </a:p>
        </p:txBody>
      </p:sp>
      <p:pic>
        <p:nvPicPr>
          <p:cNvPr id="3" name="Picture 2">
            <a:extLst>
              <a:ext uri="{FF2B5EF4-FFF2-40B4-BE49-F238E27FC236}">
                <a16:creationId xmlns:a16="http://schemas.microsoft.com/office/drawing/2014/main" id="{48C54747-8B58-9D72-BE2D-E9628CE4E7F6}"/>
              </a:ext>
            </a:extLst>
          </p:cNvPr>
          <p:cNvPicPr>
            <a:picLocks noChangeAspect="1"/>
          </p:cNvPicPr>
          <p:nvPr/>
        </p:nvPicPr>
        <p:blipFill>
          <a:blip r:embed="rId3"/>
          <a:stretch>
            <a:fillRect/>
          </a:stretch>
        </p:blipFill>
        <p:spPr>
          <a:xfrm>
            <a:off x="9113618" y="1821655"/>
            <a:ext cx="2656328" cy="3607596"/>
          </a:xfrm>
          <a:prstGeom prst="rect">
            <a:avLst/>
          </a:prstGeom>
        </p:spPr>
      </p:pic>
      <p:sp>
        <p:nvSpPr>
          <p:cNvPr id="10" name="TextBox 9">
            <a:extLst>
              <a:ext uri="{FF2B5EF4-FFF2-40B4-BE49-F238E27FC236}">
                <a16:creationId xmlns:a16="http://schemas.microsoft.com/office/drawing/2014/main" id="{3A53A265-FF8A-1872-36E8-2BFD03397FDA}"/>
              </a:ext>
            </a:extLst>
          </p:cNvPr>
          <p:cNvSpPr txBox="1"/>
          <p:nvPr/>
        </p:nvSpPr>
        <p:spPr>
          <a:xfrm>
            <a:off x="8954878" y="5433761"/>
            <a:ext cx="2977564" cy="78483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500" b="1">
                <a:cs typeface="Calibri"/>
              </a:rPr>
              <a:t>Fig 8.10 E-match from MJG Technologies</a:t>
            </a:r>
          </a:p>
          <a:p>
            <a:pPr algn="ctr"/>
            <a:endParaRPr lang="en-US" sz="1500" b="1">
              <a:cs typeface="Calibri"/>
            </a:endParaRPr>
          </a:p>
        </p:txBody>
      </p:sp>
    </p:spTree>
    <p:extLst>
      <p:ext uri="{BB962C8B-B14F-4D97-AF65-F5344CB8AC3E}">
        <p14:creationId xmlns:p14="http://schemas.microsoft.com/office/powerpoint/2010/main" val="472804507"/>
      </p:ext>
    </p:extLst>
  </p:cSld>
  <p:clrMapOvr>
    <a:masterClrMapping/>
  </p:clrMapOvr>
  <p:extLst>
    <p:ext uri="{6950BFC3-D8DA-4A85-94F7-54DA5524770B}">
      <p188:commentRel xmlns:p188="http://schemas.microsoft.com/office/powerpoint/2018/8/main" r:id="rId2"/>
    </p:ext>
  </p:extLs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7A8CF9-464F-14B6-9145-5E46DB52DF2B}"/>
              </a:ext>
            </a:extLst>
          </p:cNvPr>
          <p:cNvSpPr>
            <a:spLocks noGrp="1"/>
          </p:cNvSpPr>
          <p:nvPr>
            <p:ph type="body" sz="quarter" idx="13"/>
          </p:nvPr>
        </p:nvSpPr>
        <p:spPr/>
        <p:txBody>
          <a:bodyPr vert="horz" lIns="91440" tIns="45720" rIns="91440" bIns="45720" rtlCol="0" anchor="t">
            <a:noAutofit/>
          </a:bodyPr>
          <a:lstStyle/>
          <a:p>
            <a:r>
              <a:rPr lang="en-US">
                <a:latin typeface="Utopia Std Subhead"/>
                <a:ea typeface="Source Sans Pro"/>
              </a:rPr>
              <a:t>Kevlar Shock Cords</a:t>
            </a:r>
            <a:endParaRPr lang="en-US"/>
          </a:p>
        </p:txBody>
      </p:sp>
      <p:sp>
        <p:nvSpPr>
          <p:cNvPr id="3" name="Text Placeholder 2">
            <a:extLst>
              <a:ext uri="{FF2B5EF4-FFF2-40B4-BE49-F238E27FC236}">
                <a16:creationId xmlns:a16="http://schemas.microsoft.com/office/drawing/2014/main" id="{FE909043-671C-1F43-86B1-9E1F1941F0E3}"/>
              </a:ext>
            </a:extLst>
          </p:cNvPr>
          <p:cNvSpPr>
            <a:spLocks noGrp="1"/>
          </p:cNvSpPr>
          <p:nvPr>
            <p:ph type="body" sz="quarter" idx="16"/>
          </p:nvPr>
        </p:nvSpPr>
        <p:spPr/>
        <p:txBody>
          <a:bodyPr vert="horz" lIns="91440" tIns="45720" rIns="91440" bIns="45720" rtlCol="0" anchor="t">
            <a:noAutofit/>
          </a:bodyPr>
          <a:lstStyle/>
          <a:p>
            <a:pPr marL="285750" indent="-285750">
              <a:buChar char="•"/>
            </a:pPr>
            <a:r>
              <a:rPr lang="en-US">
                <a:ea typeface="Source Sans Pro"/>
                <a:cs typeface="Calibri" panose="020F0502020204030204"/>
              </a:rPr>
              <a:t>Stronger than nylon</a:t>
            </a:r>
          </a:p>
          <a:p>
            <a:pPr marL="285750" indent="-285750">
              <a:buChar char="•"/>
            </a:pPr>
            <a:r>
              <a:rPr lang="en-US">
                <a:ea typeface="Source Sans Pro"/>
                <a:cs typeface="Calibri" panose="020F0502020204030204"/>
              </a:rPr>
              <a:t>Lightweight</a:t>
            </a:r>
            <a:endParaRPr lang="en-US">
              <a:cs typeface="Calibri" panose="020F0502020204030204"/>
            </a:endParaRPr>
          </a:p>
          <a:p>
            <a:pPr marL="285750" indent="-285750">
              <a:spcAft>
                <a:spcPts val="0"/>
              </a:spcAft>
              <a:buFont typeface="Arial" panose="020B0604020202020204" pitchFamily="34" charset="0"/>
              <a:buChar char="•"/>
            </a:pPr>
            <a:r>
              <a:rPr lang="en-US">
                <a:ea typeface="Source Sans Pro"/>
                <a:cs typeface="Calibri" panose="020F0502020204030204"/>
              </a:rPr>
              <a:t>Flexible and easy to handle</a:t>
            </a:r>
          </a:p>
          <a:p>
            <a:pPr marL="285750" indent="-285750">
              <a:spcAft>
                <a:spcPts val="0"/>
              </a:spcAft>
              <a:buFont typeface="Arial" panose="020B0604020202020204" pitchFamily="34" charset="0"/>
              <a:buChar char="•"/>
            </a:pPr>
            <a:r>
              <a:rPr lang="en-US">
                <a:ea typeface="Source Sans Pro"/>
                <a:cs typeface="Calibri" panose="020F0502020204030204"/>
              </a:rPr>
              <a:t>½ in. wide is ideal</a:t>
            </a:r>
            <a:endParaRPr lang="en-US">
              <a:cs typeface="Calibri" panose="020F0502020204030204"/>
            </a:endParaRPr>
          </a:p>
          <a:p>
            <a:pPr marL="285750" indent="-285750">
              <a:spcAft>
                <a:spcPts val="0"/>
              </a:spcAft>
              <a:buChar char="•"/>
            </a:pPr>
            <a:r>
              <a:rPr lang="en-US">
                <a:ea typeface="Source Sans Pro"/>
                <a:cs typeface="Calibri" panose="020F0502020204030204"/>
              </a:rPr>
              <a:t>More prone to zippering and has less shock absorption than nylon</a:t>
            </a:r>
            <a:endParaRPr lang="en-US">
              <a:cs typeface="Calibri" panose="020F0502020204030204"/>
            </a:endParaRPr>
          </a:p>
          <a:p>
            <a:pPr marL="285750" indent="-285750">
              <a:buChar char="•"/>
            </a:pPr>
            <a:endParaRPr lang="en-US">
              <a:cs typeface="Calibri" panose="020F0502020204030204"/>
            </a:endParaRPr>
          </a:p>
        </p:txBody>
      </p:sp>
      <p:sp>
        <p:nvSpPr>
          <p:cNvPr id="4" name="Text Placeholder 3">
            <a:extLst>
              <a:ext uri="{FF2B5EF4-FFF2-40B4-BE49-F238E27FC236}">
                <a16:creationId xmlns:a16="http://schemas.microsoft.com/office/drawing/2014/main" id="{13EDE6CB-B36C-3A35-62ED-283FD930D487}"/>
              </a:ext>
            </a:extLst>
          </p:cNvPr>
          <p:cNvSpPr>
            <a:spLocks noGrp="1"/>
          </p:cNvSpPr>
          <p:nvPr>
            <p:ph type="body" sz="quarter" idx="19"/>
          </p:nvPr>
        </p:nvSpPr>
        <p:spPr>
          <a:xfrm>
            <a:off x="6781801" y="2050795"/>
            <a:ext cx="3739715" cy="329032"/>
          </a:xfrm>
        </p:spPr>
        <p:txBody>
          <a:bodyPr vert="horz" lIns="91440" tIns="45720" rIns="91440" bIns="45720" rtlCol="0" anchor="t">
            <a:noAutofit/>
          </a:bodyPr>
          <a:lstStyle/>
          <a:p>
            <a:r>
              <a:rPr lang="en-US">
                <a:latin typeface="Utopia Std Subhead"/>
                <a:ea typeface="Source Sans Pro"/>
              </a:rPr>
              <a:t>Fruity Chutes - Ripstop Nylon</a:t>
            </a:r>
            <a:endParaRPr lang="en-US"/>
          </a:p>
        </p:txBody>
      </p:sp>
      <p:sp>
        <p:nvSpPr>
          <p:cNvPr id="5" name="Text Placeholder 4">
            <a:extLst>
              <a:ext uri="{FF2B5EF4-FFF2-40B4-BE49-F238E27FC236}">
                <a16:creationId xmlns:a16="http://schemas.microsoft.com/office/drawing/2014/main" id="{EE5C630D-1423-DB9C-ED8A-FD32B52F68F0}"/>
              </a:ext>
            </a:extLst>
          </p:cNvPr>
          <p:cNvSpPr>
            <a:spLocks noGrp="1"/>
          </p:cNvSpPr>
          <p:nvPr>
            <p:ph type="body" sz="quarter" idx="20"/>
          </p:nvPr>
        </p:nvSpPr>
        <p:spPr>
          <a:xfrm>
            <a:off x="6781800" y="2536824"/>
            <a:ext cx="4874963" cy="2877739"/>
          </a:xfrm>
        </p:spPr>
        <p:txBody>
          <a:bodyPr vert="horz" lIns="91440" tIns="45720" rIns="91440" bIns="45720" rtlCol="0" anchor="t">
            <a:noAutofit/>
          </a:bodyPr>
          <a:lstStyle/>
          <a:p>
            <a:pPr marL="285750" indent="-285750">
              <a:buChar char="•"/>
            </a:pPr>
            <a:r>
              <a:rPr lang="en-US">
                <a:ea typeface="Source Sans Pro"/>
                <a:cs typeface="Calibri" panose="020F0502020204030204"/>
              </a:rPr>
              <a:t>Lightweight</a:t>
            </a:r>
            <a:endParaRPr lang="en-US"/>
          </a:p>
          <a:p>
            <a:pPr marL="285750" indent="-285750">
              <a:buChar char="•"/>
            </a:pPr>
            <a:r>
              <a:rPr lang="en-US">
                <a:ea typeface="Source Sans Pro"/>
                <a:cs typeface="Calibri" panose="020F0502020204030204"/>
              </a:rPr>
              <a:t>Resists tearing and abrasions</a:t>
            </a:r>
          </a:p>
          <a:p>
            <a:pPr marL="285750" indent="-285750">
              <a:buChar char="•"/>
            </a:pPr>
            <a:r>
              <a:rPr lang="en-US">
                <a:ea typeface="Source Sans Pro"/>
                <a:cs typeface="Calibri" panose="020F0502020204030204"/>
              </a:rPr>
              <a:t>Elastic</a:t>
            </a:r>
            <a:endParaRPr lang="en-US">
              <a:cs typeface="Calibri" panose="020F0502020204030204"/>
            </a:endParaRPr>
          </a:p>
          <a:p>
            <a:pPr marL="285750" indent="-285750">
              <a:buChar char="•"/>
            </a:pPr>
            <a:r>
              <a:rPr lang="en-US">
                <a:ea typeface="Source Sans Pro"/>
                <a:cs typeface="Calibri" panose="020F0502020204030204"/>
              </a:rPr>
              <a:t>Absorbs shock during deployment</a:t>
            </a:r>
            <a:endParaRPr lang="en-US">
              <a:cs typeface="Calibri" panose="020F0502020204030204"/>
            </a:endParaRPr>
          </a:p>
          <a:p>
            <a:pPr marL="285750" indent="-285750">
              <a:buChar char="•"/>
            </a:pPr>
            <a:r>
              <a:rPr lang="en-US">
                <a:ea typeface="Source Sans Pro"/>
                <a:cs typeface="Calibri" panose="020F0502020204030204"/>
              </a:rPr>
              <a:t>More durable than standard nylon, especially when subjected to sudden forces</a:t>
            </a:r>
            <a:endParaRPr lang="en-US">
              <a:cs typeface="Calibri" panose="020F0502020204030204"/>
            </a:endParaRPr>
          </a:p>
          <a:p>
            <a:pPr marL="285750" indent="-285750">
              <a:buChar char="•"/>
            </a:pPr>
            <a:r>
              <a:rPr lang="en-US" b="1">
                <a:ea typeface="Source Sans Pro"/>
                <a:cs typeface="Calibri" panose="020F0502020204030204"/>
              </a:rPr>
              <a:t>Fruity Chutes have a Cd of 2.2</a:t>
            </a:r>
            <a:endParaRPr lang="en-US" b="1">
              <a:cs typeface="Calibri" panose="020F0502020204030204"/>
            </a:endParaRPr>
          </a:p>
          <a:p>
            <a:pPr marL="285750" indent="-285750">
              <a:buChar char="•"/>
            </a:pPr>
            <a:endParaRPr lang="en-US">
              <a:cs typeface="Calibri" panose="020F0502020204030204"/>
            </a:endParaRPr>
          </a:p>
          <a:p>
            <a:pPr marL="285750" indent="-285750">
              <a:buChar char="•"/>
            </a:pPr>
            <a:endParaRPr lang="en-US">
              <a:cs typeface="Calibri" panose="020F0502020204030204"/>
            </a:endParaRPr>
          </a:p>
          <a:p>
            <a:pPr marL="285750" indent="-285750">
              <a:buChar char="•"/>
            </a:pPr>
            <a:endParaRPr lang="en-US">
              <a:cs typeface="Calibri" panose="020F0502020204030204"/>
            </a:endParaRPr>
          </a:p>
        </p:txBody>
      </p:sp>
      <p:sp>
        <p:nvSpPr>
          <p:cNvPr id="6" name="Footer Placeholder 5">
            <a:extLst>
              <a:ext uri="{FF2B5EF4-FFF2-40B4-BE49-F238E27FC236}">
                <a16:creationId xmlns:a16="http://schemas.microsoft.com/office/drawing/2014/main" id="{BC592672-1490-9EAC-6F38-418CDFE03CDC}"/>
              </a:ext>
            </a:extLst>
          </p:cNvPr>
          <p:cNvSpPr>
            <a:spLocks noGrp="1"/>
          </p:cNvSpPr>
          <p:nvPr>
            <p:ph type="ftr" sz="quarter" idx="21"/>
          </p:nvPr>
        </p:nvSpPr>
        <p:spPr/>
        <p:txBody>
          <a:bodyPr/>
          <a:lstStyle/>
          <a:p>
            <a:r>
              <a:rPr lang="en-US" sz="900">
                <a:latin typeface="Source Sans Pro"/>
                <a:ea typeface="Source Sans Pro"/>
              </a:rPr>
              <a:t>ARCHERFISH CDR</a:t>
            </a:r>
            <a:endParaRPr lang="en-US"/>
          </a:p>
        </p:txBody>
      </p:sp>
      <p:sp>
        <p:nvSpPr>
          <p:cNvPr id="7" name="Slide Number Placeholder 6">
            <a:extLst>
              <a:ext uri="{FF2B5EF4-FFF2-40B4-BE49-F238E27FC236}">
                <a16:creationId xmlns:a16="http://schemas.microsoft.com/office/drawing/2014/main" id="{4F29E8BA-0F33-9220-ACDD-D406B613402F}"/>
              </a:ext>
            </a:extLst>
          </p:cNvPr>
          <p:cNvSpPr>
            <a:spLocks noGrp="1"/>
          </p:cNvSpPr>
          <p:nvPr>
            <p:ph type="sldNum" sz="quarter" idx="22"/>
          </p:nvPr>
        </p:nvSpPr>
        <p:spPr/>
        <p:txBody>
          <a:bodyPr/>
          <a:lstStyle/>
          <a:p>
            <a:r>
              <a:rPr lang="en-US"/>
              <a:t>/   </a:t>
            </a:r>
            <a:fld id="{6C7E6F33-74EE-5541-8108-8353B402F8C1}" type="slidenum">
              <a:rPr lang="en-US" smtClean="0"/>
              <a:pPr/>
              <a:t>98</a:t>
            </a:fld>
            <a:endParaRPr lang="en-US"/>
          </a:p>
        </p:txBody>
      </p:sp>
      <p:sp>
        <p:nvSpPr>
          <p:cNvPr id="8" name="Title 7">
            <a:extLst>
              <a:ext uri="{FF2B5EF4-FFF2-40B4-BE49-F238E27FC236}">
                <a16:creationId xmlns:a16="http://schemas.microsoft.com/office/drawing/2014/main" id="{E60B6F89-FA7E-55FF-1904-AF313C5F79E5}"/>
              </a:ext>
            </a:extLst>
          </p:cNvPr>
          <p:cNvSpPr>
            <a:spLocks noGrp="1"/>
          </p:cNvSpPr>
          <p:nvPr>
            <p:ph type="title"/>
          </p:nvPr>
        </p:nvSpPr>
        <p:spPr/>
        <p:txBody>
          <a:bodyPr/>
          <a:lstStyle/>
          <a:p>
            <a:r>
              <a:rPr lang="en-US">
                <a:latin typeface="Munistic"/>
              </a:rPr>
              <a:t>Material Analysis</a:t>
            </a:r>
            <a:endParaRPr lang="en-US"/>
          </a:p>
        </p:txBody>
      </p:sp>
      <p:sp>
        <p:nvSpPr>
          <p:cNvPr id="9" name="Text Placeholder 8">
            <a:extLst>
              <a:ext uri="{FF2B5EF4-FFF2-40B4-BE49-F238E27FC236}">
                <a16:creationId xmlns:a16="http://schemas.microsoft.com/office/drawing/2014/main" id="{28B908F6-6009-6F79-9834-8FE21EE2931F}"/>
              </a:ext>
            </a:extLst>
          </p:cNvPr>
          <p:cNvSpPr>
            <a:spLocks noGrp="1"/>
          </p:cNvSpPr>
          <p:nvPr>
            <p:ph type="body" sz="quarter" idx="23"/>
          </p:nvPr>
        </p:nvSpPr>
        <p:spPr/>
        <p:txBody>
          <a:bodyPr/>
          <a:lstStyle/>
          <a:p>
            <a:r>
              <a:rPr lang="en-US" sz="1850">
                <a:ea typeface="Source Sans Pro"/>
                <a:cs typeface="Calibri"/>
              </a:rPr>
              <a:t>Shock Cords and Parachutes</a:t>
            </a:r>
            <a:endParaRPr lang="en-US"/>
          </a:p>
        </p:txBody>
      </p:sp>
    </p:spTree>
    <p:extLst>
      <p:ext uri="{BB962C8B-B14F-4D97-AF65-F5344CB8AC3E}">
        <p14:creationId xmlns:p14="http://schemas.microsoft.com/office/powerpoint/2010/main" val="3475649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4F7A24-7E49-4F0C-280E-7F3490401450}"/>
              </a:ext>
            </a:extLst>
          </p:cNvPr>
          <p:cNvSpPr>
            <a:spLocks noGrp="1"/>
          </p:cNvSpPr>
          <p:nvPr>
            <p:ph type="body" sz="quarter" idx="13"/>
          </p:nvPr>
        </p:nvSpPr>
        <p:spPr>
          <a:xfrm>
            <a:off x="838201" y="1800137"/>
            <a:ext cx="3417424" cy="329032"/>
          </a:xfrm>
        </p:spPr>
        <p:txBody>
          <a:bodyPr vert="horz" lIns="91440" tIns="45720" rIns="91440" bIns="45720" rtlCol="0" anchor="t">
            <a:noAutofit/>
          </a:bodyPr>
          <a:lstStyle/>
          <a:p>
            <a:r>
              <a:rPr lang="en-US" sz="1800">
                <a:latin typeface="Utopia Std Subhead"/>
                <a:ea typeface="Source Sans Pro"/>
              </a:rPr>
              <a:t>Parachutes + Shock Cords</a:t>
            </a:r>
            <a:endParaRPr lang="en-US" sz="1800"/>
          </a:p>
        </p:txBody>
      </p:sp>
      <p:sp>
        <p:nvSpPr>
          <p:cNvPr id="3" name="Text Placeholder 2">
            <a:extLst>
              <a:ext uri="{FF2B5EF4-FFF2-40B4-BE49-F238E27FC236}">
                <a16:creationId xmlns:a16="http://schemas.microsoft.com/office/drawing/2014/main" id="{C6D24A9B-88E1-ECA9-A310-343097D517EA}"/>
              </a:ext>
            </a:extLst>
          </p:cNvPr>
          <p:cNvSpPr>
            <a:spLocks noGrp="1"/>
          </p:cNvSpPr>
          <p:nvPr>
            <p:ph type="body" sz="quarter" idx="16"/>
          </p:nvPr>
        </p:nvSpPr>
        <p:spPr>
          <a:xfrm>
            <a:off x="1027924" y="2339506"/>
            <a:ext cx="4572000" cy="3664350"/>
          </a:xfrm>
        </p:spPr>
        <p:txBody>
          <a:bodyPr vert="horz" lIns="91440" tIns="45720" rIns="91440" bIns="45720" rtlCol="0" anchor="t">
            <a:noAutofit/>
          </a:bodyPr>
          <a:lstStyle/>
          <a:p>
            <a:r>
              <a:rPr lang="en-US" sz="1800">
                <a:ea typeface="Source Sans Pro"/>
                <a:cs typeface="Calibri"/>
              </a:rPr>
              <a:t>Drogue Parachute</a:t>
            </a:r>
            <a:endParaRPr lang="en-US" sz="1800"/>
          </a:p>
          <a:p>
            <a:pPr marL="742315" lvl="1" indent="-285750">
              <a:spcAft>
                <a:spcPts val="400"/>
              </a:spcAft>
              <a:buFont typeface="Courier New" panose="020B0604020202020204" pitchFamily="34" charset="0"/>
              <a:buChar char="o"/>
            </a:pPr>
            <a:r>
              <a:rPr lang="en-US" kern="800" spc="0">
                <a:ea typeface="Source Sans Pro"/>
                <a:cs typeface="Calibri"/>
              </a:rPr>
              <a:t>36" diameter Iris Ultra Standard</a:t>
            </a:r>
            <a:endParaRPr lang="en-US" kern="800" spc="0">
              <a:cs typeface="Calibri" panose="020F0502020204030204"/>
            </a:endParaRPr>
          </a:p>
          <a:p>
            <a:r>
              <a:rPr lang="en-US" sz="1800">
                <a:ea typeface="Source Sans Pro"/>
                <a:cs typeface="Calibri"/>
              </a:rPr>
              <a:t>Main Parachute</a:t>
            </a:r>
          </a:p>
          <a:p>
            <a:pPr marL="742315" lvl="1" indent="-285750">
              <a:spcAft>
                <a:spcPts val="400"/>
              </a:spcAft>
              <a:buFont typeface="Courier New" panose="020B0604020202020204" pitchFamily="34" charset="0"/>
              <a:buChar char="o"/>
            </a:pPr>
            <a:r>
              <a:rPr lang="en-US" kern="800" spc="0">
                <a:ea typeface="Source Sans Pro"/>
                <a:cs typeface="Calibri"/>
              </a:rPr>
              <a:t>144" diameter Iris Ultra Compact</a:t>
            </a:r>
            <a:endParaRPr lang="en-US">
              <a:ea typeface="Source Sans Pro"/>
              <a:cs typeface="Calibri"/>
            </a:endParaRPr>
          </a:p>
          <a:p>
            <a:r>
              <a:rPr lang="en-US" sz="1800">
                <a:ea typeface="Source Sans Pro"/>
                <a:cs typeface="Calibri"/>
              </a:rPr>
              <a:t>Shock Cord</a:t>
            </a:r>
          </a:p>
          <a:p>
            <a:pPr marL="742315" lvl="1" indent="-285750">
              <a:buFont typeface="Courier New" panose="020B0604020202020204" pitchFamily="34" charset="0"/>
              <a:buChar char="o"/>
            </a:pPr>
            <a:r>
              <a:rPr lang="en-US">
                <a:ea typeface="Source Sans Pro"/>
                <a:cs typeface="Calibri"/>
              </a:rPr>
              <a:t>30.6 ft (9.33 m)</a:t>
            </a:r>
          </a:p>
          <a:p>
            <a:pPr>
              <a:spcAft>
                <a:spcPts val="0"/>
              </a:spcAft>
            </a:pPr>
            <a:r>
              <a:rPr lang="en-US" sz="1800">
                <a:ea typeface="Source Sans Pro"/>
                <a:cs typeface="Calibri"/>
              </a:rPr>
              <a:t>Packing Volume</a:t>
            </a:r>
          </a:p>
          <a:p>
            <a:pPr marL="742315" lvl="1" indent="-285750">
              <a:buFont typeface="Courier New,monospace" panose="020B0604020202020204" pitchFamily="34" charset="0"/>
              <a:buChar char="o"/>
            </a:pPr>
            <a:r>
              <a:rPr lang="en-US">
                <a:ea typeface="Source Sans Pro"/>
                <a:cs typeface="Calibri"/>
              </a:rPr>
              <a:t>Needed: 292 in</a:t>
            </a:r>
            <a:r>
              <a:rPr lang="en-US" baseline="30000">
                <a:ea typeface="Source Sans Pro"/>
                <a:cs typeface="Calibri"/>
              </a:rPr>
              <a:t>3</a:t>
            </a:r>
            <a:r>
              <a:rPr lang="en-US">
                <a:ea typeface="Source Sans Pro"/>
                <a:cs typeface="Calibri"/>
              </a:rPr>
              <a:t> (4770 cm</a:t>
            </a:r>
            <a:r>
              <a:rPr lang="en-US" baseline="30000">
                <a:ea typeface="Source Sans Pro"/>
                <a:cs typeface="Calibri"/>
              </a:rPr>
              <a:t>3</a:t>
            </a:r>
            <a:r>
              <a:rPr lang="en-US">
                <a:ea typeface="Source Sans Pro"/>
                <a:cs typeface="Calibri"/>
              </a:rPr>
              <a:t>)</a:t>
            </a:r>
          </a:p>
          <a:p>
            <a:pPr marL="742315" lvl="1" indent="-285750">
              <a:buFont typeface="Courier New,monospace" panose="020B0604020202020204" pitchFamily="34" charset="0"/>
              <a:buChar char="o"/>
            </a:pPr>
            <a:r>
              <a:rPr lang="en-US">
                <a:ea typeface="Source Sans Pro"/>
                <a:cs typeface="Calibri"/>
              </a:rPr>
              <a:t>Available: 642 in</a:t>
            </a:r>
            <a:r>
              <a:rPr lang="en-US" baseline="30000">
                <a:ea typeface="Source Sans Pro"/>
                <a:cs typeface="Calibri"/>
              </a:rPr>
              <a:t>3</a:t>
            </a:r>
            <a:r>
              <a:rPr lang="en-US">
                <a:ea typeface="Source Sans Pro"/>
                <a:cs typeface="Calibri"/>
              </a:rPr>
              <a:t> (10524 cm</a:t>
            </a:r>
            <a:r>
              <a:rPr lang="en-US" baseline="30000">
                <a:ea typeface="Source Sans Pro"/>
                <a:cs typeface="Calibri"/>
              </a:rPr>
              <a:t>3</a:t>
            </a:r>
            <a:r>
              <a:rPr lang="en-US">
                <a:ea typeface="Source Sans Pro"/>
                <a:cs typeface="Calibri"/>
              </a:rPr>
              <a:t>)</a:t>
            </a:r>
          </a:p>
          <a:p>
            <a:pPr marL="456565" lvl="1"/>
            <a:endParaRPr lang="en-US">
              <a:cs typeface="Calibri"/>
            </a:endParaRPr>
          </a:p>
          <a:p>
            <a:pPr marL="742315" lvl="1" indent="-285750">
              <a:spcAft>
                <a:spcPts val="0"/>
              </a:spcAft>
              <a:buFont typeface="Courier New" panose="020B0604020202020204" pitchFamily="34" charset="0"/>
              <a:buChar char="o"/>
            </a:pPr>
            <a:endParaRPr lang="en-US">
              <a:ea typeface="Source Sans Pro"/>
              <a:cs typeface="Calibri"/>
            </a:endParaRPr>
          </a:p>
          <a:p>
            <a:pPr>
              <a:spcAft>
                <a:spcPts val="0"/>
              </a:spcAft>
            </a:pPr>
            <a:endParaRPr lang="en-US" kern="1200" spc="27">
              <a:ea typeface="Source Sans Pro"/>
              <a:cs typeface="Calibri"/>
            </a:endParaRPr>
          </a:p>
          <a:p>
            <a:pPr marL="285750" indent="-285750">
              <a:buFont typeface="Arial,Sans-Serif" panose="020B0604020202020204" pitchFamily="34" charset="0"/>
              <a:buChar char="•"/>
            </a:pPr>
            <a:endParaRPr lang="en-US">
              <a:cs typeface="Calibri"/>
            </a:endParaRPr>
          </a:p>
          <a:p>
            <a:pPr marL="742315" lvl="1" indent="-285750">
              <a:buFont typeface="Courier New" panose="020B0604020202020204" pitchFamily="34" charset="0"/>
              <a:buChar char="o"/>
            </a:pPr>
            <a:endParaRPr lang="en-US">
              <a:cs typeface="Calibri"/>
            </a:endParaRPr>
          </a:p>
        </p:txBody>
      </p:sp>
      <p:sp>
        <p:nvSpPr>
          <p:cNvPr id="4" name="Text Placeholder 3">
            <a:extLst>
              <a:ext uri="{FF2B5EF4-FFF2-40B4-BE49-F238E27FC236}">
                <a16:creationId xmlns:a16="http://schemas.microsoft.com/office/drawing/2014/main" id="{2E7003D5-C91A-AC29-B923-72ED91BC73F7}"/>
              </a:ext>
            </a:extLst>
          </p:cNvPr>
          <p:cNvSpPr>
            <a:spLocks noGrp="1"/>
          </p:cNvSpPr>
          <p:nvPr>
            <p:ph type="body" sz="quarter" idx="19"/>
          </p:nvPr>
        </p:nvSpPr>
        <p:spPr>
          <a:xfrm>
            <a:off x="6370722" y="1800137"/>
            <a:ext cx="4269660" cy="399216"/>
          </a:xfrm>
        </p:spPr>
        <p:txBody>
          <a:bodyPr vert="horz" lIns="91440" tIns="45720" rIns="91440" bIns="45720" rtlCol="0" anchor="t">
            <a:noAutofit/>
          </a:bodyPr>
          <a:lstStyle/>
          <a:p>
            <a:r>
              <a:rPr lang="en-US" sz="1800">
                <a:latin typeface="Utopia Std Subhead"/>
                <a:ea typeface="Source Sans Pro"/>
              </a:rPr>
              <a:t>Velocity &amp; Drift</a:t>
            </a:r>
            <a:endParaRPr lang="en-US" sz="1800"/>
          </a:p>
        </p:txBody>
      </p:sp>
      <p:sp>
        <p:nvSpPr>
          <p:cNvPr id="5" name="Text Placeholder 4">
            <a:extLst>
              <a:ext uri="{FF2B5EF4-FFF2-40B4-BE49-F238E27FC236}">
                <a16:creationId xmlns:a16="http://schemas.microsoft.com/office/drawing/2014/main" id="{46B2AF85-2FDA-739C-0393-4CEBB756C037}"/>
              </a:ext>
            </a:extLst>
          </p:cNvPr>
          <p:cNvSpPr>
            <a:spLocks noGrp="1"/>
          </p:cNvSpPr>
          <p:nvPr>
            <p:ph type="body" sz="quarter" idx="20"/>
          </p:nvPr>
        </p:nvSpPr>
        <p:spPr>
          <a:xfrm>
            <a:off x="6440905" y="2339506"/>
            <a:ext cx="5483150" cy="3436775"/>
          </a:xfrm>
        </p:spPr>
        <p:txBody>
          <a:bodyPr vert="horz" lIns="91440" tIns="45720" rIns="91440" bIns="45720" rtlCol="0" anchor="t">
            <a:noAutofit/>
          </a:bodyPr>
          <a:lstStyle/>
          <a:p>
            <a:r>
              <a:rPr lang="en-US" sz="1800">
                <a:ea typeface="Source Sans Pro"/>
                <a:cs typeface="Calibri"/>
              </a:rPr>
              <a:t>Velocity</a:t>
            </a:r>
          </a:p>
          <a:p>
            <a:pPr marL="742315" lvl="1" indent="-285750">
              <a:spcAft>
                <a:spcPts val="400"/>
              </a:spcAft>
              <a:buFont typeface="Courier New,monospace" panose="020B0604020202020204" pitchFamily="34" charset="0"/>
              <a:buChar char="o"/>
            </a:pPr>
            <a:r>
              <a:rPr lang="en-US" kern="800" spc="0">
                <a:ea typeface="Source Sans Pro"/>
                <a:cs typeface="Calibri"/>
              </a:rPr>
              <a:t>Must be 15-20 ft/s</a:t>
            </a:r>
          </a:p>
          <a:p>
            <a:pPr marL="742315" lvl="1" indent="-285750">
              <a:spcAft>
                <a:spcPts val="400"/>
              </a:spcAft>
              <a:buFont typeface="Courier New,monospace" panose="020B0604020202020204" pitchFamily="34" charset="0"/>
              <a:buChar char="o"/>
            </a:pPr>
            <a:r>
              <a:rPr lang="en-US" kern="800" spc="0">
                <a:ea typeface="Source Sans Pro"/>
                <a:cs typeface="Calibri"/>
              </a:rPr>
              <a:t>Apogee Rockets Eq: 16.2 ft/s (4.94 m/s)</a:t>
            </a:r>
          </a:p>
          <a:p>
            <a:pPr marL="1198880" lvl="2" indent="-285750">
              <a:spcAft>
                <a:spcPts val="400"/>
              </a:spcAft>
              <a:buFont typeface="Courier New,monospace" panose="020B0604020202020204" pitchFamily="34" charset="0"/>
              <a:buChar char="o"/>
            </a:pPr>
            <a:r>
              <a:rPr lang="en-US" kern="800" spc="0">
                <a:ea typeface="Source Sans Pro"/>
                <a:cs typeface="Calibri"/>
              </a:rPr>
              <a:t>Weight 1.25x greater: 18.1 ft/s (5.52 m/s)</a:t>
            </a:r>
          </a:p>
          <a:p>
            <a:pPr marL="742315" lvl="1" indent="-285750">
              <a:spcAft>
                <a:spcPts val="400"/>
              </a:spcAft>
              <a:buFont typeface="Courier New,monospace" panose="020B0604020202020204" pitchFamily="34" charset="0"/>
              <a:buChar char="o"/>
            </a:pPr>
            <a:r>
              <a:rPr lang="en-US" kern="800" spc="0">
                <a:ea typeface="Source Sans Pro"/>
                <a:cs typeface="Calibri"/>
              </a:rPr>
              <a:t>Fruity Chutes Sim: 16.0 ft/s (4.87 m/s)</a:t>
            </a:r>
            <a:endParaRPr lang="en-US" sz="1800">
              <a:ea typeface="Source Sans Pro"/>
              <a:cs typeface="Calibri"/>
            </a:endParaRPr>
          </a:p>
          <a:p>
            <a:pPr>
              <a:spcAft>
                <a:spcPts val="0"/>
              </a:spcAft>
            </a:pPr>
            <a:r>
              <a:rPr lang="en-US" sz="1800">
                <a:ea typeface="Source Sans Pro"/>
                <a:cs typeface="Calibri"/>
              </a:rPr>
              <a:t>Drift</a:t>
            </a:r>
          </a:p>
          <a:p>
            <a:pPr marL="742315" lvl="1" indent="-285750">
              <a:buFont typeface="Courier New,monospace" panose="020B0604020202020204" pitchFamily="34" charset="0"/>
              <a:buChar char="o"/>
            </a:pPr>
            <a:r>
              <a:rPr lang="en-US">
                <a:ea typeface="Source Sans Pro"/>
                <a:cs typeface="Calibri"/>
              </a:rPr>
              <a:t>For 5 mph winds:</a:t>
            </a:r>
          </a:p>
          <a:p>
            <a:pPr marL="1198880" lvl="2" indent="-285750">
              <a:buFont typeface="Courier New,monospace" panose="020B0604020202020204" pitchFamily="34" charset="0"/>
              <a:buChar char="o"/>
            </a:pPr>
            <a:r>
              <a:rPr lang="en-US" sz="1600">
                <a:ea typeface="Source Sans Pro"/>
                <a:cs typeface="Calibri"/>
              </a:rPr>
              <a:t>0.349 miles (0.563 km)</a:t>
            </a:r>
          </a:p>
          <a:p>
            <a:pPr marL="742315" lvl="1" indent="-285750">
              <a:buFont typeface="Courier New,monospace" panose="020B0604020202020204" pitchFamily="34" charset="0"/>
              <a:buChar char="o"/>
            </a:pPr>
            <a:r>
              <a:rPr lang="en-US">
                <a:ea typeface="Source Sans Pro"/>
                <a:cs typeface="Calibri"/>
              </a:rPr>
              <a:t>For 20 mph winds:</a:t>
            </a:r>
          </a:p>
          <a:p>
            <a:pPr marL="1198880" lvl="2" indent="-285750">
              <a:buFont typeface="Courier New,monospace" panose="020B0604020202020204" pitchFamily="34" charset="0"/>
              <a:buChar char="o"/>
            </a:pPr>
            <a:r>
              <a:rPr lang="en-US" sz="1600">
                <a:ea typeface="Source Sans Pro"/>
                <a:cs typeface="Calibri"/>
              </a:rPr>
              <a:t>1.40 miles (2.25 km)</a:t>
            </a:r>
          </a:p>
          <a:p>
            <a:pPr marL="1198880" lvl="2" indent="-285750">
              <a:buFont typeface="Courier New,monospace" panose="020B0604020202020204" pitchFamily="34" charset="0"/>
              <a:buChar char="o"/>
            </a:pPr>
            <a:endParaRPr lang="en-US" sz="1600">
              <a:ea typeface="Source Sans Pro"/>
              <a:cs typeface="Calibri"/>
            </a:endParaRPr>
          </a:p>
          <a:p>
            <a:pPr marL="742315" lvl="1" indent="-285750">
              <a:buFont typeface="Courier New,monospace" panose="020B0604020202020204" pitchFamily="34" charset="0"/>
              <a:buChar char="o"/>
            </a:pPr>
            <a:endParaRPr lang="en-US">
              <a:ea typeface="Source Sans Pro"/>
              <a:cs typeface="Calibri"/>
            </a:endParaRPr>
          </a:p>
          <a:p>
            <a:pPr marL="285750" indent="-285750">
              <a:buChar char="•"/>
            </a:pPr>
            <a:endParaRPr lang="en-US">
              <a:ea typeface="Source Sans Pro"/>
              <a:cs typeface="Calibri"/>
            </a:endParaRPr>
          </a:p>
          <a:p>
            <a:pPr marL="285750" indent="-285750">
              <a:buChar char="•"/>
            </a:pPr>
            <a:endParaRPr lang="en-US">
              <a:ea typeface="Source Sans Pro"/>
              <a:cs typeface="Calibri"/>
            </a:endParaRPr>
          </a:p>
        </p:txBody>
      </p:sp>
      <p:sp>
        <p:nvSpPr>
          <p:cNvPr id="6" name="Footer Placeholder 5">
            <a:extLst>
              <a:ext uri="{FF2B5EF4-FFF2-40B4-BE49-F238E27FC236}">
                <a16:creationId xmlns:a16="http://schemas.microsoft.com/office/drawing/2014/main" id="{74BF5645-40FC-D0C9-3D56-B4C81ACF221F}"/>
              </a:ext>
            </a:extLst>
          </p:cNvPr>
          <p:cNvSpPr>
            <a:spLocks noGrp="1"/>
          </p:cNvSpPr>
          <p:nvPr>
            <p:ph type="ftr" sz="quarter" idx="21"/>
          </p:nvPr>
        </p:nvSpPr>
        <p:spPr/>
        <p:txBody>
          <a:bodyPr/>
          <a:lstStyle/>
          <a:p>
            <a:r>
              <a:rPr lang="en-US" sz="900">
                <a:latin typeface="Source Sans Pro"/>
                <a:ea typeface="Source Sans Pro"/>
              </a:rPr>
              <a:t>ARCHERFISH CDR</a:t>
            </a:r>
            <a:endParaRPr lang="en-US"/>
          </a:p>
        </p:txBody>
      </p:sp>
      <p:sp>
        <p:nvSpPr>
          <p:cNvPr id="7" name="Slide Number Placeholder 6">
            <a:extLst>
              <a:ext uri="{FF2B5EF4-FFF2-40B4-BE49-F238E27FC236}">
                <a16:creationId xmlns:a16="http://schemas.microsoft.com/office/drawing/2014/main" id="{B40A5EF0-D133-2557-A29A-0883F2BC2B4B}"/>
              </a:ext>
            </a:extLst>
          </p:cNvPr>
          <p:cNvSpPr>
            <a:spLocks noGrp="1"/>
          </p:cNvSpPr>
          <p:nvPr>
            <p:ph type="sldNum" sz="quarter" idx="22"/>
          </p:nvPr>
        </p:nvSpPr>
        <p:spPr/>
        <p:txBody>
          <a:bodyPr/>
          <a:lstStyle/>
          <a:p>
            <a:r>
              <a:rPr lang="en-US"/>
              <a:t>/   </a:t>
            </a:r>
            <a:fld id="{6C7E6F33-74EE-5541-8108-8353B402F8C1}" type="slidenum">
              <a:rPr lang="en-US" smtClean="0"/>
              <a:pPr/>
              <a:t>99</a:t>
            </a:fld>
            <a:endParaRPr lang="en-US"/>
          </a:p>
        </p:txBody>
      </p:sp>
      <p:sp>
        <p:nvSpPr>
          <p:cNvPr id="8" name="Title 7">
            <a:extLst>
              <a:ext uri="{FF2B5EF4-FFF2-40B4-BE49-F238E27FC236}">
                <a16:creationId xmlns:a16="http://schemas.microsoft.com/office/drawing/2014/main" id="{537CF3F9-3BA1-BA28-2B74-05081275BF60}"/>
              </a:ext>
            </a:extLst>
          </p:cNvPr>
          <p:cNvSpPr>
            <a:spLocks noGrp="1"/>
          </p:cNvSpPr>
          <p:nvPr>
            <p:ph type="title"/>
          </p:nvPr>
        </p:nvSpPr>
        <p:spPr/>
        <p:txBody>
          <a:bodyPr/>
          <a:lstStyle/>
          <a:p>
            <a:r>
              <a:rPr lang="en-US">
                <a:latin typeface="Munistic"/>
              </a:rPr>
              <a:t>Recovery Calcs</a:t>
            </a:r>
          </a:p>
        </p:txBody>
      </p:sp>
      <p:sp>
        <p:nvSpPr>
          <p:cNvPr id="9" name="Text Placeholder 8">
            <a:extLst>
              <a:ext uri="{FF2B5EF4-FFF2-40B4-BE49-F238E27FC236}">
                <a16:creationId xmlns:a16="http://schemas.microsoft.com/office/drawing/2014/main" id="{C595369F-8BA7-36DF-2ADE-0F90EB151E11}"/>
              </a:ext>
            </a:extLst>
          </p:cNvPr>
          <p:cNvSpPr>
            <a:spLocks noGrp="1"/>
          </p:cNvSpPr>
          <p:nvPr>
            <p:ph type="body" sz="quarter" idx="23"/>
          </p:nvPr>
        </p:nvSpPr>
        <p:spPr/>
        <p:txBody>
          <a:bodyPr/>
          <a:lstStyle/>
          <a:p>
            <a:r>
              <a:rPr lang="en-US" sz="1850">
                <a:ea typeface="Source Sans Pro"/>
                <a:cs typeface="Calibri"/>
              </a:rPr>
              <a:t>Sizing and Descent</a:t>
            </a:r>
            <a:endParaRPr lang="en-US" sz="1850">
              <a:cs typeface="Calibri"/>
            </a:endParaRPr>
          </a:p>
        </p:txBody>
      </p:sp>
    </p:spTree>
    <p:extLst>
      <p:ext uri="{BB962C8B-B14F-4D97-AF65-F5344CB8AC3E}">
        <p14:creationId xmlns:p14="http://schemas.microsoft.com/office/powerpoint/2010/main" val="33888073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0ED69-28D7-7144-309A-294A810F78D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6E44A4E-063D-789C-A79B-2FE0367A4899}"/>
              </a:ext>
            </a:extLst>
          </p:cNvPr>
          <p:cNvSpPr>
            <a:spLocks noGrp="1"/>
          </p:cNvSpPr>
          <p:nvPr>
            <p:ph type="body" sz="quarter" idx="13"/>
          </p:nvPr>
        </p:nvSpPr>
        <p:spPr>
          <a:xfrm>
            <a:off x="838201" y="1800137"/>
            <a:ext cx="3417424" cy="329032"/>
          </a:xfrm>
        </p:spPr>
        <p:txBody>
          <a:bodyPr vert="horz" lIns="91440" tIns="45720" rIns="91440" bIns="45720" rtlCol="0" anchor="t">
            <a:noAutofit/>
          </a:bodyPr>
          <a:lstStyle/>
          <a:p>
            <a:r>
              <a:rPr lang="en-US" sz="1800">
                <a:latin typeface="Utopia Std Subhead"/>
                <a:ea typeface="Source Sans Pro"/>
              </a:rPr>
              <a:t>Nose Cone Force Exerted</a:t>
            </a:r>
            <a:endParaRPr lang="en-US" sz="1800"/>
          </a:p>
        </p:txBody>
      </p:sp>
      <p:sp>
        <p:nvSpPr>
          <p:cNvPr id="3" name="Text Placeholder 2">
            <a:extLst>
              <a:ext uri="{FF2B5EF4-FFF2-40B4-BE49-F238E27FC236}">
                <a16:creationId xmlns:a16="http://schemas.microsoft.com/office/drawing/2014/main" id="{FEBCC8D7-6E1A-3C71-EAFB-756374340FB9}"/>
              </a:ext>
            </a:extLst>
          </p:cNvPr>
          <p:cNvSpPr>
            <a:spLocks noGrp="1"/>
          </p:cNvSpPr>
          <p:nvPr>
            <p:ph type="body" sz="quarter" idx="16"/>
          </p:nvPr>
        </p:nvSpPr>
        <p:spPr>
          <a:xfrm>
            <a:off x="1028700" y="2476666"/>
            <a:ext cx="4572000" cy="2877739"/>
          </a:xfrm>
        </p:spPr>
        <p:txBody>
          <a:bodyPr vert="horz" lIns="91440" tIns="45720" rIns="91440" bIns="45720" rtlCol="0" anchor="t">
            <a:noAutofit/>
          </a:bodyPr>
          <a:lstStyle/>
          <a:p>
            <a:pPr marL="285750" indent="-285750">
              <a:buFont typeface="Arial" panose="020B0604020202020204" pitchFamily="34" charset="0"/>
              <a:buChar char="•"/>
            </a:pPr>
            <a:r>
              <a:rPr lang="en-US">
                <a:ea typeface="Source Sans Pro"/>
                <a:cs typeface="Calibri"/>
              </a:rPr>
              <a:t>Drogue will deploy when rocket is in free fall</a:t>
            </a:r>
          </a:p>
          <a:p>
            <a:pPr marL="285750" indent="-285750">
              <a:buFont typeface="Arial" panose="020B0604020202020204" pitchFamily="34" charset="0"/>
              <a:buChar char="•"/>
            </a:pPr>
            <a:r>
              <a:rPr lang="en-US">
                <a:ea typeface="Source Sans Pro"/>
                <a:cs typeface="Calibri"/>
              </a:rPr>
              <a:t>If force of CO2 can overcome force of the nosecone while stationary, then it can in free fall</a:t>
            </a:r>
          </a:p>
          <a:p>
            <a:pPr marL="285750" indent="-285750">
              <a:buFont typeface="Arial" panose="020B0604020202020204" pitchFamily="34" charset="0"/>
              <a:buChar char="•"/>
            </a:pPr>
            <a:r>
              <a:rPr lang="en-US" b="1">
                <a:ea typeface="Source Sans Pro"/>
                <a:cs typeface="Calibri"/>
              </a:rPr>
              <a:t>Force of Nose Cone:</a:t>
            </a:r>
          </a:p>
          <a:p>
            <a:pPr marL="456565" lvl="1"/>
            <a:r>
              <a:rPr lang="en-US" b="1">
                <a:ea typeface="Source Sans Pro"/>
                <a:cs typeface="Calibri"/>
              </a:rPr>
              <a:t>14.5 </a:t>
            </a:r>
            <a:r>
              <a:rPr lang="en-US" b="1" err="1">
                <a:ea typeface="Source Sans Pro"/>
                <a:cs typeface="Calibri"/>
              </a:rPr>
              <a:t>lbf</a:t>
            </a:r>
            <a:r>
              <a:rPr lang="en-US" b="1">
                <a:ea typeface="Source Sans Pro"/>
                <a:cs typeface="Calibri"/>
              </a:rPr>
              <a:t> (64.5 N)</a:t>
            </a:r>
          </a:p>
          <a:p>
            <a:pPr marL="1199515" lvl="2" indent="-285750">
              <a:buFont typeface="Arial" panose="020B0604020202020204" pitchFamily="34" charset="0"/>
              <a:buChar char="•"/>
            </a:pPr>
            <a:r>
              <a:rPr lang="en-US" sz="1500">
                <a:ea typeface="Source Sans Pro"/>
                <a:cs typeface="Calibri"/>
              </a:rPr>
              <a:t>Note: does not account for friction/latch forces</a:t>
            </a:r>
          </a:p>
          <a:p>
            <a:pPr marL="742315" lvl="1" indent="-285750">
              <a:buChar char="•"/>
            </a:pPr>
            <a:endParaRPr lang="en-US">
              <a:cs typeface="Calibri"/>
            </a:endParaRPr>
          </a:p>
          <a:p>
            <a:pPr marL="742315" lvl="1" indent="-285750">
              <a:buFont typeface="Arial" panose="020B0604020202020204" pitchFamily="34" charset="0"/>
              <a:buChar char="•"/>
            </a:pPr>
            <a:endParaRPr lang="en-US">
              <a:cs typeface="Calibri"/>
            </a:endParaRPr>
          </a:p>
          <a:p>
            <a:pPr marL="742315" lvl="1" indent="-285750">
              <a:buFont typeface="Courier New" panose="020B0604020202020204" pitchFamily="34" charset="0"/>
              <a:buChar char="o"/>
            </a:pPr>
            <a:endParaRPr lang="en-US">
              <a:cs typeface="Calibri"/>
            </a:endParaRPr>
          </a:p>
        </p:txBody>
      </p:sp>
      <p:sp>
        <p:nvSpPr>
          <p:cNvPr id="4" name="Text Placeholder 3">
            <a:extLst>
              <a:ext uri="{FF2B5EF4-FFF2-40B4-BE49-F238E27FC236}">
                <a16:creationId xmlns:a16="http://schemas.microsoft.com/office/drawing/2014/main" id="{60B0BCA9-D535-C680-650E-167A504BBD03}"/>
              </a:ext>
            </a:extLst>
          </p:cNvPr>
          <p:cNvSpPr>
            <a:spLocks noGrp="1"/>
          </p:cNvSpPr>
          <p:nvPr>
            <p:ph type="body" sz="quarter" idx="19"/>
          </p:nvPr>
        </p:nvSpPr>
        <p:spPr>
          <a:xfrm>
            <a:off x="6370722" y="1800137"/>
            <a:ext cx="4269660" cy="399216"/>
          </a:xfrm>
        </p:spPr>
        <p:txBody>
          <a:bodyPr vert="horz" lIns="91440" tIns="45720" rIns="91440" bIns="45720" rtlCol="0" anchor="t">
            <a:noAutofit/>
          </a:bodyPr>
          <a:lstStyle/>
          <a:p>
            <a:r>
              <a:rPr lang="en-US" sz="1800">
                <a:latin typeface="Utopia Std Subhead"/>
                <a:ea typeface="Source Sans Pro"/>
              </a:rPr>
              <a:t>CO2 Forces</a:t>
            </a:r>
            <a:endParaRPr lang="en-US" sz="1800"/>
          </a:p>
        </p:txBody>
      </p:sp>
      <p:sp>
        <p:nvSpPr>
          <p:cNvPr id="5" name="Text Placeholder 4">
            <a:extLst>
              <a:ext uri="{FF2B5EF4-FFF2-40B4-BE49-F238E27FC236}">
                <a16:creationId xmlns:a16="http://schemas.microsoft.com/office/drawing/2014/main" id="{6E26B6ED-1426-7337-67D3-70B263ADBF93}"/>
              </a:ext>
            </a:extLst>
          </p:cNvPr>
          <p:cNvSpPr>
            <a:spLocks noGrp="1"/>
          </p:cNvSpPr>
          <p:nvPr>
            <p:ph type="body" sz="quarter" idx="20"/>
          </p:nvPr>
        </p:nvSpPr>
        <p:spPr>
          <a:xfrm>
            <a:off x="6440905" y="2476666"/>
            <a:ext cx="5483150" cy="3156038"/>
          </a:xfrm>
        </p:spPr>
        <p:txBody>
          <a:bodyPr vert="horz" lIns="91440" tIns="45720" rIns="91440" bIns="45720" rtlCol="0" anchor="t">
            <a:noAutofit/>
          </a:bodyPr>
          <a:lstStyle/>
          <a:p>
            <a:pPr marL="285115" indent="-285750">
              <a:buFont typeface="Arial" panose="020B0604020202020204" pitchFamily="34" charset="0"/>
              <a:buChar char="•"/>
            </a:pPr>
            <a:r>
              <a:rPr lang="en-US" b="1">
                <a:ea typeface="Source Sans Pro"/>
                <a:cs typeface="Calibri"/>
              </a:rPr>
              <a:t>Force for One Peregrine:</a:t>
            </a:r>
            <a:endParaRPr lang="en-US"/>
          </a:p>
          <a:p>
            <a:pPr marL="456565" lvl="1"/>
            <a:r>
              <a:rPr lang="en-US" b="1">
                <a:ea typeface="Source Sans Pro"/>
                <a:cs typeface="Calibri"/>
              </a:rPr>
              <a:t>20.8 </a:t>
            </a:r>
            <a:r>
              <a:rPr lang="en-US" b="1" err="1">
                <a:ea typeface="Source Sans Pro"/>
                <a:cs typeface="Calibri"/>
              </a:rPr>
              <a:t>lbf</a:t>
            </a:r>
            <a:r>
              <a:rPr lang="en-US" b="1">
                <a:ea typeface="Source Sans Pro"/>
                <a:cs typeface="Calibri"/>
              </a:rPr>
              <a:t> (92.7 N)</a:t>
            </a:r>
          </a:p>
          <a:p>
            <a:pPr marL="285750" indent="-285750">
              <a:buFont typeface="Arial" panose="020B0604020202020204" pitchFamily="34" charset="0"/>
              <a:buChar char="•"/>
            </a:pPr>
            <a:r>
              <a:rPr lang="en-US" b="1">
                <a:ea typeface="Source Sans Pro"/>
                <a:cs typeface="Calibri"/>
              </a:rPr>
              <a:t>Safety Factor: 1.44</a:t>
            </a:r>
          </a:p>
          <a:p>
            <a:pPr marL="285750" indent="-285750">
              <a:buFont typeface="Arial" panose="020B0604020202020204" pitchFamily="34" charset="0"/>
              <a:buChar char="•"/>
            </a:pPr>
            <a:r>
              <a:rPr lang="en-US">
                <a:ea typeface="Source Sans Pro"/>
                <a:cs typeface="Calibri"/>
              </a:rPr>
              <a:t>With two peregrines, force is 41.7 </a:t>
            </a:r>
            <a:r>
              <a:rPr lang="en-US" err="1">
                <a:ea typeface="Source Sans Pro"/>
                <a:cs typeface="Calibri"/>
              </a:rPr>
              <a:t>lbf</a:t>
            </a:r>
            <a:r>
              <a:rPr lang="en-US">
                <a:ea typeface="Source Sans Pro"/>
                <a:cs typeface="Calibri"/>
              </a:rPr>
              <a:t> and SF is 2.87</a:t>
            </a:r>
          </a:p>
          <a:p>
            <a:pPr marL="285750" indent="-285750">
              <a:buFont typeface="Arial" panose="020B0604020202020204" pitchFamily="34" charset="0"/>
              <a:buChar char="•"/>
            </a:pPr>
            <a:r>
              <a:rPr lang="en-US">
                <a:ea typeface="Source Sans Pro"/>
                <a:cs typeface="Calibri"/>
              </a:rPr>
              <a:t>Ideally both peregrines deploy, but system will work with only one</a:t>
            </a:r>
          </a:p>
          <a:p>
            <a:pPr marL="742315" lvl="1" indent="-285750">
              <a:buFont typeface="Arial" panose="020B0604020202020204" pitchFamily="34" charset="0"/>
              <a:buChar char="•"/>
            </a:pPr>
            <a:r>
              <a:rPr lang="en-US">
                <a:ea typeface="Source Sans Pro"/>
                <a:cs typeface="Calibri"/>
              </a:rPr>
              <a:t>Redundancy</a:t>
            </a:r>
          </a:p>
          <a:p>
            <a:pPr marL="742315" lvl="1" indent="-285750">
              <a:buChar char="•"/>
            </a:pPr>
            <a:endParaRPr lang="en-US" b="1">
              <a:ea typeface="Source Sans Pro"/>
              <a:cs typeface="Calibri"/>
            </a:endParaRPr>
          </a:p>
        </p:txBody>
      </p:sp>
      <p:sp>
        <p:nvSpPr>
          <p:cNvPr id="6" name="Footer Placeholder 5">
            <a:extLst>
              <a:ext uri="{FF2B5EF4-FFF2-40B4-BE49-F238E27FC236}">
                <a16:creationId xmlns:a16="http://schemas.microsoft.com/office/drawing/2014/main" id="{A5805828-B804-BB08-2CB3-ED783147C171}"/>
              </a:ext>
            </a:extLst>
          </p:cNvPr>
          <p:cNvSpPr>
            <a:spLocks noGrp="1"/>
          </p:cNvSpPr>
          <p:nvPr>
            <p:ph type="ftr" sz="quarter" idx="21"/>
          </p:nvPr>
        </p:nvSpPr>
        <p:spPr/>
        <p:txBody>
          <a:bodyPr/>
          <a:lstStyle/>
          <a:p>
            <a:r>
              <a:rPr lang="en-US" sz="900">
                <a:latin typeface="Source Sans Pro"/>
                <a:ea typeface="Source Sans Pro"/>
              </a:rPr>
              <a:t>ARCHERFISH CDR</a:t>
            </a:r>
            <a:endParaRPr lang="en-US"/>
          </a:p>
        </p:txBody>
      </p:sp>
      <p:sp>
        <p:nvSpPr>
          <p:cNvPr id="7" name="Slide Number Placeholder 6">
            <a:extLst>
              <a:ext uri="{FF2B5EF4-FFF2-40B4-BE49-F238E27FC236}">
                <a16:creationId xmlns:a16="http://schemas.microsoft.com/office/drawing/2014/main" id="{629701DB-3977-9B96-0EA1-E55210801F60}"/>
              </a:ext>
            </a:extLst>
          </p:cNvPr>
          <p:cNvSpPr>
            <a:spLocks noGrp="1"/>
          </p:cNvSpPr>
          <p:nvPr>
            <p:ph type="sldNum" sz="quarter" idx="22"/>
          </p:nvPr>
        </p:nvSpPr>
        <p:spPr/>
        <p:txBody>
          <a:bodyPr/>
          <a:lstStyle/>
          <a:p>
            <a:r>
              <a:rPr lang="en-US"/>
              <a:t>/   </a:t>
            </a:r>
            <a:fld id="{6C7E6F33-74EE-5541-8108-8353B402F8C1}" type="slidenum">
              <a:rPr lang="en-US" smtClean="0"/>
              <a:pPr/>
              <a:t>100</a:t>
            </a:fld>
            <a:endParaRPr lang="en-US"/>
          </a:p>
        </p:txBody>
      </p:sp>
      <p:sp>
        <p:nvSpPr>
          <p:cNvPr id="8" name="Title 7">
            <a:extLst>
              <a:ext uri="{FF2B5EF4-FFF2-40B4-BE49-F238E27FC236}">
                <a16:creationId xmlns:a16="http://schemas.microsoft.com/office/drawing/2014/main" id="{301197C5-6669-CEF3-2CF6-F6EC111601D2}"/>
              </a:ext>
            </a:extLst>
          </p:cNvPr>
          <p:cNvSpPr>
            <a:spLocks noGrp="1"/>
          </p:cNvSpPr>
          <p:nvPr>
            <p:ph type="title"/>
          </p:nvPr>
        </p:nvSpPr>
        <p:spPr/>
        <p:txBody>
          <a:bodyPr/>
          <a:lstStyle/>
          <a:p>
            <a:r>
              <a:rPr lang="en-US">
                <a:latin typeface="Munistic"/>
              </a:rPr>
              <a:t>Recovery Calcs</a:t>
            </a:r>
          </a:p>
        </p:txBody>
      </p:sp>
      <p:sp>
        <p:nvSpPr>
          <p:cNvPr id="9" name="Text Placeholder 8">
            <a:extLst>
              <a:ext uri="{FF2B5EF4-FFF2-40B4-BE49-F238E27FC236}">
                <a16:creationId xmlns:a16="http://schemas.microsoft.com/office/drawing/2014/main" id="{61A2D9CE-77DE-5D92-B603-C2F6393DC1F1}"/>
              </a:ext>
            </a:extLst>
          </p:cNvPr>
          <p:cNvSpPr>
            <a:spLocks noGrp="1"/>
          </p:cNvSpPr>
          <p:nvPr>
            <p:ph type="body" sz="quarter" idx="23"/>
          </p:nvPr>
        </p:nvSpPr>
        <p:spPr/>
        <p:txBody>
          <a:bodyPr/>
          <a:lstStyle/>
          <a:p>
            <a:r>
              <a:rPr lang="en-US" sz="1850">
                <a:ea typeface="Source Sans Pro"/>
                <a:cs typeface="Calibri"/>
              </a:rPr>
              <a:t>Drogue Deployment</a:t>
            </a:r>
            <a:endParaRPr lang="en-US" sz="1850">
              <a:cs typeface="Calibri"/>
            </a:endParaRPr>
          </a:p>
        </p:txBody>
      </p:sp>
    </p:spTree>
    <p:extLst>
      <p:ext uri="{BB962C8B-B14F-4D97-AF65-F5344CB8AC3E}">
        <p14:creationId xmlns:p14="http://schemas.microsoft.com/office/powerpoint/2010/main" val="2443582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8B5D2E-21EA-B73D-02BF-EE7FC4E43B55}"/>
              </a:ext>
            </a:extLst>
          </p:cNvPr>
          <p:cNvSpPr>
            <a:spLocks noGrp="1"/>
          </p:cNvSpPr>
          <p:nvPr>
            <p:ph type="ftr" sz="quarter" idx="14"/>
          </p:nvPr>
        </p:nvSpPr>
        <p:spPr/>
        <p:txBody>
          <a:bodyPr/>
          <a:lstStyle/>
          <a:p>
            <a:r>
              <a:rPr lang="en-US" sz="900">
                <a:latin typeface="Source Sans Pro"/>
                <a:ea typeface="Source Sans Pro"/>
              </a:rPr>
              <a:t>FORTE CDR</a:t>
            </a:r>
            <a:endParaRPr lang="en-US" sz="900">
              <a:ea typeface="Source Sans Pro"/>
            </a:endParaRPr>
          </a:p>
        </p:txBody>
      </p:sp>
      <p:sp>
        <p:nvSpPr>
          <p:cNvPr id="3" name="Slide Number Placeholder 2">
            <a:extLst>
              <a:ext uri="{FF2B5EF4-FFF2-40B4-BE49-F238E27FC236}">
                <a16:creationId xmlns:a16="http://schemas.microsoft.com/office/drawing/2014/main" id="{C63AEF99-F33C-ACB5-951E-010ED2C77BF5}"/>
              </a:ext>
            </a:extLst>
          </p:cNvPr>
          <p:cNvSpPr>
            <a:spLocks noGrp="1"/>
          </p:cNvSpPr>
          <p:nvPr>
            <p:ph type="sldNum" sz="quarter" idx="15"/>
          </p:nvPr>
        </p:nvSpPr>
        <p:spPr/>
        <p:txBody>
          <a:bodyPr/>
          <a:lstStyle/>
          <a:p>
            <a:r>
              <a:rPr lang="en-US" sz="900">
                <a:latin typeface="Source Sans Pro"/>
                <a:ea typeface="Source Sans Pro"/>
              </a:rPr>
              <a:t>/   </a:t>
            </a:r>
            <a:fld id="{DCDB8A64-6F4C-4993-8577-2063879FD3E0}" type="slidenum">
              <a:rPr lang="en-US" sz="900" dirty="0">
                <a:latin typeface="Source Sans Pro"/>
                <a:ea typeface="Source Sans Pro"/>
              </a:rPr>
              <a:t>101</a:t>
            </a:fld>
            <a:endParaRPr lang="en-US" sz="900">
              <a:latin typeface="Source Sans Pro"/>
              <a:ea typeface="Source Sans Pro"/>
            </a:endParaRPr>
          </a:p>
        </p:txBody>
      </p:sp>
      <p:sp>
        <p:nvSpPr>
          <p:cNvPr id="4" name="Title 3">
            <a:extLst>
              <a:ext uri="{FF2B5EF4-FFF2-40B4-BE49-F238E27FC236}">
                <a16:creationId xmlns:a16="http://schemas.microsoft.com/office/drawing/2014/main" id="{FA4D7720-17ED-5D7F-DA7F-05B7315F0E3B}"/>
              </a:ext>
            </a:extLst>
          </p:cNvPr>
          <p:cNvSpPr>
            <a:spLocks noGrp="1"/>
          </p:cNvSpPr>
          <p:nvPr>
            <p:ph type="title"/>
          </p:nvPr>
        </p:nvSpPr>
        <p:spPr/>
        <p:txBody>
          <a:bodyPr/>
          <a:lstStyle/>
          <a:p>
            <a:r>
              <a:rPr lang="en-GB" sz="3600">
                <a:latin typeface="Munistic"/>
              </a:rPr>
              <a:t>Recovery Calcs</a:t>
            </a:r>
            <a:endParaRPr lang="en-GB" sz="3600"/>
          </a:p>
        </p:txBody>
      </p:sp>
      <p:sp>
        <p:nvSpPr>
          <p:cNvPr id="5" name="Text Placeholder 4">
            <a:extLst>
              <a:ext uri="{FF2B5EF4-FFF2-40B4-BE49-F238E27FC236}">
                <a16:creationId xmlns:a16="http://schemas.microsoft.com/office/drawing/2014/main" id="{099CF74F-3E8B-9EA1-8A9C-15B01E91F915}"/>
              </a:ext>
            </a:extLst>
          </p:cNvPr>
          <p:cNvSpPr>
            <a:spLocks noGrp="1"/>
          </p:cNvSpPr>
          <p:nvPr>
            <p:ph type="body" sz="quarter" idx="13"/>
          </p:nvPr>
        </p:nvSpPr>
        <p:spPr/>
        <p:txBody>
          <a:bodyPr/>
          <a:lstStyle/>
          <a:p>
            <a:r>
              <a:rPr lang="en-GB" sz="1850">
                <a:ea typeface="Source Sans Pro"/>
                <a:cs typeface="Calibri"/>
              </a:rPr>
              <a:t>Pressure Vessel</a:t>
            </a:r>
            <a:endParaRPr lang="en-GB"/>
          </a:p>
        </p:txBody>
      </p:sp>
      <p:sp>
        <p:nvSpPr>
          <p:cNvPr id="10" name="TextBox 9">
            <a:extLst>
              <a:ext uri="{FF2B5EF4-FFF2-40B4-BE49-F238E27FC236}">
                <a16:creationId xmlns:a16="http://schemas.microsoft.com/office/drawing/2014/main" id="{9F4D9BDA-04A0-4465-1A1D-3E1814E70847}"/>
              </a:ext>
            </a:extLst>
          </p:cNvPr>
          <p:cNvSpPr txBox="1"/>
          <p:nvPr/>
        </p:nvSpPr>
        <p:spPr>
          <a:xfrm>
            <a:off x="530499" y="1458277"/>
            <a:ext cx="4935121"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a:ea typeface="Calibri" panose="020F0502020204030204"/>
                <a:cs typeface="Calibri" panose="020F0502020204030204"/>
              </a:rPr>
              <a:t>Thin-walled pressure vessel</a:t>
            </a:r>
          </a:p>
          <a:p>
            <a:pPr marL="742950" lvl="1" indent="-285750">
              <a:buFont typeface="Courier New"/>
              <a:buChar char="o"/>
            </a:pPr>
            <a:r>
              <a:rPr lang="en-GB" sz="1600">
                <a:ea typeface="Calibri" panose="020F0502020204030204"/>
                <a:cs typeface="Calibri" panose="020F0502020204030204"/>
              </a:rPr>
              <a:t>Wall thickness to diameter ratio: 0.0162 &lt; 0.10</a:t>
            </a:r>
          </a:p>
          <a:p>
            <a:pPr marL="742950" lvl="1" indent="-285750">
              <a:buFont typeface="Courier New"/>
              <a:buChar char="o"/>
            </a:pPr>
            <a:r>
              <a:rPr lang="en-GB" sz="1600">
                <a:ea typeface="Calibri" panose="020F0502020204030204"/>
                <a:cs typeface="Calibri" panose="020F0502020204030204"/>
              </a:rPr>
              <a:t>Uses 24 g of CO2</a:t>
            </a:r>
          </a:p>
          <a:p>
            <a:pPr marL="742950" lvl="1" indent="-285750">
              <a:buFont typeface="Courier New"/>
              <a:buChar char="o"/>
            </a:pPr>
            <a:endParaRPr lang="en-GB" sz="1500">
              <a:ea typeface="Calibri" panose="020F0502020204030204"/>
              <a:cs typeface="Calibri" panose="020F0502020204030204"/>
            </a:endParaRPr>
          </a:p>
        </p:txBody>
      </p:sp>
      <p:sp>
        <p:nvSpPr>
          <p:cNvPr id="12" name="TextBox 11">
            <a:extLst>
              <a:ext uri="{FF2B5EF4-FFF2-40B4-BE49-F238E27FC236}">
                <a16:creationId xmlns:a16="http://schemas.microsoft.com/office/drawing/2014/main" id="{C5246881-955A-6600-CD89-CE5B17A9CD82}"/>
              </a:ext>
            </a:extLst>
          </p:cNvPr>
          <p:cNvSpPr txBox="1"/>
          <p:nvPr/>
        </p:nvSpPr>
        <p:spPr>
          <a:xfrm>
            <a:off x="6260040" y="5946183"/>
            <a:ext cx="5345727" cy="3770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50" b="1">
                <a:cs typeface="Calibri"/>
              </a:rPr>
              <a:t>Fig 8.12 </a:t>
            </a:r>
            <a:r>
              <a:rPr lang="en-US" sz="1850">
                <a:cs typeface="Calibri"/>
              </a:rPr>
              <a:t>Safety Factor vs. Height Before CO2 Release</a:t>
            </a:r>
            <a:endParaRPr lang="en-US">
              <a:ea typeface="Calibri" panose="020F0502020204030204"/>
              <a:cs typeface="Calibri" panose="020F0502020204030204"/>
            </a:endParaRPr>
          </a:p>
        </p:txBody>
      </p:sp>
      <p:sp>
        <p:nvSpPr>
          <p:cNvPr id="14" name="TextBox 13">
            <a:extLst>
              <a:ext uri="{FF2B5EF4-FFF2-40B4-BE49-F238E27FC236}">
                <a16:creationId xmlns:a16="http://schemas.microsoft.com/office/drawing/2014/main" id="{13B00B05-8CED-C1BE-0A06-2E6D2EECA0CA}"/>
              </a:ext>
            </a:extLst>
          </p:cNvPr>
          <p:cNvSpPr txBox="1"/>
          <p:nvPr/>
        </p:nvSpPr>
        <p:spPr>
          <a:xfrm>
            <a:off x="1096619" y="5948274"/>
            <a:ext cx="4675742" cy="3770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50" b="1">
                <a:cs typeface="Calibri"/>
              </a:rPr>
              <a:t>Fig 8.11</a:t>
            </a:r>
            <a:r>
              <a:rPr lang="en-US" sz="1850">
                <a:cs typeface="Calibri"/>
              </a:rPr>
              <a:t> Safety Factor vs Height at CO2 Release</a:t>
            </a:r>
            <a:endParaRPr lang="en-US">
              <a:ea typeface="Calibri" panose="020F0502020204030204"/>
              <a:cs typeface="Calibri" panose="020F0502020204030204"/>
            </a:endParaRPr>
          </a:p>
        </p:txBody>
      </p:sp>
      <p:pic>
        <p:nvPicPr>
          <p:cNvPr id="13" name="Picture 12" descr="A graph of a safety factor&#10;&#10;AI-generated content may be incorrect.">
            <a:extLst>
              <a:ext uri="{FF2B5EF4-FFF2-40B4-BE49-F238E27FC236}">
                <a16:creationId xmlns:a16="http://schemas.microsoft.com/office/drawing/2014/main" id="{2F207955-7B8E-C5C1-C32F-0A34D24CA6B3}"/>
              </a:ext>
            </a:extLst>
          </p:cNvPr>
          <p:cNvPicPr>
            <a:picLocks noChangeAspect="1"/>
          </p:cNvPicPr>
          <p:nvPr/>
        </p:nvPicPr>
        <p:blipFill>
          <a:blip r:embed="rId2"/>
          <a:srcRect l="-49" t="-1839" b="-2191"/>
          <a:stretch>
            <a:fillRect/>
          </a:stretch>
        </p:blipFill>
        <p:spPr>
          <a:xfrm>
            <a:off x="6303833" y="2321034"/>
            <a:ext cx="4777913" cy="3616232"/>
          </a:xfrm>
          <a:prstGeom prst="rect">
            <a:avLst/>
          </a:prstGeom>
        </p:spPr>
      </p:pic>
      <p:pic>
        <p:nvPicPr>
          <p:cNvPr id="16" name="Picture 15" descr="A graph of a graph&#10;&#10;AI-generated content may be incorrect.">
            <a:extLst>
              <a:ext uri="{FF2B5EF4-FFF2-40B4-BE49-F238E27FC236}">
                <a16:creationId xmlns:a16="http://schemas.microsoft.com/office/drawing/2014/main" id="{11383A9A-9468-DD5B-B603-B76CE433A611}"/>
              </a:ext>
            </a:extLst>
          </p:cNvPr>
          <p:cNvPicPr>
            <a:picLocks noChangeAspect="1"/>
          </p:cNvPicPr>
          <p:nvPr/>
        </p:nvPicPr>
        <p:blipFill>
          <a:blip r:embed="rId3"/>
          <a:srcRect l="185" r="-92"/>
          <a:stretch>
            <a:fillRect/>
          </a:stretch>
        </p:blipFill>
        <p:spPr>
          <a:xfrm>
            <a:off x="989987" y="2329793"/>
            <a:ext cx="4895546" cy="3617312"/>
          </a:xfrm>
          <a:prstGeom prst="rect">
            <a:avLst/>
          </a:prstGeom>
        </p:spPr>
      </p:pic>
    </p:spTree>
    <p:extLst>
      <p:ext uri="{BB962C8B-B14F-4D97-AF65-F5344CB8AC3E}">
        <p14:creationId xmlns:p14="http://schemas.microsoft.com/office/powerpoint/2010/main" val="300110167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C20C6F8-6DAE-3090-A7E8-121A7DE13845}"/>
              </a:ext>
            </a:extLst>
          </p:cNvPr>
          <p:cNvSpPr>
            <a:spLocks noGrp="1"/>
          </p:cNvSpPr>
          <p:nvPr>
            <p:ph type="ftr" sz="quarter" idx="14"/>
          </p:nvPr>
        </p:nvSpPr>
        <p:spPr/>
        <p:txBody>
          <a:bodyPr/>
          <a:lstStyle/>
          <a:p>
            <a:r>
              <a:rPr lang="en-US"/>
              <a:t>FORTE CDR</a:t>
            </a:r>
          </a:p>
        </p:txBody>
      </p:sp>
      <p:sp>
        <p:nvSpPr>
          <p:cNvPr id="3" name="Slide Number Placeholder 2">
            <a:extLst>
              <a:ext uri="{FF2B5EF4-FFF2-40B4-BE49-F238E27FC236}">
                <a16:creationId xmlns:a16="http://schemas.microsoft.com/office/drawing/2014/main" id="{B48D4F32-712A-676B-7357-338CDB682A00}"/>
              </a:ext>
            </a:extLst>
          </p:cNvPr>
          <p:cNvSpPr>
            <a:spLocks noGrp="1"/>
          </p:cNvSpPr>
          <p:nvPr>
            <p:ph type="sldNum" sz="quarter" idx="15"/>
          </p:nvPr>
        </p:nvSpPr>
        <p:spPr/>
        <p:txBody>
          <a:bodyPr/>
          <a:lstStyle/>
          <a:p>
            <a:r>
              <a:rPr lang="en-US"/>
              <a:t>/   </a:t>
            </a:r>
            <a:fld id="{6C7E6F33-74EE-5541-8108-8353B402F8C1}" type="slidenum">
              <a:rPr lang="en-US" smtClean="0"/>
              <a:pPr/>
              <a:t>102</a:t>
            </a:fld>
            <a:endParaRPr lang="en-US"/>
          </a:p>
        </p:txBody>
      </p:sp>
      <p:sp>
        <p:nvSpPr>
          <p:cNvPr id="4" name="Title 3">
            <a:extLst>
              <a:ext uri="{FF2B5EF4-FFF2-40B4-BE49-F238E27FC236}">
                <a16:creationId xmlns:a16="http://schemas.microsoft.com/office/drawing/2014/main" id="{B0E3B9F2-90D3-0AD6-96C8-5DE4ECAD01A9}"/>
              </a:ext>
            </a:extLst>
          </p:cNvPr>
          <p:cNvSpPr>
            <a:spLocks noGrp="1"/>
          </p:cNvSpPr>
          <p:nvPr>
            <p:ph type="title"/>
          </p:nvPr>
        </p:nvSpPr>
        <p:spPr/>
        <p:txBody>
          <a:bodyPr/>
          <a:lstStyle/>
          <a:p>
            <a:r>
              <a:rPr lang="en-US" sz="4400">
                <a:latin typeface="Munistic"/>
              </a:rPr>
              <a:t>Pressure Vessel</a:t>
            </a:r>
            <a:endParaRPr lang="en-US" sz="4400"/>
          </a:p>
        </p:txBody>
      </p:sp>
      <p:sp>
        <p:nvSpPr>
          <p:cNvPr id="5" name="Text Placeholder 4">
            <a:extLst>
              <a:ext uri="{FF2B5EF4-FFF2-40B4-BE49-F238E27FC236}">
                <a16:creationId xmlns:a16="http://schemas.microsoft.com/office/drawing/2014/main" id="{98D97087-71F6-4EA1-CD5F-C86ADA26A394}"/>
              </a:ext>
            </a:extLst>
          </p:cNvPr>
          <p:cNvSpPr>
            <a:spLocks noGrp="1"/>
          </p:cNvSpPr>
          <p:nvPr>
            <p:ph type="body" sz="quarter" idx="13"/>
          </p:nvPr>
        </p:nvSpPr>
        <p:spPr/>
        <p:txBody>
          <a:bodyPr/>
          <a:lstStyle/>
          <a:p>
            <a:r>
              <a:rPr lang="en-US" sz="1850">
                <a:ea typeface="Source Sans Pro"/>
                <a:cs typeface="Calibri"/>
              </a:rPr>
              <a:t>Clearance</a:t>
            </a:r>
            <a:endParaRPr lang="en-US"/>
          </a:p>
        </p:txBody>
      </p:sp>
      <p:sp>
        <p:nvSpPr>
          <p:cNvPr id="6" name="Text Placeholder 6">
            <a:extLst>
              <a:ext uri="{FF2B5EF4-FFF2-40B4-BE49-F238E27FC236}">
                <a16:creationId xmlns:a16="http://schemas.microsoft.com/office/drawing/2014/main" id="{EDF282CE-98B3-64EF-14FF-348F8FA8B6A1}"/>
              </a:ext>
            </a:extLst>
          </p:cNvPr>
          <p:cNvSpPr>
            <a:spLocks noGrp="1"/>
          </p:cNvSpPr>
          <p:nvPr/>
        </p:nvSpPr>
        <p:spPr>
          <a:xfrm>
            <a:off x="531848" y="1420004"/>
            <a:ext cx="4232687" cy="45552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609570" marR="0" lvl="0" indent="-423312" algn="l" rtl="0">
              <a:lnSpc>
                <a:spcPct val="115000"/>
              </a:lnSpc>
              <a:spcBef>
                <a:spcPts val="0"/>
              </a:spcBef>
              <a:spcAft>
                <a:spcPts val="0"/>
              </a:spcAft>
              <a:buClr>
                <a:schemeClr val="dk2"/>
              </a:buClr>
              <a:buSzPts val="1400"/>
              <a:buFont typeface="Times New Roman"/>
              <a:buChar char="●"/>
              <a:defRPr sz="1867" b="0" i="0" u="none" strike="noStrike" cap="none">
                <a:solidFill>
                  <a:schemeClr val="dk2"/>
                </a:solidFill>
                <a:latin typeface="Times New Roman"/>
                <a:ea typeface="Times New Roman"/>
                <a:cs typeface="Times New Roman"/>
                <a:sym typeface="Times New Roman"/>
              </a:defRPr>
            </a:lvl1pPr>
            <a:lvl2pPr marL="1219140" marR="0" lvl="1" indent="-406381" algn="l" rtl="0">
              <a:lnSpc>
                <a:spcPct val="115000"/>
              </a:lnSpc>
              <a:spcBef>
                <a:spcPts val="0"/>
              </a:spcBef>
              <a:spcAft>
                <a:spcPts val="0"/>
              </a:spcAft>
              <a:buClr>
                <a:schemeClr val="dk2"/>
              </a:buClr>
              <a:buSzPts val="1200"/>
              <a:buFont typeface="Times New Roman"/>
              <a:buChar char="○"/>
              <a:defRPr sz="1600" b="0" i="0" u="none" strike="noStrike" cap="none">
                <a:solidFill>
                  <a:schemeClr val="dk2"/>
                </a:solidFill>
                <a:latin typeface="Times New Roman"/>
                <a:ea typeface="Times New Roman"/>
                <a:cs typeface="Times New Roman"/>
                <a:sym typeface="Times New Roman"/>
              </a:defRPr>
            </a:lvl2pPr>
            <a:lvl3pPr marL="1828709" marR="0" lvl="2" indent="-406381" algn="l" rtl="0">
              <a:lnSpc>
                <a:spcPct val="115000"/>
              </a:lnSpc>
              <a:spcBef>
                <a:spcPts val="0"/>
              </a:spcBef>
              <a:spcAft>
                <a:spcPts val="0"/>
              </a:spcAft>
              <a:buClr>
                <a:schemeClr val="dk2"/>
              </a:buClr>
              <a:buSzPts val="1200"/>
              <a:buFont typeface="Times New Roman"/>
              <a:buChar char="■"/>
              <a:defRPr sz="1600" b="0" i="0" u="none" strike="noStrike" cap="none">
                <a:solidFill>
                  <a:schemeClr val="dk2"/>
                </a:solidFill>
                <a:latin typeface="Times New Roman"/>
                <a:ea typeface="Times New Roman"/>
                <a:cs typeface="Times New Roman"/>
                <a:sym typeface="Times New Roman"/>
              </a:defRPr>
            </a:lvl3pPr>
            <a:lvl4pPr marL="2438278" marR="0" lvl="3" indent="-406381" algn="l" rtl="0">
              <a:lnSpc>
                <a:spcPct val="115000"/>
              </a:lnSpc>
              <a:spcBef>
                <a:spcPts val="0"/>
              </a:spcBef>
              <a:spcAft>
                <a:spcPts val="0"/>
              </a:spcAft>
              <a:buClr>
                <a:schemeClr val="dk2"/>
              </a:buClr>
              <a:buSzPts val="1200"/>
              <a:buFont typeface="Times New Roman"/>
              <a:buChar char="●"/>
              <a:defRPr sz="1600" b="0" i="0" u="none" strike="noStrike" cap="none">
                <a:solidFill>
                  <a:schemeClr val="dk2"/>
                </a:solidFill>
                <a:latin typeface="Times New Roman"/>
                <a:ea typeface="Times New Roman"/>
                <a:cs typeface="Times New Roman"/>
                <a:sym typeface="Times New Roman"/>
              </a:defRPr>
            </a:lvl4pPr>
            <a:lvl5pPr marL="3047848" marR="0" lvl="4" indent="-406381" algn="l" rtl="0">
              <a:lnSpc>
                <a:spcPct val="115000"/>
              </a:lnSpc>
              <a:spcBef>
                <a:spcPts val="0"/>
              </a:spcBef>
              <a:spcAft>
                <a:spcPts val="0"/>
              </a:spcAft>
              <a:buClr>
                <a:schemeClr val="dk2"/>
              </a:buClr>
              <a:buSzPts val="1200"/>
              <a:buFont typeface="Times New Roman"/>
              <a:buChar char="○"/>
              <a:defRPr sz="1600" b="0" i="0" u="none" strike="noStrike" cap="none">
                <a:solidFill>
                  <a:schemeClr val="dk2"/>
                </a:solidFill>
                <a:latin typeface="Times New Roman"/>
                <a:ea typeface="Times New Roman"/>
                <a:cs typeface="Times New Roman"/>
                <a:sym typeface="Times New Roman"/>
              </a:defRPr>
            </a:lvl5pPr>
            <a:lvl6pPr marL="3657418" marR="0" lvl="5" indent="-406381" algn="l" rtl="0">
              <a:lnSpc>
                <a:spcPct val="115000"/>
              </a:lnSpc>
              <a:spcBef>
                <a:spcPts val="0"/>
              </a:spcBef>
              <a:spcAft>
                <a:spcPts val="0"/>
              </a:spcAft>
              <a:buClr>
                <a:schemeClr val="dk2"/>
              </a:buClr>
              <a:buSzPts val="1200"/>
              <a:buFont typeface="Times New Roman"/>
              <a:buChar char="■"/>
              <a:defRPr sz="1600" b="0" i="0" u="none" strike="noStrike" cap="none">
                <a:solidFill>
                  <a:schemeClr val="dk2"/>
                </a:solidFill>
                <a:latin typeface="Times New Roman"/>
                <a:ea typeface="Times New Roman"/>
                <a:cs typeface="Times New Roman"/>
                <a:sym typeface="Times New Roman"/>
              </a:defRPr>
            </a:lvl6pPr>
            <a:lvl7pPr marL="4266987" marR="0" lvl="6" indent="-406381" algn="l" rtl="0">
              <a:lnSpc>
                <a:spcPct val="115000"/>
              </a:lnSpc>
              <a:spcBef>
                <a:spcPts val="0"/>
              </a:spcBef>
              <a:spcAft>
                <a:spcPts val="0"/>
              </a:spcAft>
              <a:buClr>
                <a:schemeClr val="dk2"/>
              </a:buClr>
              <a:buSzPts val="1200"/>
              <a:buFont typeface="Times New Roman"/>
              <a:buChar char="●"/>
              <a:defRPr sz="1600" b="0" i="0" u="none" strike="noStrike" cap="none">
                <a:solidFill>
                  <a:schemeClr val="dk2"/>
                </a:solidFill>
                <a:latin typeface="Times New Roman"/>
                <a:ea typeface="Times New Roman"/>
                <a:cs typeface="Times New Roman"/>
                <a:sym typeface="Times New Roman"/>
              </a:defRPr>
            </a:lvl7pPr>
            <a:lvl8pPr marL="4876557" marR="0" lvl="7" indent="-406381" algn="l" rtl="0">
              <a:lnSpc>
                <a:spcPct val="115000"/>
              </a:lnSpc>
              <a:spcBef>
                <a:spcPts val="0"/>
              </a:spcBef>
              <a:spcAft>
                <a:spcPts val="0"/>
              </a:spcAft>
              <a:buClr>
                <a:schemeClr val="dk2"/>
              </a:buClr>
              <a:buSzPts val="1200"/>
              <a:buFont typeface="Times New Roman"/>
              <a:buChar char="○"/>
              <a:defRPr sz="1600" b="0" i="0" u="none" strike="noStrike" cap="none">
                <a:solidFill>
                  <a:schemeClr val="dk2"/>
                </a:solidFill>
                <a:latin typeface="Times New Roman"/>
                <a:ea typeface="Times New Roman"/>
                <a:cs typeface="Times New Roman"/>
                <a:sym typeface="Times New Roman"/>
              </a:defRPr>
            </a:lvl8pPr>
            <a:lvl9pPr marL="5486126" marR="0" lvl="8" indent="-406381" algn="l" rtl="0">
              <a:lnSpc>
                <a:spcPct val="115000"/>
              </a:lnSpc>
              <a:spcBef>
                <a:spcPts val="0"/>
              </a:spcBef>
              <a:spcAft>
                <a:spcPts val="0"/>
              </a:spcAft>
              <a:buClr>
                <a:schemeClr val="dk2"/>
              </a:buClr>
              <a:buSzPts val="1200"/>
              <a:buFont typeface="Times New Roman"/>
              <a:buChar char="■"/>
              <a:defRPr sz="1600" b="0" i="0" u="none" strike="noStrike" cap="none">
                <a:solidFill>
                  <a:schemeClr val="dk2"/>
                </a:solidFill>
                <a:latin typeface="Times New Roman"/>
                <a:ea typeface="Times New Roman"/>
                <a:cs typeface="Times New Roman"/>
                <a:sym typeface="Times New Roman"/>
              </a:defRPr>
            </a:lvl9pPr>
          </a:lstStyle>
          <a:p>
            <a:pPr marL="528955" indent="-342900">
              <a:lnSpc>
                <a:spcPct val="100000"/>
              </a:lnSpc>
            </a:pPr>
            <a:r>
              <a:rPr lang="en-US" sz="2000">
                <a:solidFill>
                  <a:srgbClr val="154734"/>
                </a:solidFill>
                <a:latin typeface="+mn-lt"/>
              </a:rPr>
              <a:t>Target clearance: Will follow the recommended tolerance for a H7/h6 fit.</a:t>
            </a:r>
            <a:endParaRPr lang="en-US" sz="1750">
              <a:solidFill>
                <a:srgbClr val="154734"/>
              </a:solidFill>
              <a:latin typeface="+mn-lt"/>
            </a:endParaRPr>
          </a:p>
          <a:p>
            <a:pPr marL="1218565" lvl="1" indent="-405765">
              <a:lnSpc>
                <a:spcPct val="100000"/>
              </a:lnSpc>
            </a:pPr>
            <a:r>
              <a:rPr lang="en-US" sz="2000">
                <a:solidFill>
                  <a:srgbClr val="154734"/>
                </a:solidFill>
                <a:latin typeface="+mn-lt"/>
              </a:rPr>
              <a:t>0.001 inches of clearance</a:t>
            </a:r>
          </a:p>
          <a:p>
            <a:pPr marL="1218565" lvl="1" indent="-405765">
              <a:lnSpc>
                <a:spcPct val="100000"/>
              </a:lnSpc>
            </a:pPr>
            <a:r>
              <a:rPr lang="en-US" sz="2000">
                <a:solidFill>
                  <a:srgbClr val="154734"/>
                </a:solidFill>
                <a:latin typeface="+mn-lt"/>
              </a:rPr>
              <a:t>Coupler diameter goal: 5.999 to 6.001 inches</a:t>
            </a:r>
          </a:p>
          <a:p>
            <a:pPr marL="1828165" lvl="2" indent="-405765">
              <a:lnSpc>
                <a:spcPct val="100000"/>
              </a:lnSpc>
            </a:pPr>
            <a:r>
              <a:rPr lang="en-US" sz="2000">
                <a:solidFill>
                  <a:srgbClr val="154734"/>
                </a:solidFill>
                <a:latin typeface="+mn-lt"/>
              </a:rPr>
              <a:t>Realistically 0.005 -.01 in of clearance</a:t>
            </a:r>
          </a:p>
          <a:p>
            <a:pPr marL="1218565" lvl="1" indent="-405765">
              <a:lnSpc>
                <a:spcPct val="114999"/>
              </a:lnSpc>
              <a:buSzPts val="1400"/>
            </a:pPr>
            <a:endParaRPr lang="en-US" sz="1650">
              <a:solidFill>
                <a:srgbClr val="154734"/>
              </a:solidFill>
              <a:latin typeface="+mn-lt"/>
            </a:endParaRPr>
          </a:p>
          <a:p>
            <a:pPr marL="1218565" lvl="1" indent="-405765">
              <a:lnSpc>
                <a:spcPct val="114999"/>
              </a:lnSpc>
              <a:buSzPts val="1400"/>
            </a:pPr>
            <a:endParaRPr lang="en-US" sz="1650">
              <a:solidFill>
                <a:srgbClr val="154734"/>
              </a:solidFill>
              <a:latin typeface="+mn-lt"/>
            </a:endParaRPr>
          </a:p>
        </p:txBody>
      </p:sp>
      <p:pic>
        <p:nvPicPr>
          <p:cNvPr id="7" name="Picture 6" descr="A screenshot of a blue box&#10;&#10;Description automatically generated">
            <a:extLst>
              <a:ext uri="{FF2B5EF4-FFF2-40B4-BE49-F238E27FC236}">
                <a16:creationId xmlns:a16="http://schemas.microsoft.com/office/drawing/2014/main" id="{85A2E119-1A42-51CC-EACD-02CE1B0BB1A4}"/>
              </a:ext>
            </a:extLst>
          </p:cNvPr>
          <p:cNvPicPr>
            <a:picLocks noChangeAspect="1"/>
          </p:cNvPicPr>
          <p:nvPr/>
        </p:nvPicPr>
        <p:blipFill>
          <a:blip r:embed="rId2"/>
          <a:stretch>
            <a:fillRect/>
          </a:stretch>
        </p:blipFill>
        <p:spPr>
          <a:xfrm>
            <a:off x="4880991" y="1649385"/>
            <a:ext cx="6779161" cy="4096438"/>
          </a:xfrm>
          <a:prstGeom prst="rect">
            <a:avLst/>
          </a:prstGeom>
        </p:spPr>
      </p:pic>
      <p:sp>
        <p:nvSpPr>
          <p:cNvPr id="8" name="TextBox 9">
            <a:extLst>
              <a:ext uri="{FF2B5EF4-FFF2-40B4-BE49-F238E27FC236}">
                <a16:creationId xmlns:a16="http://schemas.microsoft.com/office/drawing/2014/main" id="{D6160580-6DBE-FB59-C4EA-7F36DA713387}"/>
              </a:ext>
            </a:extLst>
          </p:cNvPr>
          <p:cNvSpPr txBox="1"/>
          <p:nvPr/>
        </p:nvSpPr>
        <p:spPr>
          <a:xfrm>
            <a:off x="4648639" y="5752451"/>
            <a:ext cx="7388304"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cs typeface="Arial"/>
              </a:rPr>
              <a:t>Fig 8.13 </a:t>
            </a:r>
            <a:r>
              <a:rPr lang="en-US">
                <a:cs typeface="Arial"/>
              </a:rPr>
              <a:t>Preferred mechanical tolerances Metric ISO 286 from Engineers Edge</a:t>
            </a:r>
            <a:endParaRPr lang="en-US"/>
          </a:p>
        </p:txBody>
      </p:sp>
    </p:spTree>
    <p:extLst>
      <p:ext uri="{BB962C8B-B14F-4D97-AF65-F5344CB8AC3E}">
        <p14:creationId xmlns:p14="http://schemas.microsoft.com/office/powerpoint/2010/main" val="80669867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97A70E7-0DAB-2D74-C742-6CE2E326954C}"/>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A81A7FAF-DFF6-F158-94E4-99219232C2EA}"/>
              </a:ext>
            </a:extLst>
          </p:cNvPr>
          <p:cNvSpPr>
            <a:spLocks noGrp="1"/>
          </p:cNvSpPr>
          <p:nvPr>
            <p:ph type="sldNum" sz="quarter" idx="17"/>
          </p:nvPr>
        </p:nvSpPr>
        <p:spPr/>
        <p:txBody>
          <a:bodyPr/>
          <a:lstStyle/>
          <a:p>
            <a:r>
              <a:rPr lang="en-US"/>
              <a:t>/   </a:t>
            </a:r>
            <a:fld id="{6C7E6F33-74EE-5541-8108-8353B402F8C1}" type="slidenum">
              <a:rPr lang="en-US" smtClean="0"/>
              <a:pPr/>
              <a:t>103</a:t>
            </a:fld>
            <a:endParaRPr lang="en-US"/>
          </a:p>
        </p:txBody>
      </p:sp>
      <p:sp>
        <p:nvSpPr>
          <p:cNvPr id="5" name="Title 4">
            <a:extLst>
              <a:ext uri="{FF2B5EF4-FFF2-40B4-BE49-F238E27FC236}">
                <a16:creationId xmlns:a16="http://schemas.microsoft.com/office/drawing/2014/main" id="{8C498E32-7610-121A-C5A8-66116FE8B3C3}"/>
              </a:ext>
            </a:extLst>
          </p:cNvPr>
          <p:cNvSpPr>
            <a:spLocks noGrp="1"/>
          </p:cNvSpPr>
          <p:nvPr>
            <p:ph type="title"/>
          </p:nvPr>
        </p:nvSpPr>
        <p:spPr/>
        <p:txBody>
          <a:bodyPr/>
          <a:lstStyle/>
          <a:p>
            <a:r>
              <a:rPr lang="en-US"/>
              <a:t>Bill of Materials</a:t>
            </a:r>
            <a:endParaRPr lang="en-US">
              <a:solidFill>
                <a:srgbClr val="000000"/>
              </a:solidFill>
            </a:endParaRPr>
          </a:p>
        </p:txBody>
      </p:sp>
      <p:sp>
        <p:nvSpPr>
          <p:cNvPr id="6" name="Text Placeholder 5">
            <a:extLst>
              <a:ext uri="{FF2B5EF4-FFF2-40B4-BE49-F238E27FC236}">
                <a16:creationId xmlns:a16="http://schemas.microsoft.com/office/drawing/2014/main" id="{C728DBFA-1667-7BAD-3010-9E9F40B7B4B5}"/>
              </a:ext>
            </a:extLst>
          </p:cNvPr>
          <p:cNvSpPr>
            <a:spLocks noGrp="1"/>
          </p:cNvSpPr>
          <p:nvPr>
            <p:ph type="body" sz="quarter" idx="13"/>
          </p:nvPr>
        </p:nvSpPr>
        <p:spPr/>
        <p:txBody>
          <a:bodyPr/>
          <a:lstStyle/>
          <a:p>
            <a:r>
              <a:rPr lang="en-US" sz="1900">
                <a:cs typeface="Calibri"/>
              </a:rPr>
              <a:t>Preliminary Recovery BOM</a:t>
            </a:r>
            <a:endParaRPr lang="en-US"/>
          </a:p>
        </p:txBody>
      </p:sp>
      <p:graphicFrame>
        <p:nvGraphicFramePr>
          <p:cNvPr id="8" name="Table 7">
            <a:extLst>
              <a:ext uri="{FF2B5EF4-FFF2-40B4-BE49-F238E27FC236}">
                <a16:creationId xmlns:a16="http://schemas.microsoft.com/office/drawing/2014/main" id="{AD76CEB7-ECBB-1B5A-1A40-6AD7A2D7D83F}"/>
              </a:ext>
            </a:extLst>
          </p:cNvPr>
          <p:cNvGraphicFramePr>
            <a:graphicFrameLocks noGrp="1"/>
          </p:cNvGraphicFramePr>
          <p:nvPr>
            <p:extLst>
              <p:ext uri="{D42A27DB-BD31-4B8C-83A1-F6EECF244321}">
                <p14:modId xmlns:p14="http://schemas.microsoft.com/office/powerpoint/2010/main" val="1195477259"/>
              </p:ext>
            </p:extLst>
          </p:nvPr>
        </p:nvGraphicFramePr>
        <p:xfrm>
          <a:off x="1101337" y="1558849"/>
          <a:ext cx="10026913" cy="3377821"/>
        </p:xfrm>
        <a:graphic>
          <a:graphicData uri="http://schemas.openxmlformats.org/drawingml/2006/table">
            <a:tbl>
              <a:tblPr bandRow="1">
                <a:tableStyleId>{5C22544A-7EE6-4342-B048-85BDC9FD1C3A}</a:tableStyleId>
              </a:tblPr>
              <a:tblGrid>
                <a:gridCol w="478136">
                  <a:extLst>
                    <a:ext uri="{9D8B030D-6E8A-4147-A177-3AD203B41FA5}">
                      <a16:colId xmlns:a16="http://schemas.microsoft.com/office/drawing/2014/main" val="2985961997"/>
                    </a:ext>
                  </a:extLst>
                </a:gridCol>
                <a:gridCol w="3052662">
                  <a:extLst>
                    <a:ext uri="{9D8B030D-6E8A-4147-A177-3AD203B41FA5}">
                      <a16:colId xmlns:a16="http://schemas.microsoft.com/office/drawing/2014/main" val="1853624360"/>
                    </a:ext>
                  </a:extLst>
                </a:gridCol>
                <a:gridCol w="933851">
                  <a:extLst>
                    <a:ext uri="{9D8B030D-6E8A-4147-A177-3AD203B41FA5}">
                      <a16:colId xmlns:a16="http://schemas.microsoft.com/office/drawing/2014/main" val="3146864169"/>
                    </a:ext>
                  </a:extLst>
                </a:gridCol>
                <a:gridCol w="2109737">
                  <a:extLst>
                    <a:ext uri="{9D8B030D-6E8A-4147-A177-3AD203B41FA5}">
                      <a16:colId xmlns:a16="http://schemas.microsoft.com/office/drawing/2014/main" val="3149916100"/>
                    </a:ext>
                  </a:extLst>
                </a:gridCol>
                <a:gridCol w="1946317">
                  <a:extLst>
                    <a:ext uri="{9D8B030D-6E8A-4147-A177-3AD203B41FA5}">
                      <a16:colId xmlns:a16="http://schemas.microsoft.com/office/drawing/2014/main" val="2358979984"/>
                    </a:ext>
                  </a:extLst>
                </a:gridCol>
                <a:gridCol w="1506210">
                  <a:extLst>
                    <a:ext uri="{9D8B030D-6E8A-4147-A177-3AD203B41FA5}">
                      <a16:colId xmlns:a16="http://schemas.microsoft.com/office/drawing/2014/main" val="91384708"/>
                    </a:ext>
                  </a:extLst>
                </a:gridCol>
              </a:tblGrid>
              <a:tr h="612667">
                <a:tc>
                  <a:txBody>
                    <a:bodyPr/>
                    <a:lstStyle/>
                    <a:p>
                      <a:pPr algn="l" fontAlgn="base">
                        <a:lnSpc>
                          <a:spcPts val="2250"/>
                        </a:lnSpc>
                      </a:pPr>
                      <a:r>
                        <a:rPr lang="en-US" sz="1400" b="1" i="0" u="none" strike="noStrike">
                          <a:solidFill>
                            <a:srgbClr val="FFFFFF"/>
                          </a:solidFill>
                          <a:effectLst/>
                          <a:latin typeface="Times New Roman"/>
                        </a:rPr>
                        <a:t>#</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527" cap="flat" cmpd="sng" algn="ctr">
                      <a:solidFill>
                        <a:srgbClr val="FFFFFF"/>
                      </a:solidFill>
                      <a:prstDash val="solid"/>
                      <a:round/>
                      <a:headEnd type="none" w="med" len="med"/>
                      <a:tailEnd type="none" w="med" len="med"/>
                    </a:lnB>
                    <a:solidFill>
                      <a:srgbClr val="035642"/>
                    </a:solidFill>
                  </a:tcPr>
                </a:tc>
                <a:tc>
                  <a:txBody>
                    <a:bodyPr/>
                    <a:lstStyle/>
                    <a:p>
                      <a:pPr lvl="0" algn="l">
                        <a:lnSpc>
                          <a:spcPts val="2250"/>
                        </a:lnSpc>
                        <a:buNone/>
                      </a:pPr>
                      <a:r>
                        <a:rPr lang="en-US" sz="1400" b="1" i="0" u="none" strike="noStrike">
                          <a:solidFill>
                            <a:srgbClr val="FFFFFF"/>
                          </a:solidFill>
                          <a:effectLst/>
                          <a:latin typeface="Times New Roman"/>
                        </a:rPr>
                        <a:t>Item</a:t>
                      </a:r>
                      <a:endParaRPr lang="en-US" sz="1400"/>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527" cap="flat" cmpd="sng" algn="ctr">
                      <a:solidFill>
                        <a:srgbClr val="FFFFFF"/>
                      </a:solidFill>
                      <a:prstDash val="solid"/>
                      <a:round/>
                      <a:headEnd type="none" w="med" len="med"/>
                      <a:tailEnd type="none" w="med" len="med"/>
                    </a:lnB>
                    <a:solidFill>
                      <a:srgbClr val="035642"/>
                    </a:solidFill>
                  </a:tcPr>
                </a:tc>
                <a:tc>
                  <a:txBody>
                    <a:bodyPr/>
                    <a:lstStyle/>
                    <a:p>
                      <a:pPr lvl="0" algn="l">
                        <a:lnSpc>
                          <a:spcPts val="2250"/>
                        </a:lnSpc>
                        <a:buNone/>
                      </a:pPr>
                      <a:r>
                        <a:rPr lang="en-US" sz="1400" b="1" i="0" u="none" strike="noStrike">
                          <a:solidFill>
                            <a:srgbClr val="FFFFFF"/>
                          </a:solidFill>
                          <a:effectLst/>
                          <a:latin typeface="Times New Roman"/>
                        </a:rPr>
                        <a:t>Qty. </a:t>
                      </a:r>
                    </a:p>
                  </a:txBody>
                  <a:tcPr>
                    <a:lnL w="9525" cap="flat" cmpd="sng" algn="ctr">
                      <a:solidFill>
                        <a:srgbClr val="FFFFFF"/>
                      </a:solidFill>
                      <a:prstDash val="solid"/>
                      <a:round/>
                      <a:headEnd type="none" w="med" len="med"/>
                      <a:tailEnd type="none" w="med" len="med"/>
                    </a:lnL>
                    <a:lnR w="9524">
                      <a:solidFill>
                        <a:srgbClr val="FFFFFF"/>
                      </a:solidFill>
                    </a:lnR>
                    <a:lnT w="9524">
                      <a:solidFill>
                        <a:srgbClr val="FFFFFF"/>
                      </a:solidFill>
                    </a:lnT>
                    <a:lnB w="24525" cap="flat" cmpd="sng" algn="ctr">
                      <a:solidFill>
                        <a:srgbClr val="FFFFFF"/>
                      </a:solidFill>
                      <a:prstDash val="solid"/>
                      <a:round/>
                      <a:headEnd type="none" w="med" len="med"/>
                      <a:tailEnd type="none" w="med" len="med"/>
                    </a:lnB>
                    <a:solidFill>
                      <a:srgbClr val="035642"/>
                    </a:solidFill>
                  </a:tcPr>
                </a:tc>
                <a:tc>
                  <a:txBody>
                    <a:bodyPr/>
                    <a:lstStyle/>
                    <a:p>
                      <a:pPr lvl="0" algn="l">
                        <a:lnSpc>
                          <a:spcPts val="2250"/>
                        </a:lnSpc>
                        <a:buNone/>
                      </a:pPr>
                      <a:r>
                        <a:rPr lang="en-US" sz="1400" b="1" i="0" u="none" strike="noStrike">
                          <a:solidFill>
                            <a:srgbClr val="FFFFFF"/>
                          </a:solidFill>
                          <a:effectLst/>
                          <a:latin typeface="Times New Roman"/>
                        </a:rPr>
                        <a:t>Price per Unit</a:t>
                      </a:r>
                    </a:p>
                  </a:txBody>
                  <a:tcPr>
                    <a:lnL w="9524">
                      <a:solidFill>
                        <a:srgbClr val="FFFFFF"/>
                      </a:solidFill>
                    </a:lnL>
                    <a:lnR w="9524">
                      <a:solidFill>
                        <a:srgbClr val="FFFFFF"/>
                      </a:solidFill>
                    </a:lnR>
                    <a:lnT w="9524">
                      <a:solidFill>
                        <a:srgbClr val="FFFFFF"/>
                      </a:solidFill>
                    </a:lnT>
                    <a:lnB w="24525">
                      <a:solidFill>
                        <a:srgbClr val="FFFFFF"/>
                      </a:solidFill>
                    </a:lnB>
                    <a:solidFill>
                      <a:srgbClr val="035642"/>
                    </a:solidFill>
                  </a:tcPr>
                </a:tc>
                <a:tc>
                  <a:txBody>
                    <a:bodyPr/>
                    <a:lstStyle/>
                    <a:p>
                      <a:pPr lvl="0" algn="l">
                        <a:lnSpc>
                          <a:spcPts val="2250"/>
                        </a:lnSpc>
                        <a:buNone/>
                      </a:pPr>
                      <a:r>
                        <a:rPr lang="en-US" sz="1400" b="1" i="0" u="none" strike="noStrike">
                          <a:solidFill>
                            <a:srgbClr val="FFFFFF"/>
                          </a:solidFill>
                          <a:effectLst/>
                          <a:latin typeface="Times New Roman"/>
                        </a:rPr>
                        <a:t>Price (Total)</a:t>
                      </a:r>
                      <a:endParaRPr lang="en-US" sz="1400"/>
                    </a:p>
                  </a:txBody>
                  <a:tcPr>
                    <a:lnL w="9524"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527" cap="flat" cmpd="sng" algn="ctr">
                      <a:solidFill>
                        <a:srgbClr val="FFFFFF"/>
                      </a:solidFill>
                      <a:prstDash val="solid"/>
                      <a:round/>
                      <a:headEnd type="none" w="med" len="med"/>
                      <a:tailEnd type="none" w="med" len="med"/>
                    </a:lnB>
                    <a:solidFill>
                      <a:srgbClr val="035642"/>
                    </a:solidFill>
                  </a:tcPr>
                </a:tc>
                <a:tc>
                  <a:txBody>
                    <a:bodyPr/>
                    <a:lstStyle/>
                    <a:p>
                      <a:pPr lvl="0" algn="l">
                        <a:lnSpc>
                          <a:spcPts val="2250"/>
                        </a:lnSpc>
                        <a:buNone/>
                      </a:pPr>
                      <a:r>
                        <a:rPr lang="en-US" sz="1400" b="1" i="0" u="none" strike="noStrike">
                          <a:solidFill>
                            <a:srgbClr val="FFFFFF"/>
                          </a:solidFill>
                          <a:effectLst/>
                          <a:latin typeface="Times New Roman"/>
                        </a:rPr>
                        <a:t>Source</a:t>
                      </a:r>
                      <a:endParaRPr lang="en-US" sz="1400"/>
                    </a:p>
                  </a:txBody>
                  <a:tcPr>
                    <a:lnL w="9525" cap="flat" cmpd="sng" algn="ctr">
                      <a:solidFill>
                        <a:srgbClr val="FFFFFF"/>
                      </a:solidFill>
                      <a:prstDash val="solid"/>
                      <a:round/>
                      <a:headEnd type="none" w="med" len="med"/>
                      <a:tailEnd type="none" w="med" len="med"/>
                    </a:lnL>
                    <a:lnR w="9524">
                      <a:solidFill>
                        <a:srgbClr val="FFFFFF"/>
                      </a:solidFill>
                    </a:lnR>
                    <a:lnT w="9524">
                      <a:solidFill>
                        <a:srgbClr val="FFFFFF"/>
                      </a:solidFill>
                    </a:lnT>
                    <a:lnB w="24526">
                      <a:solidFill>
                        <a:srgbClr val="FFFFFF"/>
                      </a:solidFill>
                    </a:lnB>
                    <a:solidFill>
                      <a:srgbClr val="035642"/>
                    </a:solidFill>
                  </a:tcPr>
                </a:tc>
                <a:extLst>
                  <a:ext uri="{0D108BD9-81ED-4DB2-BD59-A6C34878D82A}">
                    <a16:rowId xmlns:a16="http://schemas.microsoft.com/office/drawing/2014/main" val="297532822"/>
                  </a:ext>
                </a:extLst>
              </a:tr>
              <a:tr h="372097">
                <a:tc>
                  <a:txBody>
                    <a:bodyPr/>
                    <a:lstStyle/>
                    <a:p>
                      <a:pPr algn="l" fontAlgn="base">
                        <a:lnSpc>
                          <a:spcPts val="2250"/>
                        </a:lnSpc>
                      </a:pPr>
                      <a:r>
                        <a:rPr lang="en-US" sz="1400" b="0" i="0" u="none" strike="noStrike">
                          <a:solidFill>
                            <a:srgbClr val="000000"/>
                          </a:solidFill>
                          <a:effectLst/>
                          <a:latin typeface="Times New Roman"/>
                        </a:rPr>
                        <a:t>1</a:t>
                      </a:r>
                      <a:endParaRPr lang="en-US" sz="1400" b="0" i="0">
                        <a:solidFill>
                          <a:srgbClr val="000000"/>
                        </a:solidFill>
                        <a:effectLst/>
                        <a:latin typeface="Times New Roman"/>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527"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Tender Descenders</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527"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2</a:t>
                      </a:r>
                    </a:p>
                  </a:txBody>
                  <a:tcPr>
                    <a:lnL w="9525" cap="flat" cmpd="sng" algn="ctr">
                      <a:solidFill>
                        <a:srgbClr val="FFFFFF"/>
                      </a:solidFill>
                      <a:prstDash val="solid"/>
                      <a:round/>
                      <a:headEnd type="none" w="med" len="med"/>
                      <a:tailEnd type="none" w="med" len="med"/>
                    </a:lnL>
                    <a:lnR w="9524">
                      <a:solidFill>
                        <a:srgbClr val="FFFFFF"/>
                      </a:solidFill>
                    </a:lnR>
                    <a:lnT w="24525"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$155</a:t>
                      </a:r>
                    </a:p>
                  </a:txBody>
                  <a:tcPr>
                    <a:lnL w="9524">
                      <a:solidFill>
                        <a:srgbClr val="FFFFFF"/>
                      </a:solidFill>
                    </a:lnL>
                    <a:lnR w="9524">
                      <a:solidFill>
                        <a:srgbClr val="FFFFFF"/>
                      </a:solidFill>
                    </a:lnR>
                    <a:lnT w="24525">
                      <a:solidFill>
                        <a:srgbClr val="FFFFFF"/>
                      </a:solidFill>
                    </a:lnT>
                    <a:lnB w="9524">
                      <a:solidFill>
                        <a:srgbClr val="FFFFFF"/>
                      </a:solidFill>
                    </a:lnB>
                    <a:solidFill>
                      <a:srgbClr val="E7E9E9"/>
                    </a:solidFill>
                  </a:tcPr>
                </a:tc>
                <a:tc>
                  <a:txBody>
                    <a:bodyPr/>
                    <a:lstStyle/>
                    <a:p>
                      <a:pPr lvl="0" algn="l">
                        <a:lnSpc>
                          <a:spcPts val="2250"/>
                        </a:lnSpc>
                        <a:buNone/>
                      </a:pPr>
                      <a:r>
                        <a:rPr lang="en-US" sz="1400" b="0" i="0" u="none" strike="noStrike">
                          <a:solidFill>
                            <a:srgbClr val="000000"/>
                          </a:solidFill>
                          <a:effectLst/>
                          <a:latin typeface="Aptos" panose="020B0004020202020204" pitchFamily="34" charset="0"/>
                        </a:rPr>
                        <a:t>$310</a:t>
                      </a:r>
                    </a:p>
                  </a:txBody>
                  <a:tcPr>
                    <a:lnL w="9524"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527"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r>
                        <a:rPr lang="en-US" sz="1400">
                          <a:hlinkClick r:id="rId3"/>
                        </a:rPr>
                        <a:t>Link</a:t>
                      </a:r>
                      <a:endParaRPr lang="en-US" sz="1400" b="0" i="0" u="none" strike="noStrike" noProof="0">
                        <a:solidFill>
                          <a:srgbClr val="000000"/>
                        </a:solidFill>
                        <a:effectLst/>
                        <a:latin typeface="Calibri"/>
                      </a:endParaRPr>
                    </a:p>
                  </a:txBody>
                  <a:tcPr>
                    <a:lnL w="9525" cap="flat" cmpd="sng" algn="ctr">
                      <a:solidFill>
                        <a:srgbClr val="FFFFFF"/>
                      </a:solidFill>
                      <a:prstDash val="solid"/>
                      <a:round/>
                      <a:headEnd type="none" w="med" len="med"/>
                      <a:tailEnd type="none" w="med" len="med"/>
                    </a:lnL>
                    <a:lnR w="9524">
                      <a:solidFill>
                        <a:srgbClr val="FFFFFF"/>
                      </a:solidFill>
                    </a:lnR>
                    <a:lnT w="24526">
                      <a:solidFill>
                        <a:srgbClr val="FFFFFF"/>
                      </a:solidFill>
                    </a:lnT>
                    <a:lnB w="9524">
                      <a:solidFill>
                        <a:srgbClr val="FFFFFF"/>
                      </a:solidFill>
                    </a:lnB>
                    <a:solidFill>
                      <a:srgbClr val="E7E9E9"/>
                    </a:solidFill>
                  </a:tcPr>
                </a:tc>
                <a:extLst>
                  <a:ext uri="{0D108BD9-81ED-4DB2-BD59-A6C34878D82A}">
                    <a16:rowId xmlns:a16="http://schemas.microsoft.com/office/drawing/2014/main" val="2470494284"/>
                  </a:ext>
                </a:extLst>
              </a:tr>
              <a:tr h="352747">
                <a:tc>
                  <a:txBody>
                    <a:bodyPr/>
                    <a:lstStyle/>
                    <a:p>
                      <a:pPr lvl="0" algn="l">
                        <a:lnSpc>
                          <a:spcPts val="2250"/>
                        </a:lnSpc>
                        <a:buNone/>
                      </a:pPr>
                      <a:r>
                        <a:rPr lang="en-US" sz="1400" b="0" i="0" u="none" strike="noStrike">
                          <a:solidFill>
                            <a:srgbClr val="000000"/>
                          </a:solidFill>
                          <a:effectLst/>
                          <a:latin typeface="Times New Roman"/>
                        </a:rPr>
                        <a:t>2</a:t>
                      </a: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CO2 Peregrine Kit</a:t>
                      </a: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2</a:t>
                      </a:r>
                    </a:p>
                  </a:txBody>
                  <a:tcPr>
                    <a:lnL w="9524"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$185</a:t>
                      </a:r>
                    </a:p>
                  </a:txBody>
                  <a:tcPr>
                    <a:lnL w="9524">
                      <a:solidFill>
                        <a:srgbClr val="FFFFFF"/>
                      </a:solidFill>
                    </a:lnL>
                    <a:lnR w="9524">
                      <a:solidFill>
                        <a:srgbClr val="FFFFFF"/>
                      </a:solidFill>
                    </a:lnR>
                    <a:lnT w="9524">
                      <a:solidFill>
                        <a:srgbClr val="FFFFFF"/>
                      </a:solidFill>
                    </a:lnT>
                    <a:lnB w="9524">
                      <a:solidFill>
                        <a:srgbClr val="FFFFFF"/>
                      </a:solidFill>
                    </a:lnB>
                    <a:solidFill>
                      <a:srgbClr val="CBD1CF"/>
                    </a:solidFill>
                  </a:tcPr>
                </a:tc>
                <a:tc>
                  <a:txBody>
                    <a:bodyPr/>
                    <a:lstStyle/>
                    <a:p>
                      <a:pPr lvl="0" algn="l">
                        <a:lnSpc>
                          <a:spcPts val="2250"/>
                        </a:lnSpc>
                        <a:buNone/>
                      </a:pPr>
                      <a:r>
                        <a:rPr lang="en-US" sz="1400" b="0" i="0" u="none" strike="noStrike">
                          <a:solidFill>
                            <a:srgbClr val="000000"/>
                          </a:solidFill>
                          <a:effectLst/>
                          <a:latin typeface="Aptos" panose="020B0004020202020204" pitchFamily="34" charset="0"/>
                        </a:rPr>
                        <a:t>$370</a:t>
                      </a:r>
                    </a:p>
                  </a:txBody>
                  <a:tcPr>
                    <a:lnL w="9524" cap="flat" cmpd="sng" algn="ctr">
                      <a:solidFill>
                        <a:srgbClr val="FFFFFF"/>
                      </a:solidFill>
                      <a:prstDash val="solid"/>
                      <a:round/>
                      <a:headEnd type="none" w="med" len="med"/>
                      <a:tailEnd type="none" w="med" len="med"/>
                    </a:lnL>
                    <a:lnR w="9524">
                      <a:solidFill>
                        <a:srgbClr val="FFFFFF"/>
                      </a:solidFill>
                    </a:lnR>
                    <a:lnT w="9525"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400">
                          <a:hlinkClick r:id="rId4"/>
                        </a:rPr>
                        <a:t>Link</a:t>
                      </a:r>
                      <a:endParaRPr lang="en-US" sz="1400" b="0" i="0" u="none" strike="noStrike" noProof="0">
                        <a:solidFill>
                          <a:srgbClr val="000000"/>
                        </a:solidFill>
                        <a:effectLst/>
                        <a:latin typeface="Calibri"/>
                      </a:endParaRPr>
                    </a:p>
                  </a:txBody>
                  <a:tcPr>
                    <a:lnL w="9524">
                      <a:solidFill>
                        <a:srgbClr val="FFFFFF"/>
                      </a:solidFill>
                    </a:lnL>
                    <a:lnR w="9524">
                      <a:solidFill>
                        <a:srgbClr val="FFFFFF"/>
                      </a:solidFill>
                    </a:lnR>
                    <a:lnT w="9524">
                      <a:solidFill>
                        <a:srgbClr val="FFFFFF"/>
                      </a:solidFill>
                    </a:lnT>
                    <a:lnB w="9524">
                      <a:solidFill>
                        <a:srgbClr val="FFFFFF"/>
                      </a:solidFill>
                    </a:lnB>
                    <a:solidFill>
                      <a:srgbClr val="CBD1CF"/>
                    </a:solidFill>
                  </a:tcPr>
                </a:tc>
                <a:extLst>
                  <a:ext uri="{0D108BD9-81ED-4DB2-BD59-A6C34878D82A}">
                    <a16:rowId xmlns:a16="http://schemas.microsoft.com/office/drawing/2014/main" val="4196995359"/>
                  </a:ext>
                </a:extLst>
              </a:tr>
              <a:tr h="352747">
                <a:tc>
                  <a:txBody>
                    <a:bodyPr/>
                    <a:lstStyle/>
                    <a:p>
                      <a:pPr lvl="0" algn="l">
                        <a:lnSpc>
                          <a:spcPts val="2250"/>
                        </a:lnSpc>
                        <a:buNone/>
                      </a:pPr>
                      <a:r>
                        <a:rPr lang="en-US" sz="1400" b="0" i="0" u="none" strike="noStrike">
                          <a:solidFill>
                            <a:srgbClr val="000000"/>
                          </a:solidFill>
                          <a:effectLst/>
                          <a:latin typeface="Times New Roman"/>
                        </a:rPr>
                        <a:t>3</a:t>
                      </a:r>
                    </a:p>
                  </a:txBody>
                  <a:tcPr>
                    <a:lnL w="9524">
                      <a:solidFill>
                        <a:srgbClr val="FFFFFF"/>
                      </a:solidFill>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Parachute Bag</a:t>
                      </a:r>
                      <a:endParaRPr lang="en-US" sz="1400">
                        <a:latin typeface="Aptos" panose="020B0004020202020204" pitchFamily="34" charset="0"/>
                      </a:endParaRP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1</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$69.36</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a:solidFill>
                            <a:srgbClr val="000000"/>
                          </a:solidFill>
                          <a:effectLst/>
                          <a:latin typeface="Aptos" panose="020B0004020202020204" pitchFamily="34" charset="0"/>
                        </a:rPr>
                        <a:t>$69.36</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400">
                          <a:hlinkClick r:id="rId5"/>
                        </a:rPr>
                        <a:t>Link</a:t>
                      </a:r>
                      <a:endParaRPr lang="en-US" sz="1400" b="0" i="0" u="none" strike="noStrike">
                        <a:solidFill>
                          <a:srgbClr val="000000"/>
                        </a:solidFill>
                        <a:effectLst/>
                        <a:latin typeface="Times New Roman"/>
                      </a:endParaRPr>
                    </a:p>
                  </a:txBody>
                  <a:tcPr>
                    <a:lnL w="9524"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493553616"/>
                  </a:ext>
                </a:extLst>
              </a:tr>
              <a:tr h="352747">
                <a:tc>
                  <a:txBody>
                    <a:bodyPr/>
                    <a:lstStyle/>
                    <a:p>
                      <a:pPr lvl="0" algn="l">
                        <a:lnSpc>
                          <a:spcPts val="2250"/>
                        </a:lnSpc>
                        <a:buNone/>
                      </a:pPr>
                      <a:r>
                        <a:rPr lang="en-US" sz="1400" b="0" i="0" u="none" strike="noStrike">
                          <a:solidFill>
                            <a:srgbClr val="000000"/>
                          </a:solidFill>
                          <a:effectLst/>
                          <a:latin typeface="Times New Roman"/>
                        </a:rPr>
                        <a:t>4</a:t>
                      </a:r>
                    </a:p>
                  </a:txBody>
                  <a:tcPr>
                    <a:lnL w="9524">
                      <a:solidFill>
                        <a:srgbClr val="FFFFFF"/>
                      </a:solidFill>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Shock Cord (1 yd)</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12</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$7.69</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$92.28</a:t>
                      </a:r>
                      <a:endParaRPr lang="en-US">
                        <a:latin typeface="Aptos" panose="020B0004020202020204" pitchFamily="34" charset="0"/>
                      </a:endParaRP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000000"/>
                          </a:solidFill>
                          <a:effectLst/>
                          <a:hlinkClick r:id="rId6"/>
                        </a:rPr>
                        <a:t>Link</a:t>
                      </a:r>
                      <a:endParaRPr lang="en-US" sz="1400" b="0" i="0" u="none" strike="noStrike" noProof="0">
                        <a:solidFill>
                          <a:srgbClr val="000000"/>
                        </a:solidFill>
                        <a:effectLst/>
                      </a:endParaRPr>
                    </a:p>
                  </a:txBody>
                  <a:tcPr>
                    <a:lnL w="9524"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extLst>
                  <a:ext uri="{0D108BD9-81ED-4DB2-BD59-A6C34878D82A}">
                    <a16:rowId xmlns:a16="http://schemas.microsoft.com/office/drawing/2014/main" val="482793983"/>
                  </a:ext>
                </a:extLst>
              </a:tr>
              <a:tr h="352747">
                <a:tc>
                  <a:txBody>
                    <a:bodyPr/>
                    <a:lstStyle/>
                    <a:p>
                      <a:pPr lvl="0" algn="l">
                        <a:lnSpc>
                          <a:spcPts val="2250"/>
                        </a:lnSpc>
                        <a:buNone/>
                      </a:pPr>
                      <a:r>
                        <a:rPr lang="en-US" sz="1400" b="0" i="0" u="none" strike="noStrike">
                          <a:solidFill>
                            <a:srgbClr val="000000"/>
                          </a:solidFill>
                          <a:effectLst/>
                          <a:latin typeface="Times New Roman"/>
                        </a:rPr>
                        <a:t>5</a:t>
                      </a:r>
                    </a:p>
                  </a:txBody>
                  <a:tcPr>
                    <a:lnL w="9524">
                      <a:solidFill>
                        <a:srgbClr val="FFFFFF"/>
                      </a:solidFill>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E-Matches (10 ft)</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1</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marL="0" marR="0" lvl="0" indent="0" algn="l" defTabSz="914377" rtl="0" eaLnBrk="1" fontAlgn="auto" latinLnBrk="0" hangingPunct="1">
                        <a:lnSpc>
                          <a:spcPts val="2250"/>
                        </a:lnSpc>
                        <a:spcBef>
                          <a:spcPts val="0"/>
                        </a:spcBef>
                        <a:spcAft>
                          <a:spcPts val="0"/>
                        </a:spcAft>
                        <a:buClrTx/>
                        <a:buSzTx/>
                        <a:buFontTx/>
                        <a:buNone/>
                        <a:tabLst/>
                        <a:defRPr/>
                      </a:pPr>
                      <a:r>
                        <a:rPr kumimoji="0" lang="en-US" sz="1400" b="0" i="0" u="none" strike="noStrike" kern="1200" cap="none" spc="0" normalizeH="0" baseline="0" noProof="0">
                          <a:ln>
                            <a:noFill/>
                          </a:ln>
                          <a:solidFill>
                            <a:srgbClr val="242424"/>
                          </a:solidFill>
                          <a:effectLst/>
                          <a:uLnTx/>
                          <a:uFillTx/>
                          <a:latin typeface="Aptos" panose="020B0004020202020204" pitchFamily="34" charset="0"/>
                          <a:ea typeface="+mn-ea"/>
                          <a:cs typeface="+mn-cs"/>
                        </a:rPr>
                        <a:t>$32.99</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$32.99</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a:hlinkClick r:id="rId7"/>
                        </a:rPr>
                        <a:t>Link</a:t>
                      </a:r>
                      <a:endParaRPr lang="en-US" sz="1400"/>
                    </a:p>
                  </a:txBody>
                  <a:tcPr>
                    <a:lnL w="9524"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extLst>
                  <a:ext uri="{0D108BD9-81ED-4DB2-BD59-A6C34878D82A}">
                    <a16:rowId xmlns:a16="http://schemas.microsoft.com/office/drawing/2014/main" val="997614524"/>
                  </a:ext>
                </a:extLst>
              </a:tr>
              <a:tr h="352747">
                <a:tc>
                  <a:txBody>
                    <a:bodyPr/>
                    <a:lstStyle/>
                    <a:p>
                      <a:pPr lvl="0" algn="l">
                        <a:lnSpc>
                          <a:spcPts val="2250"/>
                        </a:lnSpc>
                        <a:buNone/>
                      </a:pPr>
                      <a:r>
                        <a:rPr lang="en-US" sz="1400" b="0" i="0" u="none" strike="noStrike">
                          <a:solidFill>
                            <a:srgbClr val="000000"/>
                          </a:solidFill>
                          <a:effectLst/>
                          <a:latin typeface="Times New Roman"/>
                        </a:rPr>
                        <a:t>6</a:t>
                      </a:r>
                    </a:p>
                  </a:txBody>
                  <a:tcPr>
                    <a:lnL w="9524">
                      <a:solidFill>
                        <a:srgbClr val="FFFFFF"/>
                      </a:solidFill>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Parachute (144 in)</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1</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marL="0" marR="0" lvl="0" indent="0" algn="l" defTabSz="914377" rtl="0" eaLnBrk="1" fontAlgn="auto" latinLnBrk="0" hangingPunct="1">
                        <a:lnSpc>
                          <a:spcPts val="2250"/>
                        </a:lnSpc>
                        <a:spcBef>
                          <a:spcPts val="0"/>
                        </a:spcBef>
                        <a:spcAft>
                          <a:spcPts val="0"/>
                        </a:spcAft>
                        <a:buClrTx/>
                        <a:buSzTx/>
                        <a:buFontTx/>
                        <a:buNone/>
                        <a:tabLst/>
                        <a:defRPr/>
                      </a:pPr>
                      <a:r>
                        <a:rPr kumimoji="0" lang="en-US" sz="1400" b="0" i="0" u="none" strike="noStrike" kern="1200" cap="none" spc="0" normalizeH="0" baseline="0" noProof="0">
                          <a:ln>
                            <a:noFill/>
                          </a:ln>
                          <a:solidFill>
                            <a:srgbClr val="242424"/>
                          </a:solidFill>
                          <a:effectLst/>
                          <a:uLnTx/>
                          <a:uFillTx/>
                          <a:latin typeface="Aptos" panose="020B0004020202020204" pitchFamily="34" charset="0"/>
                          <a:ea typeface="+mn-ea"/>
                          <a:cs typeface="+mn-cs"/>
                        </a:rPr>
                        <a:t>$965.89</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$965.89</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tc>
                  <a:txBody>
                    <a:bodyPr/>
                    <a:lstStyle/>
                    <a:p>
                      <a:pPr lvl="0" algn="l">
                        <a:lnSpc>
                          <a:spcPts val="2250"/>
                        </a:lnSpc>
                        <a:buNone/>
                      </a:pPr>
                      <a:r>
                        <a:rPr lang="en-US" sz="1400">
                          <a:hlinkClick r:id="rId8"/>
                        </a:rPr>
                        <a:t>Link</a:t>
                      </a:r>
                      <a:endParaRPr lang="en-US" sz="1400"/>
                    </a:p>
                  </a:txBody>
                  <a:tcPr>
                    <a:lnL w="9524"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a:solidFill>
                        <a:srgbClr val="FFFFFF"/>
                      </a:solidFill>
                    </a:lnB>
                    <a:solidFill>
                      <a:srgbClr val="CBD1CF"/>
                    </a:solidFill>
                  </a:tcPr>
                </a:tc>
                <a:extLst>
                  <a:ext uri="{0D108BD9-81ED-4DB2-BD59-A6C34878D82A}">
                    <a16:rowId xmlns:a16="http://schemas.microsoft.com/office/drawing/2014/main" val="2051793293"/>
                  </a:ext>
                </a:extLst>
              </a:tr>
              <a:tr h="594102">
                <a:tc>
                  <a:txBody>
                    <a:bodyPr/>
                    <a:lstStyle/>
                    <a:p>
                      <a:pPr lvl="0" algn="l">
                        <a:lnSpc>
                          <a:spcPts val="2250"/>
                        </a:lnSpc>
                        <a:buNone/>
                      </a:pPr>
                      <a:endParaRPr lang="en-US" sz="1400" b="0" i="0" u="none" strike="noStrike">
                        <a:solidFill>
                          <a:srgbClr val="000000"/>
                        </a:solidFill>
                        <a:effectLst/>
                        <a:latin typeface="Times New Roman"/>
                      </a:endParaRPr>
                    </a:p>
                  </a:txBody>
                  <a:tcPr>
                    <a:lnL w="9524">
                      <a:solidFill>
                        <a:srgbClr val="FFFFFF"/>
                      </a:solidFill>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r>
                        <a:rPr lang="en-US" sz="1400" b="0" i="0" u="none" strike="noStrike" noProof="0">
                          <a:solidFill>
                            <a:srgbClr val="242424"/>
                          </a:solidFill>
                          <a:effectLst/>
                          <a:latin typeface="Aptos" panose="020B0004020202020204" pitchFamily="34" charset="0"/>
                        </a:rPr>
                        <a:t>Total (Not including Tax/S&amp;H)</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endParaRPr lang="en-US" sz="1400" b="0" i="0" u="none" strike="noStrike" noProof="0">
                        <a:solidFill>
                          <a:srgbClr val="242424"/>
                        </a:solidFill>
                        <a:effectLst/>
                        <a:latin typeface="Aptos" panose="020B0004020202020204" pitchFamily="34" charset="0"/>
                      </a:endParaRP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endParaRPr lang="en-US" sz="1400" b="0" i="0" u="none" strike="noStrike" noProof="0">
                        <a:solidFill>
                          <a:srgbClr val="242424"/>
                        </a:solidFill>
                        <a:effectLst/>
                        <a:latin typeface="Aptos" panose="020B0004020202020204" pitchFamily="34" charset="0"/>
                      </a:endParaRP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r>
                        <a:rPr lang="en-US" sz="1400" b="0" i="0" u="none" strike="noStrike">
                          <a:solidFill>
                            <a:srgbClr val="000000"/>
                          </a:solidFill>
                          <a:effectLst/>
                          <a:latin typeface="Aptos" panose="020B0004020202020204" pitchFamily="34" charset="0"/>
                        </a:rPr>
                        <a:t>$1840.26</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endParaRPr lang="en-US" sz="1400" b="0" i="0" u="none" strike="noStrike">
                        <a:solidFill>
                          <a:srgbClr val="000000"/>
                        </a:solidFill>
                        <a:effectLst/>
                        <a:latin typeface="Times New Roman"/>
                      </a:endParaRPr>
                    </a:p>
                  </a:txBody>
                  <a:tcPr>
                    <a:lnL w="9524"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2015134009"/>
                  </a:ext>
                </a:extLst>
              </a:tr>
            </a:tbl>
          </a:graphicData>
        </a:graphic>
      </p:graphicFrame>
    </p:spTree>
    <p:extLst>
      <p:ext uri="{BB962C8B-B14F-4D97-AF65-F5344CB8AC3E}">
        <p14:creationId xmlns:p14="http://schemas.microsoft.com/office/powerpoint/2010/main" val="1641690906"/>
      </p:ext>
    </p:extLst>
  </p:cSld>
  <p:clrMapOvr>
    <a:masterClrMapping/>
  </p:clrMapOvr>
  <p:extLst>
    <p:ext uri="{6950BFC3-D8DA-4A85-94F7-54DA5524770B}">
      <p188:commentRel xmlns:p188="http://schemas.microsoft.com/office/powerpoint/2018/8/main" r:id="rId2"/>
    </p:ext>
  </p:extLs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72C8C-F203-035A-FF57-A5EF2967BBF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B505B9F-04D8-9E74-A9A2-AC5ED3B39C6C}"/>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C30E4065-C97F-E759-43AC-E73F678395A5}"/>
              </a:ext>
            </a:extLst>
          </p:cNvPr>
          <p:cNvSpPr>
            <a:spLocks noGrp="1"/>
          </p:cNvSpPr>
          <p:nvPr>
            <p:ph type="sldNum" sz="quarter" idx="17"/>
          </p:nvPr>
        </p:nvSpPr>
        <p:spPr/>
        <p:txBody>
          <a:bodyPr/>
          <a:lstStyle/>
          <a:p>
            <a:r>
              <a:rPr lang="en-US"/>
              <a:t>/   </a:t>
            </a:r>
            <a:fld id="{6C7E6F33-74EE-5541-8108-8353B402F8C1}" type="slidenum">
              <a:rPr lang="en-US" smtClean="0"/>
              <a:pPr/>
              <a:t>104</a:t>
            </a:fld>
            <a:endParaRPr lang="en-US"/>
          </a:p>
        </p:txBody>
      </p:sp>
      <p:sp>
        <p:nvSpPr>
          <p:cNvPr id="5" name="Title 4">
            <a:extLst>
              <a:ext uri="{FF2B5EF4-FFF2-40B4-BE49-F238E27FC236}">
                <a16:creationId xmlns:a16="http://schemas.microsoft.com/office/drawing/2014/main" id="{BAB0A219-E438-E118-B735-F40F3EA8896C}"/>
              </a:ext>
            </a:extLst>
          </p:cNvPr>
          <p:cNvSpPr>
            <a:spLocks noGrp="1"/>
          </p:cNvSpPr>
          <p:nvPr>
            <p:ph type="title"/>
          </p:nvPr>
        </p:nvSpPr>
        <p:spPr>
          <a:xfrm>
            <a:off x="531848" y="716984"/>
            <a:ext cx="6747546" cy="625567"/>
          </a:xfrm>
        </p:spPr>
        <p:txBody>
          <a:bodyPr/>
          <a:lstStyle/>
          <a:p>
            <a:r>
              <a:rPr lang="en-US">
                <a:latin typeface="Munistic"/>
              </a:rPr>
              <a:t>Next Steps</a:t>
            </a:r>
            <a:endParaRPr lang="en-US"/>
          </a:p>
        </p:txBody>
      </p:sp>
      <p:sp>
        <p:nvSpPr>
          <p:cNvPr id="6" name="TextBox 5">
            <a:extLst>
              <a:ext uri="{FF2B5EF4-FFF2-40B4-BE49-F238E27FC236}">
                <a16:creationId xmlns:a16="http://schemas.microsoft.com/office/drawing/2014/main" id="{01B5F983-B6BF-3650-93E0-7F9979672C94}"/>
              </a:ext>
            </a:extLst>
          </p:cNvPr>
          <p:cNvSpPr txBox="1"/>
          <p:nvPr/>
        </p:nvSpPr>
        <p:spPr>
          <a:xfrm>
            <a:off x="423362" y="1969533"/>
            <a:ext cx="646662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endParaRPr lang="en-US" sz="2000">
              <a:ea typeface="Calibri"/>
              <a:cs typeface="Calibri"/>
            </a:endParaRPr>
          </a:p>
          <a:p>
            <a:pPr marL="285750" indent="-285750">
              <a:buFont typeface="Arial" panose="020B0604020202020204" pitchFamily="34" charset="0"/>
              <a:buChar char="•"/>
            </a:pPr>
            <a:endParaRPr lang="en-US" sz="2000">
              <a:ea typeface="Calibri"/>
              <a:cs typeface="Calibri"/>
            </a:endParaRPr>
          </a:p>
          <a:p>
            <a:pPr marL="285750" indent="-285750">
              <a:buFont typeface="Arial" panose="020B0604020202020204" pitchFamily="34" charset="0"/>
              <a:buChar char="•"/>
            </a:pPr>
            <a:endParaRPr lang="en-US" sz="2000">
              <a:ea typeface="Calibri"/>
              <a:cs typeface="Calibri"/>
            </a:endParaRPr>
          </a:p>
          <a:p>
            <a:endParaRPr lang="en-US" sz="2000">
              <a:ea typeface="Calibri"/>
              <a:cs typeface="Calibri"/>
            </a:endParaRPr>
          </a:p>
        </p:txBody>
      </p:sp>
      <p:sp>
        <p:nvSpPr>
          <p:cNvPr id="7" name="TextBox 6">
            <a:extLst>
              <a:ext uri="{FF2B5EF4-FFF2-40B4-BE49-F238E27FC236}">
                <a16:creationId xmlns:a16="http://schemas.microsoft.com/office/drawing/2014/main" id="{D9C0FD68-0D83-8632-BDE1-B77B62A8565C}"/>
              </a:ext>
            </a:extLst>
          </p:cNvPr>
          <p:cNvSpPr txBox="1"/>
          <p:nvPr/>
        </p:nvSpPr>
        <p:spPr>
          <a:xfrm>
            <a:off x="672310" y="1753544"/>
            <a:ext cx="646662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2000">
                <a:ea typeface="Calibri"/>
                <a:cs typeface="Calibri"/>
              </a:rPr>
              <a:t>Help with manufacturing</a:t>
            </a:r>
          </a:p>
          <a:p>
            <a:pPr marL="285750" indent="-285750">
              <a:buFont typeface="Arial" panose="020B0604020202020204" pitchFamily="34" charset="0"/>
              <a:buChar char="•"/>
            </a:pPr>
            <a:endParaRPr lang="en-US" sz="2000">
              <a:ea typeface="Calibri"/>
              <a:cs typeface="Calibri"/>
            </a:endParaRPr>
          </a:p>
          <a:p>
            <a:pPr marL="285750" indent="-285750">
              <a:buFont typeface="Arial" panose="020B0604020202020204" pitchFamily="34" charset="0"/>
              <a:buChar char="•"/>
            </a:pPr>
            <a:r>
              <a:rPr lang="en-US" sz="2000">
                <a:ea typeface="Calibri"/>
                <a:cs typeface="Calibri"/>
              </a:rPr>
              <a:t>Start testing</a:t>
            </a:r>
            <a:endParaRPr lang="en-US"/>
          </a:p>
          <a:p>
            <a:pPr marL="742950" lvl="1" indent="-285750">
              <a:buFont typeface="Arial" panose="020B0604020202020204" pitchFamily="34" charset="0"/>
              <a:buChar char="•"/>
            </a:pPr>
            <a:endParaRPr lang="en-US" sz="2000">
              <a:ea typeface="Calibri"/>
              <a:cs typeface="Calibri"/>
            </a:endParaRPr>
          </a:p>
          <a:p>
            <a:pPr marL="285750" indent="-285750">
              <a:buFont typeface="Arial" panose="020B0604020202020204" pitchFamily="34" charset="0"/>
              <a:buChar char="•"/>
            </a:pPr>
            <a:endParaRPr lang="en-US" sz="2000">
              <a:ea typeface="Calibri"/>
              <a:cs typeface="Calibri"/>
            </a:endParaRPr>
          </a:p>
          <a:p>
            <a:pPr marL="742950" lvl="1" indent="-285750">
              <a:buFont typeface="Arial" panose="020B0604020202020204" pitchFamily="34" charset="0"/>
              <a:buChar char="•"/>
            </a:pPr>
            <a:endParaRPr lang="en-US" sz="2000">
              <a:ea typeface="Calibri"/>
              <a:cs typeface="Calibri"/>
            </a:endParaRPr>
          </a:p>
          <a:p>
            <a:pPr lvl="1"/>
            <a:endParaRPr lang="en-US" sz="2000">
              <a:ea typeface="Calibri"/>
              <a:cs typeface="Calibri"/>
            </a:endParaRPr>
          </a:p>
          <a:p>
            <a:pPr marL="285750" indent="-285750">
              <a:buFont typeface="Arial" panose="020B0604020202020204" pitchFamily="34" charset="0"/>
              <a:buChar char="•"/>
            </a:pPr>
            <a:endParaRPr lang="en-US" sz="2000">
              <a:ea typeface="Calibri"/>
              <a:cs typeface="Calibri"/>
            </a:endParaRPr>
          </a:p>
          <a:p>
            <a:endParaRPr lang="en-US" sz="2000">
              <a:ea typeface="Calibri"/>
              <a:cs typeface="Calibri"/>
            </a:endParaRPr>
          </a:p>
        </p:txBody>
      </p:sp>
    </p:spTree>
    <p:extLst>
      <p:ext uri="{BB962C8B-B14F-4D97-AF65-F5344CB8AC3E}">
        <p14:creationId xmlns:p14="http://schemas.microsoft.com/office/powerpoint/2010/main" val="101310654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0D7F-7C93-1849-F437-FF3A98873D0E}"/>
              </a:ext>
            </a:extLst>
          </p:cNvPr>
          <p:cNvSpPr>
            <a:spLocks noGrp="1"/>
          </p:cNvSpPr>
          <p:nvPr>
            <p:ph type="title"/>
          </p:nvPr>
        </p:nvSpPr>
        <p:spPr/>
        <p:txBody>
          <a:bodyPr/>
          <a:lstStyle/>
          <a:p>
            <a:r>
              <a:rPr lang="en-US"/>
              <a:t>Avionics</a:t>
            </a:r>
          </a:p>
        </p:txBody>
      </p:sp>
      <p:sp>
        <p:nvSpPr>
          <p:cNvPr id="3" name="Text Placeholder 2">
            <a:extLst>
              <a:ext uri="{FF2B5EF4-FFF2-40B4-BE49-F238E27FC236}">
                <a16:creationId xmlns:a16="http://schemas.microsoft.com/office/drawing/2014/main" id="{ADE0027F-A2F9-CED5-846D-B229F006C218}"/>
              </a:ext>
            </a:extLst>
          </p:cNvPr>
          <p:cNvSpPr>
            <a:spLocks noGrp="1"/>
          </p:cNvSpPr>
          <p:nvPr>
            <p:ph type="body" sz="quarter" idx="11"/>
          </p:nvPr>
        </p:nvSpPr>
        <p:spPr/>
        <p:txBody>
          <a:bodyPr/>
          <a:lstStyle/>
          <a:p>
            <a:r>
              <a:rPr lang="en-US" sz="1850">
                <a:ea typeface="Source Sans Pro"/>
              </a:rPr>
              <a:t>Presented by: Brian Payne and Aidan Sacco</a:t>
            </a:r>
            <a:endParaRPr lang="en-US"/>
          </a:p>
        </p:txBody>
      </p:sp>
    </p:spTree>
    <p:extLst>
      <p:ext uri="{BB962C8B-B14F-4D97-AF65-F5344CB8AC3E}">
        <p14:creationId xmlns:p14="http://schemas.microsoft.com/office/powerpoint/2010/main" val="112686099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D384B-330D-9232-B848-6E79A7BD1BE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E7ACDE0-819C-4598-F7AB-C6777B494673}"/>
              </a:ext>
            </a:extLst>
          </p:cNvPr>
          <p:cNvSpPr>
            <a:spLocks noGrp="1"/>
          </p:cNvSpPr>
          <p:nvPr>
            <p:ph type="body" sz="quarter" idx="15"/>
          </p:nvPr>
        </p:nvSpPr>
        <p:spPr/>
        <p:txBody>
          <a:bodyPr vert="horz" lIns="91440" tIns="45720" rIns="91440" bIns="45720" numCol="2" spcCol="457200" rtlCol="0" anchor="t">
            <a:noAutofit/>
          </a:bodyPr>
          <a:lstStyle/>
          <a:p>
            <a:pPr marL="121920" indent="0">
              <a:buNone/>
            </a:pPr>
            <a:r>
              <a:rPr lang="en-US" sz="1850" b="1">
                <a:ea typeface="Source Sans Pro"/>
                <a:cs typeface="Calibri" panose="020F0502020204030204"/>
              </a:rPr>
              <a:t>TOM 2.0</a:t>
            </a:r>
          </a:p>
          <a:p>
            <a:pPr marL="380365" indent="-258445"/>
            <a:r>
              <a:rPr lang="en-US" sz="1850">
                <a:ea typeface="Source Sans Pro"/>
                <a:cs typeface="Calibri" panose="020F0502020204030204"/>
              </a:rPr>
              <a:t>Telemetry Operations Manager, responsible for sending GPS Location and Altitude to Mission Control</a:t>
            </a:r>
          </a:p>
          <a:p>
            <a:pPr marL="121920" indent="0">
              <a:buNone/>
            </a:pPr>
            <a:r>
              <a:rPr lang="en-US" sz="1850" b="1">
                <a:ea typeface="Source Sans Pro"/>
                <a:cs typeface="Calibri" panose="020F0502020204030204"/>
              </a:rPr>
              <a:t>Flight Recorder</a:t>
            </a:r>
          </a:p>
          <a:p>
            <a:pPr marL="380365" indent="-258445"/>
            <a:r>
              <a:rPr lang="en-US" sz="1850">
                <a:ea typeface="Source Sans Pro"/>
                <a:cs typeface="Calibri" panose="020F0502020204030204"/>
              </a:rPr>
              <a:t>Backup logging computer for data from TOM or Engine Controller</a:t>
            </a:r>
          </a:p>
          <a:p>
            <a:pPr marL="121920" indent="0">
              <a:buNone/>
            </a:pPr>
            <a:r>
              <a:rPr lang="en-US" sz="1850" b="1">
                <a:ea typeface="Source Sans Pro"/>
                <a:cs typeface="Calibri" panose="020F0502020204030204"/>
              </a:rPr>
              <a:t>Engine Controller</a:t>
            </a:r>
          </a:p>
          <a:p>
            <a:pPr marL="380365" indent="-258445"/>
            <a:r>
              <a:rPr lang="en-US" sz="1850">
                <a:ea typeface="Source Sans Pro"/>
                <a:cs typeface="Calibri" panose="020F0502020204030204"/>
              </a:rPr>
              <a:t>Controls the Engine's Fuel/Ox Pump</a:t>
            </a:r>
          </a:p>
          <a:p>
            <a:pPr marL="121920" indent="0">
              <a:buNone/>
            </a:pPr>
            <a:r>
              <a:rPr lang="en-US" sz="1900" b="1">
                <a:ea typeface="Calibri"/>
                <a:cs typeface="Calibri" panose="020F0502020204030204"/>
              </a:rPr>
              <a:t>Mission Control</a:t>
            </a:r>
          </a:p>
          <a:p>
            <a:pPr marL="380365" indent="-258445"/>
            <a:r>
              <a:rPr lang="en-US" sz="1900">
                <a:ea typeface="Calibri"/>
                <a:cs typeface="Calibri" panose="020F0502020204030204"/>
              </a:rPr>
              <a:t>Ground Communication station and Data Visualization</a:t>
            </a:r>
          </a:p>
          <a:p>
            <a:pPr marL="121920" indent="0">
              <a:buNone/>
            </a:pPr>
            <a:r>
              <a:rPr lang="en-US" sz="1900" b="1">
                <a:ea typeface="Calibri"/>
                <a:cs typeface="Calibri" panose="020F0502020204030204"/>
              </a:rPr>
              <a:t>Control Box</a:t>
            </a:r>
            <a:endParaRPr lang="en-US"/>
          </a:p>
          <a:p>
            <a:pPr marL="380365" indent="-258445"/>
            <a:r>
              <a:rPr lang="en-US" sz="1850">
                <a:ea typeface="Source Sans Pro"/>
                <a:cs typeface="Calibri" panose="020F0502020204030204"/>
              </a:rPr>
              <a:t>Human-in-the-loop controller where an operator presses switches to cause an effect in the system</a:t>
            </a:r>
            <a:endParaRPr lang="en-US"/>
          </a:p>
          <a:p>
            <a:pPr marL="121920" indent="0">
              <a:buNone/>
            </a:pPr>
            <a:r>
              <a:rPr lang="en-US" sz="1850" b="1">
                <a:ea typeface="Source Sans Pro"/>
                <a:cs typeface="Calibri"/>
              </a:rPr>
              <a:t>Fill Station</a:t>
            </a:r>
            <a:endParaRPr lang="en-US" b="1"/>
          </a:p>
          <a:p>
            <a:pPr marL="380365" indent="-258445"/>
            <a:r>
              <a:rPr lang="en-US" sz="1850">
                <a:ea typeface="Source Sans Pro"/>
                <a:cs typeface="Calibri"/>
              </a:rPr>
              <a:t>Controls Oxidizer filling procedure</a:t>
            </a:r>
          </a:p>
        </p:txBody>
      </p:sp>
      <p:sp>
        <p:nvSpPr>
          <p:cNvPr id="3" name="Footer Placeholder 2">
            <a:extLst>
              <a:ext uri="{FF2B5EF4-FFF2-40B4-BE49-F238E27FC236}">
                <a16:creationId xmlns:a16="http://schemas.microsoft.com/office/drawing/2014/main" id="{603CB465-49B2-07C2-5CC3-698FDFE5C509}"/>
              </a:ext>
            </a:extLst>
          </p:cNvPr>
          <p:cNvSpPr>
            <a:spLocks noGrp="1"/>
          </p:cNvSpPr>
          <p:nvPr>
            <p:ph type="ftr" sz="quarter" idx="16"/>
          </p:nvPr>
        </p:nvSpPr>
        <p:spPr/>
        <p:txBody>
          <a:bodyPr/>
          <a:lstStyle/>
          <a:p>
            <a:r>
              <a:rPr lang="en-US" sz="900">
                <a:latin typeface="Source Sans Pro"/>
                <a:ea typeface="Source Sans Pro"/>
              </a:rPr>
              <a:t>ARCHERFISH PDR</a:t>
            </a:r>
            <a:endParaRPr lang="en-US"/>
          </a:p>
        </p:txBody>
      </p:sp>
      <p:sp>
        <p:nvSpPr>
          <p:cNvPr id="4" name="Slide Number Placeholder 3">
            <a:extLst>
              <a:ext uri="{FF2B5EF4-FFF2-40B4-BE49-F238E27FC236}">
                <a16:creationId xmlns:a16="http://schemas.microsoft.com/office/drawing/2014/main" id="{66A58658-D7BA-BF28-D6A9-275645CBFD81}"/>
              </a:ext>
            </a:extLst>
          </p:cNvPr>
          <p:cNvSpPr>
            <a:spLocks noGrp="1"/>
          </p:cNvSpPr>
          <p:nvPr>
            <p:ph type="sldNum" sz="quarter" idx="17"/>
          </p:nvPr>
        </p:nvSpPr>
        <p:spPr/>
        <p:txBody>
          <a:bodyPr/>
          <a:lstStyle/>
          <a:p>
            <a:r>
              <a:rPr lang="en-US"/>
              <a:t>/   </a:t>
            </a:r>
            <a:fld id="{6C7E6F33-74EE-5541-8108-8353B402F8C1}" type="slidenum">
              <a:rPr lang="en-US" smtClean="0"/>
              <a:pPr/>
              <a:t>106</a:t>
            </a:fld>
            <a:endParaRPr lang="en-US"/>
          </a:p>
        </p:txBody>
      </p:sp>
      <p:sp>
        <p:nvSpPr>
          <p:cNvPr id="5" name="Title 4">
            <a:extLst>
              <a:ext uri="{FF2B5EF4-FFF2-40B4-BE49-F238E27FC236}">
                <a16:creationId xmlns:a16="http://schemas.microsoft.com/office/drawing/2014/main" id="{1DDB85E6-AA08-4B4B-858E-610873860C0F}"/>
              </a:ext>
            </a:extLst>
          </p:cNvPr>
          <p:cNvSpPr>
            <a:spLocks noGrp="1"/>
          </p:cNvSpPr>
          <p:nvPr>
            <p:ph type="title"/>
          </p:nvPr>
        </p:nvSpPr>
        <p:spPr/>
        <p:txBody>
          <a:bodyPr/>
          <a:lstStyle/>
          <a:p>
            <a:r>
              <a:rPr lang="en-US">
                <a:latin typeface="Munistic"/>
              </a:rPr>
              <a:t>Systems Overview</a:t>
            </a:r>
            <a:endParaRPr lang="en-US"/>
          </a:p>
        </p:txBody>
      </p:sp>
    </p:spTree>
    <p:extLst>
      <p:ext uri="{BB962C8B-B14F-4D97-AF65-F5344CB8AC3E}">
        <p14:creationId xmlns:p14="http://schemas.microsoft.com/office/powerpoint/2010/main" val="362660104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EF069-14C7-0313-7B31-988DFE5238D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C062F05-FC79-0199-C570-9CFDADB12CC5}"/>
              </a:ext>
            </a:extLst>
          </p:cNvPr>
          <p:cNvSpPr>
            <a:spLocks noGrp="1"/>
          </p:cNvSpPr>
          <p:nvPr>
            <p:ph type="ftr" sz="quarter" idx="16"/>
          </p:nvPr>
        </p:nvSpPr>
        <p:spPr/>
        <p:txBody>
          <a:bodyPr/>
          <a:lstStyle/>
          <a:p>
            <a:r>
              <a:rPr lang="en-US" sz="900">
                <a:latin typeface="Source Sans Pro"/>
                <a:ea typeface="Source Sans Pro"/>
              </a:rPr>
              <a:t>ARCHERFISH PDR</a:t>
            </a:r>
            <a:endParaRPr lang="en-US"/>
          </a:p>
        </p:txBody>
      </p:sp>
      <p:sp>
        <p:nvSpPr>
          <p:cNvPr id="4" name="Slide Number Placeholder 3">
            <a:extLst>
              <a:ext uri="{FF2B5EF4-FFF2-40B4-BE49-F238E27FC236}">
                <a16:creationId xmlns:a16="http://schemas.microsoft.com/office/drawing/2014/main" id="{26B6083A-8D9D-074C-B402-CD6EFE8A5250}"/>
              </a:ext>
            </a:extLst>
          </p:cNvPr>
          <p:cNvSpPr>
            <a:spLocks noGrp="1"/>
          </p:cNvSpPr>
          <p:nvPr>
            <p:ph type="sldNum" sz="quarter" idx="17"/>
          </p:nvPr>
        </p:nvSpPr>
        <p:spPr/>
        <p:txBody>
          <a:bodyPr/>
          <a:lstStyle/>
          <a:p>
            <a:r>
              <a:rPr lang="en-US"/>
              <a:t>/   </a:t>
            </a:r>
            <a:fld id="{6C7E6F33-74EE-5541-8108-8353B402F8C1}" type="slidenum">
              <a:rPr lang="en-US" smtClean="0"/>
              <a:pPr/>
              <a:t>107</a:t>
            </a:fld>
            <a:endParaRPr lang="en-US"/>
          </a:p>
        </p:txBody>
      </p:sp>
      <p:sp>
        <p:nvSpPr>
          <p:cNvPr id="5" name="Title 4">
            <a:extLst>
              <a:ext uri="{FF2B5EF4-FFF2-40B4-BE49-F238E27FC236}">
                <a16:creationId xmlns:a16="http://schemas.microsoft.com/office/drawing/2014/main" id="{0BBF0385-90ED-025F-2F77-3094C261C0BA}"/>
              </a:ext>
            </a:extLst>
          </p:cNvPr>
          <p:cNvSpPr>
            <a:spLocks noGrp="1"/>
          </p:cNvSpPr>
          <p:nvPr>
            <p:ph type="title"/>
          </p:nvPr>
        </p:nvSpPr>
        <p:spPr/>
        <p:txBody>
          <a:bodyPr/>
          <a:lstStyle/>
          <a:p>
            <a:r>
              <a:rPr lang="en-US">
                <a:latin typeface="Munistic"/>
              </a:rPr>
              <a:t>Message Flow</a:t>
            </a:r>
            <a:endParaRPr lang="en-US"/>
          </a:p>
        </p:txBody>
      </p:sp>
      <p:pic>
        <p:nvPicPr>
          <p:cNvPr id="6" name="Picture 5" descr="A diagram of a engine start&#10;&#10;AI-generated content may be incorrect.">
            <a:extLst>
              <a:ext uri="{FF2B5EF4-FFF2-40B4-BE49-F238E27FC236}">
                <a16:creationId xmlns:a16="http://schemas.microsoft.com/office/drawing/2014/main" id="{1C470B6B-0288-EC5F-1CAD-65ADF022716A}"/>
              </a:ext>
            </a:extLst>
          </p:cNvPr>
          <p:cNvPicPr>
            <a:picLocks noChangeAspect="1"/>
          </p:cNvPicPr>
          <p:nvPr/>
        </p:nvPicPr>
        <p:blipFill>
          <a:blip r:embed="rId3"/>
          <a:stretch>
            <a:fillRect/>
          </a:stretch>
        </p:blipFill>
        <p:spPr>
          <a:xfrm>
            <a:off x="1528763" y="1524000"/>
            <a:ext cx="9124950" cy="4638675"/>
          </a:xfrm>
          <a:prstGeom prst="rect">
            <a:avLst/>
          </a:prstGeom>
        </p:spPr>
      </p:pic>
    </p:spTree>
    <p:extLst>
      <p:ext uri="{BB962C8B-B14F-4D97-AF65-F5344CB8AC3E}">
        <p14:creationId xmlns:p14="http://schemas.microsoft.com/office/powerpoint/2010/main" val="389005901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AE7CF-F108-9C33-48B3-4730203CD5C1}"/>
            </a:ext>
          </a:extLst>
        </p:cNvPr>
        <p:cNvGrpSpPr/>
        <p:nvPr/>
      </p:nvGrpSpPr>
      <p:grpSpPr>
        <a:xfrm>
          <a:off x="0" y="0"/>
          <a:ext cx="0" cy="0"/>
          <a:chOff x="0" y="0"/>
          <a:chExt cx="0" cy="0"/>
        </a:xfrm>
      </p:grpSpPr>
      <p:sp>
        <p:nvSpPr>
          <p:cNvPr id="5" name="Footer Placeholder 2">
            <a:extLst>
              <a:ext uri="{FF2B5EF4-FFF2-40B4-BE49-F238E27FC236}">
                <a16:creationId xmlns:a16="http://schemas.microsoft.com/office/drawing/2014/main" id="{8FC9B36A-8E23-2910-1176-742DE0E16CDB}"/>
              </a:ext>
            </a:extLst>
          </p:cNvPr>
          <p:cNvSpPr txBox="1">
            <a:spLocks/>
          </p:cNvSpPr>
          <p:nvPr/>
        </p:nvSpPr>
        <p:spPr>
          <a:xfrm>
            <a:off x="7491867" y="6351113"/>
            <a:ext cx="4114800" cy="366183"/>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spc="133">
                <a:solidFill>
                  <a:schemeClr val="tx1">
                    <a:tint val="75000"/>
                  </a:schemeClr>
                </a:solidFill>
                <a:latin typeface="Source Sans Pro"/>
                <a:ea typeface="Source Sans Pro"/>
              </a:rPr>
              <a:t>ARCHERFISH PDR</a:t>
            </a:r>
          </a:p>
        </p:txBody>
      </p:sp>
      <p:sp>
        <p:nvSpPr>
          <p:cNvPr id="8" name="Slide Number Placeholder 3">
            <a:extLst>
              <a:ext uri="{FF2B5EF4-FFF2-40B4-BE49-F238E27FC236}">
                <a16:creationId xmlns:a16="http://schemas.microsoft.com/office/drawing/2014/main" id="{4E34D3C9-143E-77EB-1651-C850669DE38B}"/>
              </a:ext>
            </a:extLst>
          </p:cNvPr>
          <p:cNvSpPr txBox="1">
            <a:spLocks/>
          </p:cNvSpPr>
          <p:nvPr/>
        </p:nvSpPr>
        <p:spPr>
          <a:xfrm>
            <a:off x="11379199" y="6351113"/>
            <a:ext cx="544856" cy="366183"/>
          </a:xfrm>
          <a:prstGeom prst="rect">
            <a:avLst/>
          </a:prstGeom>
        </p:spPr>
        <p:txBody>
          <a:bodyPr vert="horz" lIns="91440" tIns="45720" rIns="91440" bIns="4572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33">
                <a:solidFill>
                  <a:schemeClr val="bg2">
                    <a:lumMod val="75000"/>
                  </a:schemeClr>
                </a:solidFill>
                <a:latin typeface="Source Sans Pro" panose="020B0503030403020204" pitchFamily="34" charset="0"/>
              </a:rPr>
              <a:t>/   </a:t>
            </a:r>
            <a:fld id="{6C7E6F33-74EE-5541-8108-8353B402F8C1}" type="slidenum">
              <a:rPr lang="en-US" sz="933">
                <a:solidFill>
                  <a:schemeClr val="bg2">
                    <a:lumMod val="75000"/>
                  </a:schemeClr>
                </a:solidFill>
                <a:latin typeface="Source Sans Pro" panose="020B0503030403020204" pitchFamily="34" charset="0"/>
              </a:rPr>
              <a:pPr algn="r"/>
              <a:t>108</a:t>
            </a:fld>
            <a:endParaRPr lang="en-US" sz="933">
              <a:solidFill>
                <a:schemeClr val="bg2">
                  <a:lumMod val="75000"/>
                </a:schemeClr>
              </a:solidFill>
              <a:latin typeface="Source Sans Pro" panose="020B0503030403020204" pitchFamily="34" charset="0"/>
            </a:endParaRPr>
          </a:p>
        </p:txBody>
      </p:sp>
      <p:sp>
        <p:nvSpPr>
          <p:cNvPr id="4" name="Title 4">
            <a:extLst>
              <a:ext uri="{FF2B5EF4-FFF2-40B4-BE49-F238E27FC236}">
                <a16:creationId xmlns:a16="http://schemas.microsoft.com/office/drawing/2014/main" id="{BA230DBA-3854-1318-D0D9-049A507771BF}"/>
              </a:ext>
            </a:extLst>
          </p:cNvPr>
          <p:cNvSpPr>
            <a:spLocks noGrp="1"/>
          </p:cNvSpPr>
          <p:nvPr>
            <p:ph type="title"/>
          </p:nvPr>
        </p:nvSpPr>
        <p:spPr>
          <a:xfrm>
            <a:off x="2930" y="71525"/>
            <a:ext cx="9265752" cy="625567"/>
          </a:xfrm>
        </p:spPr>
        <p:txBody>
          <a:bodyPr>
            <a:normAutofit fontScale="90000"/>
          </a:bodyPr>
          <a:lstStyle/>
          <a:p>
            <a:r>
              <a:rPr lang="en-US">
                <a:latin typeface="Munistic"/>
              </a:rPr>
              <a:t>Complete Electronics Diagram</a:t>
            </a:r>
            <a:endParaRPr lang="en-US"/>
          </a:p>
        </p:txBody>
      </p:sp>
      <p:pic>
        <p:nvPicPr>
          <p:cNvPr id="6" name="Picture 5" descr="A diagram of a computer&#10;&#10;AI-generated content may be incorrect.">
            <a:extLst>
              <a:ext uri="{FF2B5EF4-FFF2-40B4-BE49-F238E27FC236}">
                <a16:creationId xmlns:a16="http://schemas.microsoft.com/office/drawing/2014/main" id="{F2684E3F-8376-A556-EB4F-B3C4B5B6EFC1}"/>
              </a:ext>
            </a:extLst>
          </p:cNvPr>
          <p:cNvPicPr>
            <a:picLocks noChangeAspect="1"/>
          </p:cNvPicPr>
          <p:nvPr/>
        </p:nvPicPr>
        <p:blipFill>
          <a:blip r:embed="rId3"/>
          <a:srcRect t="5577" r="-238" b="10900"/>
          <a:stretch>
            <a:fillRect/>
          </a:stretch>
        </p:blipFill>
        <p:spPr>
          <a:xfrm>
            <a:off x="580000" y="692131"/>
            <a:ext cx="10606406" cy="5525045"/>
          </a:xfrm>
          <a:prstGeom prst="rect">
            <a:avLst/>
          </a:prstGeom>
        </p:spPr>
      </p:pic>
    </p:spTree>
    <p:extLst>
      <p:ext uri="{BB962C8B-B14F-4D97-AF65-F5344CB8AC3E}">
        <p14:creationId xmlns:p14="http://schemas.microsoft.com/office/powerpoint/2010/main" val="296053740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B37CD9C-2C17-905A-1775-D7F61DE4BE0A}"/>
              </a:ext>
            </a:extLst>
          </p:cNvPr>
          <p:cNvSpPr>
            <a:spLocks noGrp="1"/>
          </p:cNvSpPr>
          <p:nvPr>
            <p:ph type="body" sz="quarter" idx="15"/>
          </p:nvPr>
        </p:nvSpPr>
        <p:spPr>
          <a:xfrm>
            <a:off x="838199" y="1969476"/>
            <a:ext cx="10515600" cy="4252193"/>
          </a:xfrm>
        </p:spPr>
        <p:txBody>
          <a:bodyPr vert="horz" lIns="91440" tIns="45720" rIns="91440" bIns="45720" numCol="2" spcCol="457200" rtlCol="0" anchor="t">
            <a:noAutofit/>
          </a:bodyPr>
          <a:lstStyle/>
          <a:p>
            <a:pPr marL="380365" indent="-258445"/>
            <a:r>
              <a:rPr lang="en-US" sz="1850"/>
              <a:t>Operator interacts with Control Box</a:t>
            </a:r>
          </a:p>
          <a:p>
            <a:pPr lvl="1">
              <a:spcAft>
                <a:spcPts val="800"/>
              </a:spcAft>
              <a:buFont typeface="Courier New" panose="020B0604020202020204" pitchFamily="34" charset="0"/>
              <a:buChar char="o"/>
            </a:pPr>
            <a:r>
              <a:rPr lang="en-US" sz="1400"/>
              <a:t>Contains all buttons and switches needed to remotely operate fill station solenoids and ignition</a:t>
            </a:r>
          </a:p>
          <a:p>
            <a:pPr lvl="1">
              <a:buFont typeface="Courier New" panose="020B0604020202020204" pitchFamily="34" charset="0"/>
              <a:buChar char="o"/>
            </a:pPr>
            <a:r>
              <a:rPr lang="en-US" sz="1400"/>
              <a:t>Wired directly to Mission Control computer over Ethernet</a:t>
            </a:r>
          </a:p>
          <a:p>
            <a:pPr marL="380365" indent="-258445"/>
            <a:r>
              <a:rPr lang="en-US" sz="1850"/>
              <a:t>Acts as the Avionics communication "hub"</a:t>
            </a:r>
            <a:endParaRPr lang="en-US"/>
          </a:p>
          <a:p>
            <a:pPr lvl="1">
              <a:spcAft>
                <a:spcPts val="800"/>
              </a:spcAft>
              <a:buFont typeface="Courier New" panose="020B0604020202020204" pitchFamily="34" charset="0"/>
              <a:buChar char="o"/>
            </a:pPr>
            <a:r>
              <a:rPr lang="en-US" sz="1400"/>
              <a:t>Facilitates </a:t>
            </a:r>
            <a:r>
              <a:rPr lang="en-US" sz="1400" err="1"/>
              <a:t>ConOps</a:t>
            </a:r>
            <a:r>
              <a:rPr lang="en-US" sz="1400"/>
              <a:t> by sending commands</a:t>
            </a:r>
          </a:p>
          <a:p>
            <a:pPr lvl="1">
              <a:spcAft>
                <a:spcPts val="800"/>
              </a:spcAft>
              <a:buFont typeface="Courier New" panose="020B0604020202020204" pitchFamily="34" charset="0"/>
              <a:buChar char="o"/>
            </a:pPr>
            <a:r>
              <a:rPr lang="en-US" sz="1400"/>
              <a:t>Instructs Fill Station (over </a:t>
            </a:r>
            <a:r>
              <a:rPr lang="en-US" sz="1400" err="1"/>
              <a:t>WiFi</a:t>
            </a:r>
            <a:r>
              <a:rPr lang="en-US" sz="1400"/>
              <a:t>) to actuate solenoids for filling oxidizer</a:t>
            </a:r>
          </a:p>
          <a:p>
            <a:pPr lvl="1">
              <a:spcAft>
                <a:spcPts val="800"/>
              </a:spcAft>
              <a:buFont typeface="Courier New" panose="020B0604020202020204" pitchFamily="34" charset="0"/>
              <a:buChar char="o"/>
            </a:pPr>
            <a:r>
              <a:rPr lang="en-US" sz="1400"/>
              <a:t>Instructs TOM (over LoRa) to Initiate launch sequence and gather telemetry</a:t>
            </a:r>
          </a:p>
          <a:p>
            <a:pPr marL="380365" indent="-258445"/>
            <a:r>
              <a:rPr lang="en-US" sz="1850"/>
              <a:t>Logs and visualizes telemetry data</a:t>
            </a:r>
          </a:p>
          <a:p>
            <a:pPr lvl="1">
              <a:spcAft>
                <a:spcPts val="800"/>
              </a:spcAft>
              <a:buFont typeface="Courier New" panose="020B0604020202020204" pitchFamily="34" charset="0"/>
              <a:buChar char="o"/>
            </a:pPr>
            <a:r>
              <a:rPr lang="en-US" sz="1400"/>
              <a:t>Displays fill station and flight telemetry to the operator</a:t>
            </a:r>
          </a:p>
        </p:txBody>
      </p:sp>
      <p:sp>
        <p:nvSpPr>
          <p:cNvPr id="3" name="Title 2">
            <a:extLst>
              <a:ext uri="{FF2B5EF4-FFF2-40B4-BE49-F238E27FC236}">
                <a16:creationId xmlns:a16="http://schemas.microsoft.com/office/drawing/2014/main" id="{029C5259-BD50-F108-61C1-0EF85C49D698}"/>
              </a:ext>
            </a:extLst>
          </p:cNvPr>
          <p:cNvSpPr>
            <a:spLocks noGrp="1"/>
          </p:cNvSpPr>
          <p:nvPr>
            <p:ph type="title"/>
          </p:nvPr>
        </p:nvSpPr>
        <p:spPr/>
        <p:txBody>
          <a:bodyPr>
            <a:normAutofit fontScale="90000"/>
          </a:bodyPr>
          <a:lstStyle/>
          <a:p>
            <a:r>
              <a:rPr lang="en-US">
                <a:latin typeface="Munistic"/>
              </a:rPr>
              <a:t>Mission Control</a:t>
            </a:r>
          </a:p>
        </p:txBody>
      </p:sp>
      <p:sp>
        <p:nvSpPr>
          <p:cNvPr id="4" name="Text Placeholder 3">
            <a:extLst>
              <a:ext uri="{FF2B5EF4-FFF2-40B4-BE49-F238E27FC236}">
                <a16:creationId xmlns:a16="http://schemas.microsoft.com/office/drawing/2014/main" id="{489610EB-2EDC-4E39-19F3-5DDB0D5C7ABA}"/>
              </a:ext>
            </a:extLst>
          </p:cNvPr>
          <p:cNvSpPr>
            <a:spLocks noGrp="1"/>
          </p:cNvSpPr>
          <p:nvPr>
            <p:ph type="body" sz="quarter" idx="13"/>
          </p:nvPr>
        </p:nvSpPr>
        <p:spPr/>
        <p:txBody>
          <a:bodyPr/>
          <a:lstStyle/>
          <a:p>
            <a:endParaRPr lang="en-US"/>
          </a:p>
        </p:txBody>
      </p:sp>
      <p:pic>
        <p:nvPicPr>
          <p:cNvPr id="6" name="Picture 5" descr="A screenshot of a computer&#10;&#10;AI-generated content may be incorrect.">
            <a:extLst>
              <a:ext uri="{FF2B5EF4-FFF2-40B4-BE49-F238E27FC236}">
                <a16:creationId xmlns:a16="http://schemas.microsoft.com/office/drawing/2014/main" id="{5EE643C6-43D5-915E-CDC7-67F2ED46C119}"/>
              </a:ext>
            </a:extLst>
          </p:cNvPr>
          <p:cNvPicPr>
            <a:picLocks noChangeAspect="1"/>
          </p:cNvPicPr>
          <p:nvPr/>
        </p:nvPicPr>
        <p:blipFill>
          <a:blip r:embed="rId2"/>
          <a:stretch>
            <a:fillRect/>
          </a:stretch>
        </p:blipFill>
        <p:spPr>
          <a:xfrm>
            <a:off x="6305549" y="2420516"/>
            <a:ext cx="5140390" cy="2965580"/>
          </a:xfrm>
          <a:prstGeom prst="rect">
            <a:avLst/>
          </a:prstGeom>
        </p:spPr>
      </p:pic>
    </p:spTree>
    <p:extLst>
      <p:ext uri="{BB962C8B-B14F-4D97-AF65-F5344CB8AC3E}">
        <p14:creationId xmlns:p14="http://schemas.microsoft.com/office/powerpoint/2010/main" val="20203031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4F97F3F-6108-3DBA-C019-6525BF646D2E}"/>
              </a:ext>
            </a:extLst>
          </p:cNvPr>
          <p:cNvSpPr>
            <a:spLocks noGrp="1"/>
          </p:cNvSpPr>
          <p:nvPr>
            <p:ph type="ftr" sz="quarter" idx="16"/>
          </p:nvPr>
        </p:nvSpPr>
        <p:spPr/>
        <p:txBody>
          <a:bodyPr/>
          <a:lstStyle/>
          <a:p>
            <a:r>
              <a:rPr lang="en-US" sz="900">
                <a:latin typeface="Source Sans Pro"/>
                <a:ea typeface="Source Sans Pro"/>
              </a:rPr>
              <a:t>ARCHERFISH PDR</a:t>
            </a:r>
            <a:endParaRPr lang="en-US"/>
          </a:p>
        </p:txBody>
      </p:sp>
      <p:sp>
        <p:nvSpPr>
          <p:cNvPr id="4" name="Slide Number Placeholder 3">
            <a:extLst>
              <a:ext uri="{FF2B5EF4-FFF2-40B4-BE49-F238E27FC236}">
                <a16:creationId xmlns:a16="http://schemas.microsoft.com/office/drawing/2014/main" id="{3A989F3E-4C29-9912-034A-E8A6FD938002}"/>
              </a:ext>
            </a:extLst>
          </p:cNvPr>
          <p:cNvSpPr>
            <a:spLocks noGrp="1"/>
          </p:cNvSpPr>
          <p:nvPr>
            <p:ph type="sldNum" sz="quarter" idx="17"/>
          </p:nvPr>
        </p:nvSpPr>
        <p:spPr/>
        <p:txBody>
          <a:bodyPr/>
          <a:lstStyle/>
          <a:p>
            <a:r>
              <a:rPr lang="en-US"/>
              <a:t>/   </a:t>
            </a:r>
            <a:fld id="{6C7E6F33-74EE-5541-8108-8353B402F8C1}" type="slidenum">
              <a:rPr lang="en-US" smtClean="0"/>
              <a:pPr/>
              <a:t>110</a:t>
            </a:fld>
            <a:endParaRPr lang="en-US"/>
          </a:p>
        </p:txBody>
      </p:sp>
      <p:sp>
        <p:nvSpPr>
          <p:cNvPr id="5" name="Title 4">
            <a:extLst>
              <a:ext uri="{FF2B5EF4-FFF2-40B4-BE49-F238E27FC236}">
                <a16:creationId xmlns:a16="http://schemas.microsoft.com/office/drawing/2014/main" id="{743E7528-0865-00D5-86C1-DCEDC5632793}"/>
              </a:ext>
            </a:extLst>
          </p:cNvPr>
          <p:cNvSpPr>
            <a:spLocks noGrp="1"/>
          </p:cNvSpPr>
          <p:nvPr>
            <p:ph type="title"/>
          </p:nvPr>
        </p:nvSpPr>
        <p:spPr>
          <a:xfrm>
            <a:off x="417548" y="574109"/>
            <a:ext cx="9566768" cy="625567"/>
          </a:xfrm>
        </p:spPr>
        <p:txBody>
          <a:bodyPr>
            <a:normAutofit fontScale="90000"/>
          </a:bodyPr>
          <a:lstStyle/>
          <a:p>
            <a:r>
              <a:rPr lang="en-US">
                <a:latin typeface="Munistic"/>
              </a:rPr>
              <a:t>Mission Control System Requirements</a:t>
            </a:r>
            <a:endParaRPr lang="en-US"/>
          </a:p>
        </p:txBody>
      </p:sp>
      <p:graphicFrame>
        <p:nvGraphicFramePr>
          <p:cNvPr id="6" name="Table 5">
            <a:extLst>
              <a:ext uri="{FF2B5EF4-FFF2-40B4-BE49-F238E27FC236}">
                <a16:creationId xmlns:a16="http://schemas.microsoft.com/office/drawing/2014/main" id="{52F6BC8B-9D2F-F195-2F91-491F6DDC98CE}"/>
              </a:ext>
            </a:extLst>
          </p:cNvPr>
          <p:cNvGraphicFramePr>
            <a:graphicFrameLocks noGrp="1"/>
          </p:cNvGraphicFramePr>
          <p:nvPr>
            <p:extLst>
              <p:ext uri="{D42A27DB-BD31-4B8C-83A1-F6EECF244321}">
                <p14:modId xmlns:p14="http://schemas.microsoft.com/office/powerpoint/2010/main" val="951901130"/>
              </p:ext>
            </p:extLst>
          </p:nvPr>
        </p:nvGraphicFramePr>
        <p:xfrm>
          <a:off x="438150" y="1304925"/>
          <a:ext cx="11172357" cy="5044072"/>
        </p:xfrm>
        <a:graphic>
          <a:graphicData uri="http://schemas.openxmlformats.org/drawingml/2006/table">
            <a:tbl>
              <a:tblPr bandRow="1">
                <a:tableStyleId>{5C22544A-7EE6-4342-B048-85BDC9FD1C3A}</a:tableStyleId>
              </a:tblPr>
              <a:tblGrid>
                <a:gridCol w="1129891">
                  <a:extLst>
                    <a:ext uri="{9D8B030D-6E8A-4147-A177-3AD203B41FA5}">
                      <a16:colId xmlns:a16="http://schemas.microsoft.com/office/drawing/2014/main" val="2430301661"/>
                    </a:ext>
                  </a:extLst>
                </a:gridCol>
                <a:gridCol w="2856283">
                  <a:extLst>
                    <a:ext uri="{9D8B030D-6E8A-4147-A177-3AD203B41FA5}">
                      <a16:colId xmlns:a16="http://schemas.microsoft.com/office/drawing/2014/main" val="4110623384"/>
                    </a:ext>
                  </a:extLst>
                </a:gridCol>
                <a:gridCol w="2474231">
                  <a:extLst>
                    <a:ext uri="{9D8B030D-6E8A-4147-A177-3AD203B41FA5}">
                      <a16:colId xmlns:a16="http://schemas.microsoft.com/office/drawing/2014/main" val="2485124282"/>
                    </a:ext>
                  </a:extLst>
                </a:gridCol>
                <a:gridCol w="2128565">
                  <a:extLst>
                    <a:ext uri="{9D8B030D-6E8A-4147-A177-3AD203B41FA5}">
                      <a16:colId xmlns:a16="http://schemas.microsoft.com/office/drawing/2014/main" val="4133906466"/>
                    </a:ext>
                  </a:extLst>
                </a:gridCol>
                <a:gridCol w="2583387">
                  <a:extLst>
                    <a:ext uri="{9D8B030D-6E8A-4147-A177-3AD203B41FA5}">
                      <a16:colId xmlns:a16="http://schemas.microsoft.com/office/drawing/2014/main" val="1615161709"/>
                    </a:ext>
                  </a:extLst>
                </a:gridCol>
              </a:tblGrid>
              <a:tr h="287414">
                <a:tc>
                  <a:txBody>
                    <a:bodyPr/>
                    <a:lstStyle/>
                    <a:p>
                      <a:pPr>
                        <a:buNone/>
                      </a:pPr>
                      <a:r>
                        <a:rPr lang="en-US" sz="1100" b="1" u="none" strike="noStrike">
                          <a:solidFill>
                            <a:srgbClr val="FFFFFF"/>
                          </a:solidFill>
                          <a:effectLst/>
                          <a:latin typeface="Aptos Narrow"/>
                        </a:rPr>
                        <a:t>RBS </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Requirement</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Rationale</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Traced From</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Verification Method </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extLst>
                  <a:ext uri="{0D108BD9-81ED-4DB2-BD59-A6C34878D82A}">
                    <a16:rowId xmlns:a16="http://schemas.microsoft.com/office/drawing/2014/main" val="2062258690"/>
                  </a:ext>
                </a:extLst>
              </a:tr>
              <a:tr h="536508">
                <a:tc>
                  <a:txBody>
                    <a:bodyPr/>
                    <a:lstStyle/>
                    <a:p>
                      <a:pPr algn="ctr">
                        <a:buNone/>
                      </a:pPr>
                      <a:r>
                        <a:rPr lang="en-US" sz="1100" b="0" u="none" strike="noStrike">
                          <a:solidFill>
                            <a:srgbClr val="000000"/>
                          </a:solidFill>
                          <a:effectLst/>
                          <a:latin typeface="Aptos Narrow"/>
                        </a:rPr>
                        <a:t>0</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Mission Control Shall remotely send commands to Fill Station and TOM to control the Sequencing of Launch</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Launch sequence needs to be controlled by operators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ctr">
                        <a:buNone/>
                      </a:pPr>
                      <a:r>
                        <a:rPr lang="en-US" sz="1100" b="0" u="none" strike="noStrike">
                          <a:solidFill>
                            <a:srgbClr val="000000"/>
                          </a:solidFill>
                          <a:effectLst/>
                          <a:latin typeface="Aptos Narrow"/>
                        </a:rPr>
                        <a:t>Liquids Safety Procedure</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communication with other systems and  response from other systems</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954403952"/>
                  </a:ext>
                </a:extLst>
              </a:tr>
              <a:tr h="622732">
                <a:tc>
                  <a:txBody>
                    <a:bodyPr/>
                    <a:lstStyle/>
                    <a:p>
                      <a:pPr algn="ctr">
                        <a:buNone/>
                      </a:pPr>
                      <a:r>
                        <a:rPr lang="en-US" sz="1100" b="0" u="none" strike="noStrike">
                          <a:solidFill>
                            <a:srgbClr val="000000"/>
                          </a:solidFill>
                          <a:effectLst/>
                          <a:latin typeface="Aptos Narrow"/>
                        </a:rPr>
                        <a:t>0.1</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Mission Control shall have an interface for the operators to send commands</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Operators must be able to input commands </a:t>
                      </a:r>
                    </a:p>
                  </a:txBody>
                  <a:tcPr marL="0" marR="0" marT="0" marB="0" anchor="ctr">
                    <a:lnL>
                      <a:noFill/>
                    </a:lnL>
                    <a:lnR>
                      <a:noFill/>
                    </a:lnR>
                    <a:lnT>
                      <a:noFill/>
                    </a:lnT>
                    <a:lnB>
                      <a:noFill/>
                    </a:lnB>
                    <a:noFill/>
                  </a:tcPr>
                </a:tc>
                <a:tc>
                  <a:txBody>
                    <a:bodyPr/>
                    <a:lstStyle/>
                    <a:p>
                      <a:pPr algn="ctr">
                        <a:buNone/>
                      </a:pPr>
                      <a:r>
                        <a:rPr lang="en-US" sz="1100" b="0" u="none" strike="noStrike">
                          <a:solidFill>
                            <a:srgbClr val="000000"/>
                          </a:solidFill>
                          <a:effectLst/>
                          <a:latin typeface="Aptos Narrow"/>
                        </a:rPr>
                        <a:t>RBS 0 </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HITL testing, demonstrate interface results in sent commands</a:t>
                      </a:r>
                    </a:p>
                  </a:txBody>
                  <a:tcPr marL="0" marR="0" marT="0" marB="0" anchor="ctr">
                    <a:lnL>
                      <a:noFill/>
                    </a:lnL>
                    <a:lnR>
                      <a:noFill/>
                    </a:lnR>
                    <a:lnT>
                      <a:noFill/>
                    </a:lnT>
                    <a:lnB>
                      <a:noFill/>
                    </a:lnB>
                    <a:noFill/>
                  </a:tcPr>
                </a:tc>
                <a:extLst>
                  <a:ext uri="{0D108BD9-81ED-4DB2-BD59-A6C34878D82A}">
                    <a16:rowId xmlns:a16="http://schemas.microsoft.com/office/drawing/2014/main" val="2897048705"/>
                  </a:ext>
                </a:extLst>
              </a:tr>
              <a:tr h="603571">
                <a:tc>
                  <a:txBody>
                    <a:bodyPr/>
                    <a:lstStyle/>
                    <a:p>
                      <a:pPr algn="ctr">
                        <a:buNone/>
                      </a:pPr>
                      <a:r>
                        <a:rPr lang="en-US" sz="1100" b="0" u="none" strike="noStrike">
                          <a:solidFill>
                            <a:srgbClr val="000000"/>
                          </a:solidFill>
                          <a:effectLst/>
                          <a:latin typeface="Aptos Narrow"/>
                        </a:rPr>
                        <a:t>0.1.1</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Mission control shall only send control signals to Fill Station and TOM when corresponding inputs are selected by the operator</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All control signals should be controlled by operators</a:t>
                      </a:r>
                    </a:p>
                  </a:txBody>
                  <a:tcPr marL="0" marR="0" marT="0" marB="0" anchor="ctr">
                    <a:lnL>
                      <a:noFill/>
                    </a:lnL>
                    <a:lnR>
                      <a:noFill/>
                    </a:lnR>
                    <a:lnT>
                      <a:noFill/>
                    </a:lnT>
                    <a:lnB>
                      <a:noFill/>
                    </a:lnB>
                    <a:solidFill>
                      <a:srgbClr val="D9D9D9"/>
                    </a:solidFill>
                  </a:tcPr>
                </a:tc>
                <a:tc>
                  <a:txBody>
                    <a:bodyPr/>
                    <a:lstStyle/>
                    <a:p>
                      <a:pPr algn="ctr">
                        <a:buNone/>
                      </a:pPr>
                      <a:r>
                        <a:rPr lang="en-US" sz="1100" b="0" u="none" strike="noStrike">
                          <a:solidFill>
                            <a:srgbClr val="000000"/>
                          </a:solidFill>
                          <a:effectLst/>
                          <a:latin typeface="Aptos Narrow"/>
                        </a:rPr>
                        <a:t>RBS 0.1</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interface results in sent commands. Test with various inputs that only correct signals are sent</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3791990668"/>
                  </a:ext>
                </a:extLst>
              </a:tr>
              <a:tr h="450283">
                <a:tc>
                  <a:txBody>
                    <a:bodyPr/>
                    <a:lstStyle/>
                    <a:p>
                      <a:pPr algn="ctr">
                        <a:buNone/>
                      </a:pPr>
                      <a:r>
                        <a:rPr lang="en-US" sz="1100" b="0" u="none" strike="noStrike">
                          <a:solidFill>
                            <a:srgbClr val="000000"/>
                          </a:solidFill>
                          <a:effectLst/>
                          <a:latin typeface="Aptos Narrow"/>
                        </a:rPr>
                        <a:t>0.2</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Mission Control Shall communicate wirelessly with TOM and Fill Station </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Operators must be able to execute commands from a distance</a:t>
                      </a:r>
                    </a:p>
                  </a:txBody>
                  <a:tcPr marL="0" marR="0" marT="0" marB="0" anchor="ctr">
                    <a:lnL>
                      <a:noFill/>
                    </a:lnL>
                    <a:lnR>
                      <a:noFill/>
                    </a:lnR>
                    <a:lnT>
                      <a:noFill/>
                    </a:lnT>
                    <a:lnB>
                      <a:noFill/>
                    </a:lnB>
                    <a:noFill/>
                  </a:tcPr>
                </a:tc>
                <a:tc>
                  <a:txBody>
                    <a:bodyPr/>
                    <a:lstStyle/>
                    <a:p>
                      <a:pPr algn="ctr">
                        <a:buNone/>
                      </a:pPr>
                      <a:r>
                        <a:rPr lang="en-US" sz="1100" b="0" u="none" strike="noStrike">
                          <a:solidFill>
                            <a:srgbClr val="000000"/>
                          </a:solidFill>
                          <a:effectLst/>
                          <a:latin typeface="Aptos Narrow"/>
                        </a:rPr>
                        <a:t>RBS 0 </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HITL testing, demonstrate communication with other systems over various distances</a:t>
                      </a:r>
                    </a:p>
                  </a:txBody>
                  <a:tcPr marL="0" marR="0" marT="0" marB="0" anchor="ctr">
                    <a:lnL>
                      <a:noFill/>
                    </a:lnL>
                    <a:lnR>
                      <a:noFill/>
                    </a:lnR>
                    <a:lnT>
                      <a:noFill/>
                    </a:lnT>
                    <a:lnB>
                      <a:noFill/>
                    </a:lnB>
                    <a:noFill/>
                  </a:tcPr>
                </a:tc>
                <a:extLst>
                  <a:ext uri="{0D108BD9-81ED-4DB2-BD59-A6C34878D82A}">
                    <a16:rowId xmlns:a16="http://schemas.microsoft.com/office/drawing/2014/main" val="564175157"/>
                  </a:ext>
                </a:extLst>
              </a:tr>
              <a:tr h="479024">
                <a:tc>
                  <a:txBody>
                    <a:bodyPr/>
                    <a:lstStyle/>
                    <a:p>
                      <a:pPr algn="ctr">
                        <a:buNone/>
                      </a:pPr>
                      <a:r>
                        <a:rPr lang="en-US" sz="1100" b="0" u="none" strike="noStrike">
                          <a:solidFill>
                            <a:srgbClr val="000000"/>
                          </a:solidFill>
                          <a:effectLst/>
                          <a:latin typeface="Aptos Narrow"/>
                        </a:rPr>
                        <a:t>0.2.1</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Mission Control Shall display pressure readings from the fill station </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Operators must be able to read pressure in the tanks for go/no go procedures</a:t>
                      </a:r>
                    </a:p>
                  </a:txBody>
                  <a:tcPr marL="0" marR="0" marT="0" marB="0" anchor="ctr">
                    <a:lnL>
                      <a:noFill/>
                    </a:lnL>
                    <a:lnR>
                      <a:noFill/>
                    </a:lnR>
                    <a:lnT>
                      <a:noFill/>
                    </a:lnT>
                    <a:lnB>
                      <a:noFill/>
                    </a:lnB>
                    <a:solidFill>
                      <a:srgbClr val="D9D9D9"/>
                    </a:solidFill>
                  </a:tcPr>
                </a:tc>
                <a:tc>
                  <a:txBody>
                    <a:bodyPr/>
                    <a:lstStyle/>
                    <a:p>
                      <a:pPr algn="ctr">
                        <a:buNone/>
                      </a:pPr>
                      <a:r>
                        <a:rPr lang="en-US" sz="1100" b="0" u="none" strike="noStrike">
                          <a:solidFill>
                            <a:srgbClr val="000000"/>
                          </a:solidFill>
                          <a:effectLst/>
                          <a:latin typeface="Aptos Narrow"/>
                        </a:rPr>
                        <a:t>RBS 0.2</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Mission control can receive pressure readings over a distance</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4124654223"/>
                  </a:ext>
                </a:extLst>
              </a:tr>
              <a:tr h="718537">
                <a:tc>
                  <a:txBody>
                    <a:bodyPr/>
                    <a:lstStyle/>
                    <a:p>
                      <a:pPr algn="ctr">
                        <a:buNone/>
                      </a:pPr>
                      <a:r>
                        <a:rPr lang="en-US" sz="1100" b="0" u="none" strike="noStrike">
                          <a:solidFill>
                            <a:srgbClr val="000000"/>
                          </a:solidFill>
                          <a:effectLst/>
                          <a:latin typeface="Aptos Narrow"/>
                        </a:rPr>
                        <a:t>0.3</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Mission Control Shall display a video feed from Fill Station of the static release valve</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Operators must be able to see static release Valve for determining go/no go</a:t>
                      </a:r>
                    </a:p>
                  </a:txBody>
                  <a:tcPr marL="0" marR="0" marT="0" marB="0" anchor="ctr">
                    <a:lnL>
                      <a:noFill/>
                    </a:lnL>
                    <a:lnR>
                      <a:noFill/>
                    </a:lnR>
                    <a:lnT>
                      <a:noFill/>
                    </a:lnT>
                    <a:lnB>
                      <a:noFill/>
                    </a:lnB>
                    <a:noFill/>
                  </a:tcPr>
                </a:tc>
                <a:tc>
                  <a:txBody>
                    <a:bodyPr/>
                    <a:lstStyle/>
                    <a:p>
                      <a:pPr algn="ctr">
                        <a:buNone/>
                      </a:pPr>
                      <a:r>
                        <a:rPr lang="en-US" sz="1100" b="0" u="none" strike="noStrike">
                          <a:solidFill>
                            <a:srgbClr val="000000"/>
                          </a:solidFill>
                          <a:effectLst/>
                          <a:latin typeface="Aptos Narrow"/>
                        </a:rPr>
                        <a:t>RBS 0</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HITL testing, demonstrate video can be received over a distance from Fill Station</a:t>
                      </a:r>
                    </a:p>
                  </a:txBody>
                  <a:tcPr marL="0" marR="0" marT="0" marB="0" anchor="ctr">
                    <a:lnL>
                      <a:noFill/>
                    </a:lnL>
                    <a:lnR>
                      <a:noFill/>
                    </a:lnR>
                    <a:lnT>
                      <a:noFill/>
                    </a:lnT>
                    <a:lnB>
                      <a:noFill/>
                    </a:lnB>
                    <a:noFill/>
                  </a:tcPr>
                </a:tc>
                <a:extLst>
                  <a:ext uri="{0D108BD9-81ED-4DB2-BD59-A6C34878D82A}">
                    <a16:rowId xmlns:a16="http://schemas.microsoft.com/office/drawing/2014/main" val="3629195669"/>
                  </a:ext>
                </a:extLst>
              </a:tr>
              <a:tr h="488606">
                <a:tc>
                  <a:txBody>
                    <a:bodyPr/>
                    <a:lstStyle/>
                    <a:p>
                      <a:pPr algn="ctr">
                        <a:buNone/>
                      </a:pPr>
                      <a:r>
                        <a:rPr lang="en-US" sz="1100" b="0" u="none" strike="noStrike">
                          <a:solidFill>
                            <a:srgbClr val="000000"/>
                          </a:solidFill>
                          <a:effectLst/>
                          <a:latin typeface="Aptos Narrow"/>
                        </a:rPr>
                        <a:t>0.4</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Mission Control shall send the following signals to Fill station:  Toggle Ox, Toggle  Air, Toggle Dump1, and Toggle Dump2</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These are the signals fill station uses for fill procedure sequencing</a:t>
                      </a:r>
                    </a:p>
                  </a:txBody>
                  <a:tcPr marL="0" marR="0" marT="0" marB="0" anchor="ctr">
                    <a:lnL>
                      <a:noFill/>
                    </a:lnL>
                    <a:lnR>
                      <a:noFill/>
                    </a:lnR>
                    <a:lnT>
                      <a:noFill/>
                    </a:lnT>
                    <a:lnB>
                      <a:noFill/>
                    </a:lnB>
                    <a:solidFill>
                      <a:srgbClr val="D9D9D9"/>
                    </a:solidFill>
                  </a:tcPr>
                </a:tc>
                <a:tc>
                  <a:txBody>
                    <a:bodyPr/>
                    <a:lstStyle/>
                    <a:p>
                      <a:pPr algn="ctr">
                        <a:buNone/>
                      </a:pPr>
                      <a:r>
                        <a:rPr lang="en-US" sz="1100" b="0" u="none" strike="noStrike">
                          <a:solidFill>
                            <a:srgbClr val="000000"/>
                          </a:solidFill>
                          <a:effectLst/>
                          <a:latin typeface="Aptos Narrow"/>
                        </a:rPr>
                        <a:t>RBS 0</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that signals get sent to and acknowledged by fill station </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328862447"/>
                  </a:ext>
                </a:extLst>
              </a:tr>
              <a:tr h="479024">
                <a:tc>
                  <a:txBody>
                    <a:bodyPr/>
                    <a:lstStyle/>
                    <a:p>
                      <a:pPr algn="ctr">
                        <a:buNone/>
                      </a:pPr>
                      <a:r>
                        <a:rPr lang="en-US" sz="1100" b="0" u="none" strike="noStrike">
                          <a:solidFill>
                            <a:srgbClr val="000000"/>
                          </a:solidFill>
                          <a:effectLst/>
                          <a:latin typeface="Aptos Narrow"/>
                        </a:rPr>
                        <a:t>0.5</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Mission Control shall send the following signals to TOM: </a:t>
                      </a:r>
                      <a:r>
                        <a:rPr lang="en-US" sz="1100" b="0" u="none" strike="noStrike" err="1">
                          <a:solidFill>
                            <a:srgbClr val="000000"/>
                          </a:solidFill>
                          <a:effectLst/>
                          <a:latin typeface="Aptos Narrow"/>
                        </a:rPr>
                        <a:t>CutLine</a:t>
                      </a:r>
                      <a:r>
                        <a:rPr lang="en-US" sz="1100" b="0" u="none" strike="noStrike">
                          <a:solidFill>
                            <a:srgbClr val="000000"/>
                          </a:solidFill>
                          <a:effectLst/>
                          <a:latin typeface="Aptos Narrow"/>
                        </a:rPr>
                        <a:t>, and Start Ignition</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These are the signals TOM uses for launch sequencing</a:t>
                      </a:r>
                    </a:p>
                  </a:txBody>
                  <a:tcPr marL="0" marR="0" marT="0" marB="0" anchor="ctr">
                    <a:lnL>
                      <a:noFill/>
                    </a:lnL>
                    <a:lnR>
                      <a:noFill/>
                    </a:lnR>
                    <a:lnT>
                      <a:noFill/>
                    </a:lnT>
                    <a:lnB>
                      <a:noFill/>
                    </a:lnB>
                    <a:noFill/>
                  </a:tcPr>
                </a:tc>
                <a:tc>
                  <a:txBody>
                    <a:bodyPr/>
                    <a:lstStyle/>
                    <a:p>
                      <a:pPr algn="ctr">
                        <a:buNone/>
                      </a:pPr>
                      <a:r>
                        <a:rPr lang="en-US" sz="1100" b="0" u="none" strike="noStrike">
                          <a:solidFill>
                            <a:srgbClr val="000000"/>
                          </a:solidFill>
                          <a:effectLst/>
                          <a:latin typeface="Aptos Narrow"/>
                        </a:rPr>
                        <a:t>RBS 0</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HITL testing, demonstrate that signals get sent to and acknowledged by fill station </a:t>
                      </a:r>
                    </a:p>
                  </a:txBody>
                  <a:tcPr marL="0" marR="0" marT="0" marB="0" anchor="ctr">
                    <a:lnL>
                      <a:noFill/>
                    </a:lnL>
                    <a:lnR>
                      <a:noFill/>
                    </a:lnR>
                    <a:lnT>
                      <a:noFill/>
                    </a:lnT>
                    <a:lnB>
                      <a:noFill/>
                    </a:lnB>
                    <a:noFill/>
                  </a:tcPr>
                </a:tc>
                <a:extLst>
                  <a:ext uri="{0D108BD9-81ED-4DB2-BD59-A6C34878D82A}">
                    <a16:rowId xmlns:a16="http://schemas.microsoft.com/office/drawing/2014/main" val="1272284681"/>
                  </a:ext>
                </a:extLst>
              </a:tr>
              <a:tr h="364059">
                <a:tc>
                  <a:txBody>
                    <a:bodyPr/>
                    <a:lstStyle/>
                    <a:p>
                      <a:pPr algn="ctr">
                        <a:buNone/>
                      </a:pPr>
                      <a:r>
                        <a:rPr lang="en-US" sz="1100" b="0" u="none" strike="noStrike">
                          <a:solidFill>
                            <a:srgbClr val="000000"/>
                          </a:solidFill>
                          <a:effectLst/>
                          <a:latin typeface="Aptos Narrow"/>
                        </a:rPr>
                        <a:t>1</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buNone/>
                      </a:pPr>
                      <a:r>
                        <a:rPr lang="en-US" sz="1100" b="0" u="none" strike="noStrike">
                          <a:solidFill>
                            <a:srgbClr val="000000"/>
                          </a:solidFill>
                          <a:effectLst/>
                          <a:latin typeface="Aptos Narrow"/>
                        </a:rPr>
                        <a:t>Mission Control Shall receive, store and display telemetry data sent from TOM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buNone/>
                      </a:pPr>
                      <a:r>
                        <a:rPr lang="en-US" sz="1100" b="0" u="none" strike="noStrike">
                          <a:solidFill>
                            <a:srgbClr val="000000"/>
                          </a:solidFill>
                          <a:effectLst/>
                          <a:latin typeface="Aptos Narrow"/>
                        </a:rPr>
                        <a:t>This is necessary for data collection and recovering the rocket</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a:buNone/>
                      </a:pPr>
                      <a:r>
                        <a:rPr lang="en-US" sz="1100" b="0" u="none" strike="noStrike">
                          <a:solidFill>
                            <a:srgbClr val="000000"/>
                          </a:solidFill>
                          <a:effectLst/>
                          <a:latin typeface="Aptos Narrow"/>
                        </a:rPr>
                        <a:t>Far Requirement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buNone/>
                      </a:pPr>
                      <a:r>
                        <a:rPr lang="en-US" sz="1100" b="0" u="none" strike="noStrike">
                          <a:solidFill>
                            <a:srgbClr val="000000"/>
                          </a:solidFill>
                          <a:effectLst/>
                          <a:latin typeface="Aptos Narrow"/>
                        </a:rPr>
                        <a:t>HITL testing, Demonstrate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700730660"/>
                  </a:ext>
                </a:extLst>
              </a:tr>
            </a:tbl>
          </a:graphicData>
        </a:graphic>
      </p:graphicFrame>
    </p:spTree>
    <p:extLst>
      <p:ext uri="{BB962C8B-B14F-4D97-AF65-F5344CB8AC3E}">
        <p14:creationId xmlns:p14="http://schemas.microsoft.com/office/powerpoint/2010/main" val="307752346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6348423-F008-CF78-575E-762D7068E3DF}"/>
              </a:ext>
            </a:extLst>
          </p:cNvPr>
          <p:cNvSpPr>
            <a:spLocks noGrp="1"/>
          </p:cNvSpPr>
          <p:nvPr>
            <p:ph type="body" sz="quarter" idx="15"/>
          </p:nvPr>
        </p:nvSpPr>
        <p:spPr>
          <a:xfrm>
            <a:off x="838199" y="1969476"/>
            <a:ext cx="8981440" cy="4175641"/>
          </a:xfrm>
        </p:spPr>
        <p:txBody>
          <a:bodyPr vert="horz" lIns="91440" tIns="45720" rIns="91440" bIns="45720" numCol="2" spcCol="457200" rtlCol="0" anchor="t">
            <a:noAutofit/>
          </a:bodyPr>
          <a:lstStyle/>
          <a:p>
            <a:pPr marL="380365" indent="-258445"/>
            <a:r>
              <a:rPr lang="en-US" sz="1850"/>
              <a:t>Actuates Ox and Pressurization valves </a:t>
            </a:r>
          </a:p>
          <a:p>
            <a:pPr marL="380365" indent="-258445"/>
            <a:r>
              <a:rPr lang="en-US" sz="1850"/>
              <a:t>Sends pressure transducer data to mission control for visualization</a:t>
            </a:r>
          </a:p>
          <a:p>
            <a:pPr lvl="1">
              <a:spcAft>
                <a:spcPts val="800"/>
              </a:spcAft>
              <a:buFont typeface="Courier New" panose="020B0604020202020204" pitchFamily="34" charset="0"/>
              <a:buChar char="o"/>
            </a:pPr>
            <a:r>
              <a:rPr lang="en-US" sz="1850"/>
              <a:t>Used for determining go/no go conditions </a:t>
            </a:r>
          </a:p>
          <a:p>
            <a:pPr marL="380365" indent="-258445"/>
            <a:r>
              <a:rPr lang="en-US" sz="1850"/>
              <a:t>Communicates with Mission control over </a:t>
            </a:r>
            <a:r>
              <a:rPr lang="en-US" sz="1850" err="1"/>
              <a:t>wifi</a:t>
            </a:r>
            <a:r>
              <a:rPr lang="en-US" sz="1850"/>
              <a:t> for signals to start/stop valve actuations</a:t>
            </a:r>
          </a:p>
          <a:p>
            <a:pPr marL="380365" indent="-258445"/>
            <a:r>
              <a:rPr lang="en-US" sz="1850"/>
              <a:t>Sends live video of static release valve to determine when oxidizer is done filling </a:t>
            </a:r>
          </a:p>
        </p:txBody>
      </p:sp>
      <p:sp>
        <p:nvSpPr>
          <p:cNvPr id="3" name="Title 2">
            <a:extLst>
              <a:ext uri="{FF2B5EF4-FFF2-40B4-BE49-F238E27FC236}">
                <a16:creationId xmlns:a16="http://schemas.microsoft.com/office/drawing/2014/main" id="{FA897E94-B737-2CDF-4AB7-F0C777D3ECC3}"/>
              </a:ext>
            </a:extLst>
          </p:cNvPr>
          <p:cNvSpPr>
            <a:spLocks noGrp="1"/>
          </p:cNvSpPr>
          <p:nvPr>
            <p:ph type="title"/>
          </p:nvPr>
        </p:nvSpPr>
        <p:spPr/>
        <p:txBody>
          <a:bodyPr>
            <a:normAutofit fontScale="90000"/>
          </a:bodyPr>
          <a:lstStyle/>
          <a:p>
            <a:r>
              <a:rPr lang="en-US">
                <a:latin typeface="Munistic"/>
              </a:rPr>
              <a:t>Fill Station </a:t>
            </a:r>
            <a:endParaRPr lang="en-US"/>
          </a:p>
        </p:txBody>
      </p:sp>
    </p:spTree>
    <p:extLst>
      <p:ext uri="{BB962C8B-B14F-4D97-AF65-F5344CB8AC3E}">
        <p14:creationId xmlns:p14="http://schemas.microsoft.com/office/powerpoint/2010/main" val="274964934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F3D0A38-E94C-4723-4DF6-57C7A52FDEAE}"/>
              </a:ext>
            </a:extLst>
          </p:cNvPr>
          <p:cNvSpPr>
            <a:spLocks noGrp="1"/>
          </p:cNvSpPr>
          <p:nvPr>
            <p:ph type="ftr" sz="quarter" idx="16"/>
          </p:nvPr>
        </p:nvSpPr>
        <p:spPr/>
        <p:txBody>
          <a:bodyPr/>
          <a:lstStyle/>
          <a:p>
            <a:r>
              <a:rPr lang="en-US" sz="900">
                <a:latin typeface="Source Sans Pro"/>
                <a:ea typeface="Source Sans Pro"/>
              </a:rPr>
              <a:t>ARCHERFISH PDR</a:t>
            </a:r>
            <a:endParaRPr lang="en-US"/>
          </a:p>
        </p:txBody>
      </p:sp>
      <p:sp>
        <p:nvSpPr>
          <p:cNvPr id="4" name="Slide Number Placeholder 3">
            <a:extLst>
              <a:ext uri="{FF2B5EF4-FFF2-40B4-BE49-F238E27FC236}">
                <a16:creationId xmlns:a16="http://schemas.microsoft.com/office/drawing/2014/main" id="{9F61E332-E7E5-2FCF-A364-D725D73D71E2}"/>
              </a:ext>
            </a:extLst>
          </p:cNvPr>
          <p:cNvSpPr>
            <a:spLocks noGrp="1"/>
          </p:cNvSpPr>
          <p:nvPr>
            <p:ph type="sldNum" sz="quarter" idx="17"/>
          </p:nvPr>
        </p:nvSpPr>
        <p:spPr/>
        <p:txBody>
          <a:bodyPr/>
          <a:lstStyle/>
          <a:p>
            <a:r>
              <a:rPr lang="en-US"/>
              <a:t>/   </a:t>
            </a:r>
            <a:fld id="{6C7E6F33-74EE-5541-8108-8353B402F8C1}" type="slidenum">
              <a:rPr lang="en-US" smtClean="0"/>
              <a:pPr/>
              <a:t>112</a:t>
            </a:fld>
            <a:endParaRPr lang="en-US"/>
          </a:p>
        </p:txBody>
      </p:sp>
      <p:sp>
        <p:nvSpPr>
          <p:cNvPr id="5" name="Title 4">
            <a:extLst>
              <a:ext uri="{FF2B5EF4-FFF2-40B4-BE49-F238E27FC236}">
                <a16:creationId xmlns:a16="http://schemas.microsoft.com/office/drawing/2014/main" id="{7881679E-4FC3-383B-AE77-DB01DAC592EA}"/>
              </a:ext>
            </a:extLst>
          </p:cNvPr>
          <p:cNvSpPr>
            <a:spLocks noGrp="1"/>
          </p:cNvSpPr>
          <p:nvPr>
            <p:ph type="title"/>
          </p:nvPr>
        </p:nvSpPr>
        <p:spPr>
          <a:xfrm>
            <a:off x="541373" y="716984"/>
            <a:ext cx="9558302" cy="625567"/>
          </a:xfrm>
        </p:spPr>
        <p:txBody>
          <a:bodyPr>
            <a:normAutofit fontScale="90000"/>
          </a:bodyPr>
          <a:lstStyle/>
          <a:p>
            <a:r>
              <a:rPr lang="en-US">
                <a:latin typeface="Munistic"/>
              </a:rPr>
              <a:t>Fill Station Requirements </a:t>
            </a:r>
            <a:endParaRPr lang="en-US"/>
          </a:p>
        </p:txBody>
      </p:sp>
      <p:graphicFrame>
        <p:nvGraphicFramePr>
          <p:cNvPr id="6" name="Table 5">
            <a:extLst>
              <a:ext uri="{FF2B5EF4-FFF2-40B4-BE49-F238E27FC236}">
                <a16:creationId xmlns:a16="http://schemas.microsoft.com/office/drawing/2014/main" id="{9C409446-133F-D18B-1B4A-27DBBE59B2A7}"/>
              </a:ext>
            </a:extLst>
          </p:cNvPr>
          <p:cNvGraphicFramePr>
            <a:graphicFrameLocks noGrp="1"/>
          </p:cNvGraphicFramePr>
          <p:nvPr>
            <p:extLst>
              <p:ext uri="{D42A27DB-BD31-4B8C-83A1-F6EECF244321}">
                <p14:modId xmlns:p14="http://schemas.microsoft.com/office/powerpoint/2010/main" val="3906796866"/>
              </p:ext>
            </p:extLst>
          </p:nvPr>
        </p:nvGraphicFramePr>
        <p:xfrm>
          <a:off x="542925" y="1476375"/>
          <a:ext cx="9552303" cy="4710914"/>
        </p:xfrm>
        <a:graphic>
          <a:graphicData uri="http://schemas.openxmlformats.org/drawingml/2006/table">
            <a:tbl>
              <a:tblPr bandRow="1">
                <a:tableStyleId>{5C22544A-7EE6-4342-B048-85BDC9FD1C3A}</a:tableStyleId>
              </a:tblPr>
              <a:tblGrid>
                <a:gridCol w="1177219">
                  <a:extLst>
                    <a:ext uri="{9D8B030D-6E8A-4147-A177-3AD203B41FA5}">
                      <a16:colId xmlns:a16="http://schemas.microsoft.com/office/drawing/2014/main" val="971925447"/>
                    </a:ext>
                  </a:extLst>
                </a:gridCol>
                <a:gridCol w="2539433">
                  <a:extLst>
                    <a:ext uri="{9D8B030D-6E8A-4147-A177-3AD203B41FA5}">
                      <a16:colId xmlns:a16="http://schemas.microsoft.com/office/drawing/2014/main" val="2412370636"/>
                    </a:ext>
                  </a:extLst>
                </a:gridCol>
                <a:gridCol w="2001276">
                  <a:extLst>
                    <a:ext uri="{9D8B030D-6E8A-4147-A177-3AD203B41FA5}">
                      <a16:colId xmlns:a16="http://schemas.microsoft.com/office/drawing/2014/main" val="3777507987"/>
                    </a:ext>
                  </a:extLst>
                </a:gridCol>
                <a:gridCol w="1631291">
                  <a:extLst>
                    <a:ext uri="{9D8B030D-6E8A-4147-A177-3AD203B41FA5}">
                      <a16:colId xmlns:a16="http://schemas.microsoft.com/office/drawing/2014/main" val="937935876"/>
                    </a:ext>
                  </a:extLst>
                </a:gridCol>
                <a:gridCol w="2203084">
                  <a:extLst>
                    <a:ext uri="{9D8B030D-6E8A-4147-A177-3AD203B41FA5}">
                      <a16:colId xmlns:a16="http://schemas.microsoft.com/office/drawing/2014/main" val="3156129834"/>
                    </a:ext>
                  </a:extLst>
                </a:gridCol>
              </a:tblGrid>
              <a:tr h="248522">
                <a:tc>
                  <a:txBody>
                    <a:bodyPr/>
                    <a:lstStyle/>
                    <a:p>
                      <a:pPr>
                        <a:buNone/>
                      </a:pPr>
                      <a:r>
                        <a:rPr lang="en-US" sz="1100" b="1" u="none" strike="noStrike">
                          <a:solidFill>
                            <a:srgbClr val="FFFFFF"/>
                          </a:solidFill>
                          <a:effectLst/>
                          <a:latin typeface="Aptos Narrow"/>
                        </a:rPr>
                        <a:t>RBS</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Requirement</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Rationale</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Traced From</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Verification Method</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extLst>
                  <a:ext uri="{0D108BD9-81ED-4DB2-BD59-A6C34878D82A}">
                    <a16:rowId xmlns:a16="http://schemas.microsoft.com/office/drawing/2014/main" val="1923864642"/>
                  </a:ext>
                </a:extLst>
              </a:tr>
              <a:tr h="559173">
                <a:tc>
                  <a:txBody>
                    <a:bodyPr/>
                    <a:lstStyle/>
                    <a:p>
                      <a:pPr algn="ctr">
                        <a:buNone/>
                      </a:pPr>
                      <a:r>
                        <a:rPr lang="en-US" sz="1100" b="0" u="none" strike="noStrike">
                          <a:solidFill>
                            <a:srgbClr val="000000"/>
                          </a:solidFill>
                          <a:effectLst/>
                          <a:latin typeface="Aptos Narrow"/>
                        </a:rPr>
                        <a:t>0   </a:t>
                      </a:r>
                      <a:endParaRPr lang="en-US" sz="1100" b="0" u="none" strike="noStrike">
                        <a:solidFill>
                          <a:srgbClr val="000000"/>
                        </a:solidFill>
                        <a:effectLst/>
                        <a:latin typeface="Aptos Narrow" panose="020B0004020202020204" pitchFamily="34" charset="0"/>
                      </a:endParaRP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The Fill Station shall control propellant filling and dumping operations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This is the primary mission of the Fill Station.</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Mission Requirements</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Hardware-in-Loop Testing</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3413745762"/>
                  </a:ext>
                </a:extLst>
              </a:tr>
              <a:tr h="674558">
                <a:tc>
                  <a:txBody>
                    <a:bodyPr/>
                    <a:lstStyle/>
                    <a:p>
                      <a:pPr algn="ctr">
                        <a:buNone/>
                      </a:pPr>
                      <a:r>
                        <a:rPr lang="en-US" sz="1100" b="0" u="none" strike="noStrike">
                          <a:solidFill>
                            <a:srgbClr val="000000"/>
                          </a:solidFill>
                          <a:effectLst/>
                          <a:latin typeface="Aptos Narrow"/>
                        </a:rPr>
                        <a:t>1.0</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The Fill Station shall actuate 4 solenoid ball valves when commanded by Ground Station</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This is necessary to control oxidizer fill, GN2 fill, oxidizer </a:t>
                      </a:r>
                      <a:r>
                        <a:rPr lang="en-US" sz="1100" b="0" u="none" strike="noStrike" err="1">
                          <a:solidFill>
                            <a:srgbClr val="000000"/>
                          </a:solidFill>
                          <a:effectLst/>
                          <a:latin typeface="Aptos Narrow"/>
                        </a:rPr>
                        <a:t>dumo</a:t>
                      </a:r>
                      <a:r>
                        <a:rPr lang="en-US" sz="1100" b="0" u="none" strike="noStrike">
                          <a:solidFill>
                            <a:srgbClr val="000000"/>
                          </a:solidFill>
                          <a:effectLst/>
                          <a:latin typeface="Aptos Narrow"/>
                        </a:rPr>
                        <a:t>, and GN2 dump.</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Mission Requirements</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Hardware-in-Loop Testing</a:t>
                      </a:r>
                    </a:p>
                  </a:txBody>
                  <a:tcPr marL="0" marR="0" marT="0" marB="0" anchor="ctr">
                    <a:lnL>
                      <a:noFill/>
                    </a:lnL>
                    <a:lnR>
                      <a:noFill/>
                    </a:lnR>
                    <a:lnT>
                      <a:noFill/>
                    </a:lnT>
                    <a:lnB>
                      <a:noFill/>
                    </a:lnB>
                    <a:noFill/>
                  </a:tcPr>
                </a:tc>
                <a:extLst>
                  <a:ext uri="{0D108BD9-81ED-4DB2-BD59-A6C34878D82A}">
                    <a16:rowId xmlns:a16="http://schemas.microsoft.com/office/drawing/2014/main" val="2139963920"/>
                  </a:ext>
                </a:extLst>
              </a:tr>
              <a:tr h="630180">
                <a:tc>
                  <a:txBody>
                    <a:bodyPr/>
                    <a:lstStyle/>
                    <a:p>
                      <a:pPr algn="ctr">
                        <a:buNone/>
                      </a:pPr>
                      <a:r>
                        <a:rPr lang="en-US" sz="1100" b="0" u="none" strike="noStrike">
                          <a:solidFill>
                            <a:srgbClr val="000000"/>
                          </a:solidFill>
                          <a:effectLst/>
                          <a:latin typeface="Aptos Narrow"/>
                        </a:rPr>
                        <a:t>1.1</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 Fill Station shall be capable of actuating all 4 valves independently </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Different Failure cases require different valves to be toggled </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RBS 1.0</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Hardware-in-Loop Testing</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2362222960"/>
                  </a:ext>
                </a:extLst>
              </a:tr>
              <a:tr h="612428">
                <a:tc>
                  <a:txBody>
                    <a:bodyPr/>
                    <a:lstStyle/>
                    <a:p>
                      <a:pPr algn="ctr">
                        <a:buNone/>
                      </a:pPr>
                      <a:r>
                        <a:rPr lang="en-US" sz="1100" b="0" u="none" strike="noStrike">
                          <a:solidFill>
                            <a:srgbClr val="000000"/>
                          </a:solidFill>
                          <a:effectLst/>
                          <a:latin typeface="Aptos Narrow"/>
                        </a:rPr>
                        <a:t>2</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The Fill Station shall receive commands from Ground Station at distances up to 400 m</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This is necessary to allow operators to control propellant operations from a safe distance per FAR requirements.</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FAR Requirement</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Field Range Testing</a:t>
                      </a:r>
                    </a:p>
                  </a:txBody>
                  <a:tcPr marL="0" marR="0" marT="0" marB="0" anchor="ctr">
                    <a:lnL>
                      <a:noFill/>
                    </a:lnL>
                    <a:lnR>
                      <a:noFill/>
                    </a:lnR>
                    <a:lnT>
                      <a:noFill/>
                    </a:lnT>
                    <a:lnB>
                      <a:noFill/>
                    </a:lnB>
                    <a:noFill/>
                  </a:tcPr>
                </a:tc>
                <a:extLst>
                  <a:ext uri="{0D108BD9-81ED-4DB2-BD59-A6C34878D82A}">
                    <a16:rowId xmlns:a16="http://schemas.microsoft.com/office/drawing/2014/main" val="2348944272"/>
                  </a:ext>
                </a:extLst>
              </a:tr>
              <a:tr h="612428">
                <a:tc>
                  <a:txBody>
                    <a:bodyPr/>
                    <a:lstStyle/>
                    <a:p>
                      <a:pPr algn="ctr">
                        <a:buNone/>
                      </a:pPr>
                      <a:r>
                        <a:rPr lang="en-US" sz="1100" b="0" u="none" strike="noStrike">
                          <a:solidFill>
                            <a:srgbClr val="000000"/>
                          </a:solidFill>
                          <a:effectLst/>
                          <a:latin typeface="Aptos Narrow"/>
                        </a:rPr>
                        <a:t>2.1</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 Fill station shall only toggle valves upon receiving the corresponding signals from Mission Control</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All valve control should be handled by operators through Mission Control </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RBS 2</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interface results in sent commands. Test with various inputs that only correct signals are sent</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3426643454"/>
                  </a:ext>
                </a:extLst>
              </a:tr>
              <a:tr h="754441">
                <a:tc>
                  <a:txBody>
                    <a:bodyPr/>
                    <a:lstStyle/>
                    <a:p>
                      <a:pPr algn="ctr">
                        <a:buNone/>
                      </a:pPr>
                      <a:r>
                        <a:rPr lang="en-US" sz="1100" b="0" u="none" strike="noStrike">
                          <a:solidFill>
                            <a:srgbClr val="000000"/>
                          </a:solidFill>
                          <a:effectLst/>
                          <a:latin typeface="Aptos Narrow"/>
                        </a:rPr>
                        <a:t>3</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The </a:t>
                      </a:r>
                      <a:r>
                        <a:rPr lang="en-US" sz="1100" b="0" u="none" strike="noStrike" err="1">
                          <a:solidFill>
                            <a:srgbClr val="000000"/>
                          </a:solidFill>
                          <a:effectLst/>
                          <a:latin typeface="Aptos Narrow"/>
                        </a:rPr>
                        <a:t>FIll</a:t>
                      </a:r>
                      <a:r>
                        <a:rPr lang="en-US" sz="1100" b="0" u="none" strike="noStrike">
                          <a:solidFill>
                            <a:srgbClr val="000000"/>
                          </a:solidFill>
                          <a:effectLst/>
                          <a:latin typeface="Aptos Narrow"/>
                        </a:rPr>
                        <a:t> Station shall provide visual monitoring of the pressure relief valve area</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This is necessary to detect propellant venting during operations</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Mission Control RBS 0.3</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Field Testing</a:t>
                      </a:r>
                    </a:p>
                  </a:txBody>
                  <a:tcPr marL="0" marR="0" marT="0" marB="0" anchor="ctr">
                    <a:lnL>
                      <a:noFill/>
                    </a:lnL>
                    <a:lnR>
                      <a:noFill/>
                    </a:lnR>
                    <a:lnT>
                      <a:noFill/>
                    </a:lnT>
                    <a:lnB>
                      <a:noFill/>
                    </a:lnB>
                    <a:noFill/>
                  </a:tcPr>
                </a:tc>
                <a:extLst>
                  <a:ext uri="{0D108BD9-81ED-4DB2-BD59-A6C34878D82A}">
                    <a16:rowId xmlns:a16="http://schemas.microsoft.com/office/drawing/2014/main" val="350596245"/>
                  </a:ext>
                </a:extLst>
              </a:tr>
              <a:tr h="497043">
                <a:tc>
                  <a:txBody>
                    <a:bodyPr/>
                    <a:lstStyle/>
                    <a:p>
                      <a:pPr algn="ctr">
                        <a:buNone/>
                      </a:pPr>
                      <a:r>
                        <a:rPr lang="en-US" sz="1100" b="0" u="none" strike="noStrike">
                          <a:solidFill>
                            <a:srgbClr val="000000"/>
                          </a:solidFill>
                          <a:effectLst/>
                          <a:latin typeface="Aptos Narrow"/>
                        </a:rPr>
                        <a:t>4</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buNone/>
                      </a:pPr>
                      <a:r>
                        <a:rPr lang="en-US" sz="1100" b="0" u="none" strike="noStrike">
                          <a:solidFill>
                            <a:srgbClr val="000000"/>
                          </a:solidFill>
                          <a:effectLst/>
                          <a:latin typeface="Aptos Narrow"/>
                        </a:rPr>
                        <a:t>The Fill Station shall wirelessly transmit data from the pressure transducers to Mission Control</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buNone/>
                      </a:pPr>
                      <a:r>
                        <a:rPr lang="en-US" sz="1100" b="0" u="none" strike="noStrike">
                          <a:solidFill>
                            <a:srgbClr val="000000"/>
                          </a:solidFill>
                          <a:effectLst/>
                          <a:latin typeface="Aptos Narrow"/>
                        </a:rPr>
                        <a:t>This is necessary data for operators to make decisions on possible failure cases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buNone/>
                      </a:pPr>
                      <a:r>
                        <a:rPr lang="en-US" sz="1100" b="0" u="none" strike="noStrike">
                          <a:solidFill>
                            <a:srgbClr val="000000"/>
                          </a:solidFill>
                          <a:effectLst/>
                          <a:latin typeface="Aptos Narrow"/>
                        </a:rPr>
                        <a:t>Mission Control RBS 0.2.1</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buNone/>
                      </a:pPr>
                      <a:r>
                        <a:rPr lang="en-US" sz="1100" b="0" u="none" strike="noStrike">
                          <a:solidFill>
                            <a:srgbClr val="000000"/>
                          </a:solidFill>
                          <a:effectLst/>
                          <a:latin typeface="Aptos Narrow"/>
                        </a:rPr>
                        <a:t>HITL testing, demonstrate that correct pressure readings can be sent to Mission Control</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850030877"/>
                  </a:ext>
                </a:extLst>
              </a:tr>
            </a:tbl>
          </a:graphicData>
        </a:graphic>
      </p:graphicFrame>
    </p:spTree>
    <p:extLst>
      <p:ext uri="{BB962C8B-B14F-4D97-AF65-F5344CB8AC3E}">
        <p14:creationId xmlns:p14="http://schemas.microsoft.com/office/powerpoint/2010/main" val="292309020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371485-EEAE-A2C4-BA26-8DAF586D8B91}"/>
              </a:ext>
            </a:extLst>
          </p:cNvPr>
          <p:cNvSpPr>
            <a:spLocks noGrp="1"/>
          </p:cNvSpPr>
          <p:nvPr>
            <p:ph type="body" sz="quarter" idx="15"/>
          </p:nvPr>
        </p:nvSpPr>
        <p:spPr/>
        <p:txBody>
          <a:bodyPr vert="horz" lIns="91440" tIns="45720" rIns="91440" bIns="45720" numCol="2" spcCol="457200" rtlCol="0" anchor="t">
            <a:noAutofit/>
          </a:bodyPr>
          <a:lstStyle/>
          <a:p>
            <a:pPr marL="380365" indent="-258445"/>
            <a:r>
              <a:rPr lang="en-US" sz="1850">
                <a:ea typeface="Source Sans Pro"/>
              </a:rPr>
              <a:t>Logic center for Avionics during flight </a:t>
            </a:r>
          </a:p>
          <a:p>
            <a:pPr marL="380365" indent="-258445"/>
            <a:r>
              <a:rPr lang="en-US" sz="1850">
                <a:ea typeface="Source Sans Pro"/>
              </a:rPr>
              <a:t>Contains TOM and Black Box Recorder</a:t>
            </a:r>
            <a:endParaRPr lang="en-US" sz="1850">
              <a:solidFill>
                <a:srgbClr val="154734"/>
              </a:solidFill>
              <a:ea typeface="+mn-lt"/>
              <a:cs typeface="+mn-lt"/>
            </a:endParaRPr>
          </a:p>
          <a:p>
            <a:pPr marL="380365" indent="-258445"/>
            <a:r>
              <a:rPr lang="en-US" sz="1850">
                <a:solidFill>
                  <a:srgbClr val="154734"/>
                </a:solidFill>
                <a:ea typeface="+mn-lt"/>
                <a:cs typeface="+mn-lt"/>
              </a:rPr>
              <a:t>Contains redundant COTS altimeters (Featherweight Blue Raven) for activating recovery </a:t>
            </a:r>
            <a:endParaRPr lang="en-US" sz="1850">
              <a:ea typeface="+mn-lt"/>
              <a:cs typeface="+mn-lt"/>
            </a:endParaRPr>
          </a:p>
          <a:p>
            <a:pPr marL="380365" indent="-258445"/>
            <a:r>
              <a:rPr lang="en-US" sz="1850">
                <a:ea typeface="Source Sans Pro"/>
              </a:rPr>
              <a:t>Sends flight telemetry data to Misson control </a:t>
            </a:r>
            <a:endParaRPr lang="en-US" sz="1850">
              <a:ea typeface="Source Sans Pro"/>
              <a:cs typeface="Calibri"/>
            </a:endParaRPr>
          </a:p>
          <a:p>
            <a:pPr marL="380365" indent="-258445"/>
            <a:r>
              <a:rPr lang="en-US" sz="1850"/>
              <a:t>Relays messages from Mission Control to Engine Controller </a:t>
            </a:r>
          </a:p>
          <a:p>
            <a:pPr marL="380365" indent="-258445"/>
            <a:r>
              <a:rPr lang="en-US" sz="1850">
                <a:ea typeface="Source Sans Pro"/>
              </a:rPr>
              <a:t>Receives engine data from Engine controller </a:t>
            </a:r>
            <a:endParaRPr lang="en-US" sz="1850">
              <a:ea typeface="Source Sans Pro"/>
              <a:cs typeface="Calibri"/>
            </a:endParaRPr>
          </a:p>
          <a:p>
            <a:pPr marL="380365" indent="-258445"/>
            <a:endParaRPr lang="en-US" sz="1850"/>
          </a:p>
          <a:p>
            <a:pPr marL="380365" indent="-258445"/>
            <a:endParaRPr lang="en-US" sz="1850"/>
          </a:p>
          <a:p>
            <a:pPr marL="380365" indent="-258445"/>
            <a:endParaRPr lang="en-US" sz="1850"/>
          </a:p>
        </p:txBody>
      </p:sp>
      <p:sp>
        <p:nvSpPr>
          <p:cNvPr id="3" name="Title 2">
            <a:extLst>
              <a:ext uri="{FF2B5EF4-FFF2-40B4-BE49-F238E27FC236}">
                <a16:creationId xmlns:a16="http://schemas.microsoft.com/office/drawing/2014/main" id="{64D56E85-0B66-DE57-8E55-D7F105C4D4E1}"/>
              </a:ext>
            </a:extLst>
          </p:cNvPr>
          <p:cNvSpPr>
            <a:spLocks noGrp="1"/>
          </p:cNvSpPr>
          <p:nvPr>
            <p:ph type="title"/>
          </p:nvPr>
        </p:nvSpPr>
        <p:spPr/>
        <p:txBody>
          <a:bodyPr>
            <a:normAutofit fontScale="90000"/>
          </a:bodyPr>
          <a:lstStyle/>
          <a:p>
            <a:r>
              <a:rPr lang="en-US">
                <a:latin typeface="Munistic"/>
              </a:rPr>
              <a:t>Avionics Bay </a:t>
            </a:r>
            <a:endParaRPr lang="en-US"/>
          </a:p>
        </p:txBody>
      </p:sp>
      <p:pic>
        <p:nvPicPr>
          <p:cNvPr id="5" name="Picture 4" descr="A close up of a circuit board&#10;&#10;AI-generated content may be incorrect.">
            <a:extLst>
              <a:ext uri="{FF2B5EF4-FFF2-40B4-BE49-F238E27FC236}">
                <a16:creationId xmlns:a16="http://schemas.microsoft.com/office/drawing/2014/main" id="{570512E6-1819-ACEA-1DB6-6A5C1CEB3379}"/>
              </a:ext>
            </a:extLst>
          </p:cNvPr>
          <p:cNvPicPr>
            <a:picLocks noChangeAspect="1"/>
          </p:cNvPicPr>
          <p:nvPr/>
        </p:nvPicPr>
        <p:blipFill>
          <a:blip r:embed="rId3"/>
          <a:stretch>
            <a:fillRect/>
          </a:stretch>
        </p:blipFill>
        <p:spPr>
          <a:xfrm rot="16200000">
            <a:off x="6687133" y="2259369"/>
            <a:ext cx="6667500" cy="2152650"/>
          </a:xfrm>
          <a:prstGeom prst="rect">
            <a:avLst/>
          </a:prstGeom>
        </p:spPr>
      </p:pic>
      <p:pic>
        <p:nvPicPr>
          <p:cNvPr id="4" name="Picture 3" descr="Picture">
            <a:extLst>
              <a:ext uri="{FF2B5EF4-FFF2-40B4-BE49-F238E27FC236}">
                <a16:creationId xmlns:a16="http://schemas.microsoft.com/office/drawing/2014/main" id="{538C4394-EC97-1BED-6F81-95B37D044A31}"/>
              </a:ext>
            </a:extLst>
          </p:cNvPr>
          <p:cNvPicPr>
            <a:picLocks noChangeAspect="1"/>
          </p:cNvPicPr>
          <p:nvPr/>
        </p:nvPicPr>
        <p:blipFill>
          <a:blip r:embed="rId4"/>
          <a:stretch>
            <a:fillRect/>
          </a:stretch>
        </p:blipFill>
        <p:spPr>
          <a:xfrm>
            <a:off x="6426499" y="2276946"/>
            <a:ext cx="2009775" cy="1066800"/>
          </a:xfrm>
          <a:prstGeom prst="rect">
            <a:avLst/>
          </a:prstGeom>
        </p:spPr>
      </p:pic>
      <p:pic>
        <p:nvPicPr>
          <p:cNvPr id="7" name="Picture 6" descr="Picture">
            <a:extLst>
              <a:ext uri="{FF2B5EF4-FFF2-40B4-BE49-F238E27FC236}">
                <a16:creationId xmlns:a16="http://schemas.microsoft.com/office/drawing/2014/main" id="{8BE163BE-4F22-39B3-1C55-6630D08B1ADA}"/>
              </a:ext>
            </a:extLst>
          </p:cNvPr>
          <p:cNvPicPr>
            <a:picLocks noChangeAspect="1"/>
          </p:cNvPicPr>
          <p:nvPr/>
        </p:nvPicPr>
        <p:blipFill>
          <a:blip r:embed="rId4"/>
          <a:stretch>
            <a:fillRect/>
          </a:stretch>
        </p:blipFill>
        <p:spPr>
          <a:xfrm>
            <a:off x="6426499" y="3182293"/>
            <a:ext cx="2009775" cy="1066800"/>
          </a:xfrm>
          <a:prstGeom prst="rect">
            <a:avLst/>
          </a:prstGeom>
        </p:spPr>
      </p:pic>
    </p:spTree>
    <p:extLst>
      <p:ext uri="{BB962C8B-B14F-4D97-AF65-F5344CB8AC3E}">
        <p14:creationId xmlns:p14="http://schemas.microsoft.com/office/powerpoint/2010/main" val="126047193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EDE9FBD-1DF6-29C6-6F09-05456E60E9BE}"/>
              </a:ext>
            </a:extLst>
          </p:cNvPr>
          <p:cNvSpPr>
            <a:spLocks noGrp="1"/>
          </p:cNvSpPr>
          <p:nvPr>
            <p:ph type="ftr" sz="quarter" idx="16"/>
          </p:nvPr>
        </p:nvSpPr>
        <p:spPr/>
        <p:txBody>
          <a:bodyPr/>
          <a:lstStyle/>
          <a:p>
            <a:r>
              <a:rPr lang="en-US" sz="900">
                <a:latin typeface="Source Sans Pro"/>
                <a:ea typeface="Source Sans Pro"/>
              </a:rPr>
              <a:t>ARCHERFISH PDR</a:t>
            </a:r>
            <a:endParaRPr lang="en-US"/>
          </a:p>
        </p:txBody>
      </p:sp>
      <p:sp>
        <p:nvSpPr>
          <p:cNvPr id="4" name="Slide Number Placeholder 3">
            <a:extLst>
              <a:ext uri="{FF2B5EF4-FFF2-40B4-BE49-F238E27FC236}">
                <a16:creationId xmlns:a16="http://schemas.microsoft.com/office/drawing/2014/main" id="{1199F775-6C9F-0ACD-8F97-15605CF4271E}"/>
              </a:ext>
            </a:extLst>
          </p:cNvPr>
          <p:cNvSpPr>
            <a:spLocks noGrp="1"/>
          </p:cNvSpPr>
          <p:nvPr>
            <p:ph type="sldNum" sz="quarter" idx="17"/>
          </p:nvPr>
        </p:nvSpPr>
        <p:spPr/>
        <p:txBody>
          <a:bodyPr/>
          <a:lstStyle/>
          <a:p>
            <a:r>
              <a:rPr lang="en-US"/>
              <a:t>/   </a:t>
            </a:r>
            <a:fld id="{6C7E6F33-74EE-5541-8108-8353B402F8C1}" type="slidenum">
              <a:rPr lang="en-US" smtClean="0"/>
              <a:pPr/>
              <a:t>114</a:t>
            </a:fld>
            <a:endParaRPr lang="en-US"/>
          </a:p>
        </p:txBody>
      </p:sp>
      <p:sp>
        <p:nvSpPr>
          <p:cNvPr id="5" name="Title 4">
            <a:extLst>
              <a:ext uri="{FF2B5EF4-FFF2-40B4-BE49-F238E27FC236}">
                <a16:creationId xmlns:a16="http://schemas.microsoft.com/office/drawing/2014/main" id="{8B9EC3C4-B94A-C848-6190-02E5D8E6F357}"/>
              </a:ext>
            </a:extLst>
          </p:cNvPr>
          <p:cNvSpPr>
            <a:spLocks noGrp="1"/>
          </p:cNvSpPr>
          <p:nvPr>
            <p:ph type="title"/>
          </p:nvPr>
        </p:nvSpPr>
        <p:spPr>
          <a:xfrm>
            <a:off x="531848" y="716984"/>
            <a:ext cx="10854147" cy="625567"/>
          </a:xfrm>
        </p:spPr>
        <p:txBody>
          <a:bodyPr>
            <a:normAutofit fontScale="90000"/>
          </a:bodyPr>
          <a:lstStyle/>
          <a:p>
            <a:r>
              <a:rPr lang="en-US">
                <a:latin typeface="Munistic"/>
              </a:rPr>
              <a:t>Avionics Bay Requirements (TOM)</a:t>
            </a:r>
            <a:endParaRPr lang="en-US"/>
          </a:p>
        </p:txBody>
      </p:sp>
      <p:sp>
        <p:nvSpPr>
          <p:cNvPr id="24" name="TextBox 23">
            <a:extLst>
              <a:ext uri="{FF2B5EF4-FFF2-40B4-BE49-F238E27FC236}">
                <a16:creationId xmlns:a16="http://schemas.microsoft.com/office/drawing/2014/main" id="{9489C2DB-744F-3D59-2F4F-8DC41F83EA95}"/>
              </a:ext>
            </a:extLst>
          </p:cNvPr>
          <p:cNvSpPr txBox="1"/>
          <p:nvPr/>
        </p:nvSpPr>
        <p:spPr>
          <a:xfrm>
            <a:off x="531848" y="1342551"/>
            <a:ext cx="207213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ea typeface="Calibri"/>
                <a:cs typeface="Calibri"/>
              </a:rPr>
              <a:t>TOM</a:t>
            </a:r>
          </a:p>
        </p:txBody>
      </p:sp>
      <p:graphicFrame>
        <p:nvGraphicFramePr>
          <p:cNvPr id="9" name="Table 8">
            <a:extLst>
              <a:ext uri="{FF2B5EF4-FFF2-40B4-BE49-F238E27FC236}">
                <a16:creationId xmlns:a16="http://schemas.microsoft.com/office/drawing/2014/main" id="{996260ED-A3D4-4841-E629-158FEC68BAD5}"/>
              </a:ext>
            </a:extLst>
          </p:cNvPr>
          <p:cNvGraphicFramePr>
            <a:graphicFrameLocks noGrp="1"/>
          </p:cNvGraphicFramePr>
          <p:nvPr>
            <p:extLst>
              <p:ext uri="{D42A27DB-BD31-4B8C-83A1-F6EECF244321}">
                <p14:modId xmlns:p14="http://schemas.microsoft.com/office/powerpoint/2010/main" val="2859758080"/>
              </p:ext>
            </p:extLst>
          </p:nvPr>
        </p:nvGraphicFramePr>
        <p:xfrm>
          <a:off x="860079" y="1425920"/>
          <a:ext cx="10105753" cy="5078533"/>
        </p:xfrm>
        <a:graphic>
          <a:graphicData uri="http://schemas.openxmlformats.org/drawingml/2006/table">
            <a:tbl>
              <a:tblPr bandRow="1">
                <a:tableStyleId>{5C22544A-7EE6-4342-B048-85BDC9FD1C3A}</a:tableStyleId>
              </a:tblPr>
              <a:tblGrid>
                <a:gridCol w="1098078">
                  <a:extLst>
                    <a:ext uri="{9D8B030D-6E8A-4147-A177-3AD203B41FA5}">
                      <a16:colId xmlns:a16="http://schemas.microsoft.com/office/drawing/2014/main" val="2576107218"/>
                    </a:ext>
                  </a:extLst>
                </a:gridCol>
                <a:gridCol w="2299102">
                  <a:extLst>
                    <a:ext uri="{9D8B030D-6E8A-4147-A177-3AD203B41FA5}">
                      <a16:colId xmlns:a16="http://schemas.microsoft.com/office/drawing/2014/main" val="1967482669"/>
                    </a:ext>
                  </a:extLst>
                </a:gridCol>
                <a:gridCol w="2213314">
                  <a:extLst>
                    <a:ext uri="{9D8B030D-6E8A-4147-A177-3AD203B41FA5}">
                      <a16:colId xmlns:a16="http://schemas.microsoft.com/office/drawing/2014/main" val="2022613721"/>
                    </a:ext>
                  </a:extLst>
                </a:gridCol>
                <a:gridCol w="1818692">
                  <a:extLst>
                    <a:ext uri="{9D8B030D-6E8A-4147-A177-3AD203B41FA5}">
                      <a16:colId xmlns:a16="http://schemas.microsoft.com/office/drawing/2014/main" val="2092437520"/>
                    </a:ext>
                  </a:extLst>
                </a:gridCol>
                <a:gridCol w="2676567">
                  <a:extLst>
                    <a:ext uri="{9D8B030D-6E8A-4147-A177-3AD203B41FA5}">
                      <a16:colId xmlns:a16="http://schemas.microsoft.com/office/drawing/2014/main" val="3454275180"/>
                    </a:ext>
                  </a:extLst>
                </a:gridCol>
              </a:tblGrid>
              <a:tr h="161936">
                <a:tc>
                  <a:txBody>
                    <a:bodyPr/>
                    <a:lstStyle/>
                    <a:p>
                      <a:pPr>
                        <a:buNone/>
                      </a:pPr>
                      <a:r>
                        <a:rPr lang="en-US" sz="1100" b="1" u="none" strike="noStrike">
                          <a:solidFill>
                            <a:srgbClr val="FFFFFF"/>
                          </a:solidFill>
                          <a:effectLst/>
                          <a:latin typeface="Aptos Narrow"/>
                        </a:rPr>
                        <a:t>RBS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Requirement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Calibri"/>
                        </a:rPr>
                        <a:t>Rationale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Traced From</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Verification Method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extLst>
                  <a:ext uri="{0D108BD9-81ED-4DB2-BD59-A6C34878D82A}">
                    <a16:rowId xmlns:a16="http://schemas.microsoft.com/office/drawing/2014/main" val="97345582"/>
                  </a:ext>
                </a:extLst>
              </a:tr>
              <a:tr h="161935">
                <a:tc>
                  <a:txBody>
                    <a:bodyPr/>
                    <a:lstStyle/>
                    <a:p>
                      <a:pPr lvl="0">
                        <a:buNone/>
                      </a:pPr>
                      <a:endParaRPr lang="en-US" sz="1100" b="1" u="none" strike="noStrike">
                        <a:solidFill>
                          <a:srgbClr val="FFFFFF"/>
                        </a:solidFill>
                        <a:effectLst/>
                        <a:latin typeface="Aptos Narrow"/>
                      </a:endParaRPr>
                    </a:p>
                  </a:txBody>
                  <a:tcPr marL="0" marR="0" marT="0" marB="0" anchor="ctr">
                    <a:lnL w="6350">
                      <a:solidFill>
                        <a:srgbClr val="000000"/>
                      </a:solidFill>
                    </a:lnL>
                    <a:lnR w="6350">
                      <a:solidFill>
                        <a:srgbClr val="000000"/>
                      </a:solidFill>
                    </a:lnR>
                    <a:lnT w="12700" cap="flat" cmpd="sng" algn="ctr">
                      <a:solidFill>
                        <a:srgbClr val="000000"/>
                      </a:solidFill>
                      <a:prstDash val="solid"/>
                      <a:round/>
                      <a:headEnd type="none" w="med" len="med"/>
                      <a:tailEnd type="none" w="med" len="med"/>
                    </a:lnT>
                    <a:lnB w="12700">
                      <a:solidFill>
                        <a:srgbClr val="000000"/>
                      </a:solidFill>
                    </a:lnB>
                    <a:solidFill>
                      <a:srgbClr val="196B24"/>
                    </a:solidFill>
                  </a:tcPr>
                </a:tc>
                <a:tc>
                  <a:txBody>
                    <a:bodyPr/>
                    <a:lstStyle/>
                    <a:p>
                      <a:pPr lvl="0">
                        <a:buNone/>
                      </a:pPr>
                      <a:endParaRPr lang="en-US" sz="1100" b="1" u="none" strike="noStrike">
                        <a:solidFill>
                          <a:srgbClr val="FFFFFF"/>
                        </a:solidFill>
                        <a:effectLst/>
                        <a:latin typeface="Aptos Narrow"/>
                      </a:endParaRPr>
                    </a:p>
                  </a:txBody>
                  <a:tcPr marL="0" marR="0" marT="0" marB="0" anchor="ctr">
                    <a:lnL w="6350">
                      <a:solidFill>
                        <a:srgbClr val="000000"/>
                      </a:solidFill>
                    </a:lnL>
                    <a:lnR w="6350">
                      <a:solidFill>
                        <a:srgbClr val="000000"/>
                      </a:solidFill>
                    </a:lnR>
                    <a:lnT w="12700" cap="flat" cmpd="sng" algn="ctr">
                      <a:solidFill>
                        <a:srgbClr val="000000"/>
                      </a:solidFill>
                      <a:prstDash val="solid"/>
                      <a:round/>
                      <a:headEnd type="none" w="med" len="med"/>
                      <a:tailEnd type="none" w="med" len="med"/>
                    </a:lnT>
                    <a:lnB w="12700">
                      <a:solidFill>
                        <a:srgbClr val="000000"/>
                      </a:solidFill>
                    </a:lnB>
                    <a:solidFill>
                      <a:srgbClr val="196B24"/>
                    </a:solidFill>
                  </a:tcPr>
                </a:tc>
                <a:tc>
                  <a:txBody>
                    <a:bodyPr/>
                    <a:lstStyle/>
                    <a:p>
                      <a:pPr lvl="0">
                        <a:buNone/>
                      </a:pPr>
                      <a:endParaRPr lang="en-US" sz="1100" b="1" u="none" strike="noStrike">
                        <a:solidFill>
                          <a:srgbClr val="FFFFFF"/>
                        </a:solidFill>
                        <a:effectLst/>
                        <a:latin typeface="Calibri"/>
                      </a:endParaRPr>
                    </a:p>
                  </a:txBody>
                  <a:tcPr marL="0" marR="0" marT="0" marB="0" anchor="ctr">
                    <a:lnL w="6350">
                      <a:solidFill>
                        <a:srgbClr val="000000"/>
                      </a:solidFill>
                    </a:lnL>
                    <a:lnR w="6350">
                      <a:solidFill>
                        <a:srgbClr val="000000"/>
                      </a:solidFill>
                    </a:lnR>
                    <a:lnT w="12700" cap="flat" cmpd="sng" algn="ctr">
                      <a:solidFill>
                        <a:srgbClr val="000000"/>
                      </a:solidFill>
                      <a:prstDash val="solid"/>
                      <a:round/>
                      <a:headEnd type="none" w="med" len="med"/>
                      <a:tailEnd type="none" w="med" len="med"/>
                    </a:lnT>
                    <a:lnB w="12700">
                      <a:solidFill>
                        <a:srgbClr val="000000"/>
                      </a:solidFill>
                    </a:lnB>
                    <a:solidFill>
                      <a:srgbClr val="196B24"/>
                    </a:solidFill>
                  </a:tcPr>
                </a:tc>
                <a:tc>
                  <a:txBody>
                    <a:bodyPr/>
                    <a:lstStyle/>
                    <a:p>
                      <a:pPr lvl="0">
                        <a:buNone/>
                      </a:pPr>
                      <a:endParaRPr lang="en-US" sz="1100" b="1" u="none" strike="noStrike">
                        <a:solidFill>
                          <a:srgbClr val="FFFFFF"/>
                        </a:solidFill>
                        <a:effectLst/>
                        <a:latin typeface="Aptos Narrow"/>
                      </a:endParaRPr>
                    </a:p>
                  </a:txBody>
                  <a:tcPr marL="0" marR="0" marT="0" marB="0" anchor="ctr">
                    <a:lnL w="6350">
                      <a:solidFill>
                        <a:srgbClr val="000000"/>
                      </a:solidFill>
                    </a:lnL>
                    <a:lnR w="6350">
                      <a:solidFill>
                        <a:srgbClr val="000000"/>
                      </a:solidFill>
                    </a:lnR>
                    <a:lnT w="12700" cap="flat" cmpd="sng" algn="ctr">
                      <a:solidFill>
                        <a:srgbClr val="000000"/>
                      </a:solidFill>
                      <a:prstDash val="solid"/>
                      <a:round/>
                      <a:headEnd type="none" w="med" len="med"/>
                      <a:tailEnd type="none" w="med" len="med"/>
                    </a:lnT>
                    <a:lnB w="12700">
                      <a:solidFill>
                        <a:srgbClr val="000000"/>
                      </a:solidFill>
                    </a:lnB>
                    <a:solidFill>
                      <a:srgbClr val="196B24"/>
                    </a:solidFill>
                  </a:tcPr>
                </a:tc>
                <a:tc>
                  <a:txBody>
                    <a:bodyPr/>
                    <a:lstStyle/>
                    <a:p>
                      <a:pPr lvl="0">
                        <a:buNone/>
                      </a:pPr>
                      <a:endParaRPr lang="en-US" sz="1100" b="1" u="none" strike="noStrike">
                        <a:solidFill>
                          <a:srgbClr val="FFFFFF"/>
                        </a:solidFill>
                        <a:effectLst/>
                        <a:latin typeface="Aptos Narrow"/>
                      </a:endParaRPr>
                    </a:p>
                  </a:txBody>
                  <a:tcPr marL="0" marR="0" marT="0" marB="0" anchor="ctr">
                    <a:lnL w="6350">
                      <a:solidFill>
                        <a:srgbClr val="000000"/>
                      </a:solidFill>
                    </a:lnL>
                    <a:lnR w="6350">
                      <a:solidFill>
                        <a:srgbClr val="000000"/>
                      </a:solidFill>
                    </a:lnR>
                    <a:lnT w="12700" cap="flat" cmpd="sng" algn="ctr">
                      <a:solidFill>
                        <a:srgbClr val="000000"/>
                      </a:solidFill>
                      <a:prstDash val="solid"/>
                      <a:round/>
                      <a:headEnd type="none" w="med" len="med"/>
                      <a:tailEnd type="none" w="med" len="med"/>
                    </a:lnT>
                    <a:lnB w="12700">
                      <a:solidFill>
                        <a:srgbClr val="000000"/>
                      </a:solidFill>
                    </a:lnB>
                    <a:solidFill>
                      <a:srgbClr val="196B24"/>
                    </a:solidFill>
                  </a:tcPr>
                </a:tc>
                <a:extLst>
                  <a:ext uri="{0D108BD9-81ED-4DB2-BD59-A6C34878D82A}">
                    <a16:rowId xmlns:a16="http://schemas.microsoft.com/office/drawing/2014/main" val="574171415"/>
                  </a:ext>
                </a:extLst>
              </a:tr>
              <a:tr h="485809">
                <a:tc>
                  <a:txBody>
                    <a:bodyPr/>
                    <a:lstStyle/>
                    <a:p>
                      <a:pPr>
                        <a:buNone/>
                      </a:pPr>
                      <a:r>
                        <a:rPr lang="en-US" sz="1100" b="0" u="none" strike="noStrike">
                          <a:solidFill>
                            <a:srgbClr val="000000"/>
                          </a:solidFill>
                          <a:effectLst/>
                          <a:latin typeface="Aptos Narrow"/>
                        </a:rPr>
                        <a:t>0</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The system shall stream Telemetry data throughout the entire mission duration.</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Calibri"/>
                        </a:rPr>
                        <a:t>This is a FAR requirement.</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FAR Requirement</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Field Range Testing</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1251733445"/>
                  </a:ext>
                </a:extLst>
              </a:tr>
              <a:tr h="404840">
                <a:tc>
                  <a:txBody>
                    <a:bodyPr/>
                    <a:lstStyle/>
                    <a:p>
                      <a:pPr>
                        <a:buNone/>
                      </a:pPr>
                      <a:r>
                        <a:rPr lang="en-US" sz="1100" b="0" u="none" strike="noStrike">
                          <a:solidFill>
                            <a:srgbClr val="000000"/>
                          </a:solidFill>
                          <a:effectLst/>
                          <a:latin typeface="Aptos Narrow"/>
                        </a:rPr>
                        <a:t>0.1</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The system shall include GPS latitude and longitude in telemetry.</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Calibri"/>
                        </a:rPr>
                        <a:t>This is necessary for recovering the rocket.</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FAR Requirement</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HITL testing, demonstrate correct GPS measurements  </a:t>
                      </a:r>
                    </a:p>
                  </a:txBody>
                  <a:tcPr marL="0" marR="0" marT="0" marB="0" anchor="ctr">
                    <a:lnL>
                      <a:noFill/>
                    </a:lnL>
                    <a:lnR>
                      <a:noFill/>
                    </a:lnR>
                    <a:lnT>
                      <a:noFill/>
                    </a:lnT>
                    <a:lnB>
                      <a:noFill/>
                    </a:lnB>
                    <a:noFill/>
                  </a:tcPr>
                </a:tc>
                <a:extLst>
                  <a:ext uri="{0D108BD9-81ED-4DB2-BD59-A6C34878D82A}">
                    <a16:rowId xmlns:a16="http://schemas.microsoft.com/office/drawing/2014/main" val="1689035348"/>
                  </a:ext>
                </a:extLst>
              </a:tr>
              <a:tr h="445325">
                <a:tc>
                  <a:txBody>
                    <a:bodyPr/>
                    <a:lstStyle/>
                    <a:p>
                      <a:pPr>
                        <a:buNone/>
                      </a:pPr>
                      <a:r>
                        <a:rPr lang="en-US" sz="1100" b="0" u="none" strike="noStrike">
                          <a:solidFill>
                            <a:srgbClr val="000000"/>
                          </a:solidFill>
                          <a:effectLst/>
                          <a:latin typeface="Aptos Narrow"/>
                        </a:rPr>
                        <a:t>0.2</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 system shall include altitude in telemetry.</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Calibri"/>
                        </a:rPr>
                        <a:t>This is necessary for preliminary scoring and scoring on system failure.</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FAR Requirement</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correct Altimeter measurements over I2C  with varying altitudes </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1296162314"/>
                  </a:ext>
                </a:extLst>
              </a:tr>
              <a:tr h="340065">
                <a:tc>
                  <a:txBody>
                    <a:bodyPr/>
                    <a:lstStyle/>
                    <a:p>
                      <a:pPr>
                        <a:buNone/>
                      </a:pPr>
                      <a:r>
                        <a:rPr lang="en-US" sz="1100" b="0" u="none" strike="noStrike">
                          <a:solidFill>
                            <a:srgbClr val="000000"/>
                          </a:solidFill>
                          <a:effectLst/>
                          <a:latin typeface="Aptos Narrow"/>
                        </a:rPr>
                        <a:t>0.3</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The system shall send telemetry up to an altitude of 26400 ft</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Calibri"/>
                        </a:rPr>
                        <a:t>This is necessary to send telemetry throughout the mission duration.</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Archerfish Requirement</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Field Range Testing</a:t>
                      </a:r>
                    </a:p>
                  </a:txBody>
                  <a:tcPr marL="0" marR="0" marT="0" marB="0" anchor="ctr">
                    <a:lnL>
                      <a:noFill/>
                    </a:lnL>
                    <a:lnR>
                      <a:noFill/>
                    </a:lnR>
                    <a:lnT>
                      <a:noFill/>
                    </a:lnT>
                    <a:lnB>
                      <a:noFill/>
                    </a:lnB>
                    <a:noFill/>
                  </a:tcPr>
                </a:tc>
                <a:extLst>
                  <a:ext uri="{0D108BD9-81ED-4DB2-BD59-A6C34878D82A}">
                    <a16:rowId xmlns:a16="http://schemas.microsoft.com/office/drawing/2014/main" val="3201423746"/>
                  </a:ext>
                </a:extLst>
              </a:tr>
              <a:tr h="331969">
                <a:tc>
                  <a:txBody>
                    <a:bodyPr/>
                    <a:lstStyle/>
                    <a:p>
                      <a:pPr>
                        <a:buNone/>
                      </a:pPr>
                      <a:r>
                        <a:rPr lang="en-US" sz="1100" b="0" u="none" strike="noStrike">
                          <a:solidFill>
                            <a:srgbClr val="000000"/>
                          </a:solidFill>
                          <a:effectLst/>
                          <a:latin typeface="Aptos Narrow"/>
                        </a:rPr>
                        <a:t>0.4</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 system shall send telemetry up to a distance of 4 miles.</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Calibri"/>
                        </a:rPr>
                        <a:t>This is necessary to send telemetry throughout the mission duration.</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Archerfish Requirement</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Field Range Testing</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2149298749"/>
                  </a:ext>
                </a:extLst>
              </a:tr>
              <a:tr h="323872">
                <a:tc>
                  <a:txBody>
                    <a:bodyPr/>
                    <a:lstStyle/>
                    <a:p>
                      <a:pPr>
                        <a:buNone/>
                      </a:pPr>
                      <a:r>
                        <a:rPr lang="en-US" sz="1100" b="0" u="none" strike="noStrike">
                          <a:solidFill>
                            <a:srgbClr val="000000"/>
                          </a:solidFill>
                          <a:effectLst/>
                          <a:latin typeface="Aptos Narrow"/>
                        </a:rPr>
                        <a:t>0.5</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The system shall send telemetry at a minimum of 1Hz</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Calibri"/>
                        </a:rPr>
                        <a:t>This is necessary to maintain real-time telemetry.</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Archerfish Requirement</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Visual confirmation on mission control </a:t>
                      </a:r>
                    </a:p>
                  </a:txBody>
                  <a:tcPr marL="0" marR="0" marT="0" marB="0" anchor="ctr">
                    <a:lnL>
                      <a:noFill/>
                    </a:lnL>
                    <a:lnR>
                      <a:noFill/>
                    </a:lnR>
                    <a:lnT>
                      <a:noFill/>
                    </a:lnT>
                    <a:lnB>
                      <a:noFill/>
                    </a:lnB>
                    <a:noFill/>
                  </a:tcPr>
                </a:tc>
                <a:extLst>
                  <a:ext uri="{0D108BD9-81ED-4DB2-BD59-A6C34878D82A}">
                    <a16:rowId xmlns:a16="http://schemas.microsoft.com/office/drawing/2014/main" val="2331962149"/>
                  </a:ext>
                </a:extLst>
              </a:tr>
              <a:tr h="388646">
                <a:tc>
                  <a:txBody>
                    <a:bodyPr/>
                    <a:lstStyle/>
                    <a:p>
                      <a:pPr>
                        <a:buNone/>
                      </a:pPr>
                      <a:r>
                        <a:rPr lang="en-US" sz="1100" b="0" u="none" strike="noStrike">
                          <a:solidFill>
                            <a:srgbClr val="000000"/>
                          </a:solidFill>
                          <a:effectLst/>
                          <a:latin typeface="Aptos Narrow"/>
                        </a:rPr>
                        <a:t>1</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 system shall fire the drogue parachute at apogee</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Calibri"/>
                        </a:rPr>
                        <a:t>This is a FAR requirement.</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FAR Requirement</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with simulated flight data from Certs/previous launches/</a:t>
                      </a:r>
                      <a:r>
                        <a:rPr lang="en-US" sz="1100" b="0" u="none" strike="noStrike" err="1">
                          <a:solidFill>
                            <a:srgbClr val="000000"/>
                          </a:solidFill>
                          <a:effectLst/>
                          <a:latin typeface="Aptos Narrow"/>
                        </a:rPr>
                        <a:t>openrocket</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3591439275"/>
                  </a:ext>
                </a:extLst>
              </a:tr>
              <a:tr h="518196">
                <a:tc>
                  <a:txBody>
                    <a:bodyPr/>
                    <a:lstStyle/>
                    <a:p>
                      <a:pPr>
                        <a:buNone/>
                      </a:pPr>
                      <a:r>
                        <a:rPr lang="en-US" sz="1100" b="0" u="none" strike="noStrike">
                          <a:solidFill>
                            <a:srgbClr val="000000"/>
                          </a:solidFill>
                          <a:effectLst/>
                          <a:latin typeface="Aptos Narrow"/>
                        </a:rPr>
                        <a:t>1.1</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The system shall fire the main parachute during descent at 1K ft AGL</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Calibri"/>
                        </a:rPr>
                        <a:t>This is a FAR requirement.</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FAR Requirement</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HITL testing with simulated flight data from Certs/previous launches/</a:t>
                      </a:r>
                      <a:r>
                        <a:rPr lang="en-US" sz="1100" b="0" u="none" strike="noStrike" err="1">
                          <a:solidFill>
                            <a:srgbClr val="000000"/>
                          </a:solidFill>
                          <a:effectLst/>
                          <a:latin typeface="Aptos Narrow"/>
                        </a:rPr>
                        <a:t>openrocket</a:t>
                      </a:r>
                    </a:p>
                  </a:txBody>
                  <a:tcPr marL="0" marR="0" marT="0" marB="0" anchor="ctr">
                    <a:lnL>
                      <a:noFill/>
                    </a:lnL>
                    <a:lnR>
                      <a:noFill/>
                    </a:lnR>
                    <a:lnT>
                      <a:noFill/>
                    </a:lnT>
                    <a:lnB>
                      <a:noFill/>
                    </a:lnB>
                    <a:noFill/>
                  </a:tcPr>
                </a:tc>
                <a:extLst>
                  <a:ext uri="{0D108BD9-81ED-4DB2-BD59-A6C34878D82A}">
                    <a16:rowId xmlns:a16="http://schemas.microsoft.com/office/drawing/2014/main" val="3999411753"/>
                  </a:ext>
                </a:extLst>
              </a:tr>
              <a:tr h="445325">
                <a:tc>
                  <a:txBody>
                    <a:bodyPr/>
                    <a:lstStyle/>
                    <a:p>
                      <a:pPr>
                        <a:buNone/>
                      </a:pPr>
                      <a:r>
                        <a:rPr lang="en-US" sz="1100" b="0" u="none" strike="noStrike">
                          <a:solidFill>
                            <a:srgbClr val="000000"/>
                          </a:solidFill>
                          <a:effectLst/>
                          <a:latin typeface="Aptos Narrow"/>
                        </a:rPr>
                        <a:t>2</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 system shall collect IMU data for review </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Calibri"/>
                        </a:rPr>
                        <a:t>This is useful data that can be re-used for testing on future missions</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Avionics Requirement</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correct IMU measurements over I2C with varying velocities</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807971667"/>
                  </a:ext>
                </a:extLst>
              </a:tr>
              <a:tr h="1044487">
                <a:tc>
                  <a:txBody>
                    <a:bodyPr/>
                    <a:lstStyle/>
                    <a:p>
                      <a:pPr>
                        <a:buNone/>
                      </a:pPr>
                      <a:r>
                        <a:rPr lang="en-US" sz="1100" b="0" u="none" strike="noStrike">
                          <a:solidFill>
                            <a:srgbClr val="000000"/>
                          </a:solidFill>
                          <a:effectLst/>
                          <a:latin typeface="Aptos Narrow"/>
                        </a:rPr>
                        <a:t>3</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buNone/>
                      </a:pPr>
                      <a:r>
                        <a:rPr lang="en-US" sz="1100" b="0" u="none" strike="noStrike">
                          <a:solidFill>
                            <a:srgbClr val="000000"/>
                          </a:solidFill>
                          <a:effectLst/>
                          <a:latin typeface="Aptos Narrow"/>
                        </a:rPr>
                        <a:t>The system shall receive and relay the following signals from Mission Control to the Engine Controller: Launch and Cut Line</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buNone/>
                      </a:pPr>
                      <a:r>
                        <a:rPr lang="en-US" sz="1100" b="0" u="none" strike="noStrike">
                          <a:solidFill>
                            <a:srgbClr val="000000"/>
                          </a:solidFill>
                          <a:effectLst/>
                          <a:latin typeface="Calibri"/>
                        </a:rPr>
                        <a:t>All launch and failure case procedures are controlled by operators through mission control and need to be passed to Engine controller which does not have wireless communication with Mission Control</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buNone/>
                      </a:pPr>
                      <a:r>
                        <a:rPr lang="en-US" sz="1100" b="0" u="none" strike="noStrike">
                          <a:solidFill>
                            <a:srgbClr val="000000"/>
                          </a:solidFill>
                          <a:effectLst/>
                          <a:latin typeface="Aptos Narrow"/>
                        </a:rPr>
                        <a:t>Mission Control RBS 0.5</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buNone/>
                      </a:pPr>
                      <a:r>
                        <a:rPr lang="en-US" sz="1100" b="0" u="none" strike="noStrike">
                          <a:solidFill>
                            <a:srgbClr val="000000"/>
                          </a:solidFill>
                          <a:effectLst/>
                          <a:latin typeface="Aptos Narrow"/>
                        </a:rPr>
                        <a:t>HITL testing, demonstrate communication between TOM and engine controller over UART on long wires.  Test both with simulated data and Motor Controller in the Loop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8782707"/>
                  </a:ext>
                </a:extLst>
              </a:tr>
            </a:tbl>
          </a:graphicData>
        </a:graphic>
      </p:graphicFrame>
    </p:spTree>
    <p:extLst>
      <p:ext uri="{BB962C8B-B14F-4D97-AF65-F5344CB8AC3E}">
        <p14:creationId xmlns:p14="http://schemas.microsoft.com/office/powerpoint/2010/main" val="87668017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8AF79E-3C02-F2D4-2459-479A8AC702F6}"/>
              </a:ext>
            </a:extLst>
          </p:cNvPr>
          <p:cNvSpPr>
            <a:spLocks noGrp="1"/>
          </p:cNvSpPr>
          <p:nvPr>
            <p:ph type="title"/>
          </p:nvPr>
        </p:nvSpPr>
        <p:spPr>
          <a:xfrm>
            <a:off x="531848" y="964634"/>
            <a:ext cx="11060271" cy="625567"/>
          </a:xfrm>
        </p:spPr>
        <p:txBody>
          <a:bodyPr>
            <a:normAutofit fontScale="90000"/>
          </a:bodyPr>
          <a:lstStyle/>
          <a:p>
            <a:r>
              <a:rPr lang="en-US">
                <a:latin typeface="Munistic"/>
              </a:rPr>
              <a:t>Avionics Bay Requirements </a:t>
            </a:r>
            <a:r>
              <a:rPr lang="en-US" sz="3800">
                <a:latin typeface="Munistic"/>
                <a:ea typeface="Calibri"/>
                <a:cs typeface="Calibri"/>
              </a:rPr>
              <a:t>(</a:t>
            </a:r>
            <a:r>
              <a:rPr lang="en-US" sz="3800" b="1">
                <a:latin typeface="Munistic"/>
                <a:ea typeface="Calibri"/>
                <a:cs typeface="Calibri"/>
              </a:rPr>
              <a:t>Black Box</a:t>
            </a:r>
            <a:r>
              <a:rPr lang="en-US" sz="3800">
                <a:latin typeface="Munistic"/>
                <a:ea typeface="Calibri"/>
                <a:cs typeface="Calibri"/>
              </a:rPr>
              <a:t>)</a:t>
            </a:r>
            <a:endParaRPr lang="en-US" sz="3800">
              <a:latin typeface="Munistic"/>
            </a:endParaRPr>
          </a:p>
        </p:txBody>
      </p:sp>
      <p:graphicFrame>
        <p:nvGraphicFramePr>
          <p:cNvPr id="6" name="Table 5">
            <a:extLst>
              <a:ext uri="{FF2B5EF4-FFF2-40B4-BE49-F238E27FC236}">
                <a16:creationId xmlns:a16="http://schemas.microsoft.com/office/drawing/2014/main" id="{4D8B7108-4650-9C41-D4EE-ACF40002C506}"/>
              </a:ext>
            </a:extLst>
          </p:cNvPr>
          <p:cNvGraphicFramePr>
            <a:graphicFrameLocks noGrp="1"/>
          </p:cNvGraphicFramePr>
          <p:nvPr>
            <p:extLst>
              <p:ext uri="{D42A27DB-BD31-4B8C-83A1-F6EECF244321}">
                <p14:modId xmlns:p14="http://schemas.microsoft.com/office/powerpoint/2010/main" val="1978271617"/>
              </p:ext>
            </p:extLst>
          </p:nvPr>
        </p:nvGraphicFramePr>
        <p:xfrm>
          <a:off x="533400" y="2338513"/>
          <a:ext cx="9963150" cy="2638173"/>
        </p:xfrm>
        <a:graphic>
          <a:graphicData uri="http://schemas.openxmlformats.org/drawingml/2006/table">
            <a:tbl>
              <a:tblPr bandRow="1">
                <a:tableStyleId>{5C22544A-7EE6-4342-B048-85BDC9FD1C3A}</a:tableStyleId>
              </a:tblPr>
              <a:tblGrid>
                <a:gridCol w="1914525">
                  <a:extLst>
                    <a:ext uri="{9D8B030D-6E8A-4147-A177-3AD203B41FA5}">
                      <a16:colId xmlns:a16="http://schemas.microsoft.com/office/drawing/2014/main" val="2191360598"/>
                    </a:ext>
                  </a:extLst>
                </a:gridCol>
                <a:gridCol w="1752600">
                  <a:extLst>
                    <a:ext uri="{9D8B030D-6E8A-4147-A177-3AD203B41FA5}">
                      <a16:colId xmlns:a16="http://schemas.microsoft.com/office/drawing/2014/main" val="184425738"/>
                    </a:ext>
                  </a:extLst>
                </a:gridCol>
                <a:gridCol w="2533650">
                  <a:extLst>
                    <a:ext uri="{9D8B030D-6E8A-4147-A177-3AD203B41FA5}">
                      <a16:colId xmlns:a16="http://schemas.microsoft.com/office/drawing/2014/main" val="1623539191"/>
                    </a:ext>
                  </a:extLst>
                </a:gridCol>
                <a:gridCol w="1695450">
                  <a:extLst>
                    <a:ext uri="{9D8B030D-6E8A-4147-A177-3AD203B41FA5}">
                      <a16:colId xmlns:a16="http://schemas.microsoft.com/office/drawing/2014/main" val="2789934860"/>
                    </a:ext>
                  </a:extLst>
                </a:gridCol>
                <a:gridCol w="2066925">
                  <a:extLst>
                    <a:ext uri="{9D8B030D-6E8A-4147-A177-3AD203B41FA5}">
                      <a16:colId xmlns:a16="http://schemas.microsoft.com/office/drawing/2014/main" val="849487923"/>
                    </a:ext>
                  </a:extLst>
                </a:gridCol>
              </a:tblGrid>
              <a:tr h="171450">
                <a:tc>
                  <a:txBody>
                    <a:bodyPr/>
                    <a:lstStyle/>
                    <a:p>
                      <a:pPr fontAlgn="base">
                        <a:lnSpc>
                          <a:spcPts val="1350"/>
                        </a:lnSpc>
                        <a:buNone/>
                      </a:pPr>
                      <a:r>
                        <a:rPr lang="en-US" sz="1100" b="1">
                          <a:solidFill>
                            <a:srgbClr val="FFFFFF"/>
                          </a:solidFill>
                          <a:effectLst/>
                          <a:latin typeface="Aptos Narrow"/>
                        </a:rPr>
                        <a:t>RBS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354" cap="flat" cmpd="sng" algn="ctr">
                      <a:solidFill>
                        <a:srgbClr val="000000"/>
                      </a:solidFill>
                      <a:prstDash val="solid"/>
                      <a:round/>
                      <a:headEnd type="none" w="med" len="med"/>
                      <a:tailEnd type="none" w="med" len="med"/>
                    </a:lnT>
                    <a:lnB w="12354" cap="flat" cmpd="sng" algn="ctr">
                      <a:solidFill>
                        <a:srgbClr val="000000"/>
                      </a:solidFill>
                      <a:prstDash val="solid"/>
                      <a:round/>
                      <a:headEnd type="none" w="med" len="med"/>
                      <a:tailEnd type="none" w="med" len="med"/>
                    </a:lnB>
                    <a:solidFill>
                      <a:srgbClr val="196B24"/>
                    </a:solidFill>
                  </a:tcPr>
                </a:tc>
                <a:tc>
                  <a:txBody>
                    <a:bodyPr/>
                    <a:lstStyle/>
                    <a:p>
                      <a:pPr fontAlgn="base">
                        <a:lnSpc>
                          <a:spcPts val="1350"/>
                        </a:lnSpc>
                        <a:buNone/>
                      </a:pPr>
                      <a:r>
                        <a:rPr lang="en-US" sz="1100" b="1">
                          <a:solidFill>
                            <a:srgbClr val="FFFFFF"/>
                          </a:solidFill>
                          <a:effectLst/>
                          <a:latin typeface="Aptos Narrow"/>
                        </a:rPr>
                        <a:t>Requirement</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354" cap="flat" cmpd="sng" algn="ctr">
                      <a:solidFill>
                        <a:srgbClr val="000000"/>
                      </a:solidFill>
                      <a:prstDash val="solid"/>
                      <a:round/>
                      <a:headEnd type="none" w="med" len="med"/>
                      <a:tailEnd type="none" w="med" len="med"/>
                    </a:lnT>
                    <a:lnB w="12354" cap="flat" cmpd="sng" algn="ctr">
                      <a:solidFill>
                        <a:srgbClr val="000000"/>
                      </a:solidFill>
                      <a:prstDash val="solid"/>
                      <a:round/>
                      <a:headEnd type="none" w="med" len="med"/>
                      <a:tailEnd type="none" w="med" len="med"/>
                    </a:lnB>
                    <a:solidFill>
                      <a:srgbClr val="196B24"/>
                    </a:solidFill>
                  </a:tcPr>
                </a:tc>
                <a:tc>
                  <a:txBody>
                    <a:bodyPr/>
                    <a:lstStyle/>
                    <a:p>
                      <a:pPr fontAlgn="base">
                        <a:lnSpc>
                          <a:spcPts val="1350"/>
                        </a:lnSpc>
                        <a:buNone/>
                      </a:pPr>
                      <a:r>
                        <a:rPr lang="en-US" sz="1100" b="1">
                          <a:solidFill>
                            <a:srgbClr val="FFFFFF"/>
                          </a:solidFill>
                          <a:effectLst/>
                          <a:latin typeface="Aptos Narrow"/>
                        </a:rPr>
                        <a:t>Rationale</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354" cap="flat" cmpd="sng" algn="ctr">
                      <a:solidFill>
                        <a:srgbClr val="000000"/>
                      </a:solidFill>
                      <a:prstDash val="solid"/>
                      <a:round/>
                      <a:headEnd type="none" w="med" len="med"/>
                      <a:tailEnd type="none" w="med" len="med"/>
                    </a:lnT>
                    <a:lnB w="12354" cap="flat" cmpd="sng" algn="ctr">
                      <a:solidFill>
                        <a:srgbClr val="000000"/>
                      </a:solidFill>
                      <a:prstDash val="solid"/>
                      <a:round/>
                      <a:headEnd type="none" w="med" len="med"/>
                      <a:tailEnd type="none" w="med" len="med"/>
                    </a:lnB>
                    <a:solidFill>
                      <a:srgbClr val="196B24"/>
                    </a:solidFill>
                  </a:tcPr>
                </a:tc>
                <a:tc>
                  <a:txBody>
                    <a:bodyPr/>
                    <a:lstStyle/>
                    <a:p>
                      <a:pPr fontAlgn="base">
                        <a:lnSpc>
                          <a:spcPts val="1350"/>
                        </a:lnSpc>
                        <a:buNone/>
                      </a:pPr>
                      <a:r>
                        <a:rPr lang="en-US" sz="1100" b="1">
                          <a:solidFill>
                            <a:srgbClr val="FFFFFF"/>
                          </a:solidFill>
                          <a:effectLst/>
                          <a:latin typeface="Aptos Narrow"/>
                        </a:rPr>
                        <a:t>Traced From</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354" cap="flat" cmpd="sng" algn="ctr">
                      <a:solidFill>
                        <a:srgbClr val="000000"/>
                      </a:solidFill>
                      <a:prstDash val="solid"/>
                      <a:round/>
                      <a:headEnd type="none" w="med" len="med"/>
                      <a:tailEnd type="none" w="med" len="med"/>
                    </a:lnT>
                    <a:lnB w="12354" cap="flat" cmpd="sng" algn="ctr">
                      <a:solidFill>
                        <a:srgbClr val="000000"/>
                      </a:solidFill>
                      <a:prstDash val="solid"/>
                      <a:round/>
                      <a:headEnd type="none" w="med" len="med"/>
                      <a:tailEnd type="none" w="med" len="med"/>
                    </a:lnB>
                    <a:solidFill>
                      <a:srgbClr val="196B24"/>
                    </a:solidFill>
                  </a:tcPr>
                </a:tc>
                <a:tc>
                  <a:txBody>
                    <a:bodyPr/>
                    <a:lstStyle/>
                    <a:p>
                      <a:pPr fontAlgn="base">
                        <a:lnSpc>
                          <a:spcPts val="1350"/>
                        </a:lnSpc>
                        <a:buNone/>
                      </a:pPr>
                      <a:r>
                        <a:rPr lang="en-US" sz="1100" b="1">
                          <a:solidFill>
                            <a:srgbClr val="FFFFFF"/>
                          </a:solidFill>
                          <a:effectLst/>
                          <a:latin typeface="Aptos Narrow"/>
                        </a:rPr>
                        <a:t>Verification Method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354" cap="flat" cmpd="sng" algn="ctr">
                      <a:solidFill>
                        <a:srgbClr val="000000"/>
                      </a:solidFill>
                      <a:prstDash val="solid"/>
                      <a:round/>
                      <a:headEnd type="none" w="med" len="med"/>
                      <a:tailEnd type="none" w="med" len="med"/>
                    </a:lnT>
                    <a:lnB w="12354" cap="flat" cmpd="sng" algn="ctr">
                      <a:solidFill>
                        <a:srgbClr val="000000"/>
                      </a:solidFill>
                      <a:prstDash val="solid"/>
                      <a:round/>
                      <a:headEnd type="none" w="med" len="med"/>
                      <a:tailEnd type="none" w="med" len="med"/>
                    </a:lnB>
                    <a:solidFill>
                      <a:srgbClr val="196B24"/>
                    </a:solidFill>
                  </a:tcPr>
                </a:tc>
                <a:extLst>
                  <a:ext uri="{0D108BD9-81ED-4DB2-BD59-A6C34878D82A}">
                    <a16:rowId xmlns:a16="http://schemas.microsoft.com/office/drawing/2014/main" val="28083270"/>
                  </a:ext>
                </a:extLst>
              </a:tr>
              <a:tr h="390525">
                <a:tc>
                  <a:txBody>
                    <a:bodyPr/>
                    <a:lstStyle/>
                    <a:p>
                      <a:pPr algn="ctr" fontAlgn="base">
                        <a:lnSpc>
                          <a:spcPts val="1350"/>
                        </a:lnSpc>
                        <a:buNone/>
                      </a:pPr>
                      <a:r>
                        <a:rPr lang="en-US" sz="1100">
                          <a:effectLst/>
                          <a:latin typeface="Aptos Narrow"/>
                        </a:rPr>
                        <a:t>0</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354"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fontAlgn="base">
                        <a:lnSpc>
                          <a:spcPts val="1350"/>
                        </a:lnSpc>
                        <a:buNone/>
                      </a:pPr>
                      <a:r>
                        <a:rPr lang="en-US" sz="1100">
                          <a:effectLst/>
                          <a:latin typeface="Aptos Narrow"/>
                        </a:rPr>
                        <a:t>Black Box shall store data persistently</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354"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fontAlgn="base">
                        <a:lnSpc>
                          <a:spcPts val="1350"/>
                        </a:lnSpc>
                        <a:buNone/>
                      </a:pPr>
                      <a:r>
                        <a:rPr lang="en-US" sz="1100">
                          <a:effectLst/>
                          <a:latin typeface="Aptos Narrow"/>
                        </a:rPr>
                        <a:t>This is necessary for recovering data in the case of critical failure from the rocket</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354"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fontAlgn="base">
                        <a:lnSpc>
                          <a:spcPts val="1350"/>
                        </a:lnSpc>
                        <a:buNone/>
                      </a:pPr>
                      <a:r>
                        <a:rPr lang="en-US" sz="1100">
                          <a:effectLst/>
                          <a:latin typeface="Aptos Narrow"/>
                        </a:rPr>
                        <a:t>Mission Objective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354"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fontAlgn="base">
                        <a:lnSpc>
                          <a:spcPts val="1350"/>
                        </a:lnSpc>
                        <a:buNone/>
                      </a:pPr>
                      <a:r>
                        <a:rPr lang="en-US" sz="1100">
                          <a:effectLst/>
                          <a:latin typeface="Aptos Narrow"/>
                        </a:rPr>
                        <a:t>HITL testing to verify storage is persistent after power on/off</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354"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1098812291"/>
                  </a:ext>
                </a:extLst>
              </a:tr>
              <a:tr h="466725">
                <a:tc>
                  <a:txBody>
                    <a:bodyPr/>
                    <a:lstStyle/>
                    <a:p>
                      <a:pPr algn="ctr" fontAlgn="base">
                        <a:lnSpc>
                          <a:spcPts val="1350"/>
                        </a:lnSpc>
                        <a:buNone/>
                      </a:pPr>
                      <a:r>
                        <a:rPr lang="en-US" sz="1100">
                          <a:effectLst/>
                          <a:latin typeface="Aptos Narrow"/>
                        </a:rPr>
                        <a:t>1</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Aptos Narrow"/>
                        </a:rPr>
                        <a:t>Black Box shall receive data over a common interface from TOM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Aptos Narrow"/>
                        </a:rPr>
                        <a:t>This is necessary to collect data for storage</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Aptos Narrow"/>
                        </a:rPr>
                        <a:t>Mission Objective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fontAlgn="base">
                        <a:lnSpc>
                          <a:spcPts val="1350"/>
                        </a:lnSpc>
                        <a:buNone/>
                      </a:pPr>
                      <a:r>
                        <a:rPr lang="en-US" sz="1100">
                          <a:effectLst/>
                          <a:latin typeface="Aptos Narrow"/>
                        </a:rPr>
                        <a:t>HITL testing, demonstrate functional communication with TOM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729167453"/>
                  </a:ext>
                </a:extLst>
              </a:tr>
              <a:tr h="438150">
                <a:tc>
                  <a:txBody>
                    <a:bodyPr/>
                    <a:lstStyle/>
                    <a:p>
                      <a:pPr algn="ctr" fontAlgn="base">
                        <a:lnSpc>
                          <a:spcPts val="1350"/>
                        </a:lnSpc>
                        <a:buNone/>
                      </a:pPr>
                      <a:r>
                        <a:rPr lang="en-US" sz="1100">
                          <a:effectLst/>
                          <a:latin typeface="Aptos Narrow"/>
                        </a:rPr>
                        <a:t>2</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fontAlgn="base">
                        <a:lnSpc>
                          <a:spcPts val="1350"/>
                        </a:lnSpc>
                        <a:buNone/>
                      </a:pPr>
                      <a:r>
                        <a:rPr lang="en-US" sz="1100">
                          <a:effectLst/>
                          <a:latin typeface="Aptos Narrow"/>
                        </a:rPr>
                        <a:t>Black Box shall record data regardless of </a:t>
                      </a:r>
                      <a:r>
                        <a:rPr lang="en-US" sz="1100" err="1">
                          <a:effectLst/>
                          <a:latin typeface="Aptos Narrow"/>
                        </a:rPr>
                        <a:t>malformedness</a:t>
                      </a:r>
                      <a:r>
                        <a:rPr lang="en-US" sz="1100">
                          <a:effectLst/>
                          <a:latin typeface="Aptos Narrow"/>
                        </a:rPr>
                        <a:t>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fontAlgn="base">
                        <a:lnSpc>
                          <a:spcPts val="1350"/>
                        </a:lnSpc>
                        <a:buNone/>
                      </a:pPr>
                      <a:r>
                        <a:rPr lang="en-US" sz="1100">
                          <a:effectLst/>
                          <a:latin typeface="Aptos Narrow"/>
                        </a:rPr>
                        <a:t>Necessary for debugging if data collection/distribution is not correct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fontAlgn="base">
                        <a:lnSpc>
                          <a:spcPts val="1350"/>
                        </a:lnSpc>
                        <a:buNone/>
                      </a:pPr>
                      <a:r>
                        <a:rPr lang="en-US" sz="1100">
                          <a:effectLst/>
                          <a:latin typeface="Aptos Narrow"/>
                        </a:rPr>
                        <a:t>Mission Objective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tc>
                  <a:txBody>
                    <a:bodyPr/>
                    <a:lstStyle/>
                    <a:p>
                      <a:pPr fontAlgn="base">
                        <a:lnSpc>
                          <a:spcPts val="1350"/>
                        </a:lnSpc>
                        <a:buNone/>
                      </a:pPr>
                      <a:r>
                        <a:rPr lang="en-US" sz="1100">
                          <a:effectLst/>
                          <a:latin typeface="Aptos Narrow"/>
                        </a:rPr>
                        <a:t>HITL testing with simulated malformed datasets</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D9D9"/>
                    </a:solidFill>
                  </a:tcPr>
                </a:tc>
                <a:extLst>
                  <a:ext uri="{0D108BD9-81ED-4DB2-BD59-A6C34878D82A}">
                    <a16:rowId xmlns:a16="http://schemas.microsoft.com/office/drawing/2014/main" val="609694745"/>
                  </a:ext>
                </a:extLst>
              </a:tr>
              <a:tr h="695325">
                <a:tc>
                  <a:txBody>
                    <a:bodyPr/>
                    <a:lstStyle/>
                    <a:p>
                      <a:pPr algn="ctr" fontAlgn="base">
                        <a:lnSpc>
                          <a:spcPts val="1350"/>
                        </a:lnSpc>
                        <a:buNone/>
                      </a:pPr>
                      <a:r>
                        <a:rPr lang="en-US" sz="1100">
                          <a:effectLst/>
                          <a:latin typeface="Aptos Narrow"/>
                        </a:rPr>
                        <a:t>3</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354" cap="flat" cmpd="sng" algn="ctr">
                      <a:solidFill>
                        <a:srgbClr val="000000"/>
                      </a:solidFill>
                      <a:prstDash val="solid"/>
                      <a:round/>
                      <a:headEnd type="none" w="med" len="med"/>
                      <a:tailEnd type="none" w="med" len="med"/>
                    </a:lnB>
                    <a:noFill/>
                  </a:tcPr>
                </a:tc>
                <a:tc>
                  <a:txBody>
                    <a:bodyPr/>
                    <a:lstStyle/>
                    <a:p>
                      <a:pPr fontAlgn="base">
                        <a:lnSpc>
                          <a:spcPts val="1350"/>
                        </a:lnSpc>
                        <a:buNone/>
                      </a:pPr>
                      <a:r>
                        <a:rPr lang="en-US" sz="1100">
                          <a:effectLst/>
                          <a:latin typeface="Aptos Narrow"/>
                        </a:rPr>
                        <a:t>Black Box shall fit in a volume with space 8cm x 5cm x4cm</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354" cap="flat" cmpd="sng" algn="ctr">
                      <a:solidFill>
                        <a:srgbClr val="000000"/>
                      </a:solidFill>
                      <a:prstDash val="solid"/>
                      <a:round/>
                      <a:headEnd type="none" w="med" len="med"/>
                      <a:tailEnd type="none" w="med" len="med"/>
                    </a:lnB>
                    <a:noFill/>
                  </a:tcPr>
                </a:tc>
                <a:tc>
                  <a:txBody>
                    <a:bodyPr/>
                    <a:lstStyle/>
                    <a:p>
                      <a:pPr fontAlgn="base">
                        <a:lnSpc>
                          <a:spcPts val="1350"/>
                        </a:lnSpc>
                        <a:buNone/>
                      </a:pPr>
                      <a:r>
                        <a:rPr lang="en-US" sz="1100">
                          <a:effectLst/>
                          <a:latin typeface="Aptos Narrow"/>
                        </a:rPr>
                        <a:t>This is the space allocated in the avionics bay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354" cap="flat" cmpd="sng" algn="ctr">
                      <a:solidFill>
                        <a:srgbClr val="000000"/>
                      </a:solidFill>
                      <a:prstDash val="solid"/>
                      <a:round/>
                      <a:headEnd type="none" w="med" len="med"/>
                      <a:tailEnd type="none" w="med" len="med"/>
                    </a:lnB>
                    <a:noFill/>
                  </a:tcPr>
                </a:tc>
                <a:tc>
                  <a:txBody>
                    <a:bodyPr/>
                    <a:lstStyle/>
                    <a:p>
                      <a:pPr fontAlgn="base">
                        <a:lnSpc>
                          <a:spcPts val="1350"/>
                        </a:lnSpc>
                        <a:buNone/>
                      </a:pPr>
                      <a:r>
                        <a:rPr lang="en-US" sz="1100">
                          <a:effectLst/>
                          <a:latin typeface="Aptos Narrow"/>
                        </a:rPr>
                        <a:t>Mission Objective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354" cap="flat" cmpd="sng" algn="ctr">
                      <a:solidFill>
                        <a:srgbClr val="000000"/>
                      </a:solidFill>
                      <a:prstDash val="solid"/>
                      <a:round/>
                      <a:headEnd type="none" w="med" len="med"/>
                      <a:tailEnd type="none" w="med" len="med"/>
                    </a:lnB>
                    <a:noFill/>
                  </a:tcPr>
                </a:tc>
                <a:tc>
                  <a:txBody>
                    <a:bodyPr/>
                    <a:lstStyle/>
                    <a:p>
                      <a:pPr fontAlgn="base">
                        <a:lnSpc>
                          <a:spcPts val="1350"/>
                        </a:lnSpc>
                        <a:buNone/>
                      </a:pPr>
                      <a:r>
                        <a:rPr lang="en-US" sz="1100">
                          <a:effectLst/>
                          <a:latin typeface="Aptos Narrow"/>
                        </a:rPr>
                        <a:t>Design </a:t>
                      </a:r>
                      <a:endParaRPr lang="en-US">
                        <a:effectLst/>
                        <a:latin typeface="Aptos Narrow"/>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35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743744"/>
                  </a:ext>
                </a:extLst>
              </a:tr>
            </a:tbl>
          </a:graphicData>
        </a:graphic>
      </p:graphicFrame>
    </p:spTree>
    <p:extLst>
      <p:ext uri="{BB962C8B-B14F-4D97-AF65-F5344CB8AC3E}">
        <p14:creationId xmlns:p14="http://schemas.microsoft.com/office/powerpoint/2010/main" val="177055284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764078-10FA-A32D-6354-91B11F9D6C88}"/>
              </a:ext>
            </a:extLst>
          </p:cNvPr>
          <p:cNvSpPr>
            <a:spLocks noGrp="1"/>
          </p:cNvSpPr>
          <p:nvPr>
            <p:ph type="body" sz="quarter" idx="15"/>
          </p:nvPr>
        </p:nvSpPr>
        <p:spPr/>
        <p:txBody>
          <a:bodyPr vert="horz" lIns="91440" tIns="45720" rIns="91440" bIns="45720" numCol="2" spcCol="457200" rtlCol="0" anchor="t">
            <a:noAutofit/>
          </a:bodyPr>
          <a:lstStyle/>
          <a:p>
            <a:pPr marL="380365" indent="-258445"/>
            <a:r>
              <a:rPr lang="en-US" sz="1850"/>
              <a:t>Performs timed launch sequence operations</a:t>
            </a:r>
          </a:p>
          <a:p>
            <a:pPr lvl="1">
              <a:spcAft>
                <a:spcPts val="800"/>
              </a:spcAft>
              <a:buFont typeface="Courier New,monospace" panose="020B0604020202020204" pitchFamily="34" charset="0"/>
              <a:buChar char="o"/>
            </a:pPr>
            <a:r>
              <a:rPr lang="en-US" sz="1850"/>
              <a:t>Signaled by TOM over UART</a:t>
            </a:r>
          </a:p>
          <a:p>
            <a:pPr lvl="1">
              <a:spcAft>
                <a:spcPts val="800"/>
              </a:spcAft>
              <a:buFont typeface="Courier New,monospace" panose="020B0604020202020204" pitchFamily="34" charset="0"/>
              <a:buChar char="o"/>
            </a:pPr>
            <a:r>
              <a:rPr lang="en-US" sz="1850"/>
              <a:t>Fires Line Cutter and Ignition e-matches</a:t>
            </a:r>
          </a:p>
          <a:p>
            <a:pPr lvl="1">
              <a:spcAft>
                <a:spcPts val="800"/>
              </a:spcAft>
              <a:buFont typeface="Courier New,monospace" panose="020B0604020202020204" pitchFamily="34" charset="0"/>
              <a:buChar char="o"/>
            </a:pPr>
            <a:r>
              <a:rPr lang="en-US" sz="1850"/>
              <a:t>Sends a (</a:t>
            </a:r>
            <a:r>
              <a:rPr lang="en-US" sz="1850">
                <a:ea typeface="+mn-lt"/>
                <a:cs typeface="+mn-lt"/>
              </a:rPr>
              <a:t>constant duty cycle)</a:t>
            </a:r>
            <a:r>
              <a:rPr lang="en-US" sz="1850"/>
              <a:t> PWM signal to enable the pump motor controller</a:t>
            </a:r>
          </a:p>
          <a:p>
            <a:pPr marL="380365" indent="-258445"/>
            <a:r>
              <a:rPr lang="en-US" sz="1850"/>
              <a:t>Sends pump data to TOM over UART</a:t>
            </a:r>
          </a:p>
          <a:p>
            <a:pPr lvl="1">
              <a:spcAft>
                <a:spcPts val="800"/>
              </a:spcAft>
              <a:buFont typeface="Courier New,monospace" panose="020B0604020202020204" pitchFamily="34" charset="0"/>
              <a:buChar char="o"/>
            </a:pPr>
            <a:r>
              <a:rPr lang="en-US" sz="1850"/>
              <a:t>RPM for logging</a:t>
            </a:r>
          </a:p>
        </p:txBody>
      </p:sp>
      <p:sp>
        <p:nvSpPr>
          <p:cNvPr id="3" name="Title 2">
            <a:extLst>
              <a:ext uri="{FF2B5EF4-FFF2-40B4-BE49-F238E27FC236}">
                <a16:creationId xmlns:a16="http://schemas.microsoft.com/office/drawing/2014/main" id="{77F1DB86-B245-E19C-1384-A2596640DAE2}"/>
              </a:ext>
            </a:extLst>
          </p:cNvPr>
          <p:cNvSpPr>
            <a:spLocks noGrp="1"/>
          </p:cNvSpPr>
          <p:nvPr>
            <p:ph type="title"/>
          </p:nvPr>
        </p:nvSpPr>
        <p:spPr/>
        <p:txBody>
          <a:bodyPr>
            <a:normAutofit fontScale="90000"/>
          </a:bodyPr>
          <a:lstStyle/>
          <a:p>
            <a:r>
              <a:rPr lang="en-US">
                <a:latin typeface="Munistic"/>
              </a:rPr>
              <a:t>Engine Controller</a:t>
            </a:r>
            <a:endParaRPr lang="en-US"/>
          </a:p>
        </p:txBody>
      </p:sp>
    </p:spTree>
    <p:extLst>
      <p:ext uri="{BB962C8B-B14F-4D97-AF65-F5344CB8AC3E}">
        <p14:creationId xmlns:p14="http://schemas.microsoft.com/office/powerpoint/2010/main" val="348892652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FCDEC4-7389-03EE-EACD-A3046E0E73F5}"/>
              </a:ext>
            </a:extLst>
          </p:cNvPr>
          <p:cNvSpPr>
            <a:spLocks noGrp="1"/>
          </p:cNvSpPr>
          <p:nvPr>
            <p:ph type="title"/>
          </p:nvPr>
        </p:nvSpPr>
        <p:spPr>
          <a:xfrm>
            <a:off x="369923" y="374084"/>
            <a:ext cx="9795001" cy="625567"/>
          </a:xfrm>
        </p:spPr>
        <p:txBody>
          <a:bodyPr>
            <a:normAutofit fontScale="90000"/>
          </a:bodyPr>
          <a:lstStyle/>
          <a:p>
            <a:r>
              <a:rPr lang="en-US">
                <a:latin typeface="Munistic"/>
              </a:rPr>
              <a:t>Engine Controller Requirements </a:t>
            </a:r>
            <a:endParaRPr lang="en-US"/>
          </a:p>
        </p:txBody>
      </p:sp>
      <p:graphicFrame>
        <p:nvGraphicFramePr>
          <p:cNvPr id="9" name="Table 8">
            <a:extLst>
              <a:ext uri="{FF2B5EF4-FFF2-40B4-BE49-F238E27FC236}">
                <a16:creationId xmlns:a16="http://schemas.microsoft.com/office/drawing/2014/main" id="{66CBC25D-8810-8AA7-86DD-757E85C96BD8}"/>
              </a:ext>
            </a:extLst>
          </p:cNvPr>
          <p:cNvGraphicFramePr>
            <a:graphicFrameLocks noGrp="1"/>
          </p:cNvGraphicFramePr>
          <p:nvPr>
            <p:extLst>
              <p:ext uri="{D42A27DB-BD31-4B8C-83A1-F6EECF244321}">
                <p14:modId xmlns:p14="http://schemas.microsoft.com/office/powerpoint/2010/main" val="198517084"/>
              </p:ext>
            </p:extLst>
          </p:nvPr>
        </p:nvGraphicFramePr>
        <p:xfrm>
          <a:off x="371475" y="1104900"/>
          <a:ext cx="10973207" cy="5248615"/>
        </p:xfrm>
        <a:graphic>
          <a:graphicData uri="http://schemas.openxmlformats.org/drawingml/2006/table">
            <a:tbl>
              <a:tblPr bandRow="1">
                <a:tableStyleId>{5C22544A-7EE6-4342-B048-85BDC9FD1C3A}</a:tableStyleId>
              </a:tblPr>
              <a:tblGrid>
                <a:gridCol w="849776">
                  <a:extLst>
                    <a:ext uri="{9D8B030D-6E8A-4147-A177-3AD203B41FA5}">
                      <a16:colId xmlns:a16="http://schemas.microsoft.com/office/drawing/2014/main" val="3811322328"/>
                    </a:ext>
                  </a:extLst>
                </a:gridCol>
                <a:gridCol w="3312899">
                  <a:extLst>
                    <a:ext uri="{9D8B030D-6E8A-4147-A177-3AD203B41FA5}">
                      <a16:colId xmlns:a16="http://schemas.microsoft.com/office/drawing/2014/main" val="3899964632"/>
                    </a:ext>
                  </a:extLst>
                </a:gridCol>
                <a:gridCol w="2229125">
                  <a:extLst>
                    <a:ext uri="{9D8B030D-6E8A-4147-A177-3AD203B41FA5}">
                      <a16:colId xmlns:a16="http://schemas.microsoft.com/office/drawing/2014/main" val="1507086722"/>
                    </a:ext>
                  </a:extLst>
                </a:gridCol>
                <a:gridCol w="1637976">
                  <a:extLst>
                    <a:ext uri="{9D8B030D-6E8A-4147-A177-3AD203B41FA5}">
                      <a16:colId xmlns:a16="http://schemas.microsoft.com/office/drawing/2014/main" val="3858631794"/>
                    </a:ext>
                  </a:extLst>
                </a:gridCol>
                <a:gridCol w="2943431">
                  <a:extLst>
                    <a:ext uri="{9D8B030D-6E8A-4147-A177-3AD203B41FA5}">
                      <a16:colId xmlns:a16="http://schemas.microsoft.com/office/drawing/2014/main" val="370240239"/>
                    </a:ext>
                  </a:extLst>
                </a:gridCol>
              </a:tblGrid>
              <a:tr h="154164">
                <a:tc>
                  <a:txBody>
                    <a:bodyPr/>
                    <a:lstStyle/>
                    <a:p>
                      <a:pPr>
                        <a:buNone/>
                      </a:pPr>
                      <a:r>
                        <a:rPr lang="en-US" sz="1100" b="1" u="none" strike="noStrike">
                          <a:solidFill>
                            <a:srgbClr val="FFFFFF"/>
                          </a:solidFill>
                          <a:effectLst/>
                          <a:latin typeface="Aptos Narrow"/>
                        </a:rPr>
                        <a:t>RBS</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Requirement</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Rationale</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Traced From</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tc>
                  <a:txBody>
                    <a:bodyPr/>
                    <a:lstStyle/>
                    <a:p>
                      <a:pPr>
                        <a:buNone/>
                      </a:pPr>
                      <a:r>
                        <a:rPr lang="en-US" sz="1100" b="1" u="none" strike="noStrike">
                          <a:solidFill>
                            <a:srgbClr val="FFFFFF"/>
                          </a:solidFill>
                          <a:effectLst/>
                          <a:latin typeface="Aptos Narrow"/>
                        </a:rPr>
                        <a:t>Verification Method </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B24"/>
                    </a:solidFill>
                  </a:tcPr>
                </a:tc>
                <a:extLst>
                  <a:ext uri="{0D108BD9-81ED-4DB2-BD59-A6C34878D82A}">
                    <a16:rowId xmlns:a16="http://schemas.microsoft.com/office/drawing/2014/main" val="2731160363"/>
                  </a:ext>
                </a:extLst>
              </a:tr>
              <a:tr h="770820">
                <a:tc>
                  <a:txBody>
                    <a:bodyPr/>
                    <a:lstStyle/>
                    <a:p>
                      <a:pPr algn="ctr">
                        <a:buNone/>
                      </a:pPr>
                      <a:r>
                        <a:rPr lang="en-US" sz="1100" b="0" u="none" strike="noStrike">
                          <a:solidFill>
                            <a:srgbClr val="000000"/>
                          </a:solidFill>
                          <a:effectLst/>
                          <a:latin typeface="Aptos Narrow"/>
                        </a:rPr>
                        <a:t>0</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154734"/>
                          </a:solidFill>
                          <a:effectLst/>
                          <a:latin typeface="Aptos Narrow"/>
                        </a:rPr>
                        <a:t>The engine controller will only turn on if the arming key is turned and an enable signal is sent from TOM</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154734"/>
                          </a:solidFill>
                          <a:effectLst/>
                          <a:latin typeface="Aptos Narrow"/>
                        </a:rPr>
                        <a:t>The engine controller needs to be completely off and isolated when the engine is not armed to provide redundancy and avoid early ignition on the pad</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ctr">
                        <a:buNone/>
                      </a:pPr>
                      <a:r>
                        <a:rPr lang="en-US" sz="1100" b="0" u="none" strike="noStrike">
                          <a:solidFill>
                            <a:srgbClr val="000000"/>
                          </a:solidFill>
                          <a:effectLst/>
                          <a:latin typeface="Aptos Narrow"/>
                        </a:rPr>
                        <a:t>FAR requirements </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buNone/>
                      </a:pPr>
                      <a:r>
                        <a:rPr lang="en-US" sz="1100" b="0" u="none" strike="noStrike">
                          <a:solidFill>
                            <a:srgbClr val="000000"/>
                          </a:solidFill>
                          <a:effectLst/>
                          <a:latin typeface="Aptos Narrow"/>
                        </a:rPr>
                        <a:t>Demonstrate engine controller only turns on when key is turned</a:t>
                      </a:r>
                    </a:p>
                  </a:txBody>
                  <a:tcPr marL="0" marR="0" marT="0" marB="0" anchor="ctr">
                    <a:lnL>
                      <a:noFill/>
                    </a:lnL>
                    <a:lnR>
                      <a:noFill/>
                    </a:lnR>
                    <a:lnT w="1270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1123764576"/>
                  </a:ext>
                </a:extLst>
              </a:tr>
              <a:tr h="507834">
                <a:tc>
                  <a:txBody>
                    <a:bodyPr/>
                    <a:lstStyle/>
                    <a:p>
                      <a:pPr algn="ctr">
                        <a:buNone/>
                      </a:pPr>
                      <a:r>
                        <a:rPr lang="en-US" sz="1100" b="0" u="none" strike="noStrike">
                          <a:solidFill>
                            <a:srgbClr val="000000"/>
                          </a:solidFill>
                          <a:effectLst/>
                          <a:latin typeface="Aptos Narrow"/>
                        </a:rPr>
                        <a:t>1</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The engine controller shall have a common wired interface with TOM  </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This is necessary for by-proxy communication with Mission control </a:t>
                      </a:r>
                    </a:p>
                  </a:txBody>
                  <a:tcPr marL="0" marR="0" marT="0" marB="0" anchor="ctr">
                    <a:lnL>
                      <a:noFill/>
                    </a:lnL>
                    <a:lnR>
                      <a:noFill/>
                    </a:lnR>
                    <a:lnT>
                      <a:noFill/>
                    </a:lnT>
                    <a:lnB>
                      <a:noFill/>
                    </a:lnB>
                    <a:noFill/>
                  </a:tcPr>
                </a:tc>
                <a:tc>
                  <a:txBody>
                    <a:bodyPr/>
                    <a:lstStyle/>
                    <a:p>
                      <a:pPr algn="ctr">
                        <a:buNone/>
                      </a:pPr>
                      <a:r>
                        <a:rPr lang="en-US" sz="1100" b="0" u="none" strike="noStrike">
                          <a:solidFill>
                            <a:srgbClr val="000000"/>
                          </a:solidFill>
                          <a:effectLst/>
                          <a:latin typeface="Aptos Narrow"/>
                        </a:rPr>
                        <a:t>TOM RBS 3</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HITL testing, demonstrate functional, bilateral communication between TOM and engine controller and signals are relayed correctly </a:t>
                      </a:r>
                    </a:p>
                  </a:txBody>
                  <a:tcPr marL="0" marR="0" marT="0" marB="0" anchor="ctr">
                    <a:lnL>
                      <a:noFill/>
                    </a:lnL>
                    <a:lnR>
                      <a:noFill/>
                    </a:lnR>
                    <a:lnT>
                      <a:noFill/>
                    </a:lnT>
                    <a:lnB>
                      <a:noFill/>
                    </a:lnB>
                    <a:noFill/>
                  </a:tcPr>
                </a:tc>
                <a:extLst>
                  <a:ext uri="{0D108BD9-81ED-4DB2-BD59-A6C34878D82A}">
                    <a16:rowId xmlns:a16="http://schemas.microsoft.com/office/drawing/2014/main" val="3511056611"/>
                  </a:ext>
                </a:extLst>
              </a:tr>
              <a:tr h="562245">
                <a:tc>
                  <a:txBody>
                    <a:bodyPr/>
                    <a:lstStyle/>
                    <a:p>
                      <a:pPr algn="ctr">
                        <a:buNone/>
                      </a:pPr>
                      <a:r>
                        <a:rPr lang="en-US" sz="1100" b="0" u="none" strike="noStrike">
                          <a:solidFill>
                            <a:srgbClr val="000000"/>
                          </a:solidFill>
                          <a:effectLst/>
                          <a:latin typeface="Aptos Narrow"/>
                        </a:rPr>
                        <a:t>1.1</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 engine controller shall be prepared to receive the following signals through the communication with TOM: Start ignition and Cut Line</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These are the control signals for launch and failure cases </a:t>
                      </a:r>
                    </a:p>
                  </a:txBody>
                  <a:tcPr marL="0" marR="0" marT="0" marB="0" anchor="ctr">
                    <a:lnL>
                      <a:noFill/>
                    </a:lnL>
                    <a:lnR>
                      <a:noFill/>
                    </a:lnR>
                    <a:lnT>
                      <a:noFill/>
                    </a:lnT>
                    <a:lnB>
                      <a:noFill/>
                    </a:lnB>
                    <a:solidFill>
                      <a:srgbClr val="D9D9D9"/>
                    </a:solidFill>
                  </a:tcPr>
                </a:tc>
                <a:tc>
                  <a:txBody>
                    <a:bodyPr/>
                    <a:lstStyle/>
                    <a:p>
                      <a:pPr algn="ctr">
                        <a:buNone/>
                      </a:pPr>
                      <a:r>
                        <a:rPr lang="en-US" sz="1100" b="0" u="none" strike="noStrike">
                          <a:solidFill>
                            <a:srgbClr val="000000"/>
                          </a:solidFill>
                          <a:effectLst/>
                          <a:latin typeface="Aptos Narrow"/>
                        </a:rPr>
                        <a:t>RBS 1</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functional, bilateral communication between TOM and engine controller and signals are relayed correctly </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1433382223"/>
                  </a:ext>
                </a:extLst>
              </a:tr>
              <a:tr h="435286">
                <a:tc>
                  <a:txBody>
                    <a:bodyPr/>
                    <a:lstStyle/>
                    <a:p>
                      <a:pPr algn="ctr">
                        <a:buNone/>
                      </a:pPr>
                      <a:r>
                        <a:rPr lang="en-US" sz="1100" b="0" u="none" strike="noStrike">
                          <a:solidFill>
                            <a:srgbClr val="000000"/>
                          </a:solidFill>
                          <a:effectLst/>
                          <a:latin typeface="Aptos Narrow"/>
                        </a:rPr>
                        <a:t>1.1.1</a:t>
                      </a:r>
                    </a:p>
                  </a:txBody>
                  <a:tcPr marL="0" marR="0" marT="0" marB="0" anchor="ctr">
                    <a:lnL>
                      <a:noFill/>
                    </a:lnL>
                    <a:lnR>
                      <a:noFill/>
                    </a:lnR>
                    <a:lnT>
                      <a:noFill/>
                    </a:lnT>
                    <a:lnB>
                      <a:noFill/>
                    </a:lnB>
                    <a:noFill/>
                  </a:tcPr>
                </a:tc>
                <a:tc>
                  <a:txBody>
                    <a:bodyPr/>
                    <a:lstStyle/>
                    <a:p>
                      <a:pPr>
                        <a:buNone/>
                      </a:pPr>
                      <a:r>
                        <a:rPr lang="en-US" sz="1100" b="0" u="none" strike="noStrike">
                          <a:solidFill>
                            <a:srgbClr val="154734"/>
                          </a:solidFill>
                          <a:effectLst/>
                          <a:latin typeface="Aptos Narrow"/>
                        </a:rPr>
                        <a:t>The engine controller will send the signal for the line cutter</a:t>
                      </a:r>
                    </a:p>
                  </a:txBody>
                  <a:tcPr marL="0" marR="0" marT="0" marB="0" anchor="ctr">
                    <a:lnL>
                      <a:noFill/>
                    </a:lnL>
                    <a:lnR>
                      <a:noFill/>
                    </a:lnR>
                    <a:lnT>
                      <a:noFill/>
                    </a:lnT>
                    <a:lnB>
                      <a:noFill/>
                    </a:lnB>
                    <a:noFill/>
                  </a:tcPr>
                </a:tc>
                <a:tc>
                  <a:txBody>
                    <a:bodyPr/>
                    <a:lstStyle/>
                    <a:p>
                      <a:pPr>
                        <a:buNone/>
                      </a:pPr>
                      <a:r>
                        <a:rPr lang="en-US" sz="1100" b="0" u="none" strike="noStrike">
                          <a:solidFill>
                            <a:srgbClr val="154734"/>
                          </a:solidFill>
                          <a:effectLst/>
                          <a:latin typeface="Aptos Narrow"/>
                        </a:rPr>
                        <a:t>This is a part of the rocket launch sequence and some failure cases</a:t>
                      </a:r>
                    </a:p>
                  </a:txBody>
                  <a:tcPr marL="0" marR="0" marT="0" marB="0" anchor="ctr">
                    <a:lnL>
                      <a:noFill/>
                    </a:lnL>
                    <a:lnR>
                      <a:noFill/>
                    </a:lnR>
                    <a:lnT>
                      <a:noFill/>
                    </a:lnT>
                    <a:lnB>
                      <a:noFill/>
                    </a:lnB>
                    <a:noFill/>
                  </a:tcPr>
                </a:tc>
                <a:tc>
                  <a:txBody>
                    <a:bodyPr/>
                    <a:lstStyle/>
                    <a:p>
                      <a:pPr algn="ctr">
                        <a:buNone/>
                      </a:pPr>
                      <a:r>
                        <a:rPr lang="en-US" sz="1100" b="0" u="none" strike="noStrike">
                          <a:solidFill>
                            <a:srgbClr val="000000"/>
                          </a:solidFill>
                          <a:effectLst/>
                          <a:latin typeface="Aptos Narrow"/>
                        </a:rPr>
                        <a:t>RBS 1.1</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HITL testing, demonstrate signal works on output and corresponds to correct signal from TOM</a:t>
                      </a:r>
                    </a:p>
                  </a:txBody>
                  <a:tcPr marL="0" marR="0" marT="0" marB="0" anchor="ctr">
                    <a:lnL>
                      <a:noFill/>
                    </a:lnL>
                    <a:lnR>
                      <a:noFill/>
                    </a:lnR>
                    <a:lnT>
                      <a:noFill/>
                    </a:lnT>
                    <a:lnB>
                      <a:noFill/>
                    </a:lnB>
                    <a:noFill/>
                  </a:tcPr>
                </a:tc>
                <a:extLst>
                  <a:ext uri="{0D108BD9-81ED-4DB2-BD59-A6C34878D82A}">
                    <a16:rowId xmlns:a16="http://schemas.microsoft.com/office/drawing/2014/main" val="1409197897"/>
                  </a:ext>
                </a:extLst>
              </a:tr>
              <a:tr h="335533">
                <a:tc>
                  <a:txBody>
                    <a:bodyPr/>
                    <a:lstStyle/>
                    <a:p>
                      <a:pPr algn="ctr">
                        <a:buNone/>
                      </a:pPr>
                      <a:r>
                        <a:rPr lang="en-US" sz="1100" b="0" u="none" strike="noStrike">
                          <a:solidFill>
                            <a:srgbClr val="000000"/>
                          </a:solidFill>
                          <a:effectLst/>
                          <a:latin typeface="Aptos Narrow"/>
                        </a:rPr>
                        <a:t>1.1.2</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 engine controller will send the signal for the Igniter</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This is a part of the rocket launch sequence</a:t>
                      </a:r>
                    </a:p>
                  </a:txBody>
                  <a:tcPr marL="0" marR="0" marT="0" marB="0" anchor="ctr">
                    <a:lnL>
                      <a:noFill/>
                    </a:lnL>
                    <a:lnR>
                      <a:noFill/>
                    </a:lnR>
                    <a:lnT>
                      <a:noFill/>
                    </a:lnT>
                    <a:lnB>
                      <a:noFill/>
                    </a:lnB>
                    <a:solidFill>
                      <a:srgbClr val="D9D9D9"/>
                    </a:solidFill>
                  </a:tcPr>
                </a:tc>
                <a:tc>
                  <a:txBody>
                    <a:bodyPr/>
                    <a:lstStyle/>
                    <a:p>
                      <a:pPr algn="ctr">
                        <a:buNone/>
                      </a:pPr>
                      <a:r>
                        <a:rPr lang="en-US" sz="1100" b="0" u="none" strike="noStrike">
                          <a:solidFill>
                            <a:srgbClr val="000000"/>
                          </a:solidFill>
                          <a:effectLst/>
                          <a:latin typeface="Aptos Narrow"/>
                        </a:rPr>
                        <a:t>RBS 1.1</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signal works on output and corresponds to correct signal from TOM</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3665872940"/>
                  </a:ext>
                </a:extLst>
              </a:tr>
              <a:tr h="326465">
                <a:tc>
                  <a:txBody>
                    <a:bodyPr/>
                    <a:lstStyle/>
                    <a:p>
                      <a:pPr algn="ctr">
                        <a:buNone/>
                      </a:pPr>
                      <a:r>
                        <a:rPr lang="en-US" sz="1100" b="0" u="none" strike="noStrike">
                          <a:solidFill>
                            <a:srgbClr val="000000"/>
                          </a:solidFill>
                          <a:effectLst/>
                          <a:latin typeface="Aptos Narrow"/>
                        </a:rPr>
                        <a:t>1.1.3</a:t>
                      </a:r>
                    </a:p>
                  </a:txBody>
                  <a:tcPr marL="0" marR="0" marT="0" marB="0" anchor="ctr">
                    <a:lnL>
                      <a:noFill/>
                    </a:lnL>
                    <a:lnR>
                      <a:noFill/>
                    </a:lnR>
                    <a:lnT>
                      <a:noFill/>
                    </a:lnT>
                    <a:lnB>
                      <a:noFill/>
                    </a:lnB>
                    <a:noFill/>
                  </a:tcPr>
                </a:tc>
                <a:tc>
                  <a:txBody>
                    <a:bodyPr/>
                    <a:lstStyle/>
                    <a:p>
                      <a:pPr>
                        <a:buNone/>
                      </a:pPr>
                      <a:r>
                        <a:rPr lang="en-US" sz="1100" b="0" u="none" strike="noStrike">
                          <a:solidFill>
                            <a:srgbClr val="154734"/>
                          </a:solidFill>
                          <a:effectLst/>
                          <a:latin typeface="Aptos Narrow"/>
                        </a:rPr>
                        <a:t>The engine controller will generate and output a PWM signal to the motor controller </a:t>
                      </a:r>
                    </a:p>
                  </a:txBody>
                  <a:tcPr marL="0" marR="0" marT="0" marB="0" anchor="ctr">
                    <a:lnL>
                      <a:noFill/>
                    </a:lnL>
                    <a:lnR>
                      <a:noFill/>
                    </a:lnR>
                    <a:lnT>
                      <a:noFill/>
                    </a:lnT>
                    <a:lnB>
                      <a:noFill/>
                    </a:lnB>
                    <a:solidFill>
                      <a:srgbClr val="FFFFFF"/>
                    </a:solidFill>
                  </a:tcPr>
                </a:tc>
                <a:tc>
                  <a:txBody>
                    <a:bodyPr/>
                    <a:lstStyle/>
                    <a:p>
                      <a:pPr>
                        <a:buNone/>
                      </a:pPr>
                      <a:r>
                        <a:rPr lang="en-US" sz="1100" b="0" u="none" strike="noStrike">
                          <a:solidFill>
                            <a:srgbClr val="154734"/>
                          </a:solidFill>
                          <a:effectLst/>
                          <a:latin typeface="Aptos Narrow"/>
                        </a:rPr>
                        <a:t>This is the input to the motor controller to control the pump motor </a:t>
                      </a:r>
                    </a:p>
                  </a:txBody>
                  <a:tcPr marL="0" marR="0" marT="0" marB="0" anchor="ctr">
                    <a:lnL>
                      <a:noFill/>
                    </a:lnL>
                    <a:lnR>
                      <a:noFill/>
                    </a:lnR>
                    <a:lnT>
                      <a:noFill/>
                    </a:lnT>
                    <a:lnB>
                      <a:noFill/>
                    </a:lnB>
                    <a:solidFill>
                      <a:srgbClr val="FFFFFF"/>
                    </a:solidFill>
                  </a:tcPr>
                </a:tc>
                <a:tc>
                  <a:txBody>
                    <a:bodyPr/>
                    <a:lstStyle/>
                    <a:p>
                      <a:pPr algn="ctr">
                        <a:buNone/>
                      </a:pPr>
                      <a:r>
                        <a:rPr lang="en-US" sz="1100" b="0" u="none" strike="noStrike">
                          <a:solidFill>
                            <a:srgbClr val="000000"/>
                          </a:solidFill>
                          <a:effectLst/>
                          <a:latin typeface="Aptos Narrow"/>
                        </a:rPr>
                        <a:t>RBS 1.1</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HITL testing, demonstrate signal works on output and corresponds to correct signal from TOM</a:t>
                      </a:r>
                    </a:p>
                  </a:txBody>
                  <a:tcPr marL="0" marR="0" marT="0" marB="0" anchor="ctr">
                    <a:lnL>
                      <a:noFill/>
                    </a:lnL>
                    <a:lnR>
                      <a:noFill/>
                    </a:lnR>
                    <a:lnT>
                      <a:noFill/>
                    </a:lnT>
                    <a:lnB>
                      <a:noFill/>
                    </a:lnB>
                    <a:noFill/>
                  </a:tcPr>
                </a:tc>
                <a:extLst>
                  <a:ext uri="{0D108BD9-81ED-4DB2-BD59-A6C34878D82A}">
                    <a16:rowId xmlns:a16="http://schemas.microsoft.com/office/drawing/2014/main" val="3315723372"/>
                  </a:ext>
                </a:extLst>
              </a:tr>
              <a:tr h="480629">
                <a:tc>
                  <a:txBody>
                    <a:bodyPr/>
                    <a:lstStyle/>
                    <a:p>
                      <a:pPr algn="ctr">
                        <a:buNone/>
                      </a:pPr>
                      <a:r>
                        <a:rPr lang="en-US" sz="1100" b="0" u="none" strike="noStrike">
                          <a:solidFill>
                            <a:srgbClr val="000000"/>
                          </a:solidFill>
                          <a:effectLst/>
                          <a:latin typeface="Aptos Narrow"/>
                        </a:rPr>
                        <a:t>1.1.4</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 Engine Controller shall turn on the ignitor, then send the PWM signal to the pump, then activate the line cutter only upon receiving the "start ignition" signal</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This is the launch sequence and should only be started when operators  are prepared to launch</a:t>
                      </a:r>
                    </a:p>
                  </a:txBody>
                  <a:tcPr marL="0" marR="0" marT="0" marB="0" anchor="ctr">
                    <a:lnL>
                      <a:noFill/>
                    </a:lnL>
                    <a:lnR>
                      <a:noFill/>
                    </a:lnR>
                    <a:lnT>
                      <a:noFill/>
                    </a:lnT>
                    <a:lnB>
                      <a:noFill/>
                    </a:lnB>
                    <a:solidFill>
                      <a:srgbClr val="D9D9D9"/>
                    </a:solidFill>
                  </a:tcPr>
                </a:tc>
                <a:tc>
                  <a:txBody>
                    <a:bodyPr/>
                    <a:lstStyle/>
                    <a:p>
                      <a:pPr algn="ctr">
                        <a:buNone/>
                      </a:pPr>
                      <a:r>
                        <a:rPr lang="en-US" sz="1100" b="0" u="none" strike="noStrike">
                          <a:solidFill>
                            <a:srgbClr val="000000"/>
                          </a:solidFill>
                          <a:effectLst/>
                          <a:latin typeface="Aptos Narrow"/>
                        </a:rPr>
                        <a:t>RBS 1.1</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signal works on output and corresponds to correct signal from TOM</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4112390603"/>
                  </a:ext>
                </a:extLst>
              </a:tr>
              <a:tr h="389944">
                <a:tc>
                  <a:txBody>
                    <a:bodyPr/>
                    <a:lstStyle/>
                    <a:p>
                      <a:pPr algn="ctr">
                        <a:buNone/>
                      </a:pPr>
                      <a:r>
                        <a:rPr lang="en-US" sz="1100" b="0" u="none" strike="noStrike">
                          <a:solidFill>
                            <a:srgbClr val="000000"/>
                          </a:solidFill>
                          <a:effectLst/>
                          <a:latin typeface="Aptos Narrow"/>
                        </a:rPr>
                        <a:t>1.1.5</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The Engine Controller will cut the line upon receiving the "</a:t>
                      </a:r>
                      <a:r>
                        <a:rPr lang="en-US" sz="1100" b="0" u="none" strike="noStrike" err="1">
                          <a:solidFill>
                            <a:srgbClr val="000000"/>
                          </a:solidFill>
                          <a:effectLst/>
                          <a:latin typeface="Aptos Narrow"/>
                        </a:rPr>
                        <a:t>CutLine</a:t>
                      </a:r>
                      <a:r>
                        <a:rPr lang="en-US" sz="1100" b="0" u="none" strike="noStrike">
                          <a:solidFill>
                            <a:srgbClr val="000000"/>
                          </a:solidFill>
                          <a:effectLst/>
                          <a:latin typeface="Aptos Narrow"/>
                        </a:rPr>
                        <a:t>" signal</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This is a part of some failure cases </a:t>
                      </a:r>
                    </a:p>
                  </a:txBody>
                  <a:tcPr marL="0" marR="0" marT="0" marB="0" anchor="ctr">
                    <a:lnL>
                      <a:noFill/>
                    </a:lnL>
                    <a:lnR>
                      <a:noFill/>
                    </a:lnR>
                    <a:lnT>
                      <a:noFill/>
                    </a:lnT>
                    <a:lnB>
                      <a:noFill/>
                    </a:lnB>
                    <a:noFill/>
                  </a:tcPr>
                </a:tc>
                <a:tc>
                  <a:txBody>
                    <a:bodyPr/>
                    <a:lstStyle/>
                    <a:p>
                      <a:pPr algn="ctr">
                        <a:buNone/>
                      </a:pPr>
                      <a:r>
                        <a:rPr lang="en-US" sz="1100" b="0" u="none" strike="noStrike">
                          <a:solidFill>
                            <a:srgbClr val="000000"/>
                          </a:solidFill>
                          <a:effectLst/>
                          <a:latin typeface="Aptos Narrow"/>
                        </a:rPr>
                        <a:t>RBS 1.1</a:t>
                      </a:r>
                    </a:p>
                  </a:txBody>
                  <a:tcPr marL="0" marR="0" marT="0" marB="0" anchor="ctr">
                    <a:lnL>
                      <a:noFill/>
                    </a:lnL>
                    <a:lnR>
                      <a:noFill/>
                    </a:lnR>
                    <a:lnT>
                      <a:noFill/>
                    </a:lnT>
                    <a:lnB>
                      <a:noFill/>
                    </a:lnB>
                    <a:noFill/>
                  </a:tcPr>
                </a:tc>
                <a:tc>
                  <a:txBody>
                    <a:bodyPr/>
                    <a:lstStyle/>
                    <a:p>
                      <a:pPr>
                        <a:buNone/>
                      </a:pPr>
                      <a:r>
                        <a:rPr lang="en-US" sz="1100" b="0" u="none" strike="noStrike">
                          <a:solidFill>
                            <a:srgbClr val="000000"/>
                          </a:solidFill>
                          <a:effectLst/>
                          <a:latin typeface="Aptos Narrow"/>
                        </a:rPr>
                        <a:t>HITL testing, demonstrate signal works on output and corresponds to correct signal from TOM</a:t>
                      </a:r>
                    </a:p>
                  </a:txBody>
                  <a:tcPr marL="0" marR="0" marT="0" marB="0" anchor="ctr">
                    <a:lnL>
                      <a:noFill/>
                    </a:lnL>
                    <a:lnR>
                      <a:noFill/>
                    </a:lnR>
                    <a:lnT>
                      <a:noFill/>
                    </a:lnT>
                    <a:lnB>
                      <a:noFill/>
                    </a:lnB>
                    <a:noFill/>
                  </a:tcPr>
                </a:tc>
                <a:extLst>
                  <a:ext uri="{0D108BD9-81ED-4DB2-BD59-A6C34878D82A}">
                    <a16:rowId xmlns:a16="http://schemas.microsoft.com/office/drawing/2014/main" val="1782671852"/>
                  </a:ext>
                </a:extLst>
              </a:tr>
              <a:tr h="335533">
                <a:tc>
                  <a:txBody>
                    <a:bodyPr/>
                    <a:lstStyle/>
                    <a:p>
                      <a:pPr algn="ctr">
                        <a:buNone/>
                      </a:pPr>
                      <a:r>
                        <a:rPr lang="en-US" sz="1100" b="0" u="none" strike="noStrike">
                          <a:solidFill>
                            <a:srgbClr val="000000"/>
                          </a:solidFill>
                          <a:effectLst/>
                          <a:latin typeface="Aptos Narrow"/>
                        </a:rPr>
                        <a:t>2</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The Engine Controller shall record data from the engine </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This is data will be useful for future liquid engine designs </a:t>
                      </a:r>
                    </a:p>
                  </a:txBody>
                  <a:tcPr marL="0" marR="0" marT="0" marB="0" anchor="ctr">
                    <a:lnL>
                      <a:noFill/>
                    </a:lnL>
                    <a:lnR>
                      <a:noFill/>
                    </a:lnR>
                    <a:lnT>
                      <a:noFill/>
                    </a:lnT>
                    <a:lnB>
                      <a:noFill/>
                    </a:lnB>
                    <a:solidFill>
                      <a:srgbClr val="D9D9D9"/>
                    </a:solidFill>
                  </a:tcPr>
                </a:tc>
                <a:tc>
                  <a:txBody>
                    <a:bodyPr/>
                    <a:lstStyle/>
                    <a:p>
                      <a:pPr algn="ctr">
                        <a:buNone/>
                      </a:pPr>
                      <a:r>
                        <a:rPr lang="en-US" sz="1100" b="0" u="none" strike="noStrike">
                          <a:solidFill>
                            <a:srgbClr val="000000"/>
                          </a:solidFill>
                          <a:effectLst/>
                          <a:latin typeface="Aptos Narrow"/>
                        </a:rPr>
                        <a:t>Archerfish Requirement</a:t>
                      </a:r>
                    </a:p>
                  </a:txBody>
                  <a:tcPr marL="0" marR="0" marT="0" marB="0" anchor="ctr">
                    <a:lnL>
                      <a:noFill/>
                    </a:lnL>
                    <a:lnR>
                      <a:noFill/>
                    </a:lnR>
                    <a:lnT>
                      <a:noFill/>
                    </a:lnT>
                    <a:lnB>
                      <a:noFill/>
                    </a:lnB>
                    <a:solidFill>
                      <a:srgbClr val="D9D9D9"/>
                    </a:solidFill>
                  </a:tcPr>
                </a:tc>
                <a:tc>
                  <a:txBody>
                    <a:bodyPr/>
                    <a:lstStyle/>
                    <a:p>
                      <a:pPr>
                        <a:buNone/>
                      </a:pPr>
                      <a:r>
                        <a:rPr lang="en-US" sz="1100" b="0" u="none" strike="noStrike">
                          <a:solidFill>
                            <a:srgbClr val="000000"/>
                          </a:solidFill>
                          <a:effectLst/>
                          <a:latin typeface="Aptos Narrow"/>
                        </a:rPr>
                        <a:t>HITL testing, demonstrate engine controller can read data off of TOM </a:t>
                      </a:r>
                    </a:p>
                  </a:txBody>
                  <a:tcPr marL="0" marR="0" marT="0" marB="0" anchor="ctr">
                    <a:lnL>
                      <a:noFill/>
                    </a:lnL>
                    <a:lnR>
                      <a:noFill/>
                    </a:lnR>
                    <a:lnT>
                      <a:noFill/>
                    </a:lnT>
                    <a:lnB>
                      <a:noFill/>
                    </a:lnB>
                    <a:solidFill>
                      <a:srgbClr val="D9D9D9"/>
                    </a:solidFill>
                  </a:tcPr>
                </a:tc>
                <a:extLst>
                  <a:ext uri="{0D108BD9-81ED-4DB2-BD59-A6C34878D82A}">
                    <a16:rowId xmlns:a16="http://schemas.microsoft.com/office/drawing/2014/main" val="2307446060"/>
                  </a:ext>
                </a:extLst>
              </a:tr>
              <a:tr h="770820">
                <a:tc>
                  <a:txBody>
                    <a:bodyPr/>
                    <a:lstStyle/>
                    <a:p>
                      <a:pPr algn="ctr">
                        <a:buNone/>
                      </a:pPr>
                      <a:r>
                        <a:rPr lang="en-US" sz="1100" b="0" u="none" strike="noStrike">
                          <a:solidFill>
                            <a:srgbClr val="000000"/>
                          </a:solidFill>
                          <a:effectLst/>
                          <a:latin typeface="Aptos Narrow"/>
                        </a:rPr>
                        <a:t>2.1</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buNone/>
                      </a:pPr>
                      <a:r>
                        <a:rPr lang="en-US" sz="1100" b="0" u="none" strike="noStrike">
                          <a:solidFill>
                            <a:srgbClr val="000000"/>
                          </a:solidFill>
                          <a:effectLst/>
                          <a:latin typeface="Aptos Narrow"/>
                        </a:rPr>
                        <a:t>The Engine Controller shall send data over the common wired interface with TOM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buNone/>
                      </a:pPr>
                      <a:r>
                        <a:rPr lang="en-US" sz="1100" b="0" u="none" strike="noStrike">
                          <a:solidFill>
                            <a:srgbClr val="000000"/>
                          </a:solidFill>
                          <a:effectLst/>
                          <a:latin typeface="Aptos Narrow"/>
                        </a:rPr>
                        <a:t>This is how the data will be sent somewhere to be stored </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a:buNone/>
                      </a:pPr>
                      <a:r>
                        <a:rPr lang="en-US" sz="1100" b="0" u="none" strike="noStrike">
                          <a:solidFill>
                            <a:srgbClr val="000000"/>
                          </a:solidFill>
                          <a:effectLst/>
                          <a:latin typeface="Aptos Narrow"/>
                        </a:rPr>
                        <a:t>RBS 2.1</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buNone/>
                      </a:pPr>
                      <a:r>
                        <a:rPr lang="en-US" sz="1100" b="0" u="none" strike="noStrike">
                          <a:solidFill>
                            <a:srgbClr val="000000"/>
                          </a:solidFill>
                          <a:effectLst/>
                          <a:latin typeface="Aptos Narrow"/>
                        </a:rPr>
                        <a:t>HITL testing, demonstrate functional, bilateral communication between TOM and engine controller and data is relayed correctly.  Test with simulated data and as full loop system including engine controller</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9593071"/>
                  </a:ext>
                </a:extLst>
              </a:tr>
            </a:tbl>
          </a:graphicData>
        </a:graphic>
      </p:graphicFrame>
    </p:spTree>
    <p:extLst>
      <p:ext uri="{BB962C8B-B14F-4D97-AF65-F5344CB8AC3E}">
        <p14:creationId xmlns:p14="http://schemas.microsoft.com/office/powerpoint/2010/main" val="409368050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94A75-C844-5C1A-B1BC-D0BAA0810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FBAEB7-3E30-295B-5E18-F9E2B5C0A877}"/>
              </a:ext>
            </a:extLst>
          </p:cNvPr>
          <p:cNvSpPr>
            <a:spLocks noGrp="1"/>
          </p:cNvSpPr>
          <p:nvPr>
            <p:ph type="title"/>
          </p:nvPr>
        </p:nvSpPr>
        <p:spPr/>
        <p:txBody>
          <a:bodyPr/>
          <a:lstStyle/>
          <a:p>
            <a:r>
              <a:rPr lang="en-US"/>
              <a:t>Testing</a:t>
            </a:r>
          </a:p>
        </p:txBody>
      </p:sp>
      <p:sp>
        <p:nvSpPr>
          <p:cNvPr id="3" name="Text Placeholder 2">
            <a:extLst>
              <a:ext uri="{FF2B5EF4-FFF2-40B4-BE49-F238E27FC236}">
                <a16:creationId xmlns:a16="http://schemas.microsoft.com/office/drawing/2014/main" id="{2F8F0468-29A2-E20D-3950-D46EEE5CD534}"/>
              </a:ext>
            </a:extLst>
          </p:cNvPr>
          <p:cNvSpPr>
            <a:spLocks noGrp="1"/>
          </p:cNvSpPr>
          <p:nvPr>
            <p:ph type="body" sz="quarter" idx="11"/>
          </p:nvPr>
        </p:nvSpPr>
        <p:spPr/>
        <p:txBody>
          <a:bodyPr/>
          <a:lstStyle/>
          <a:p>
            <a:r>
              <a:rPr lang="en-US" sz="1850">
                <a:ea typeface="Source Sans Pro"/>
              </a:rPr>
              <a:t>Presented by: Jasmine Cheng</a:t>
            </a:r>
            <a:endParaRPr lang="en-US" sz="1850">
              <a:cs typeface="Calibri"/>
            </a:endParaRPr>
          </a:p>
        </p:txBody>
      </p:sp>
    </p:spTree>
    <p:extLst>
      <p:ext uri="{BB962C8B-B14F-4D97-AF65-F5344CB8AC3E}">
        <p14:creationId xmlns:p14="http://schemas.microsoft.com/office/powerpoint/2010/main" val="25954477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59385-8BF2-54B4-F744-7A0A8A5EB13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83D2EA-F991-94C4-B905-2FCF99A729B6}"/>
              </a:ext>
            </a:extLst>
          </p:cNvPr>
          <p:cNvSpPr>
            <a:spLocks noGrp="1"/>
          </p:cNvSpPr>
          <p:nvPr>
            <p:ph type="ftr" sz="quarter" idx="14"/>
          </p:nvPr>
        </p:nvSpPr>
        <p:spPr/>
        <p:txBody>
          <a:bodyPr/>
          <a:lstStyle/>
          <a:p>
            <a:r>
              <a:rPr lang="en-US" sz="900">
                <a:latin typeface="Source Sans Pro"/>
                <a:ea typeface="Source Sans Pro"/>
              </a:rPr>
              <a:t>Forte CDR</a:t>
            </a:r>
            <a:endParaRPr lang="en-US" sz="900">
              <a:ea typeface="Source Sans Pro"/>
            </a:endParaRPr>
          </a:p>
        </p:txBody>
      </p:sp>
      <p:sp>
        <p:nvSpPr>
          <p:cNvPr id="3" name="Slide Number Placeholder 2">
            <a:extLst>
              <a:ext uri="{FF2B5EF4-FFF2-40B4-BE49-F238E27FC236}">
                <a16:creationId xmlns:a16="http://schemas.microsoft.com/office/drawing/2014/main" id="{A2C89C9F-B3AD-4D4D-5A9A-CACDC7832FFC}"/>
              </a:ext>
            </a:extLst>
          </p:cNvPr>
          <p:cNvSpPr>
            <a:spLocks noGrp="1"/>
          </p:cNvSpPr>
          <p:nvPr>
            <p:ph type="sldNum" sz="quarter" idx="15"/>
          </p:nvPr>
        </p:nvSpPr>
        <p:spPr/>
        <p:txBody>
          <a:bodyPr/>
          <a:lstStyle/>
          <a:p>
            <a:r>
              <a:rPr lang="en-US"/>
              <a:t>/   </a:t>
            </a:r>
            <a:fld id="{6C7E6F33-74EE-5541-8108-8353B402F8C1}" type="slidenum">
              <a:rPr lang="en-US" smtClean="0"/>
              <a:pPr/>
              <a:t>119</a:t>
            </a:fld>
            <a:endParaRPr lang="en-US"/>
          </a:p>
        </p:txBody>
      </p:sp>
      <p:sp>
        <p:nvSpPr>
          <p:cNvPr id="4" name="Title 3">
            <a:extLst>
              <a:ext uri="{FF2B5EF4-FFF2-40B4-BE49-F238E27FC236}">
                <a16:creationId xmlns:a16="http://schemas.microsoft.com/office/drawing/2014/main" id="{78A78BD9-8F1B-6C0B-F370-C1F9A16DF636}"/>
              </a:ext>
            </a:extLst>
          </p:cNvPr>
          <p:cNvSpPr>
            <a:spLocks noGrp="1"/>
          </p:cNvSpPr>
          <p:nvPr>
            <p:ph type="title"/>
          </p:nvPr>
        </p:nvSpPr>
        <p:spPr/>
        <p:txBody>
          <a:bodyPr/>
          <a:lstStyle/>
          <a:p>
            <a:r>
              <a:rPr lang="en-US">
                <a:latin typeface="Munistic"/>
              </a:rPr>
              <a:t>Revisions</a:t>
            </a:r>
            <a:endParaRPr lang="en-US"/>
          </a:p>
        </p:txBody>
      </p:sp>
      <p:sp>
        <p:nvSpPr>
          <p:cNvPr id="6" name="TextBox 5">
            <a:extLst>
              <a:ext uri="{FF2B5EF4-FFF2-40B4-BE49-F238E27FC236}">
                <a16:creationId xmlns:a16="http://schemas.microsoft.com/office/drawing/2014/main" id="{EB2F3470-FCB9-CCC6-B617-9D8EC1E1003D}"/>
              </a:ext>
            </a:extLst>
          </p:cNvPr>
          <p:cNvSpPr txBox="1"/>
          <p:nvPr/>
        </p:nvSpPr>
        <p:spPr>
          <a:xfrm>
            <a:off x="409133" y="1640557"/>
            <a:ext cx="8282380" cy="33547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95300" indent="-342900">
              <a:buFont typeface="Arial" panose="020B0604020202020204" pitchFamily="34" charset="0"/>
              <a:buChar char="•"/>
            </a:pPr>
            <a:r>
              <a:rPr lang="en-US" sz="2000" b="1">
                <a:ea typeface="Calibri"/>
                <a:cs typeface="Calibri"/>
              </a:rPr>
              <a:t>Line-cutter testing</a:t>
            </a:r>
          </a:p>
          <a:p>
            <a:pPr marL="952500" lvl="1" indent="-342900">
              <a:buFont typeface="Arial" panose="020B0604020202020204" pitchFamily="34" charset="0"/>
              <a:buChar char="•"/>
            </a:pPr>
            <a:r>
              <a:rPr lang="en-US" sz="2000">
                <a:ea typeface="Calibri"/>
                <a:cs typeface="Calibri"/>
              </a:rPr>
              <a:t>Find rope that works</a:t>
            </a:r>
          </a:p>
          <a:p>
            <a:pPr marL="952500" lvl="1" indent="-342900">
              <a:buFont typeface="Arial" panose="020B0604020202020204" pitchFamily="34" charset="0"/>
              <a:buChar char="•"/>
            </a:pPr>
            <a:r>
              <a:rPr lang="en-US" sz="2000">
                <a:ea typeface="Calibri"/>
                <a:cs typeface="Calibri"/>
              </a:rPr>
              <a:t>No need to test carbon fiber rods effect on signal</a:t>
            </a:r>
          </a:p>
          <a:p>
            <a:pPr marL="952500" lvl="1" indent="-342900">
              <a:buFont typeface="Arial" panose="020B0604020202020204" pitchFamily="34" charset="0"/>
              <a:buChar char="•"/>
            </a:pPr>
            <a:endParaRPr lang="en-US" sz="2000">
              <a:ea typeface="Calibri"/>
              <a:cs typeface="Calibri"/>
            </a:endParaRPr>
          </a:p>
          <a:p>
            <a:pPr marL="495300" indent="-342900">
              <a:buFont typeface="Arial" panose="020B0604020202020204" pitchFamily="34" charset="0"/>
              <a:buChar char="•"/>
            </a:pPr>
            <a:r>
              <a:rPr lang="en-US" sz="2000" b="1">
                <a:ea typeface="Calibri"/>
                <a:cs typeface="Calibri"/>
              </a:rPr>
              <a:t>Line-cutter Testing Attempts:</a:t>
            </a:r>
          </a:p>
          <a:p>
            <a:pPr marL="952500" lvl="1" indent="-342900">
              <a:buFont typeface="Arial" panose="020B0604020202020204" pitchFamily="34" charset="0"/>
              <a:buChar char="•"/>
            </a:pPr>
            <a:r>
              <a:rPr lang="en-US" sz="2000" u="sng">
                <a:ea typeface="Calibri"/>
                <a:cs typeface="Calibri"/>
              </a:rPr>
              <a:t>Received: </a:t>
            </a:r>
            <a:r>
              <a:rPr lang="en-US" sz="2000">
                <a:ea typeface="Calibri"/>
                <a:cs typeface="Calibri"/>
              </a:rPr>
              <a:t>Line Cutters engaged, e-matches went off</a:t>
            </a:r>
          </a:p>
          <a:p>
            <a:pPr marL="952500" lvl="1" indent="-342900">
              <a:buFont typeface="Arial" panose="020B0604020202020204" pitchFamily="34" charset="0"/>
              <a:buChar char="•"/>
            </a:pPr>
            <a:r>
              <a:rPr lang="en-US" sz="2000" u="sng">
                <a:ea typeface="Calibri"/>
                <a:cs typeface="Calibri"/>
              </a:rPr>
              <a:t>Problems:</a:t>
            </a:r>
            <a:r>
              <a:rPr lang="en-US" sz="2000">
                <a:ea typeface="Calibri"/>
                <a:cs typeface="Calibri"/>
              </a:rPr>
              <a:t> Rope was not cut through</a:t>
            </a:r>
          </a:p>
          <a:p>
            <a:pPr marL="495300" indent="-342900">
              <a:buFont typeface="Arial" panose="020B0604020202020204" pitchFamily="34" charset="0"/>
              <a:buChar char="•"/>
            </a:pPr>
            <a:endParaRPr lang="en-US" sz="2400">
              <a:ea typeface="Calibri"/>
              <a:cs typeface="Calibri"/>
            </a:endParaRPr>
          </a:p>
          <a:p>
            <a:pPr marL="495300" indent="-342900">
              <a:buFont typeface="Arial" panose="020B0604020202020204" pitchFamily="34" charset="0"/>
              <a:buChar char="•"/>
            </a:pPr>
            <a:endParaRPr lang="en-US" sz="2400">
              <a:ea typeface="Calibri"/>
              <a:cs typeface="Calibri"/>
            </a:endParaRPr>
          </a:p>
          <a:p>
            <a:pPr marL="800100" lvl="1" indent="-342900">
              <a:buFont typeface="Arial" panose="020B0604020202020204" pitchFamily="34" charset="0"/>
              <a:buChar char="•"/>
            </a:pPr>
            <a:endParaRPr lang="en-US" sz="2400">
              <a:ea typeface="Calibri"/>
              <a:cs typeface="Calibri"/>
            </a:endParaRPr>
          </a:p>
        </p:txBody>
      </p:sp>
    </p:spTree>
    <p:extLst>
      <p:ext uri="{BB962C8B-B14F-4D97-AF65-F5344CB8AC3E}">
        <p14:creationId xmlns:p14="http://schemas.microsoft.com/office/powerpoint/2010/main" val="213968115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E20C5-4DCB-8C0E-6395-84FAB96C6D8D}"/>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554CFF5D-C16E-6029-6E84-368370494CD6}"/>
              </a:ext>
            </a:extLst>
          </p:cNvPr>
          <p:cNvSpPr>
            <a:spLocks noGrp="1"/>
          </p:cNvSpPr>
          <p:nvPr>
            <p:ph type="body" sz="quarter" idx="15"/>
          </p:nvPr>
        </p:nvSpPr>
        <p:spPr>
          <a:xfrm>
            <a:off x="524433" y="1532447"/>
            <a:ext cx="11784710" cy="4997995"/>
          </a:xfrm>
        </p:spPr>
        <p:txBody>
          <a:bodyPr vert="horz" lIns="91440" tIns="45720" rIns="91440" bIns="45720" rtlCol="0" anchor="t">
            <a:noAutofit/>
          </a:bodyPr>
          <a:lstStyle/>
          <a:p>
            <a:pPr marL="121920" indent="0">
              <a:buNone/>
            </a:pPr>
            <a:r>
              <a:rPr lang="en-US" sz="1850" u="sng">
                <a:ea typeface="Calibri"/>
                <a:cs typeface="Calibri" panose="020F0502020204030204"/>
              </a:rPr>
              <a:t>GSE:</a:t>
            </a:r>
          </a:p>
          <a:p>
            <a:pPr marL="121920" indent="0">
              <a:buNone/>
            </a:pPr>
            <a:r>
              <a:rPr lang="en-US" sz="1850">
                <a:ea typeface="Calibri"/>
                <a:cs typeface="Calibri" panose="020F0502020204030204"/>
              </a:rPr>
              <a:t>Goal: Validate all electronics, solenoids, pneumatics, etc.</a:t>
            </a:r>
          </a:p>
          <a:p>
            <a:pPr marL="464820" indent="-342900"/>
            <a:r>
              <a:rPr lang="en-US" sz="1850">
                <a:ea typeface="Calibri"/>
                <a:cs typeface="Calibri" panose="020F0502020204030204"/>
              </a:rPr>
              <a:t>Line Cutters</a:t>
            </a:r>
          </a:p>
          <a:p>
            <a:pPr marL="464820" indent="-342900"/>
            <a:r>
              <a:rPr lang="en-US" sz="1850">
                <a:ea typeface="Calibri"/>
                <a:cs typeface="Calibri" panose="020F0502020204030204"/>
              </a:rPr>
              <a:t>Separation Mechanism Testing</a:t>
            </a:r>
            <a:endParaRPr lang="en-US">
              <a:cs typeface="Calibri" panose="020F0502020204030204"/>
            </a:endParaRPr>
          </a:p>
          <a:p>
            <a:pPr marL="464820" indent="-342900"/>
            <a:r>
              <a:rPr lang="en-US" sz="1850">
                <a:ea typeface="Calibri"/>
                <a:cs typeface="Calibri" panose="020F0502020204030204"/>
              </a:rPr>
              <a:t>Filling Ox and Air controls (Tanks)</a:t>
            </a:r>
          </a:p>
          <a:p>
            <a:pPr marL="464820" indent="-342900"/>
            <a:r>
              <a:rPr lang="en-US" sz="1850">
                <a:ea typeface="Calibri"/>
                <a:cs typeface="Calibri" panose="020F0502020204030204"/>
              </a:rPr>
              <a:t>Mission control and Fill Station Communication</a:t>
            </a:r>
          </a:p>
          <a:p>
            <a:pPr marL="121920" indent="0">
              <a:buNone/>
            </a:pPr>
            <a:r>
              <a:rPr lang="en-US" sz="1850" u="sng">
                <a:ea typeface="Calibri"/>
                <a:cs typeface="Calibri" panose="020F0502020204030204"/>
              </a:rPr>
              <a:t>Next Steps:</a:t>
            </a:r>
          </a:p>
          <a:p>
            <a:pPr marL="464820" indent="-342900"/>
            <a:r>
              <a:rPr lang="en-US" sz="1850">
                <a:ea typeface="Calibri"/>
                <a:cs typeface="Calibri" panose="020F0502020204030204"/>
              </a:rPr>
              <a:t>Line Cutter Testing: Test new rope</a:t>
            </a:r>
          </a:p>
          <a:p>
            <a:pPr marL="464820" indent="-342900"/>
            <a:r>
              <a:rPr lang="en-US" sz="1850">
                <a:ea typeface="Calibri"/>
                <a:cs typeface="Calibri" panose="020F0502020204030204"/>
              </a:rPr>
              <a:t>Continue manufacturing</a:t>
            </a:r>
            <a:endParaRPr lang="en-US" sz="1583">
              <a:ea typeface="Calibri"/>
              <a:cs typeface="Calibri" panose="020F0502020204030204"/>
            </a:endParaRPr>
          </a:p>
          <a:p>
            <a:pPr marL="464820" lvl="1" indent="-342900">
              <a:buFont typeface="Arial" panose="020B0604020202020204" pitchFamily="34" charset="0"/>
              <a:buChar char="•"/>
            </a:pPr>
            <a:endParaRPr lang="en-US" sz="1850">
              <a:ea typeface="Calibri"/>
              <a:cs typeface="Calibri" panose="020F0502020204030204"/>
            </a:endParaRPr>
          </a:p>
        </p:txBody>
      </p:sp>
      <p:sp>
        <p:nvSpPr>
          <p:cNvPr id="3" name="Footer Placeholder 2">
            <a:extLst>
              <a:ext uri="{FF2B5EF4-FFF2-40B4-BE49-F238E27FC236}">
                <a16:creationId xmlns:a16="http://schemas.microsoft.com/office/drawing/2014/main" id="{B28DFC58-A101-F1F6-F8CC-453002F3BDDC}"/>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32261005-C6B7-408A-46FC-A68D5AA136EC}"/>
              </a:ext>
            </a:extLst>
          </p:cNvPr>
          <p:cNvSpPr>
            <a:spLocks noGrp="1"/>
          </p:cNvSpPr>
          <p:nvPr>
            <p:ph type="sldNum" sz="quarter" idx="17"/>
          </p:nvPr>
        </p:nvSpPr>
        <p:spPr/>
        <p:txBody>
          <a:bodyPr/>
          <a:lstStyle/>
          <a:p>
            <a:r>
              <a:rPr lang="en-US"/>
              <a:t>/   </a:t>
            </a:r>
            <a:fld id="{6C7E6F33-74EE-5541-8108-8353B402F8C1}" type="slidenum">
              <a:rPr lang="en-US" smtClean="0"/>
              <a:pPr/>
              <a:t>120</a:t>
            </a:fld>
            <a:endParaRPr lang="en-US"/>
          </a:p>
        </p:txBody>
      </p:sp>
      <p:sp>
        <p:nvSpPr>
          <p:cNvPr id="5" name="Title 4">
            <a:extLst>
              <a:ext uri="{FF2B5EF4-FFF2-40B4-BE49-F238E27FC236}">
                <a16:creationId xmlns:a16="http://schemas.microsoft.com/office/drawing/2014/main" id="{5EBCE472-DD22-0012-0197-1678C274A8D1}"/>
              </a:ext>
            </a:extLst>
          </p:cNvPr>
          <p:cNvSpPr>
            <a:spLocks noGrp="1"/>
          </p:cNvSpPr>
          <p:nvPr>
            <p:ph type="title"/>
          </p:nvPr>
        </p:nvSpPr>
        <p:spPr/>
        <p:txBody>
          <a:bodyPr/>
          <a:lstStyle/>
          <a:p>
            <a:r>
              <a:rPr lang="en-US">
                <a:latin typeface="Munistic"/>
              </a:rPr>
              <a:t>Testing</a:t>
            </a:r>
            <a:endParaRPr lang="en-US"/>
          </a:p>
        </p:txBody>
      </p:sp>
      <p:sp>
        <p:nvSpPr>
          <p:cNvPr id="11" name="Text Placeholder 10">
            <a:extLst>
              <a:ext uri="{FF2B5EF4-FFF2-40B4-BE49-F238E27FC236}">
                <a16:creationId xmlns:a16="http://schemas.microsoft.com/office/drawing/2014/main" id="{0B389F4D-F868-0979-FB42-08165EE4B398}"/>
              </a:ext>
            </a:extLst>
          </p:cNvPr>
          <p:cNvSpPr>
            <a:spLocks noGrp="1"/>
          </p:cNvSpPr>
          <p:nvPr>
            <p:ph type="body" sz="quarter" idx="4294967295"/>
          </p:nvPr>
        </p:nvSpPr>
        <p:spPr>
          <a:xfrm>
            <a:off x="6516688" y="717550"/>
            <a:ext cx="5675312" cy="625475"/>
          </a:xfrm>
        </p:spPr>
        <p:txBody>
          <a:bodyPr/>
          <a:lstStyle/>
          <a:p>
            <a:r>
              <a:rPr lang="en-US" sz="1850">
                <a:ea typeface="Source Sans Pro"/>
                <a:cs typeface="Calibri"/>
              </a:rPr>
              <a:t>Propulsion, Liquids, and GSE</a:t>
            </a:r>
            <a:endParaRPr lang="en-US"/>
          </a:p>
        </p:txBody>
      </p:sp>
      <p:sp>
        <p:nvSpPr>
          <p:cNvPr id="2" name="Text Placeholder 1">
            <a:extLst>
              <a:ext uri="{FF2B5EF4-FFF2-40B4-BE49-F238E27FC236}">
                <a16:creationId xmlns:a16="http://schemas.microsoft.com/office/drawing/2014/main" id="{8E03AAE7-ADC5-DEF0-B673-35753F1949C8}"/>
              </a:ext>
            </a:extLst>
          </p:cNvPr>
          <p:cNvSpPr>
            <a:spLocks noGrp="1"/>
          </p:cNvSpPr>
          <p:nvPr/>
        </p:nvSpPr>
        <p:spPr>
          <a:xfrm>
            <a:off x="531848" y="1412299"/>
            <a:ext cx="10515600" cy="4033401"/>
          </a:xfrm>
          <a:prstGeom prst="rect">
            <a:avLst/>
          </a:prstGeom>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95300" indent="-342900">
              <a:lnSpc>
                <a:spcPct val="114999"/>
              </a:lnSpc>
              <a:spcBef>
                <a:spcPts val="0"/>
              </a:spcBef>
              <a:spcAft>
                <a:spcPts val="0"/>
              </a:spcAft>
            </a:pPr>
            <a:endParaRPr lang="en-US" sz="1900">
              <a:latin typeface="Arial"/>
              <a:ea typeface="Source Sans Pro"/>
              <a:cs typeface="Arial"/>
            </a:endParaRPr>
          </a:p>
        </p:txBody>
      </p:sp>
      <p:sp>
        <p:nvSpPr>
          <p:cNvPr id="12" name="Text Placeholder 11">
            <a:extLst>
              <a:ext uri="{FF2B5EF4-FFF2-40B4-BE49-F238E27FC236}">
                <a16:creationId xmlns:a16="http://schemas.microsoft.com/office/drawing/2014/main" id="{493CC292-BA4E-8D29-30BF-514AAB2F0DB6}"/>
              </a:ext>
            </a:extLst>
          </p:cNvPr>
          <p:cNvSpPr>
            <a:spLocks noGrp="1"/>
          </p:cNvSpPr>
          <p:nvPr>
            <p:ph type="body" sz="quarter" idx="13"/>
          </p:nvPr>
        </p:nvSpPr>
        <p:spPr/>
        <p:txBody>
          <a:bodyPr/>
          <a:lstStyle/>
          <a:p>
            <a:r>
              <a:rPr lang="en-US" sz="1900">
                <a:solidFill>
                  <a:srgbClr val="154734"/>
                </a:solidFill>
                <a:ea typeface="Calibri"/>
                <a:cs typeface="Calibri"/>
              </a:rPr>
              <a:t>Propulsion, Liquids, and GSE (1 of 3)</a:t>
            </a:r>
            <a:endParaRPr lang="en-US" sz="1900">
              <a:solidFill>
                <a:srgbClr val="000000"/>
              </a:solidFill>
              <a:ea typeface="Calibri"/>
              <a:cs typeface="Calibri"/>
            </a:endParaRPr>
          </a:p>
        </p:txBody>
      </p:sp>
      <p:pic>
        <p:nvPicPr>
          <p:cNvPr id="8" name="Picture 7" descr="A person holding a rope tied to a pole&#10;&#10;AI-generated content may be incorrect.">
            <a:extLst>
              <a:ext uri="{FF2B5EF4-FFF2-40B4-BE49-F238E27FC236}">
                <a16:creationId xmlns:a16="http://schemas.microsoft.com/office/drawing/2014/main" id="{45642552-BEC3-D9D5-46FC-148BF4CBB89A}"/>
              </a:ext>
            </a:extLst>
          </p:cNvPr>
          <p:cNvPicPr>
            <a:picLocks noChangeAspect="1"/>
          </p:cNvPicPr>
          <p:nvPr/>
        </p:nvPicPr>
        <p:blipFill>
          <a:blip r:embed="rId3"/>
          <a:stretch>
            <a:fillRect/>
          </a:stretch>
        </p:blipFill>
        <p:spPr>
          <a:xfrm>
            <a:off x="6985747" y="1716742"/>
            <a:ext cx="2714066" cy="3693459"/>
          </a:xfrm>
          <a:prstGeom prst="rect">
            <a:avLst/>
          </a:prstGeom>
        </p:spPr>
      </p:pic>
      <p:sp>
        <p:nvSpPr>
          <p:cNvPr id="10" name="Text Placeholder 1">
            <a:extLst>
              <a:ext uri="{FF2B5EF4-FFF2-40B4-BE49-F238E27FC236}">
                <a16:creationId xmlns:a16="http://schemas.microsoft.com/office/drawing/2014/main" id="{39006A1E-30D8-5075-DACB-8201A346FC71}"/>
              </a:ext>
            </a:extLst>
          </p:cNvPr>
          <p:cNvSpPr txBox="1">
            <a:spLocks/>
          </p:cNvSpPr>
          <p:nvPr/>
        </p:nvSpPr>
        <p:spPr>
          <a:xfrm>
            <a:off x="6985818" y="5445500"/>
            <a:ext cx="3138129" cy="714857"/>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10.1 </a:t>
            </a:r>
            <a:r>
              <a:rPr lang="en-US" sz="1850">
                <a:ea typeface="Source Sans Pro"/>
              </a:rPr>
              <a:t> Line cutters in Example Testing Setup</a:t>
            </a:r>
          </a:p>
        </p:txBody>
      </p:sp>
      <p:sp>
        <p:nvSpPr>
          <p:cNvPr id="15" name="TextBox 14">
            <a:extLst>
              <a:ext uri="{FF2B5EF4-FFF2-40B4-BE49-F238E27FC236}">
                <a16:creationId xmlns:a16="http://schemas.microsoft.com/office/drawing/2014/main" id="{0904A471-E38C-FD8B-D149-1AC5B8B8C56C}"/>
              </a:ext>
            </a:extLst>
          </p:cNvPr>
          <p:cNvSpPr txBox="1"/>
          <p:nvPr/>
        </p:nvSpPr>
        <p:spPr>
          <a:xfrm>
            <a:off x="9900693" y="2118283"/>
            <a:ext cx="14835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Line Cutter</a:t>
            </a:r>
          </a:p>
        </p:txBody>
      </p:sp>
      <p:sp>
        <p:nvSpPr>
          <p:cNvPr id="17" name="Arrow: Right 16">
            <a:extLst>
              <a:ext uri="{FF2B5EF4-FFF2-40B4-BE49-F238E27FC236}">
                <a16:creationId xmlns:a16="http://schemas.microsoft.com/office/drawing/2014/main" id="{CEFB9A6A-F18B-1BE2-BD89-7A18D1089162}"/>
              </a:ext>
            </a:extLst>
          </p:cNvPr>
          <p:cNvSpPr/>
          <p:nvPr/>
        </p:nvSpPr>
        <p:spPr>
          <a:xfrm rot="8220000">
            <a:off x="8615653" y="2756551"/>
            <a:ext cx="1401487" cy="22278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a typeface="Calibri"/>
              <a:cs typeface="Calibri"/>
            </a:endParaRPr>
          </a:p>
        </p:txBody>
      </p:sp>
    </p:spTree>
    <p:extLst>
      <p:ext uri="{BB962C8B-B14F-4D97-AF65-F5344CB8AC3E}">
        <p14:creationId xmlns:p14="http://schemas.microsoft.com/office/powerpoint/2010/main" val="28192810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35FA3-CB46-9438-8184-159DE40B2102}"/>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8C6C2D73-D335-B847-D25F-DDBBD66D9104}"/>
              </a:ext>
            </a:extLst>
          </p:cNvPr>
          <p:cNvSpPr>
            <a:spLocks noGrp="1"/>
          </p:cNvSpPr>
          <p:nvPr>
            <p:ph type="body" sz="quarter" idx="15"/>
          </p:nvPr>
        </p:nvSpPr>
        <p:spPr>
          <a:xfrm>
            <a:off x="535638" y="1532447"/>
            <a:ext cx="11134769" cy="4997995"/>
          </a:xfrm>
        </p:spPr>
        <p:txBody>
          <a:bodyPr vert="horz" lIns="91440" tIns="45720" rIns="91440" bIns="45720" rtlCol="0" anchor="t">
            <a:noAutofit/>
          </a:bodyPr>
          <a:lstStyle/>
          <a:p>
            <a:pPr marL="121920" indent="0">
              <a:buNone/>
            </a:pPr>
            <a:r>
              <a:rPr lang="en-US" sz="1850" u="sng">
                <a:ea typeface="Calibri"/>
                <a:cs typeface="Calibri" panose="020F0502020204030204"/>
              </a:rPr>
              <a:t>Cold Flows:</a:t>
            </a:r>
            <a:endParaRPr lang="en-US" sz="1850" u="sng">
              <a:cs typeface="Calibri" panose="020F0502020204030204"/>
            </a:endParaRPr>
          </a:p>
          <a:p>
            <a:pPr marL="380365" indent="-258445"/>
            <a:r>
              <a:rPr lang="en-US" sz="1850">
                <a:ea typeface="Calibri"/>
                <a:cs typeface="Calibri" panose="020F0502020204030204"/>
              </a:rPr>
              <a:t>Goal: Full Liquid System Cold Flow – Early Feb.</a:t>
            </a:r>
          </a:p>
          <a:p>
            <a:pPr marL="456565" lvl="1"/>
            <a:r>
              <a:rPr lang="en-US">
                <a:ea typeface="+mn-lt"/>
                <a:cs typeface="+mn-lt"/>
              </a:rPr>
              <a:t>Tanks, GSE, Valves, Bulkheads, Engine - Not on Bluegrass</a:t>
            </a:r>
            <a:endParaRPr lang="en-US">
              <a:cs typeface="Calibri" panose="020F0502020204030204"/>
            </a:endParaRPr>
          </a:p>
          <a:p>
            <a:pPr marL="380365" indent="-258445"/>
            <a:r>
              <a:rPr lang="en-US" sz="1850">
                <a:ea typeface="Calibri"/>
                <a:cs typeface="Calibri" panose="020F0502020204030204"/>
              </a:rPr>
              <a:t>Valves: </a:t>
            </a:r>
          </a:p>
          <a:p>
            <a:pPr marL="121920" indent="0">
              <a:buNone/>
            </a:pPr>
            <a:r>
              <a:rPr lang="en-US" sz="1850">
                <a:ea typeface="Calibri"/>
                <a:cs typeface="Calibri" panose="020F0502020204030204"/>
              </a:rPr>
              <a:t>  Hydrostatic Testing (</a:t>
            </a:r>
            <a:r>
              <a:rPr lang="en-US" sz="1850">
                <a:ea typeface="+mn-lt"/>
                <a:cs typeface="+mn-lt"/>
              </a:rPr>
              <a:t>Water Hand Pump)</a:t>
            </a:r>
            <a:endParaRPr lang="en-US">
              <a:cs typeface="Calibri" panose="020F0502020204030204"/>
            </a:endParaRPr>
          </a:p>
          <a:p>
            <a:pPr marL="380365" lvl="1" indent="-258445"/>
            <a:r>
              <a:rPr lang="en-US" sz="1850">
                <a:ea typeface="Calibri"/>
                <a:cs typeface="Calibri" panose="020F0502020204030204"/>
              </a:rPr>
              <a:t>  Full liquids system (See Fig. 10.3)</a:t>
            </a:r>
            <a:endParaRPr lang="en-US" sz="1850">
              <a:ea typeface="Source Sans Pro"/>
              <a:cs typeface="Calibri" panose="020F0502020204030204"/>
            </a:endParaRPr>
          </a:p>
          <a:p>
            <a:pPr marL="380365" indent="-258445"/>
            <a:r>
              <a:rPr lang="en-US" sz="1850">
                <a:ea typeface="Calibri"/>
                <a:cs typeface="Calibri" panose="020F0502020204030204"/>
              </a:rPr>
              <a:t>Pump – Bluegrass</a:t>
            </a:r>
            <a:endParaRPr lang="en-US" sz="1850">
              <a:cs typeface="Calibri" panose="020F0502020204030204"/>
            </a:endParaRPr>
          </a:p>
          <a:p>
            <a:pPr marL="380365" indent="-258445"/>
            <a:r>
              <a:rPr lang="en-US" sz="1850">
                <a:ea typeface="Calibri"/>
                <a:cs typeface="Calibri" panose="020F0502020204030204"/>
              </a:rPr>
              <a:t>Valves (Bluegrass, engine, line-cutters)</a:t>
            </a:r>
            <a:endParaRPr lang="en-US">
              <a:cs typeface="Calibri" panose="020F0502020204030204"/>
            </a:endParaRPr>
          </a:p>
          <a:p>
            <a:pPr marL="456565" lvl="1"/>
            <a:endParaRPr lang="en-US" sz="1850">
              <a:ea typeface="Calibri"/>
              <a:cs typeface="Calibri" panose="020F0502020204030204"/>
            </a:endParaRPr>
          </a:p>
        </p:txBody>
      </p:sp>
      <p:sp>
        <p:nvSpPr>
          <p:cNvPr id="3" name="Footer Placeholder 2">
            <a:extLst>
              <a:ext uri="{FF2B5EF4-FFF2-40B4-BE49-F238E27FC236}">
                <a16:creationId xmlns:a16="http://schemas.microsoft.com/office/drawing/2014/main" id="{6D7263CD-E7C4-50BE-132C-1461CC849247}"/>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A5996C48-4A22-68B8-A979-D8D741013549}"/>
              </a:ext>
            </a:extLst>
          </p:cNvPr>
          <p:cNvSpPr>
            <a:spLocks noGrp="1"/>
          </p:cNvSpPr>
          <p:nvPr>
            <p:ph type="sldNum" sz="quarter" idx="17"/>
          </p:nvPr>
        </p:nvSpPr>
        <p:spPr/>
        <p:txBody>
          <a:bodyPr/>
          <a:lstStyle/>
          <a:p>
            <a:r>
              <a:rPr lang="en-US"/>
              <a:t>/   </a:t>
            </a:r>
            <a:fld id="{6C7E6F33-74EE-5541-8108-8353B402F8C1}" type="slidenum">
              <a:rPr lang="en-US" smtClean="0"/>
              <a:pPr/>
              <a:t>121</a:t>
            </a:fld>
            <a:endParaRPr lang="en-US"/>
          </a:p>
        </p:txBody>
      </p:sp>
      <p:sp>
        <p:nvSpPr>
          <p:cNvPr id="5" name="Title 4">
            <a:extLst>
              <a:ext uri="{FF2B5EF4-FFF2-40B4-BE49-F238E27FC236}">
                <a16:creationId xmlns:a16="http://schemas.microsoft.com/office/drawing/2014/main" id="{3BC11861-1A5F-C003-C134-33A78E5DEC3D}"/>
              </a:ext>
            </a:extLst>
          </p:cNvPr>
          <p:cNvSpPr>
            <a:spLocks noGrp="1"/>
          </p:cNvSpPr>
          <p:nvPr>
            <p:ph type="title"/>
          </p:nvPr>
        </p:nvSpPr>
        <p:spPr/>
        <p:txBody>
          <a:bodyPr/>
          <a:lstStyle/>
          <a:p>
            <a:r>
              <a:rPr lang="en-US">
                <a:latin typeface="Munistic"/>
              </a:rPr>
              <a:t>Testing</a:t>
            </a:r>
            <a:endParaRPr lang="en-US"/>
          </a:p>
        </p:txBody>
      </p:sp>
      <p:sp>
        <p:nvSpPr>
          <p:cNvPr id="11" name="Text Placeholder 10">
            <a:extLst>
              <a:ext uri="{FF2B5EF4-FFF2-40B4-BE49-F238E27FC236}">
                <a16:creationId xmlns:a16="http://schemas.microsoft.com/office/drawing/2014/main" id="{15EA8CC5-15FB-E6B6-52F6-8B05E1E67681}"/>
              </a:ext>
            </a:extLst>
          </p:cNvPr>
          <p:cNvSpPr>
            <a:spLocks noGrp="1"/>
          </p:cNvSpPr>
          <p:nvPr>
            <p:ph type="body" sz="quarter" idx="4294967295"/>
          </p:nvPr>
        </p:nvSpPr>
        <p:spPr>
          <a:xfrm>
            <a:off x="6516688" y="717550"/>
            <a:ext cx="5675312" cy="625475"/>
          </a:xfrm>
        </p:spPr>
        <p:txBody>
          <a:bodyPr/>
          <a:lstStyle/>
          <a:p>
            <a:r>
              <a:rPr lang="en-US" sz="1850">
                <a:ea typeface="Source Sans Pro"/>
                <a:cs typeface="Calibri"/>
              </a:rPr>
              <a:t>Propulsion, Liquids, and GSE</a:t>
            </a:r>
            <a:endParaRPr lang="en-US"/>
          </a:p>
        </p:txBody>
      </p:sp>
      <p:sp>
        <p:nvSpPr>
          <p:cNvPr id="2" name="Text Placeholder 1">
            <a:extLst>
              <a:ext uri="{FF2B5EF4-FFF2-40B4-BE49-F238E27FC236}">
                <a16:creationId xmlns:a16="http://schemas.microsoft.com/office/drawing/2014/main" id="{1D0C3B5B-B790-0D1B-CB6A-69ADA71AEDC6}"/>
              </a:ext>
            </a:extLst>
          </p:cNvPr>
          <p:cNvSpPr>
            <a:spLocks noGrp="1"/>
          </p:cNvSpPr>
          <p:nvPr/>
        </p:nvSpPr>
        <p:spPr>
          <a:xfrm>
            <a:off x="531848" y="1412299"/>
            <a:ext cx="10515600" cy="4033401"/>
          </a:xfrm>
          <a:prstGeom prst="rect">
            <a:avLst/>
          </a:prstGeom>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95300" indent="-342900">
              <a:lnSpc>
                <a:spcPct val="114999"/>
              </a:lnSpc>
              <a:spcBef>
                <a:spcPts val="0"/>
              </a:spcBef>
              <a:spcAft>
                <a:spcPts val="0"/>
              </a:spcAft>
            </a:pPr>
            <a:endParaRPr lang="en-US" sz="1900">
              <a:latin typeface="Arial"/>
              <a:ea typeface="Source Sans Pro"/>
              <a:cs typeface="Arial"/>
            </a:endParaRPr>
          </a:p>
        </p:txBody>
      </p:sp>
      <p:sp>
        <p:nvSpPr>
          <p:cNvPr id="12" name="Text Placeholder 11">
            <a:extLst>
              <a:ext uri="{FF2B5EF4-FFF2-40B4-BE49-F238E27FC236}">
                <a16:creationId xmlns:a16="http://schemas.microsoft.com/office/drawing/2014/main" id="{52728E98-F0E0-B63B-F07B-7A45285A6884}"/>
              </a:ext>
            </a:extLst>
          </p:cNvPr>
          <p:cNvSpPr>
            <a:spLocks noGrp="1"/>
          </p:cNvSpPr>
          <p:nvPr>
            <p:ph type="body" sz="quarter" idx="13"/>
          </p:nvPr>
        </p:nvSpPr>
        <p:spPr/>
        <p:txBody>
          <a:bodyPr/>
          <a:lstStyle/>
          <a:p>
            <a:r>
              <a:rPr lang="en-US" sz="1900">
                <a:solidFill>
                  <a:srgbClr val="154734"/>
                </a:solidFill>
                <a:ea typeface="Calibri"/>
                <a:cs typeface="Calibri"/>
              </a:rPr>
              <a:t>Propulsion, Liquids, and GSE (2 of 3)</a:t>
            </a:r>
            <a:endParaRPr lang="en-US" sz="1900">
              <a:solidFill>
                <a:srgbClr val="000000"/>
              </a:solidFill>
              <a:ea typeface="Calibri"/>
              <a:cs typeface="Calibri"/>
            </a:endParaRPr>
          </a:p>
        </p:txBody>
      </p:sp>
      <p:pic>
        <p:nvPicPr>
          <p:cNvPr id="8" name="Picture 7" descr="A measuring tape on a metal post&#10;&#10;AI-generated content may be incorrect.">
            <a:extLst>
              <a:ext uri="{FF2B5EF4-FFF2-40B4-BE49-F238E27FC236}">
                <a16:creationId xmlns:a16="http://schemas.microsoft.com/office/drawing/2014/main" id="{40606FFB-A643-91FF-4E7C-F3F3F9B99138}"/>
              </a:ext>
            </a:extLst>
          </p:cNvPr>
          <p:cNvPicPr>
            <a:picLocks noChangeAspect="1"/>
          </p:cNvPicPr>
          <p:nvPr/>
        </p:nvPicPr>
        <p:blipFill>
          <a:blip r:embed="rId2"/>
          <a:stretch>
            <a:fillRect/>
          </a:stretch>
        </p:blipFill>
        <p:spPr>
          <a:xfrm>
            <a:off x="9183040" y="2229970"/>
            <a:ext cx="2644951" cy="3115236"/>
          </a:xfrm>
          <a:prstGeom prst="rect">
            <a:avLst/>
          </a:prstGeom>
        </p:spPr>
      </p:pic>
      <p:pic>
        <p:nvPicPr>
          <p:cNvPr id="9" name="Picture 8" descr="A machine with a chain&#10;&#10;AI-generated content may be incorrect.">
            <a:extLst>
              <a:ext uri="{FF2B5EF4-FFF2-40B4-BE49-F238E27FC236}">
                <a16:creationId xmlns:a16="http://schemas.microsoft.com/office/drawing/2014/main" id="{2A49688E-C375-6F2B-3B4D-0717C9F061E8}"/>
              </a:ext>
            </a:extLst>
          </p:cNvPr>
          <p:cNvPicPr>
            <a:picLocks noChangeAspect="1"/>
          </p:cNvPicPr>
          <p:nvPr/>
        </p:nvPicPr>
        <p:blipFill>
          <a:blip r:embed="rId3"/>
          <a:stretch>
            <a:fillRect/>
          </a:stretch>
        </p:blipFill>
        <p:spPr>
          <a:xfrm>
            <a:off x="6290982" y="2231372"/>
            <a:ext cx="2445123" cy="3314139"/>
          </a:xfrm>
          <a:prstGeom prst="rect">
            <a:avLst/>
          </a:prstGeom>
        </p:spPr>
      </p:pic>
      <p:sp>
        <p:nvSpPr>
          <p:cNvPr id="15" name="Text Placeholder 1">
            <a:extLst>
              <a:ext uri="{FF2B5EF4-FFF2-40B4-BE49-F238E27FC236}">
                <a16:creationId xmlns:a16="http://schemas.microsoft.com/office/drawing/2014/main" id="{9C172C59-199D-650B-EDE2-2A0A0705CE5E}"/>
              </a:ext>
            </a:extLst>
          </p:cNvPr>
          <p:cNvSpPr txBox="1">
            <a:spLocks/>
          </p:cNvSpPr>
          <p:nvPr/>
        </p:nvSpPr>
        <p:spPr>
          <a:xfrm>
            <a:off x="6358288" y="5546353"/>
            <a:ext cx="2264071" cy="782092"/>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10.2 </a:t>
            </a:r>
            <a:r>
              <a:rPr lang="en-US" sz="1850">
                <a:ea typeface="Source Sans Pro"/>
              </a:rPr>
              <a:t> "Bluegrass" Test Stand</a:t>
            </a:r>
            <a:endParaRPr lang="en-US" sz="1850">
              <a:ea typeface="Source Sans Pro"/>
              <a:cs typeface="Calibri"/>
            </a:endParaRPr>
          </a:p>
        </p:txBody>
      </p:sp>
      <p:sp>
        <p:nvSpPr>
          <p:cNvPr id="17" name="Text Placeholder 1">
            <a:extLst>
              <a:ext uri="{FF2B5EF4-FFF2-40B4-BE49-F238E27FC236}">
                <a16:creationId xmlns:a16="http://schemas.microsoft.com/office/drawing/2014/main" id="{6B405F11-A6AA-9CA9-650E-C5A6E3516041}"/>
              </a:ext>
            </a:extLst>
          </p:cNvPr>
          <p:cNvSpPr txBox="1">
            <a:spLocks/>
          </p:cNvSpPr>
          <p:nvPr/>
        </p:nvSpPr>
        <p:spPr>
          <a:xfrm>
            <a:off x="8935642" y="5445500"/>
            <a:ext cx="3138129" cy="714857"/>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10.3 </a:t>
            </a:r>
            <a:r>
              <a:rPr lang="en-US" sz="1850">
                <a:ea typeface="Source Sans Pro"/>
              </a:rPr>
              <a:t> Picture of Test Stand to Mount Liquid System</a:t>
            </a:r>
            <a:endParaRPr lang="en-US" sz="1850">
              <a:ea typeface="Source Sans Pro"/>
              <a:cs typeface="Calibri"/>
            </a:endParaRPr>
          </a:p>
        </p:txBody>
      </p:sp>
    </p:spTree>
    <p:extLst>
      <p:ext uri="{BB962C8B-B14F-4D97-AF65-F5344CB8AC3E}">
        <p14:creationId xmlns:p14="http://schemas.microsoft.com/office/powerpoint/2010/main" val="368909226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7934-EE61-4B41-48B9-A64C41871F80}"/>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55E54443-1592-B625-FAE9-D1D25DFE8EEF}"/>
              </a:ext>
            </a:extLst>
          </p:cNvPr>
          <p:cNvSpPr>
            <a:spLocks noGrp="1"/>
          </p:cNvSpPr>
          <p:nvPr>
            <p:ph type="body" sz="quarter" idx="15"/>
          </p:nvPr>
        </p:nvSpPr>
        <p:spPr>
          <a:xfrm>
            <a:off x="524433" y="1532447"/>
            <a:ext cx="11784710" cy="4997995"/>
          </a:xfrm>
        </p:spPr>
        <p:txBody>
          <a:bodyPr vert="horz" lIns="91440" tIns="45720" rIns="91440" bIns="45720" rtlCol="0" anchor="t">
            <a:noAutofit/>
          </a:bodyPr>
          <a:lstStyle/>
          <a:p>
            <a:pPr marL="121920" indent="0">
              <a:buNone/>
            </a:pPr>
            <a:r>
              <a:rPr lang="en-US" sz="1850" u="sng">
                <a:ea typeface="Calibri"/>
                <a:cs typeface="Calibri" panose="020F0502020204030204"/>
              </a:rPr>
              <a:t>Hot Fires:</a:t>
            </a:r>
            <a:endParaRPr lang="en-US" sz="1850" u="sng">
              <a:cs typeface="Calibri"/>
            </a:endParaRPr>
          </a:p>
          <a:p>
            <a:pPr marL="121920" indent="0">
              <a:buNone/>
            </a:pPr>
            <a:r>
              <a:rPr lang="en-US" sz="1850">
                <a:ea typeface="Calibri"/>
                <a:cs typeface="Calibri" panose="020F0502020204030204"/>
              </a:rPr>
              <a:t>Main Goal: Get Engine Data, Ensure Pump + Engine are integrated and produce desired results, valve timing</a:t>
            </a:r>
          </a:p>
          <a:p>
            <a:pPr marL="380365" indent="-258445"/>
            <a:r>
              <a:rPr lang="en-US" sz="1850">
                <a:ea typeface="Calibri"/>
                <a:cs typeface="Calibri" panose="020F0502020204030204"/>
              </a:rPr>
              <a:t>Engine (no pump) - Bluegrass</a:t>
            </a:r>
            <a:endParaRPr lang="en-US"/>
          </a:p>
          <a:p>
            <a:pPr marL="380365" indent="-258445"/>
            <a:r>
              <a:rPr lang="en-US" sz="1850">
                <a:ea typeface="Calibri"/>
                <a:cs typeface="Calibri" panose="020F0502020204030204"/>
              </a:rPr>
              <a:t>Pump + Engine - Bluegrass</a:t>
            </a:r>
            <a:endParaRPr lang="en-US" sz="1850" kern="800" spc="0">
              <a:ea typeface="Calibri"/>
              <a:cs typeface="Calibri" panose="020F0502020204030204"/>
            </a:endParaRPr>
          </a:p>
          <a:p>
            <a:pPr marL="121920" indent="-258445"/>
            <a:endParaRPr lang="en-US" sz="1850" kern="800" spc="0">
              <a:ea typeface="Calibri"/>
              <a:cs typeface="Calibri" panose="020F0502020204030204"/>
            </a:endParaRPr>
          </a:p>
          <a:p>
            <a:pPr marL="456565" lvl="1"/>
            <a:endParaRPr lang="en-US" sz="1850" kern="800" spc="0">
              <a:ea typeface="Calibri"/>
              <a:cs typeface="Calibri" panose="020F0502020204030204"/>
            </a:endParaRPr>
          </a:p>
        </p:txBody>
      </p:sp>
      <p:sp>
        <p:nvSpPr>
          <p:cNvPr id="3" name="Footer Placeholder 2">
            <a:extLst>
              <a:ext uri="{FF2B5EF4-FFF2-40B4-BE49-F238E27FC236}">
                <a16:creationId xmlns:a16="http://schemas.microsoft.com/office/drawing/2014/main" id="{2E6719D0-2068-AD3D-3AB1-8A9EAC17E11D}"/>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B4D075BC-6B57-DDFA-B0E3-6BAFCF13E6B1}"/>
              </a:ext>
            </a:extLst>
          </p:cNvPr>
          <p:cNvSpPr>
            <a:spLocks noGrp="1"/>
          </p:cNvSpPr>
          <p:nvPr>
            <p:ph type="sldNum" sz="quarter" idx="17"/>
          </p:nvPr>
        </p:nvSpPr>
        <p:spPr/>
        <p:txBody>
          <a:bodyPr/>
          <a:lstStyle/>
          <a:p>
            <a:r>
              <a:rPr lang="en-US"/>
              <a:t>/   </a:t>
            </a:r>
            <a:fld id="{6C7E6F33-74EE-5541-8108-8353B402F8C1}" type="slidenum">
              <a:rPr lang="en-US" smtClean="0"/>
              <a:pPr/>
              <a:t>122</a:t>
            </a:fld>
            <a:endParaRPr lang="en-US"/>
          </a:p>
        </p:txBody>
      </p:sp>
      <p:sp>
        <p:nvSpPr>
          <p:cNvPr id="5" name="Title 4">
            <a:extLst>
              <a:ext uri="{FF2B5EF4-FFF2-40B4-BE49-F238E27FC236}">
                <a16:creationId xmlns:a16="http://schemas.microsoft.com/office/drawing/2014/main" id="{3B780AA5-472F-1751-2979-08F0DA1543DA}"/>
              </a:ext>
            </a:extLst>
          </p:cNvPr>
          <p:cNvSpPr>
            <a:spLocks noGrp="1"/>
          </p:cNvSpPr>
          <p:nvPr>
            <p:ph type="title"/>
          </p:nvPr>
        </p:nvSpPr>
        <p:spPr/>
        <p:txBody>
          <a:bodyPr/>
          <a:lstStyle/>
          <a:p>
            <a:r>
              <a:rPr lang="en-US">
                <a:latin typeface="Munistic"/>
              </a:rPr>
              <a:t>Testing</a:t>
            </a:r>
            <a:endParaRPr lang="en-US"/>
          </a:p>
        </p:txBody>
      </p:sp>
      <p:sp>
        <p:nvSpPr>
          <p:cNvPr id="11" name="Text Placeholder 10">
            <a:extLst>
              <a:ext uri="{FF2B5EF4-FFF2-40B4-BE49-F238E27FC236}">
                <a16:creationId xmlns:a16="http://schemas.microsoft.com/office/drawing/2014/main" id="{97B0DEFA-F4FA-BDA1-6ECE-E6293D3C1A01}"/>
              </a:ext>
            </a:extLst>
          </p:cNvPr>
          <p:cNvSpPr>
            <a:spLocks noGrp="1"/>
          </p:cNvSpPr>
          <p:nvPr>
            <p:ph type="body" sz="quarter" idx="4294967295"/>
          </p:nvPr>
        </p:nvSpPr>
        <p:spPr>
          <a:xfrm>
            <a:off x="6516688" y="717550"/>
            <a:ext cx="5675312" cy="625475"/>
          </a:xfrm>
        </p:spPr>
        <p:txBody>
          <a:bodyPr/>
          <a:lstStyle/>
          <a:p>
            <a:r>
              <a:rPr lang="en-US" sz="1850">
                <a:ea typeface="Source Sans Pro"/>
                <a:cs typeface="Calibri"/>
              </a:rPr>
              <a:t>Propulsion, Liquids, and GSE</a:t>
            </a:r>
            <a:endParaRPr lang="en-US"/>
          </a:p>
        </p:txBody>
      </p:sp>
      <p:sp>
        <p:nvSpPr>
          <p:cNvPr id="2" name="Text Placeholder 1">
            <a:extLst>
              <a:ext uri="{FF2B5EF4-FFF2-40B4-BE49-F238E27FC236}">
                <a16:creationId xmlns:a16="http://schemas.microsoft.com/office/drawing/2014/main" id="{5C2846B7-A9C8-ECEB-2198-59F44DE90BB7}"/>
              </a:ext>
            </a:extLst>
          </p:cNvPr>
          <p:cNvSpPr>
            <a:spLocks noGrp="1"/>
          </p:cNvSpPr>
          <p:nvPr/>
        </p:nvSpPr>
        <p:spPr>
          <a:xfrm>
            <a:off x="531848" y="1412299"/>
            <a:ext cx="10515600" cy="4033401"/>
          </a:xfrm>
          <a:prstGeom prst="rect">
            <a:avLst/>
          </a:prstGeom>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95300" indent="-342900">
              <a:lnSpc>
                <a:spcPct val="114999"/>
              </a:lnSpc>
              <a:spcBef>
                <a:spcPts val="0"/>
              </a:spcBef>
              <a:spcAft>
                <a:spcPts val="0"/>
              </a:spcAft>
            </a:pPr>
            <a:endParaRPr lang="en-US" sz="1900">
              <a:latin typeface="Arial"/>
              <a:ea typeface="Source Sans Pro"/>
              <a:cs typeface="Arial"/>
            </a:endParaRPr>
          </a:p>
        </p:txBody>
      </p:sp>
      <p:sp>
        <p:nvSpPr>
          <p:cNvPr id="12" name="Text Placeholder 11">
            <a:extLst>
              <a:ext uri="{FF2B5EF4-FFF2-40B4-BE49-F238E27FC236}">
                <a16:creationId xmlns:a16="http://schemas.microsoft.com/office/drawing/2014/main" id="{096AD307-45DD-BD64-4016-CDBF3335A712}"/>
              </a:ext>
            </a:extLst>
          </p:cNvPr>
          <p:cNvSpPr>
            <a:spLocks noGrp="1"/>
          </p:cNvSpPr>
          <p:nvPr>
            <p:ph type="body" sz="quarter" idx="13"/>
          </p:nvPr>
        </p:nvSpPr>
        <p:spPr/>
        <p:txBody>
          <a:bodyPr/>
          <a:lstStyle/>
          <a:p>
            <a:r>
              <a:rPr lang="en-US" sz="1900">
                <a:solidFill>
                  <a:srgbClr val="154734"/>
                </a:solidFill>
                <a:ea typeface="Calibri"/>
                <a:cs typeface="Calibri"/>
              </a:rPr>
              <a:t>Propulsion, Liquids, and GSE (3 of 3)</a:t>
            </a:r>
            <a:endParaRPr lang="en-US" sz="1900">
              <a:solidFill>
                <a:srgbClr val="000000"/>
              </a:solidFill>
              <a:ea typeface="Calibri"/>
              <a:cs typeface="Calibri"/>
            </a:endParaRPr>
          </a:p>
        </p:txBody>
      </p:sp>
      <p:pic>
        <p:nvPicPr>
          <p:cNvPr id="8" name="Picture 7" descr="A rocket launching from a machine&#10;&#10;AI-generated content may be incorrect.">
            <a:extLst>
              <a:ext uri="{FF2B5EF4-FFF2-40B4-BE49-F238E27FC236}">
                <a16:creationId xmlns:a16="http://schemas.microsoft.com/office/drawing/2014/main" id="{AFEFCC00-F334-565D-1313-26F987431D38}"/>
              </a:ext>
            </a:extLst>
          </p:cNvPr>
          <p:cNvPicPr>
            <a:picLocks noChangeAspect="1"/>
          </p:cNvPicPr>
          <p:nvPr/>
        </p:nvPicPr>
        <p:blipFill>
          <a:blip r:embed="rId2"/>
          <a:stretch>
            <a:fillRect/>
          </a:stretch>
        </p:blipFill>
        <p:spPr>
          <a:xfrm>
            <a:off x="9528643" y="1732709"/>
            <a:ext cx="1852892" cy="3224493"/>
          </a:xfrm>
          <a:prstGeom prst="rect">
            <a:avLst/>
          </a:prstGeom>
        </p:spPr>
      </p:pic>
      <p:sp>
        <p:nvSpPr>
          <p:cNvPr id="10" name="Text Placeholder 1">
            <a:extLst>
              <a:ext uri="{FF2B5EF4-FFF2-40B4-BE49-F238E27FC236}">
                <a16:creationId xmlns:a16="http://schemas.microsoft.com/office/drawing/2014/main" id="{16DA5F30-0285-880B-A2F5-5B4FF6C01F07}"/>
              </a:ext>
            </a:extLst>
          </p:cNvPr>
          <p:cNvSpPr txBox="1">
            <a:spLocks/>
          </p:cNvSpPr>
          <p:nvPr/>
        </p:nvSpPr>
        <p:spPr>
          <a:xfrm>
            <a:off x="9058906" y="4952441"/>
            <a:ext cx="2600247" cy="782092"/>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10.5 </a:t>
            </a:r>
            <a:r>
              <a:rPr lang="en-US" sz="1850">
                <a:ea typeface="Source Sans Pro"/>
              </a:rPr>
              <a:t> "Stratum" Hot Fire on Bluegrass</a:t>
            </a:r>
            <a:endParaRPr lang="en-US" sz="1850">
              <a:ea typeface="Source Sans Pro"/>
              <a:cs typeface="Calibri"/>
            </a:endParaRPr>
          </a:p>
        </p:txBody>
      </p:sp>
      <p:sp>
        <p:nvSpPr>
          <p:cNvPr id="15" name="Text Placeholder 1">
            <a:extLst>
              <a:ext uri="{FF2B5EF4-FFF2-40B4-BE49-F238E27FC236}">
                <a16:creationId xmlns:a16="http://schemas.microsoft.com/office/drawing/2014/main" id="{03F1613C-E0F6-2D58-694F-E92763EC734D}"/>
              </a:ext>
            </a:extLst>
          </p:cNvPr>
          <p:cNvSpPr txBox="1">
            <a:spLocks/>
          </p:cNvSpPr>
          <p:nvPr/>
        </p:nvSpPr>
        <p:spPr>
          <a:xfrm>
            <a:off x="6627229" y="5053293"/>
            <a:ext cx="2600247" cy="782092"/>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10.4 </a:t>
            </a:r>
            <a:r>
              <a:rPr lang="en-US" sz="1850">
                <a:ea typeface="Source Sans Pro"/>
              </a:rPr>
              <a:t> "Stratum" Hot Fire on Bluegrass</a:t>
            </a:r>
            <a:endParaRPr lang="en-US" sz="1850">
              <a:ea typeface="Source Sans Pro"/>
              <a:cs typeface="Calibri"/>
            </a:endParaRPr>
          </a:p>
        </p:txBody>
      </p:sp>
      <p:pic>
        <p:nvPicPr>
          <p:cNvPr id="9" name="Picture 8">
            <a:extLst>
              <a:ext uri="{FF2B5EF4-FFF2-40B4-BE49-F238E27FC236}">
                <a16:creationId xmlns:a16="http://schemas.microsoft.com/office/drawing/2014/main" id="{658D65FD-1BE1-43CE-EF21-9FBE9DF3E513}"/>
              </a:ext>
            </a:extLst>
          </p:cNvPr>
          <p:cNvPicPr>
            <a:picLocks noChangeAspect="1"/>
          </p:cNvPicPr>
          <p:nvPr/>
        </p:nvPicPr>
        <p:blipFill>
          <a:blip r:embed="rId3"/>
          <a:stretch>
            <a:fillRect/>
          </a:stretch>
        </p:blipFill>
        <p:spPr>
          <a:xfrm>
            <a:off x="6720892" y="1755289"/>
            <a:ext cx="2103146" cy="3245720"/>
          </a:xfrm>
          <a:prstGeom prst="rect">
            <a:avLst/>
          </a:prstGeom>
        </p:spPr>
      </p:pic>
    </p:spTree>
    <p:extLst>
      <p:ext uri="{BB962C8B-B14F-4D97-AF65-F5344CB8AC3E}">
        <p14:creationId xmlns:p14="http://schemas.microsoft.com/office/powerpoint/2010/main" val="63104258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2FB75E7-03B9-D58F-6B00-ED9A69E3BB23}"/>
              </a:ext>
            </a:extLst>
          </p:cNvPr>
          <p:cNvSpPr>
            <a:spLocks noGrp="1"/>
          </p:cNvSpPr>
          <p:nvPr>
            <p:ph type="ftr" sz="quarter" idx="16"/>
          </p:nvPr>
        </p:nvSpPr>
        <p:spPr/>
        <p:txBody>
          <a:bodyPr/>
          <a:lstStyle/>
          <a:p>
            <a:r>
              <a:rPr lang="en-US"/>
              <a:t>ARCHERFISH CDR</a:t>
            </a:r>
          </a:p>
        </p:txBody>
      </p:sp>
      <p:sp>
        <p:nvSpPr>
          <p:cNvPr id="4" name="Slide Number Placeholder 3">
            <a:extLst>
              <a:ext uri="{FF2B5EF4-FFF2-40B4-BE49-F238E27FC236}">
                <a16:creationId xmlns:a16="http://schemas.microsoft.com/office/drawing/2014/main" id="{BFF19088-A0BF-7B34-0D23-DF6E55C23274}"/>
              </a:ext>
            </a:extLst>
          </p:cNvPr>
          <p:cNvSpPr>
            <a:spLocks noGrp="1"/>
          </p:cNvSpPr>
          <p:nvPr>
            <p:ph type="sldNum" sz="quarter" idx="17"/>
          </p:nvPr>
        </p:nvSpPr>
        <p:spPr/>
        <p:txBody>
          <a:bodyPr/>
          <a:lstStyle/>
          <a:p>
            <a:r>
              <a:rPr lang="en-US"/>
              <a:t>/   </a:t>
            </a:r>
            <a:fld id="{6C7E6F33-74EE-5541-8108-8353B402F8C1}" type="slidenum">
              <a:rPr lang="en-US" smtClean="0"/>
              <a:pPr/>
              <a:t>123</a:t>
            </a:fld>
            <a:endParaRPr lang="en-US"/>
          </a:p>
        </p:txBody>
      </p:sp>
      <p:sp>
        <p:nvSpPr>
          <p:cNvPr id="5" name="Title 4">
            <a:extLst>
              <a:ext uri="{FF2B5EF4-FFF2-40B4-BE49-F238E27FC236}">
                <a16:creationId xmlns:a16="http://schemas.microsoft.com/office/drawing/2014/main" id="{FBB32CAA-42C6-50C0-0706-101E15F52AD5}"/>
              </a:ext>
            </a:extLst>
          </p:cNvPr>
          <p:cNvSpPr>
            <a:spLocks noGrp="1"/>
          </p:cNvSpPr>
          <p:nvPr>
            <p:ph type="title"/>
          </p:nvPr>
        </p:nvSpPr>
        <p:spPr/>
        <p:txBody>
          <a:bodyPr/>
          <a:lstStyle/>
          <a:p>
            <a:r>
              <a:rPr lang="en-US">
                <a:latin typeface="Munistic"/>
              </a:rPr>
              <a:t>Testing</a:t>
            </a:r>
            <a:endParaRPr lang="en-US"/>
          </a:p>
        </p:txBody>
      </p:sp>
      <p:sp>
        <p:nvSpPr>
          <p:cNvPr id="6" name="Text Placeholder 5">
            <a:extLst>
              <a:ext uri="{FF2B5EF4-FFF2-40B4-BE49-F238E27FC236}">
                <a16:creationId xmlns:a16="http://schemas.microsoft.com/office/drawing/2014/main" id="{BDFE2D82-02D9-2D06-671C-7D64C2FE546A}"/>
              </a:ext>
            </a:extLst>
          </p:cNvPr>
          <p:cNvSpPr>
            <a:spLocks noGrp="1"/>
          </p:cNvSpPr>
          <p:nvPr>
            <p:ph type="body" sz="quarter" idx="13"/>
          </p:nvPr>
        </p:nvSpPr>
        <p:spPr/>
        <p:txBody>
          <a:bodyPr/>
          <a:lstStyle/>
          <a:p>
            <a:r>
              <a:rPr lang="en-US" sz="1850">
                <a:ea typeface="Source Sans Pro"/>
                <a:cs typeface="Calibri"/>
              </a:rPr>
              <a:t>Liquids Timeline</a:t>
            </a:r>
            <a:endParaRPr lang="en-US"/>
          </a:p>
        </p:txBody>
      </p:sp>
      <p:pic>
        <p:nvPicPr>
          <p:cNvPr id="9" name="Picture 8">
            <a:extLst>
              <a:ext uri="{FF2B5EF4-FFF2-40B4-BE49-F238E27FC236}">
                <a16:creationId xmlns:a16="http://schemas.microsoft.com/office/drawing/2014/main" id="{1082B9C1-4A88-C1A9-2A27-1D6914454C1C}"/>
              </a:ext>
            </a:extLst>
          </p:cNvPr>
          <p:cNvPicPr>
            <a:picLocks noChangeAspect="1"/>
          </p:cNvPicPr>
          <p:nvPr/>
        </p:nvPicPr>
        <p:blipFill>
          <a:blip r:embed="rId2"/>
          <a:stretch>
            <a:fillRect/>
          </a:stretch>
        </p:blipFill>
        <p:spPr>
          <a:xfrm>
            <a:off x="1365067" y="1484672"/>
            <a:ext cx="9279484" cy="4483509"/>
          </a:xfrm>
          <a:prstGeom prst="rect">
            <a:avLst/>
          </a:prstGeom>
        </p:spPr>
      </p:pic>
      <p:sp>
        <p:nvSpPr>
          <p:cNvPr id="2" name="Text Placeholder 1">
            <a:extLst>
              <a:ext uri="{FF2B5EF4-FFF2-40B4-BE49-F238E27FC236}">
                <a16:creationId xmlns:a16="http://schemas.microsoft.com/office/drawing/2014/main" id="{7BAD887A-6CB1-7B12-F4BC-55B336CB16CE}"/>
              </a:ext>
            </a:extLst>
          </p:cNvPr>
          <p:cNvSpPr txBox="1">
            <a:spLocks/>
          </p:cNvSpPr>
          <p:nvPr/>
        </p:nvSpPr>
        <p:spPr>
          <a:xfrm>
            <a:off x="4382704" y="5935204"/>
            <a:ext cx="3426592" cy="782092"/>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10.6 </a:t>
            </a:r>
            <a:r>
              <a:rPr lang="en-US" sz="1850">
                <a:ea typeface="Source Sans Pro"/>
              </a:rPr>
              <a:t> Fluids Testing Timeline</a:t>
            </a:r>
            <a:endParaRPr lang="en-US" sz="1850">
              <a:ea typeface="Source Sans Pro"/>
              <a:cs typeface="Calibri"/>
            </a:endParaRPr>
          </a:p>
        </p:txBody>
      </p:sp>
    </p:spTree>
    <p:extLst>
      <p:ext uri="{BB962C8B-B14F-4D97-AF65-F5344CB8AC3E}">
        <p14:creationId xmlns:p14="http://schemas.microsoft.com/office/powerpoint/2010/main" val="3117822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638DB-48C0-E824-0C55-A8A8C791355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2F641D8-1785-6413-CCFC-26367E3D5715}"/>
              </a:ext>
            </a:extLst>
          </p:cNvPr>
          <p:cNvSpPr>
            <a:spLocks noGrp="1"/>
          </p:cNvSpPr>
          <p:nvPr>
            <p:ph type="ftr" sz="quarter" idx="14"/>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D8375610-A2F7-A8A6-F817-586D9C5E41AD}"/>
              </a:ext>
            </a:extLst>
          </p:cNvPr>
          <p:cNvSpPr>
            <a:spLocks noGrp="1"/>
          </p:cNvSpPr>
          <p:nvPr>
            <p:ph type="sldNum" sz="quarter" idx="15"/>
          </p:nvPr>
        </p:nvSpPr>
        <p:spPr/>
        <p:txBody>
          <a:bodyPr/>
          <a:lstStyle/>
          <a:p>
            <a:r>
              <a:rPr lang="en-US"/>
              <a:t>/   </a:t>
            </a:r>
            <a:fld id="{6C7E6F33-74EE-5541-8108-8353B402F8C1}" type="slidenum">
              <a:rPr lang="en-US" smtClean="0"/>
              <a:pPr/>
              <a:t>124</a:t>
            </a:fld>
            <a:endParaRPr lang="en-US"/>
          </a:p>
        </p:txBody>
      </p:sp>
      <p:sp>
        <p:nvSpPr>
          <p:cNvPr id="5" name="Title 4">
            <a:extLst>
              <a:ext uri="{FF2B5EF4-FFF2-40B4-BE49-F238E27FC236}">
                <a16:creationId xmlns:a16="http://schemas.microsoft.com/office/drawing/2014/main" id="{E9CF80D3-2252-F736-CFBC-4AC5823B3E52}"/>
              </a:ext>
            </a:extLst>
          </p:cNvPr>
          <p:cNvSpPr>
            <a:spLocks noGrp="1"/>
          </p:cNvSpPr>
          <p:nvPr>
            <p:ph type="title"/>
          </p:nvPr>
        </p:nvSpPr>
        <p:spPr/>
        <p:txBody>
          <a:bodyPr/>
          <a:lstStyle/>
          <a:p>
            <a:r>
              <a:rPr lang="en-US">
                <a:latin typeface="Munistic"/>
              </a:rPr>
              <a:t>Testing</a:t>
            </a:r>
            <a:endParaRPr lang="en-US"/>
          </a:p>
        </p:txBody>
      </p:sp>
      <p:sp>
        <p:nvSpPr>
          <p:cNvPr id="7" name="Text Placeholder 6">
            <a:extLst>
              <a:ext uri="{FF2B5EF4-FFF2-40B4-BE49-F238E27FC236}">
                <a16:creationId xmlns:a16="http://schemas.microsoft.com/office/drawing/2014/main" id="{380AEB87-E9BD-A7E0-7102-961980199099}"/>
              </a:ext>
            </a:extLst>
          </p:cNvPr>
          <p:cNvSpPr>
            <a:spLocks noGrp="1"/>
          </p:cNvSpPr>
          <p:nvPr>
            <p:ph type="body" sz="quarter" idx="4294967295"/>
          </p:nvPr>
        </p:nvSpPr>
        <p:spPr>
          <a:xfrm>
            <a:off x="537882" y="1712353"/>
            <a:ext cx="5258905" cy="3999120"/>
          </a:xfrm>
        </p:spPr>
        <p:txBody>
          <a:bodyPr vert="horz" lIns="91440" tIns="45720" rIns="91440" bIns="45720" rtlCol="0" anchor="t">
            <a:noAutofit/>
          </a:bodyPr>
          <a:lstStyle/>
          <a:p>
            <a:pPr marL="285750" indent="-285750">
              <a:buChar char="•"/>
            </a:pPr>
            <a:r>
              <a:rPr lang="en-US" sz="1850">
                <a:ea typeface="+mn-lt"/>
                <a:cs typeface="+mn-lt"/>
              </a:rPr>
              <a:t>Compression load with load cell in the structures lab on carbon fiber tube</a:t>
            </a:r>
            <a:endParaRPr lang="en-US" sz="1850">
              <a:cs typeface="Calibri" panose="020F0502020204030204"/>
            </a:endParaRPr>
          </a:p>
        </p:txBody>
      </p:sp>
      <p:sp>
        <p:nvSpPr>
          <p:cNvPr id="2" name="Text Placeholder 1">
            <a:extLst>
              <a:ext uri="{FF2B5EF4-FFF2-40B4-BE49-F238E27FC236}">
                <a16:creationId xmlns:a16="http://schemas.microsoft.com/office/drawing/2014/main" id="{F79F25D3-0044-9467-46BA-EA262D01FFE9}"/>
              </a:ext>
            </a:extLst>
          </p:cNvPr>
          <p:cNvSpPr>
            <a:spLocks noGrp="1"/>
          </p:cNvSpPr>
          <p:nvPr/>
        </p:nvSpPr>
        <p:spPr>
          <a:xfrm>
            <a:off x="531848" y="1412299"/>
            <a:ext cx="10515600" cy="4033401"/>
          </a:xfrm>
          <a:prstGeom prst="rect">
            <a:avLst/>
          </a:prstGeom>
        </p:spPr>
        <p:txBody>
          <a:bodyPr vert="horz" lIns="91440" tIns="45720" rIns="91440" bIns="45720" numCol="2" spcCol="457200" rtlCol="0" anchor="t">
            <a:noAutofit/>
          </a:bodyPr>
          <a:lstStyle>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95300" indent="-342900">
              <a:lnSpc>
                <a:spcPct val="114999"/>
              </a:lnSpc>
              <a:spcBef>
                <a:spcPts val="0"/>
              </a:spcBef>
              <a:spcAft>
                <a:spcPts val="0"/>
              </a:spcAft>
            </a:pPr>
            <a:endParaRPr lang="en-US" sz="1900">
              <a:latin typeface="Arial"/>
              <a:ea typeface="Source Sans Pro"/>
              <a:cs typeface="Arial"/>
            </a:endParaRPr>
          </a:p>
        </p:txBody>
      </p:sp>
      <p:sp>
        <p:nvSpPr>
          <p:cNvPr id="14" name="Text Placeholder 5">
            <a:extLst>
              <a:ext uri="{FF2B5EF4-FFF2-40B4-BE49-F238E27FC236}">
                <a16:creationId xmlns:a16="http://schemas.microsoft.com/office/drawing/2014/main" id="{62961218-4235-DC57-3913-50A17F0CE3EE}"/>
              </a:ext>
            </a:extLst>
          </p:cNvPr>
          <p:cNvSpPr>
            <a:spLocks noGrp="1"/>
          </p:cNvSpPr>
          <p:nvPr>
            <p:ph type="body" sz="quarter" idx="13"/>
          </p:nvPr>
        </p:nvSpPr>
        <p:spPr>
          <a:xfrm>
            <a:off x="6096000" y="716984"/>
            <a:ext cx="5674660" cy="625567"/>
          </a:xfrm>
        </p:spPr>
        <p:txBody>
          <a:bodyPr/>
          <a:lstStyle/>
          <a:p>
            <a:r>
              <a:rPr lang="en-US"/>
              <a:t>Composites</a:t>
            </a:r>
          </a:p>
        </p:txBody>
      </p:sp>
      <p:pic>
        <p:nvPicPr>
          <p:cNvPr id="15" name="Picture 14" descr="CONTACT US REQUEST AN ACCESSORY CATALOG">
            <a:extLst>
              <a:ext uri="{FF2B5EF4-FFF2-40B4-BE49-F238E27FC236}">
                <a16:creationId xmlns:a16="http://schemas.microsoft.com/office/drawing/2014/main" id="{F3ED4330-3B8A-1267-9241-2D78720322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06" r="23969"/>
          <a:stretch/>
        </p:blipFill>
        <p:spPr bwMode="auto">
          <a:xfrm>
            <a:off x="9204600" y="1915201"/>
            <a:ext cx="2604912" cy="355107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 Placeholder 1">
            <a:extLst>
              <a:ext uri="{FF2B5EF4-FFF2-40B4-BE49-F238E27FC236}">
                <a16:creationId xmlns:a16="http://schemas.microsoft.com/office/drawing/2014/main" id="{2728B307-DC5A-F051-5B85-032805A9224E}"/>
              </a:ext>
            </a:extLst>
          </p:cNvPr>
          <p:cNvSpPr txBox="1">
            <a:spLocks/>
          </p:cNvSpPr>
          <p:nvPr/>
        </p:nvSpPr>
        <p:spPr>
          <a:xfrm>
            <a:off x="9165371" y="5643142"/>
            <a:ext cx="4202687" cy="389888"/>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10.7 </a:t>
            </a:r>
            <a:r>
              <a:rPr lang="en-US" sz="1850">
                <a:ea typeface="Source Sans Pro"/>
              </a:rPr>
              <a:t> Instron 5969</a:t>
            </a:r>
          </a:p>
        </p:txBody>
      </p:sp>
      <p:pic>
        <p:nvPicPr>
          <p:cNvPr id="17" name="Picture 16" descr="A graph of a compressive strain&#10;&#10;Description automatically generated">
            <a:extLst>
              <a:ext uri="{FF2B5EF4-FFF2-40B4-BE49-F238E27FC236}">
                <a16:creationId xmlns:a16="http://schemas.microsoft.com/office/drawing/2014/main" id="{943CBAC9-6986-0CD8-6E5F-474FEDA4A57D}"/>
              </a:ext>
            </a:extLst>
          </p:cNvPr>
          <p:cNvPicPr>
            <a:picLocks noChangeAspect="1"/>
          </p:cNvPicPr>
          <p:nvPr/>
        </p:nvPicPr>
        <p:blipFill>
          <a:blip r:embed="rId3"/>
          <a:stretch>
            <a:fillRect/>
          </a:stretch>
        </p:blipFill>
        <p:spPr>
          <a:xfrm>
            <a:off x="639855" y="3048125"/>
            <a:ext cx="4859601" cy="19473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Text Placeholder 1">
            <a:extLst>
              <a:ext uri="{FF2B5EF4-FFF2-40B4-BE49-F238E27FC236}">
                <a16:creationId xmlns:a16="http://schemas.microsoft.com/office/drawing/2014/main" id="{0940AEE4-E327-0E4A-B534-120B047E1703}"/>
              </a:ext>
            </a:extLst>
          </p:cNvPr>
          <p:cNvSpPr txBox="1">
            <a:spLocks/>
          </p:cNvSpPr>
          <p:nvPr/>
        </p:nvSpPr>
        <p:spPr>
          <a:xfrm>
            <a:off x="1466921" y="5125560"/>
            <a:ext cx="4202687" cy="389888"/>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10.5 </a:t>
            </a:r>
            <a:r>
              <a:rPr lang="en-US" sz="1850">
                <a:ea typeface="Source Sans Pro"/>
              </a:rPr>
              <a:t> Strain vs Stress Curve</a:t>
            </a:r>
          </a:p>
        </p:txBody>
      </p:sp>
      <p:pic>
        <p:nvPicPr>
          <p:cNvPr id="19" name="Picture 18" descr="A metal and glass object with a round metal object&#10;&#10;Description automatically generated with medium confidence">
            <a:extLst>
              <a:ext uri="{FF2B5EF4-FFF2-40B4-BE49-F238E27FC236}">
                <a16:creationId xmlns:a16="http://schemas.microsoft.com/office/drawing/2014/main" id="{3D8F8561-6458-1D95-FCB1-C80269C6FFF4}"/>
              </a:ext>
            </a:extLst>
          </p:cNvPr>
          <p:cNvPicPr>
            <a:picLocks noChangeAspect="1"/>
          </p:cNvPicPr>
          <p:nvPr/>
        </p:nvPicPr>
        <p:blipFill>
          <a:blip r:embed="rId4"/>
          <a:stretch>
            <a:fillRect/>
          </a:stretch>
        </p:blipFill>
        <p:spPr>
          <a:xfrm>
            <a:off x="5955938" y="2020041"/>
            <a:ext cx="3071857" cy="2817917"/>
          </a:xfrm>
          <a:prstGeom prst="rect">
            <a:avLst/>
          </a:prstGeom>
        </p:spPr>
      </p:pic>
      <p:sp>
        <p:nvSpPr>
          <p:cNvPr id="20" name="Text Placeholder 1">
            <a:extLst>
              <a:ext uri="{FF2B5EF4-FFF2-40B4-BE49-F238E27FC236}">
                <a16:creationId xmlns:a16="http://schemas.microsoft.com/office/drawing/2014/main" id="{4DB3262B-B26D-6CAD-01A8-7F5C3514CBB5}"/>
              </a:ext>
            </a:extLst>
          </p:cNvPr>
          <p:cNvSpPr txBox="1">
            <a:spLocks/>
          </p:cNvSpPr>
          <p:nvPr/>
        </p:nvSpPr>
        <p:spPr>
          <a:xfrm>
            <a:off x="5943139" y="5031527"/>
            <a:ext cx="3085518" cy="415718"/>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10.6 </a:t>
            </a:r>
            <a:r>
              <a:rPr lang="en-US" sz="1850">
                <a:ea typeface="Source Sans Pro"/>
              </a:rPr>
              <a:t> Carbon Fiber Tube     Testing in Instron</a:t>
            </a:r>
            <a:endParaRPr lang="en-US"/>
          </a:p>
        </p:txBody>
      </p:sp>
    </p:spTree>
    <p:extLst>
      <p:ext uri="{BB962C8B-B14F-4D97-AF65-F5344CB8AC3E}">
        <p14:creationId xmlns:p14="http://schemas.microsoft.com/office/powerpoint/2010/main" val="90698711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3DB4A-F73F-A752-B34B-78861BFD93C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9B70D35-BE12-4934-D6C3-9A2F5F602F63}"/>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2B138743-0CCA-C869-36E8-F97E17F4A334}"/>
              </a:ext>
            </a:extLst>
          </p:cNvPr>
          <p:cNvSpPr>
            <a:spLocks noGrp="1"/>
          </p:cNvSpPr>
          <p:nvPr>
            <p:ph type="sldNum" sz="quarter" idx="17"/>
          </p:nvPr>
        </p:nvSpPr>
        <p:spPr/>
        <p:txBody>
          <a:bodyPr/>
          <a:lstStyle/>
          <a:p>
            <a:r>
              <a:rPr lang="en-US"/>
              <a:t>/   </a:t>
            </a:r>
            <a:fld id="{6C7E6F33-74EE-5541-8108-8353B402F8C1}" type="slidenum">
              <a:rPr lang="en-US" smtClean="0"/>
              <a:pPr/>
              <a:t>125</a:t>
            </a:fld>
            <a:endParaRPr lang="en-US"/>
          </a:p>
        </p:txBody>
      </p:sp>
      <p:sp>
        <p:nvSpPr>
          <p:cNvPr id="5" name="Title 4">
            <a:extLst>
              <a:ext uri="{FF2B5EF4-FFF2-40B4-BE49-F238E27FC236}">
                <a16:creationId xmlns:a16="http://schemas.microsoft.com/office/drawing/2014/main" id="{F953B617-CE4D-6853-2D13-06D5803ACDEF}"/>
              </a:ext>
            </a:extLst>
          </p:cNvPr>
          <p:cNvSpPr>
            <a:spLocks noGrp="1"/>
          </p:cNvSpPr>
          <p:nvPr>
            <p:ph type="title"/>
          </p:nvPr>
        </p:nvSpPr>
        <p:spPr/>
        <p:txBody>
          <a:bodyPr/>
          <a:lstStyle/>
          <a:p>
            <a:r>
              <a:rPr lang="en-US"/>
              <a:t>Testing</a:t>
            </a:r>
          </a:p>
        </p:txBody>
      </p:sp>
      <p:sp>
        <p:nvSpPr>
          <p:cNvPr id="6" name="Text Placeholder 5">
            <a:extLst>
              <a:ext uri="{FF2B5EF4-FFF2-40B4-BE49-F238E27FC236}">
                <a16:creationId xmlns:a16="http://schemas.microsoft.com/office/drawing/2014/main" id="{41A81FDD-EED7-04C8-C4E8-2E77F9FBD0F4}"/>
              </a:ext>
            </a:extLst>
          </p:cNvPr>
          <p:cNvSpPr>
            <a:spLocks noGrp="1"/>
          </p:cNvSpPr>
          <p:nvPr>
            <p:ph type="body" sz="quarter" idx="13"/>
          </p:nvPr>
        </p:nvSpPr>
        <p:spPr/>
        <p:txBody>
          <a:bodyPr/>
          <a:lstStyle/>
          <a:p>
            <a:r>
              <a:rPr lang="en-US"/>
              <a:t>Recovery</a:t>
            </a:r>
          </a:p>
        </p:txBody>
      </p:sp>
      <p:sp>
        <p:nvSpPr>
          <p:cNvPr id="13" name="TextBox 12">
            <a:extLst>
              <a:ext uri="{FF2B5EF4-FFF2-40B4-BE49-F238E27FC236}">
                <a16:creationId xmlns:a16="http://schemas.microsoft.com/office/drawing/2014/main" id="{31EB4011-FEB6-784A-2CBE-80D14D69AE6E}"/>
              </a:ext>
            </a:extLst>
          </p:cNvPr>
          <p:cNvSpPr txBox="1"/>
          <p:nvPr/>
        </p:nvSpPr>
        <p:spPr>
          <a:xfrm>
            <a:off x="531848" y="1861673"/>
            <a:ext cx="654708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cs typeface="Calibri"/>
              </a:rPr>
              <a:t>Peregrine Testing</a:t>
            </a:r>
          </a:p>
          <a:p>
            <a:pPr marL="742950" lvl="1" indent="-285750">
              <a:buFont typeface="Courier New"/>
              <a:buChar char="o"/>
            </a:pPr>
            <a:r>
              <a:rPr lang="en-US">
                <a:ea typeface="Calibri"/>
                <a:cs typeface="Calibri"/>
              </a:rPr>
              <a:t>Previously tested system; testing will be combined in pressure vessel test</a:t>
            </a:r>
          </a:p>
          <a:p>
            <a:pPr marL="285750" indent="-285750">
              <a:buFont typeface="Arial"/>
              <a:buChar char="•"/>
            </a:pPr>
            <a:endParaRPr lang="en-US">
              <a:cs typeface="Calibri"/>
            </a:endParaRPr>
          </a:p>
          <a:p>
            <a:r>
              <a:rPr lang="en-US" b="1">
                <a:cs typeface="Calibri"/>
              </a:rPr>
              <a:t>Pressure Vessel Testing</a:t>
            </a:r>
            <a:endParaRPr lang="en-US" b="1">
              <a:ea typeface="Calibri"/>
              <a:cs typeface="Calibri"/>
            </a:endParaRPr>
          </a:p>
          <a:p>
            <a:pPr marL="742950" lvl="1" indent="-285750">
              <a:buFont typeface="Courier New"/>
              <a:buChar char="o"/>
            </a:pPr>
            <a:r>
              <a:rPr lang="en-US">
                <a:cs typeface="Calibri"/>
              </a:rPr>
              <a:t>Ensure the top coupler of the pressure vessel successfully separates from the body tube in a safe manner</a:t>
            </a:r>
            <a:endParaRPr lang="en-US">
              <a:ea typeface="Calibri"/>
              <a:cs typeface="Calibri"/>
            </a:endParaRPr>
          </a:p>
          <a:p>
            <a:pPr marL="742950" lvl="1" indent="-285750">
              <a:buFont typeface="Courier New"/>
              <a:buChar char="o"/>
            </a:pPr>
            <a:r>
              <a:rPr lang="en-US">
                <a:ea typeface="Calibri"/>
                <a:cs typeface="Calibri"/>
              </a:rPr>
              <a:t>Combine with avionics system to ensure the stack can fire the peregrines</a:t>
            </a:r>
          </a:p>
          <a:p>
            <a:pPr marL="285750" indent="-285750">
              <a:buFont typeface="Arial"/>
              <a:buChar char="•"/>
            </a:pPr>
            <a:endParaRPr lang="en-US">
              <a:cs typeface="Calibri"/>
            </a:endParaRPr>
          </a:p>
          <a:p>
            <a:r>
              <a:rPr lang="en-US" b="1">
                <a:cs typeface="Calibri"/>
              </a:rPr>
              <a:t>Tender Descender Testing</a:t>
            </a:r>
            <a:endParaRPr lang="en-US" b="1">
              <a:ea typeface="Calibri"/>
              <a:cs typeface="Calibri"/>
            </a:endParaRPr>
          </a:p>
          <a:p>
            <a:pPr marL="742950" lvl="1" indent="-285750">
              <a:buFont typeface="Courier New"/>
              <a:buChar char="o"/>
            </a:pPr>
            <a:r>
              <a:rPr lang="en-US">
                <a:cs typeface="Calibri"/>
              </a:rPr>
              <a:t>Ensure the quick links of the TDs successfully detach from the housing</a:t>
            </a:r>
            <a:endParaRPr lang="en-US">
              <a:ea typeface="Calibri"/>
              <a:cs typeface="Calibri"/>
            </a:endParaRPr>
          </a:p>
          <a:p>
            <a:pPr marL="285750" indent="-285750">
              <a:buFont typeface="Arial"/>
              <a:buChar char="•"/>
            </a:pPr>
            <a:endParaRPr lang="en-US">
              <a:cs typeface="Calibri"/>
            </a:endParaRPr>
          </a:p>
        </p:txBody>
      </p:sp>
      <p:sp>
        <p:nvSpPr>
          <p:cNvPr id="14" name="TextBox 13">
            <a:extLst>
              <a:ext uri="{FF2B5EF4-FFF2-40B4-BE49-F238E27FC236}">
                <a16:creationId xmlns:a16="http://schemas.microsoft.com/office/drawing/2014/main" id="{B46E648C-9DE6-2835-161C-F067D52A0CDD}"/>
              </a:ext>
            </a:extLst>
          </p:cNvPr>
          <p:cNvSpPr txBox="1"/>
          <p:nvPr/>
        </p:nvSpPr>
        <p:spPr>
          <a:xfrm>
            <a:off x="7491867" y="4314732"/>
            <a:ext cx="3743374" cy="1711366"/>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b="1">
                <a:cs typeface="Calibri"/>
              </a:rPr>
              <a:t>Necessary Next Steps:</a:t>
            </a:r>
            <a:endParaRPr lang="en-US" b="1"/>
          </a:p>
          <a:p>
            <a:pPr marL="742950" lvl="1" indent="-285750">
              <a:lnSpc>
                <a:spcPct val="150000"/>
              </a:lnSpc>
              <a:buFont typeface="Courier New"/>
              <a:buChar char="o"/>
            </a:pPr>
            <a:r>
              <a:rPr lang="en-US">
                <a:cs typeface="Calibri"/>
              </a:rPr>
              <a:t>Safety procedure write ups</a:t>
            </a:r>
            <a:endParaRPr lang="en-US">
              <a:ea typeface="Calibri"/>
              <a:cs typeface="Calibri"/>
            </a:endParaRPr>
          </a:p>
          <a:p>
            <a:pPr marL="742950" lvl="1" indent="-285750">
              <a:lnSpc>
                <a:spcPct val="150000"/>
              </a:lnSpc>
              <a:buFont typeface="Courier New"/>
              <a:buChar char="o"/>
            </a:pPr>
            <a:r>
              <a:rPr lang="en-US">
                <a:cs typeface="Calibri"/>
              </a:rPr>
              <a:t>Propulsion lab and black powder safety briefings</a:t>
            </a:r>
            <a:endParaRPr lang="en-US">
              <a:ea typeface="Calibri" panose="020F0502020204030204"/>
              <a:cs typeface="Calibri"/>
            </a:endParaRPr>
          </a:p>
        </p:txBody>
      </p:sp>
      <p:pic>
        <p:nvPicPr>
          <p:cNvPr id="9" name="Picture 8">
            <a:extLst>
              <a:ext uri="{FF2B5EF4-FFF2-40B4-BE49-F238E27FC236}">
                <a16:creationId xmlns:a16="http://schemas.microsoft.com/office/drawing/2014/main" id="{F868C06F-10D2-D2CD-AC7C-26A8AA755017}"/>
              </a:ext>
            </a:extLst>
          </p:cNvPr>
          <p:cNvPicPr>
            <a:picLocks noChangeAspect="1"/>
          </p:cNvPicPr>
          <p:nvPr/>
        </p:nvPicPr>
        <p:blipFill>
          <a:blip r:embed="rId2"/>
          <a:srcRect l="27546" t="39122" r="21318" b="2438"/>
          <a:stretch>
            <a:fillRect/>
          </a:stretch>
        </p:blipFill>
        <p:spPr>
          <a:xfrm>
            <a:off x="7491867" y="1861673"/>
            <a:ext cx="3743374" cy="1865695"/>
          </a:xfrm>
          <a:prstGeom prst="rect">
            <a:avLst/>
          </a:prstGeom>
        </p:spPr>
      </p:pic>
      <p:sp>
        <p:nvSpPr>
          <p:cNvPr id="10" name="Text Placeholder 1">
            <a:extLst>
              <a:ext uri="{FF2B5EF4-FFF2-40B4-BE49-F238E27FC236}">
                <a16:creationId xmlns:a16="http://schemas.microsoft.com/office/drawing/2014/main" id="{EBA742B5-0F9A-CA46-8932-5BEB891094CC}"/>
              </a:ext>
            </a:extLst>
          </p:cNvPr>
          <p:cNvSpPr txBox="1">
            <a:spLocks/>
          </p:cNvSpPr>
          <p:nvPr/>
        </p:nvSpPr>
        <p:spPr>
          <a:xfrm>
            <a:off x="7250468" y="3727368"/>
            <a:ext cx="4226171" cy="415718"/>
          </a:xfrm>
          <a:prstGeom prst="rect">
            <a:avLst/>
          </a:prstGeom>
        </p:spPr>
        <p:txBody>
          <a:bodyPr vert="horz" lIns="91440" tIns="45720" rIns="91440" bIns="45720" numCol="1" spcCol="457200" rtlCol="0" anchor="t">
            <a:noAutofit/>
          </a:bodyPr>
          <a:lstStyle>
            <a:defPPr>
              <a:defRPr lang="en-US"/>
            </a:defPPr>
            <a:lvl1pPr marL="380990" indent="-259074" algn="l" defTabSz="914377" rtl="0" eaLnBrk="1" latinLnBrk="0" hangingPunct="1">
              <a:lnSpc>
                <a:spcPct val="100000"/>
              </a:lnSpc>
              <a:spcBef>
                <a:spcPts val="1000"/>
              </a:spcBef>
              <a:spcAft>
                <a:spcPts val="800"/>
              </a:spcAft>
              <a:buSzPct val="75000"/>
              <a:buFont typeface="Arial" panose="020B0604020202020204" pitchFamily="34" charset="0"/>
              <a:buChar char="•"/>
              <a:defRPr sz="1867" b="0" i="0" kern="800" cap="none" spc="0" baseline="0">
                <a:solidFill>
                  <a:schemeClr val="tx1"/>
                </a:solidFill>
                <a:latin typeface="+mn-lt"/>
                <a:ea typeface="Source Sans Pro" panose="020B0503030403020204" pitchFamily="34" charset="0"/>
                <a:cs typeface="+mn-cs"/>
              </a:defRPr>
            </a:lvl1pPr>
            <a:lvl2pPr marL="457189" indent="0" algn="l" defTabSz="914377" rtl="0" eaLnBrk="1" latinLnBrk="0" hangingPunct="1">
              <a:lnSpc>
                <a:spcPct val="100000"/>
              </a:lnSpc>
              <a:spcBef>
                <a:spcPts val="500"/>
              </a:spcBef>
              <a:buSzPct val="75000"/>
              <a:buFont typeface="Arial" panose="020B0604020202020204" pitchFamily="34" charset="0"/>
              <a:buNone/>
              <a:defRPr sz="1600" b="0" i="0" kern="1200" spc="27" baseline="0">
                <a:solidFill>
                  <a:schemeClr val="tx1"/>
                </a:solidFill>
                <a:latin typeface="+mn-lt"/>
                <a:ea typeface="Source Sans Pro" panose="020B0503030403020204" pitchFamily="34" charset="0"/>
                <a:cs typeface="+mn-cs"/>
              </a:defRPr>
            </a:lvl2pPr>
            <a:lvl3pPr marL="914377" indent="0" algn="l" defTabSz="914377" rtl="0" eaLnBrk="1" latinLnBrk="0" hangingPunct="1">
              <a:lnSpc>
                <a:spcPct val="100000"/>
              </a:lnSpc>
              <a:spcBef>
                <a:spcPts val="500"/>
              </a:spcBef>
              <a:buSzPct val="75000"/>
              <a:buFont typeface="Arial" panose="020B0604020202020204" pitchFamily="34" charset="0"/>
              <a:buNone/>
              <a:defRPr sz="1400" b="0" i="0" kern="1200" spc="133" baseline="0">
                <a:solidFill>
                  <a:schemeClr val="tx1"/>
                </a:solidFill>
                <a:latin typeface="+mn-lt"/>
                <a:ea typeface="Source Sans Pro Light" panose="020B0403030403020204" pitchFamily="34" charset="0"/>
                <a:cs typeface="+mn-cs"/>
              </a:defRPr>
            </a:lvl3pPr>
            <a:lvl4pPr marL="1371566" indent="0" algn="l" defTabSz="914377" rtl="0" eaLnBrk="1" latinLnBrk="0" hangingPunct="1">
              <a:lnSpc>
                <a:spcPct val="100000"/>
              </a:lnSpc>
              <a:spcBef>
                <a:spcPts val="500"/>
              </a:spcBef>
              <a:buSzPct val="75000"/>
              <a:buFont typeface="Arial" panose="020B0604020202020204" pitchFamily="34" charset="0"/>
              <a:buNone/>
              <a:defRPr sz="1400" b="0" i="0" kern="1200" spc="0" baseline="0">
                <a:solidFill>
                  <a:schemeClr val="tx1"/>
                </a:solidFill>
                <a:latin typeface="+mn-lt"/>
                <a:ea typeface="+mn-ea"/>
                <a:cs typeface="+mn-cs"/>
              </a:defRPr>
            </a:lvl4pPr>
            <a:lvl5pPr marL="1828754" indent="0" algn="l" defTabSz="914377" rtl="0" eaLnBrk="1" latinLnBrk="0" hangingPunct="1">
              <a:lnSpc>
                <a:spcPct val="100000"/>
              </a:lnSpc>
              <a:spcBef>
                <a:spcPts val="500"/>
              </a:spcBef>
              <a:buSzPct val="75000"/>
              <a:buFont typeface="Arial" panose="020B0604020202020204" pitchFamily="34" charset="0"/>
              <a:buNone/>
              <a:defRPr sz="1400" b="0" i="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1285" indent="0">
              <a:buNone/>
            </a:pPr>
            <a:r>
              <a:rPr lang="en-US" sz="1850" b="1">
                <a:ea typeface="Source Sans Pro"/>
              </a:rPr>
              <a:t>Fig 10.8 </a:t>
            </a:r>
            <a:r>
              <a:rPr lang="en-US" sz="1850">
                <a:ea typeface="Source Sans Pro"/>
              </a:rPr>
              <a:t> Successful Pressure Vessel Test</a:t>
            </a:r>
            <a:endParaRPr lang="en-US"/>
          </a:p>
        </p:txBody>
      </p:sp>
    </p:spTree>
    <p:extLst>
      <p:ext uri="{BB962C8B-B14F-4D97-AF65-F5344CB8AC3E}">
        <p14:creationId xmlns:p14="http://schemas.microsoft.com/office/powerpoint/2010/main" val="133553510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D6C73-571B-9132-C9FD-ECBEE3E2F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82D41-EE98-DBF5-6F7F-99798F20705C}"/>
              </a:ext>
            </a:extLst>
          </p:cNvPr>
          <p:cNvSpPr>
            <a:spLocks noGrp="1"/>
          </p:cNvSpPr>
          <p:nvPr>
            <p:ph type="title"/>
          </p:nvPr>
        </p:nvSpPr>
        <p:spPr/>
        <p:txBody>
          <a:bodyPr/>
          <a:lstStyle/>
          <a:p>
            <a:r>
              <a:rPr lang="en-US">
                <a:latin typeface="Munistic"/>
              </a:rPr>
              <a:t>Budget</a:t>
            </a:r>
            <a:endParaRPr lang="en-US"/>
          </a:p>
        </p:txBody>
      </p:sp>
    </p:spTree>
    <p:extLst>
      <p:ext uri="{BB962C8B-B14F-4D97-AF65-F5344CB8AC3E}">
        <p14:creationId xmlns:p14="http://schemas.microsoft.com/office/powerpoint/2010/main" val="257899391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29DBD-85BD-5F79-5B72-45688914783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84232D5-F6DA-0475-07C3-D44CB379D32D}"/>
              </a:ext>
            </a:extLst>
          </p:cNvPr>
          <p:cNvSpPr>
            <a:spLocks noGrp="1"/>
          </p:cNvSpPr>
          <p:nvPr>
            <p:ph type="ftr" sz="quarter" idx="16"/>
          </p:nvPr>
        </p:nvSpPr>
        <p:spPr/>
        <p:txBody>
          <a:bodyPr/>
          <a:lstStyle/>
          <a:p>
            <a:r>
              <a:rPr lang="en-US" sz="900">
                <a:latin typeface="Source Sans Pro"/>
                <a:ea typeface="Source Sans Pro"/>
              </a:rPr>
              <a:t>ARCHERFISH CDR</a:t>
            </a:r>
            <a:endParaRPr lang="en-US"/>
          </a:p>
        </p:txBody>
      </p:sp>
      <p:sp>
        <p:nvSpPr>
          <p:cNvPr id="4" name="Slide Number Placeholder 3">
            <a:extLst>
              <a:ext uri="{FF2B5EF4-FFF2-40B4-BE49-F238E27FC236}">
                <a16:creationId xmlns:a16="http://schemas.microsoft.com/office/drawing/2014/main" id="{612308D1-9754-31BA-B2A4-4E1C9FB22AF0}"/>
              </a:ext>
            </a:extLst>
          </p:cNvPr>
          <p:cNvSpPr>
            <a:spLocks noGrp="1"/>
          </p:cNvSpPr>
          <p:nvPr>
            <p:ph type="sldNum" sz="quarter" idx="17"/>
          </p:nvPr>
        </p:nvSpPr>
        <p:spPr/>
        <p:txBody>
          <a:bodyPr/>
          <a:lstStyle/>
          <a:p>
            <a:r>
              <a:rPr lang="en-US"/>
              <a:t>/   </a:t>
            </a:r>
            <a:fld id="{6C7E6F33-74EE-5541-8108-8353B402F8C1}" type="slidenum">
              <a:rPr lang="en-US" smtClean="0"/>
              <a:pPr/>
              <a:t>127</a:t>
            </a:fld>
            <a:endParaRPr lang="en-US"/>
          </a:p>
        </p:txBody>
      </p:sp>
      <p:graphicFrame>
        <p:nvGraphicFramePr>
          <p:cNvPr id="8" name="Table 7">
            <a:extLst>
              <a:ext uri="{FF2B5EF4-FFF2-40B4-BE49-F238E27FC236}">
                <a16:creationId xmlns:a16="http://schemas.microsoft.com/office/drawing/2014/main" id="{DF33EB67-9AFA-6122-8F37-B1227B2A2154}"/>
              </a:ext>
            </a:extLst>
          </p:cNvPr>
          <p:cNvGraphicFramePr>
            <a:graphicFrameLocks noGrp="1"/>
          </p:cNvGraphicFramePr>
          <p:nvPr>
            <p:extLst>
              <p:ext uri="{D42A27DB-BD31-4B8C-83A1-F6EECF244321}">
                <p14:modId xmlns:p14="http://schemas.microsoft.com/office/powerpoint/2010/main" val="3945449468"/>
              </p:ext>
            </p:extLst>
          </p:nvPr>
        </p:nvGraphicFramePr>
        <p:xfrm>
          <a:off x="862015" y="1637977"/>
          <a:ext cx="10467970" cy="3797576"/>
        </p:xfrm>
        <a:graphic>
          <a:graphicData uri="http://schemas.openxmlformats.org/drawingml/2006/table">
            <a:tbl>
              <a:tblPr bandRow="1">
                <a:tableStyleId>{5C22544A-7EE6-4342-B048-85BDC9FD1C3A}</a:tableStyleId>
              </a:tblPr>
              <a:tblGrid>
                <a:gridCol w="3981448">
                  <a:extLst>
                    <a:ext uri="{9D8B030D-6E8A-4147-A177-3AD203B41FA5}">
                      <a16:colId xmlns:a16="http://schemas.microsoft.com/office/drawing/2014/main" val="1853624360"/>
                    </a:ext>
                  </a:extLst>
                </a:gridCol>
                <a:gridCol w="3684232">
                  <a:extLst>
                    <a:ext uri="{9D8B030D-6E8A-4147-A177-3AD203B41FA5}">
                      <a16:colId xmlns:a16="http://schemas.microsoft.com/office/drawing/2014/main" val="2358979984"/>
                    </a:ext>
                  </a:extLst>
                </a:gridCol>
                <a:gridCol w="2802290">
                  <a:extLst>
                    <a:ext uri="{9D8B030D-6E8A-4147-A177-3AD203B41FA5}">
                      <a16:colId xmlns:a16="http://schemas.microsoft.com/office/drawing/2014/main" val="91384708"/>
                    </a:ext>
                  </a:extLst>
                </a:gridCol>
              </a:tblGrid>
              <a:tr h="429087">
                <a:tc>
                  <a:txBody>
                    <a:bodyPr/>
                    <a:lstStyle/>
                    <a:p>
                      <a:pPr lvl="0" algn="l">
                        <a:lnSpc>
                          <a:spcPts val="2250"/>
                        </a:lnSpc>
                        <a:buNone/>
                      </a:pPr>
                      <a:r>
                        <a:rPr lang="en-US" sz="1850" b="1" i="0" u="none" strike="noStrike">
                          <a:solidFill>
                            <a:srgbClr val="FFFFFF"/>
                          </a:solidFill>
                          <a:effectLst/>
                          <a:latin typeface="Times New Roman"/>
                        </a:rPr>
                        <a:t>Subsystem</a:t>
                      </a:r>
                      <a:endParaRPr lang="en-US"/>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527" cap="flat" cmpd="sng" algn="ctr">
                      <a:solidFill>
                        <a:srgbClr val="FFFFFF"/>
                      </a:solidFill>
                      <a:prstDash val="solid"/>
                      <a:round/>
                      <a:headEnd type="none" w="med" len="med"/>
                      <a:tailEnd type="none" w="med" len="med"/>
                    </a:lnB>
                    <a:solidFill>
                      <a:srgbClr val="035642"/>
                    </a:solidFill>
                  </a:tcPr>
                </a:tc>
                <a:tc>
                  <a:txBody>
                    <a:bodyPr/>
                    <a:lstStyle/>
                    <a:p>
                      <a:pPr lvl="0" algn="l">
                        <a:lnSpc>
                          <a:spcPts val="2250"/>
                        </a:lnSpc>
                        <a:buNone/>
                      </a:pPr>
                      <a:r>
                        <a:rPr lang="en-US" sz="1850" b="1" i="0" u="none" strike="noStrike">
                          <a:solidFill>
                            <a:srgbClr val="FFFFFF"/>
                          </a:solidFill>
                          <a:effectLst/>
                          <a:latin typeface="Times New Roman"/>
                        </a:rPr>
                        <a:t>Allotted Budget</a:t>
                      </a:r>
                      <a:endParaRPr lang="en-US"/>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4527" cap="flat" cmpd="sng" algn="ctr">
                      <a:solidFill>
                        <a:srgbClr val="FFFFFF"/>
                      </a:solidFill>
                      <a:prstDash val="solid"/>
                      <a:round/>
                      <a:headEnd type="none" w="med" len="med"/>
                      <a:tailEnd type="none" w="med" len="med"/>
                    </a:lnB>
                    <a:solidFill>
                      <a:srgbClr val="035642"/>
                    </a:solidFill>
                  </a:tcPr>
                </a:tc>
                <a:tc>
                  <a:txBody>
                    <a:bodyPr/>
                    <a:lstStyle/>
                    <a:p>
                      <a:pPr lvl="0" algn="l">
                        <a:lnSpc>
                          <a:spcPts val="2250"/>
                        </a:lnSpc>
                        <a:buNone/>
                      </a:pPr>
                      <a:r>
                        <a:rPr lang="en-US" sz="1800" b="1" i="0" u="none" strike="noStrike">
                          <a:solidFill>
                            <a:srgbClr val="FFFFFF"/>
                          </a:solidFill>
                          <a:effectLst/>
                          <a:latin typeface="Times New Roman"/>
                        </a:rPr>
                        <a:t>Estimated Cost</a:t>
                      </a:r>
                      <a:endParaRPr lang="en-US"/>
                    </a:p>
                  </a:txBody>
                  <a:tcPr>
                    <a:lnL w="9525" cap="flat" cmpd="sng" algn="ctr">
                      <a:solidFill>
                        <a:srgbClr val="FFFFFF"/>
                      </a:solidFill>
                      <a:prstDash val="solid"/>
                      <a:round/>
                      <a:headEnd type="none" w="med" len="med"/>
                      <a:tailEnd type="none" w="med" len="med"/>
                    </a:lnL>
                    <a:lnR w="9524">
                      <a:solidFill>
                        <a:srgbClr val="FFFFFF"/>
                      </a:solidFill>
                    </a:lnR>
                    <a:lnT w="9524">
                      <a:solidFill>
                        <a:srgbClr val="FFFFFF"/>
                      </a:solidFill>
                    </a:lnT>
                    <a:lnB w="24526">
                      <a:solidFill>
                        <a:srgbClr val="FFFFFF"/>
                      </a:solidFill>
                    </a:lnB>
                    <a:solidFill>
                      <a:srgbClr val="035642"/>
                    </a:solidFill>
                  </a:tcPr>
                </a:tc>
                <a:extLst>
                  <a:ext uri="{0D108BD9-81ED-4DB2-BD59-A6C34878D82A}">
                    <a16:rowId xmlns:a16="http://schemas.microsoft.com/office/drawing/2014/main" val="297532822"/>
                  </a:ext>
                </a:extLst>
              </a:tr>
              <a:tr h="399495">
                <a:tc>
                  <a:txBody>
                    <a:bodyPr/>
                    <a:lstStyle/>
                    <a:p>
                      <a:pPr lvl="0" algn="l">
                        <a:lnSpc>
                          <a:spcPts val="2250"/>
                        </a:lnSpc>
                        <a:buNone/>
                      </a:pPr>
                      <a:r>
                        <a:rPr lang="en-US" sz="1800" b="0" i="0" u="none" strike="noStrike" noProof="0">
                          <a:solidFill>
                            <a:srgbClr val="242424"/>
                          </a:solidFill>
                          <a:effectLst/>
                          <a:latin typeface="Aptos Narrow"/>
                        </a:rPr>
                        <a:t>Propulsion</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527"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850" b="0" i="0" u="none" strike="noStrike">
                          <a:solidFill>
                            <a:srgbClr val="000000"/>
                          </a:solidFill>
                          <a:effectLst/>
                          <a:latin typeface="Times New Roman"/>
                        </a:rPr>
                        <a:t>$1200</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4527"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BD1CF"/>
                    </a:solidFill>
                  </a:tcPr>
                </a:tc>
                <a:tc>
                  <a:txBody>
                    <a:bodyPr/>
                    <a:lstStyle/>
                    <a:p>
                      <a:pPr marL="0" marR="0" lvl="0" indent="0" algn="l" defTabSz="914377" rtl="0" eaLnBrk="1" fontAlgn="auto" latinLnBrk="0" hangingPunct="1">
                        <a:lnSpc>
                          <a:spcPts val="2250"/>
                        </a:lnSpc>
                        <a:spcBef>
                          <a:spcPts val="0"/>
                        </a:spcBef>
                        <a:spcAft>
                          <a:spcPts val="0"/>
                        </a:spcAft>
                        <a:buClrTx/>
                        <a:buSzTx/>
                        <a:buFontTx/>
                        <a:buNone/>
                        <a:tabLst/>
                        <a:defRPr/>
                      </a:pPr>
                      <a:r>
                        <a:rPr lang="en-US" sz="1800" b="0" i="0" u="none" strike="noStrike">
                          <a:solidFill>
                            <a:srgbClr val="000000"/>
                          </a:solidFill>
                          <a:effectLst/>
                          <a:latin typeface="Times New Roman"/>
                        </a:rPr>
                        <a:t>$498.46</a:t>
                      </a:r>
                    </a:p>
                  </a:txBody>
                  <a:tcPr>
                    <a:lnL w="9525" cap="flat" cmpd="sng" algn="ctr">
                      <a:solidFill>
                        <a:srgbClr val="FFFFFF"/>
                      </a:solidFill>
                      <a:prstDash val="solid"/>
                      <a:round/>
                      <a:headEnd type="none" w="med" len="med"/>
                      <a:tailEnd type="none" w="med" len="med"/>
                    </a:lnL>
                    <a:lnR w="9524">
                      <a:solidFill>
                        <a:srgbClr val="FFFFFF"/>
                      </a:solidFill>
                    </a:lnR>
                    <a:lnT w="24526">
                      <a:solidFill>
                        <a:srgbClr val="FFFFFF"/>
                      </a:solidFill>
                    </a:lnT>
                    <a:lnB w="9524">
                      <a:solidFill>
                        <a:srgbClr val="FFFFFF"/>
                      </a:solidFill>
                    </a:lnB>
                    <a:solidFill>
                      <a:srgbClr val="CBD1CF"/>
                    </a:solidFill>
                  </a:tcPr>
                </a:tc>
                <a:extLst>
                  <a:ext uri="{0D108BD9-81ED-4DB2-BD59-A6C34878D82A}">
                    <a16:rowId xmlns:a16="http://schemas.microsoft.com/office/drawing/2014/main" val="2470494284"/>
                  </a:ext>
                </a:extLst>
              </a:tr>
              <a:tr h="399493">
                <a:tc>
                  <a:txBody>
                    <a:bodyPr/>
                    <a:lstStyle/>
                    <a:p>
                      <a:pPr lvl="0" algn="l">
                        <a:lnSpc>
                          <a:spcPts val="2250"/>
                        </a:lnSpc>
                        <a:buNone/>
                      </a:pPr>
                      <a:r>
                        <a:rPr lang="en-US" sz="1800" b="0" i="0" u="none" strike="noStrike" noProof="0">
                          <a:solidFill>
                            <a:srgbClr val="242424"/>
                          </a:solidFill>
                          <a:effectLst/>
                          <a:latin typeface="Aptos Narrow"/>
                        </a:rPr>
                        <a:t>Fluids</a:t>
                      </a:r>
                    </a:p>
                  </a:txBody>
                  <a:tcPr>
                    <a:lnL w="9524">
                      <a:solidFill>
                        <a:srgbClr val="FFFFFF"/>
                      </a:solidFill>
                    </a:lnL>
                    <a:lnR w="9524">
                      <a:solidFill>
                        <a:srgbClr val="FFFFFF"/>
                      </a:solidFill>
                    </a:lnR>
                    <a:lnT w="9525"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tc>
                  <a:txBody>
                    <a:bodyPr/>
                    <a:lstStyle/>
                    <a:p>
                      <a:pPr marL="0" marR="0" lvl="0" indent="0" algn="l" defTabSz="914377" rtl="0" eaLnBrk="1" fontAlgn="auto" latinLnBrk="0" hangingPunct="1">
                        <a:lnSpc>
                          <a:spcPts val="2250"/>
                        </a:lnSpc>
                        <a:spcBef>
                          <a:spcPts val="0"/>
                        </a:spcBef>
                        <a:spcAft>
                          <a:spcPts val="0"/>
                        </a:spcAft>
                        <a:buClrTx/>
                        <a:buSzTx/>
                        <a:buFontTx/>
                        <a:buNone/>
                        <a:tabLst/>
                        <a:defRPr/>
                      </a:pPr>
                      <a:r>
                        <a:rPr lang="en-US" sz="1800" b="0" i="0" u="none" strike="noStrike">
                          <a:solidFill>
                            <a:srgbClr val="000000"/>
                          </a:solidFill>
                          <a:effectLst/>
                          <a:latin typeface="Times New Roman"/>
                        </a:rPr>
                        <a:t>$1900</a:t>
                      </a:r>
                    </a:p>
                  </a:txBody>
                  <a:tcPr>
                    <a:lnL w="9524" cap="flat" cmpd="sng" algn="ctr">
                      <a:solidFill>
                        <a:srgbClr val="FFFFFF"/>
                      </a:solidFill>
                      <a:prstDash val="solid"/>
                      <a:round/>
                      <a:headEnd type="none" w="med" len="med"/>
                      <a:tailEnd type="none" w="med" len="med"/>
                    </a:lnL>
                    <a:lnR w="9524">
                      <a:solidFill>
                        <a:srgbClr val="FFFFFF"/>
                      </a:solidFill>
                    </a:lnR>
                    <a:lnT w="9525"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r>
                        <a:rPr lang="en-US" sz="1850" b="0" i="0" u="none" strike="noStrike">
                          <a:solidFill>
                            <a:srgbClr val="000000"/>
                          </a:solidFill>
                          <a:effectLst/>
                          <a:latin typeface="Times New Roman"/>
                        </a:rPr>
                        <a:t>$1045.58</a:t>
                      </a:r>
                    </a:p>
                  </a:txBody>
                  <a:tcPr>
                    <a:lnL w="9524">
                      <a:solidFill>
                        <a:srgbClr val="FFFFFF"/>
                      </a:solidFill>
                    </a:lnL>
                    <a:lnR w="9524">
                      <a:solidFill>
                        <a:srgbClr val="FFFFFF"/>
                      </a:solidFill>
                    </a:lnR>
                    <a:lnT w="9524">
                      <a:solidFill>
                        <a:srgbClr val="FFFFFF"/>
                      </a:solidFill>
                    </a:lnT>
                    <a:lnB w="9524">
                      <a:solidFill>
                        <a:srgbClr val="FFFFFF"/>
                      </a:solidFill>
                    </a:lnB>
                    <a:solidFill>
                      <a:srgbClr val="E7E9E9"/>
                    </a:solidFill>
                  </a:tcPr>
                </a:tc>
                <a:extLst>
                  <a:ext uri="{0D108BD9-81ED-4DB2-BD59-A6C34878D82A}">
                    <a16:rowId xmlns:a16="http://schemas.microsoft.com/office/drawing/2014/main" val="4196995359"/>
                  </a:ext>
                </a:extLst>
              </a:tr>
              <a:tr h="428251">
                <a:tc>
                  <a:txBody>
                    <a:bodyPr/>
                    <a:lstStyle/>
                    <a:p>
                      <a:pPr lvl="0" algn="l">
                        <a:lnSpc>
                          <a:spcPts val="2250"/>
                        </a:lnSpc>
                        <a:buNone/>
                      </a:pPr>
                      <a:r>
                        <a:rPr lang="en-US" sz="1800" b="0" i="0" u="none" strike="noStrike" noProof="0">
                          <a:solidFill>
                            <a:srgbClr val="242424"/>
                          </a:solidFill>
                          <a:effectLst/>
                          <a:latin typeface="Aptos Narrow"/>
                        </a:rPr>
                        <a:t>Ground System Equipment</a:t>
                      </a: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algn="l" fontAlgn="base">
                        <a:lnSpc>
                          <a:spcPts val="2250"/>
                        </a:lnSpc>
                      </a:pPr>
                      <a:r>
                        <a:rPr lang="en-US" sz="1850" b="0" i="0" u="none" strike="noStrike">
                          <a:solidFill>
                            <a:srgbClr val="000000"/>
                          </a:solidFill>
                          <a:effectLst/>
                          <a:latin typeface="Times New Roman"/>
                        </a:rPr>
                        <a:t>$2000</a:t>
                      </a:r>
                      <a:endParaRPr lang="en-US"/>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850" b="0" i="0" u="none" strike="noStrike">
                          <a:solidFill>
                            <a:srgbClr val="000000"/>
                          </a:solidFill>
                          <a:effectLst/>
                          <a:latin typeface="Times New Roman"/>
                        </a:rPr>
                        <a:t>$2,261.75</a:t>
                      </a:r>
                    </a:p>
                  </a:txBody>
                  <a:tcPr>
                    <a:lnL w="9525"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438684642"/>
                  </a:ext>
                </a:extLst>
              </a:tr>
              <a:tr h="428250">
                <a:tc>
                  <a:txBody>
                    <a:bodyPr/>
                    <a:lstStyle/>
                    <a:p>
                      <a:pPr lvl="0" algn="l">
                        <a:lnSpc>
                          <a:spcPts val="2250"/>
                        </a:lnSpc>
                        <a:buNone/>
                      </a:pPr>
                      <a:r>
                        <a:rPr lang="en-US" sz="1800" b="0" i="0" u="none" strike="noStrike" noProof="0">
                          <a:solidFill>
                            <a:srgbClr val="242424"/>
                          </a:solidFill>
                          <a:effectLst/>
                          <a:latin typeface="Aptos Narrow"/>
                        </a:rPr>
                        <a:t>Aerodynamics</a:t>
                      </a:r>
                    </a:p>
                  </a:txBody>
                  <a:tcPr>
                    <a:lnL w="9524">
                      <a:solidFill>
                        <a:srgbClr val="FFFFFF"/>
                      </a:solidFill>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r>
                        <a:rPr lang="en-US" sz="1850" b="0" i="0" u="none" strike="noStrike">
                          <a:solidFill>
                            <a:srgbClr val="000000"/>
                          </a:solidFill>
                          <a:effectLst/>
                          <a:latin typeface="Times New Roman"/>
                        </a:rPr>
                        <a:t>$400</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E7E9E9"/>
                    </a:solidFill>
                  </a:tcPr>
                </a:tc>
                <a:tc>
                  <a:txBody>
                    <a:bodyPr/>
                    <a:lstStyle/>
                    <a:p>
                      <a:pPr lvl="0" algn="l">
                        <a:lnSpc>
                          <a:spcPts val="2250"/>
                        </a:lnSpc>
                        <a:buNone/>
                      </a:pPr>
                      <a:r>
                        <a:rPr lang="en-US" sz="1850" b="0" i="0" u="none" strike="noStrike">
                          <a:solidFill>
                            <a:srgbClr val="000000"/>
                          </a:solidFill>
                          <a:effectLst/>
                          <a:latin typeface="Times New Roman"/>
                        </a:rPr>
                        <a:t>$212.26</a:t>
                      </a:r>
                    </a:p>
                  </a:txBody>
                  <a:tcPr>
                    <a:lnL w="9524" cap="flat" cmpd="sng" algn="ctr">
                      <a:solidFill>
                        <a:srgbClr val="FFFFFF"/>
                      </a:solidFill>
                      <a:prstDash val="solid"/>
                      <a:round/>
                      <a:headEnd type="none" w="med" len="med"/>
                      <a:tailEnd type="none" w="med" len="med"/>
                    </a:lnL>
                    <a:lnR w="9524">
                      <a:solidFill>
                        <a:srgbClr val="FFFFFF"/>
                      </a:solidFill>
                    </a:lnR>
                    <a:lnT w="9524">
                      <a:solidFill>
                        <a:srgbClr val="FFFFFF"/>
                      </a:solidFill>
                    </a:lnT>
                    <a:lnB w="9524" cap="flat" cmpd="sng" algn="ctr">
                      <a:solidFill>
                        <a:srgbClr val="FFFFFF"/>
                      </a:solidFill>
                      <a:prstDash val="solid"/>
                      <a:round/>
                      <a:headEnd type="none" w="med" len="med"/>
                      <a:tailEnd type="none" w="med" len="med"/>
                    </a:lnB>
                    <a:solidFill>
                      <a:srgbClr val="E7E9E9"/>
                    </a:solidFill>
                  </a:tcPr>
                </a:tc>
                <a:extLst>
                  <a:ext uri="{0D108BD9-81ED-4DB2-BD59-A6C34878D82A}">
                    <a16:rowId xmlns:a16="http://schemas.microsoft.com/office/drawing/2014/main" val="3791858405"/>
                  </a:ext>
                </a:extLst>
              </a:tr>
              <a:tr h="428250">
                <a:tc>
                  <a:txBody>
                    <a:bodyPr/>
                    <a:lstStyle/>
                    <a:p>
                      <a:pPr lvl="0" algn="l">
                        <a:lnSpc>
                          <a:spcPts val="2250"/>
                        </a:lnSpc>
                        <a:buNone/>
                      </a:pPr>
                      <a:r>
                        <a:rPr lang="en-US" sz="1800" b="0" i="0" u="none" strike="noStrike" noProof="0">
                          <a:solidFill>
                            <a:srgbClr val="242424"/>
                          </a:solidFill>
                          <a:effectLst/>
                          <a:latin typeface="Aptos Narrow"/>
                        </a:rPr>
                        <a:t>Structures</a:t>
                      </a:r>
                    </a:p>
                  </a:txBody>
                  <a:tcPr>
                    <a:lnL w="9524">
                      <a:solidFill>
                        <a:srgbClr val="FFFFFF"/>
                      </a:solidFill>
                    </a:lnL>
                    <a:lnR w="9524">
                      <a:solidFill>
                        <a:srgbClr val="FFFFFF"/>
                      </a:solidFill>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850" b="0" i="0" u="none" strike="noStrike">
                          <a:solidFill>
                            <a:srgbClr val="000000"/>
                          </a:solidFill>
                          <a:effectLst/>
                          <a:latin typeface="Times New Roman"/>
                        </a:rPr>
                        <a:t>$600</a:t>
                      </a:r>
                      <a:endParaRPr lang="en-US"/>
                    </a:p>
                  </a:txBody>
                  <a:tcPr>
                    <a:lnL w="9524"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850" b="0" i="0" u="none" strike="noStrike">
                          <a:solidFill>
                            <a:srgbClr val="000000"/>
                          </a:solidFill>
                          <a:effectLst/>
                          <a:latin typeface="Times New Roman"/>
                        </a:rPr>
                        <a:t>$498.95</a:t>
                      </a:r>
                    </a:p>
                  </a:txBody>
                  <a:tcPr>
                    <a:lnL w="9524">
                      <a:solidFill>
                        <a:srgbClr val="FFFFFF"/>
                      </a:solidFill>
                    </a:lnL>
                    <a:lnR w="9524">
                      <a:solidFill>
                        <a:srgbClr val="FFFFFF"/>
                      </a:solidFill>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4128939072"/>
                  </a:ext>
                </a:extLst>
              </a:tr>
              <a:tr h="428250">
                <a:tc>
                  <a:txBody>
                    <a:bodyPr/>
                    <a:lstStyle/>
                    <a:p>
                      <a:pPr lvl="0" algn="l">
                        <a:lnSpc>
                          <a:spcPts val="2250"/>
                        </a:lnSpc>
                        <a:buNone/>
                      </a:pPr>
                      <a:r>
                        <a:rPr lang="en-US" sz="1800" b="0" i="0" u="none" strike="noStrike" noProof="0">
                          <a:solidFill>
                            <a:srgbClr val="242424"/>
                          </a:solidFill>
                          <a:effectLst/>
                          <a:latin typeface="Aptos Narrow"/>
                        </a:rPr>
                        <a:t>Recovery</a:t>
                      </a:r>
                    </a:p>
                  </a:txBody>
                  <a:tcPr>
                    <a:lnL w="9524">
                      <a:solidFill>
                        <a:srgbClr val="FFFFFF"/>
                      </a:solidFill>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F2F0F0"/>
                    </a:solidFill>
                  </a:tcPr>
                </a:tc>
                <a:tc>
                  <a:txBody>
                    <a:bodyPr/>
                    <a:lstStyle/>
                    <a:p>
                      <a:pPr lvl="0" algn="l">
                        <a:lnSpc>
                          <a:spcPts val="2250"/>
                        </a:lnSpc>
                        <a:buNone/>
                      </a:pPr>
                      <a:r>
                        <a:rPr lang="en-US" sz="1850" b="0" i="0" u="none" strike="noStrike">
                          <a:solidFill>
                            <a:srgbClr val="000000"/>
                          </a:solidFill>
                          <a:effectLst/>
                          <a:latin typeface="Times New Roman"/>
                        </a:rPr>
                        <a:t>$875</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F2F0F0"/>
                    </a:solidFill>
                  </a:tcPr>
                </a:tc>
                <a:tc>
                  <a:txBody>
                    <a:bodyPr/>
                    <a:lstStyle/>
                    <a:p>
                      <a:pPr lvl="0" algn="l">
                        <a:lnSpc>
                          <a:spcPts val="2250"/>
                        </a:lnSpc>
                        <a:buNone/>
                      </a:pPr>
                      <a:r>
                        <a:rPr lang="en-US" sz="1850" b="0" i="0" u="none" strike="noStrike">
                          <a:solidFill>
                            <a:srgbClr val="000000"/>
                          </a:solidFill>
                          <a:effectLst/>
                          <a:latin typeface="Times New Roman"/>
                        </a:rPr>
                        <a:t>$1840.26</a:t>
                      </a:r>
                    </a:p>
                  </a:txBody>
                  <a:tcPr>
                    <a:lnL w="9524"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F2F0F0"/>
                    </a:solidFill>
                  </a:tcPr>
                </a:tc>
                <a:extLst>
                  <a:ext uri="{0D108BD9-81ED-4DB2-BD59-A6C34878D82A}">
                    <a16:rowId xmlns:a16="http://schemas.microsoft.com/office/drawing/2014/main" val="1324783861"/>
                  </a:ext>
                </a:extLst>
              </a:tr>
              <a:tr h="428250">
                <a:tc>
                  <a:txBody>
                    <a:bodyPr/>
                    <a:lstStyle/>
                    <a:p>
                      <a:pPr lvl="0" algn="l">
                        <a:lnSpc>
                          <a:spcPts val="2250"/>
                        </a:lnSpc>
                        <a:buNone/>
                      </a:pPr>
                      <a:r>
                        <a:rPr lang="en-US" sz="1800" b="0" i="0" u="none" strike="noStrike" noProof="0">
                          <a:solidFill>
                            <a:srgbClr val="242424"/>
                          </a:solidFill>
                          <a:effectLst/>
                          <a:latin typeface="Aptos Narrow"/>
                        </a:rPr>
                        <a:t>Avionics</a:t>
                      </a:r>
                    </a:p>
                  </a:txBody>
                  <a:tcPr>
                    <a:lnL w="9524">
                      <a:solidFill>
                        <a:srgbClr val="FFFFFF"/>
                      </a:solidFill>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850" b="0" i="0" u="none" strike="noStrike">
                          <a:solidFill>
                            <a:srgbClr val="000000"/>
                          </a:solidFill>
                          <a:effectLst/>
                          <a:latin typeface="Times New Roman"/>
                        </a:rPr>
                        <a:t>$500</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tc>
                  <a:txBody>
                    <a:bodyPr/>
                    <a:lstStyle/>
                    <a:p>
                      <a:pPr lvl="0" algn="l">
                        <a:lnSpc>
                          <a:spcPts val="2250"/>
                        </a:lnSpc>
                        <a:buNone/>
                      </a:pPr>
                      <a:r>
                        <a:rPr lang="en-US" sz="1850" b="0" i="0" u="none" strike="noStrike">
                          <a:solidFill>
                            <a:srgbClr val="000000"/>
                          </a:solidFill>
                          <a:effectLst/>
                          <a:latin typeface="Times New Roman"/>
                        </a:rPr>
                        <a:t>TBD</a:t>
                      </a:r>
                    </a:p>
                  </a:txBody>
                  <a:tcPr>
                    <a:lnL w="9524"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rgbClr val="CBD1CF"/>
                    </a:solidFill>
                  </a:tcPr>
                </a:tc>
                <a:extLst>
                  <a:ext uri="{0D108BD9-81ED-4DB2-BD59-A6C34878D82A}">
                    <a16:rowId xmlns:a16="http://schemas.microsoft.com/office/drawing/2014/main" val="712802227"/>
                  </a:ext>
                </a:extLst>
              </a:tr>
              <a:tr h="428250">
                <a:tc>
                  <a:txBody>
                    <a:bodyPr/>
                    <a:lstStyle/>
                    <a:p>
                      <a:pPr lvl="0" algn="l">
                        <a:lnSpc>
                          <a:spcPts val="2250"/>
                        </a:lnSpc>
                        <a:buNone/>
                      </a:pPr>
                      <a:r>
                        <a:rPr lang="en-US" sz="1800" b="0" i="0" u="none" strike="noStrike" noProof="0">
                          <a:solidFill>
                            <a:srgbClr val="242424"/>
                          </a:solidFill>
                          <a:effectLst/>
                          <a:latin typeface="Aptos Narrow"/>
                        </a:rPr>
                        <a:t>Total</a:t>
                      </a: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chemeClr val="bg2"/>
                    </a:solidFill>
                  </a:tcPr>
                </a:tc>
                <a:tc>
                  <a:txBody>
                    <a:bodyPr/>
                    <a:lstStyle/>
                    <a:p>
                      <a:pPr lvl="0" algn="l">
                        <a:lnSpc>
                          <a:spcPts val="2250"/>
                        </a:lnSpc>
                        <a:buNone/>
                      </a:pPr>
                      <a:r>
                        <a:rPr lang="en-US" sz="1850" b="0" i="0" u="none" strike="noStrike">
                          <a:solidFill>
                            <a:srgbClr val="000000"/>
                          </a:solidFill>
                          <a:effectLst/>
                          <a:latin typeface="Times New Roman"/>
                        </a:rPr>
                        <a:t>$</a:t>
                      </a:r>
                      <a:r>
                        <a:rPr lang="en-US" sz="1850" b="0" i="0" u="none" strike="noStrike" noProof="0">
                          <a:solidFill>
                            <a:srgbClr val="000000"/>
                          </a:solidFill>
                          <a:effectLst/>
                          <a:latin typeface="Times New Roman"/>
                        </a:rPr>
                        <a:t>7,475</a:t>
                      </a:r>
                      <a:r>
                        <a:rPr lang="en-US" sz="1850" b="0" i="0" u="none" strike="noStrike" noProof="0">
                          <a:solidFill>
                            <a:srgbClr val="000000"/>
                          </a:solidFill>
                          <a:effectLst/>
                        </a:rPr>
                        <a:t> </a:t>
                      </a:r>
                      <a:endParaRPr lang="en-US" sz="1850" b="0" i="0" u="none" strike="noStrike">
                        <a:solidFill>
                          <a:srgbClr val="000000"/>
                        </a:solidFill>
                        <a:effectLst/>
                        <a:latin typeface="Times New Roman"/>
                      </a:endParaRPr>
                    </a:p>
                  </a:txBody>
                  <a:tcPr>
                    <a:lnL w="9524" cap="flat" cmpd="sng" algn="ctr">
                      <a:solidFill>
                        <a:srgbClr val="FFFFFF"/>
                      </a:solidFill>
                      <a:prstDash val="solid"/>
                      <a:round/>
                      <a:headEnd type="none" w="med" len="med"/>
                      <a:tailEnd type="none" w="med" len="med"/>
                    </a:lnL>
                    <a:lnR w="9524" cap="flat" cmpd="sng" algn="ctr">
                      <a:solidFill>
                        <a:srgbClr val="FFFFFF"/>
                      </a:solidFill>
                      <a:prstDash val="solid"/>
                      <a:round/>
                      <a:headEnd type="none" w="med" len="med"/>
                      <a:tailEnd type="none" w="med" len="med"/>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chemeClr val="bg2"/>
                    </a:solidFill>
                  </a:tcPr>
                </a:tc>
                <a:tc>
                  <a:txBody>
                    <a:bodyPr/>
                    <a:lstStyle/>
                    <a:p>
                      <a:pPr lvl="0" algn="l">
                        <a:lnSpc>
                          <a:spcPts val="2250"/>
                        </a:lnSpc>
                        <a:buNone/>
                      </a:pPr>
                      <a:r>
                        <a:rPr lang="en-US" sz="1850" b="0" i="0" u="none" strike="noStrike">
                          <a:solidFill>
                            <a:srgbClr val="000000"/>
                          </a:solidFill>
                          <a:effectLst/>
                          <a:latin typeface="Times New Roman"/>
                        </a:rPr>
                        <a:t>$6358.26+ TBD</a:t>
                      </a:r>
                    </a:p>
                  </a:txBody>
                  <a:tcPr>
                    <a:lnL w="9524" cap="flat" cmpd="sng" algn="ctr">
                      <a:solidFill>
                        <a:srgbClr val="FFFFFF"/>
                      </a:solidFill>
                      <a:prstDash val="solid"/>
                      <a:round/>
                      <a:headEnd type="none" w="med" len="med"/>
                      <a:tailEnd type="none" w="med" len="med"/>
                    </a:lnL>
                    <a:lnR w="9524">
                      <a:solidFill>
                        <a:srgbClr val="FFFFFF"/>
                      </a:solidFill>
                    </a:lnR>
                    <a:lnT w="9524" cap="flat" cmpd="sng" algn="ctr">
                      <a:solidFill>
                        <a:srgbClr val="FFFFFF"/>
                      </a:solidFill>
                      <a:prstDash val="solid"/>
                      <a:round/>
                      <a:headEnd type="none" w="med" len="med"/>
                      <a:tailEnd type="none" w="med" len="med"/>
                    </a:lnT>
                    <a:lnB w="9524" cap="flat" cmpd="sng" algn="ctr">
                      <a:solidFill>
                        <a:srgbClr val="FFFFFF"/>
                      </a:solidFill>
                      <a:prstDash val="solid"/>
                      <a:round/>
                      <a:headEnd type="none" w="med" len="med"/>
                      <a:tailEnd type="none" w="med" len="med"/>
                    </a:lnB>
                    <a:solidFill>
                      <a:schemeClr val="bg2"/>
                    </a:solidFill>
                  </a:tcPr>
                </a:tc>
                <a:extLst>
                  <a:ext uri="{0D108BD9-81ED-4DB2-BD59-A6C34878D82A}">
                    <a16:rowId xmlns:a16="http://schemas.microsoft.com/office/drawing/2014/main" val="2015134009"/>
                  </a:ext>
                </a:extLst>
              </a:tr>
            </a:tbl>
          </a:graphicData>
        </a:graphic>
      </p:graphicFrame>
      <p:sp>
        <p:nvSpPr>
          <p:cNvPr id="13" name="Title 3">
            <a:extLst>
              <a:ext uri="{FF2B5EF4-FFF2-40B4-BE49-F238E27FC236}">
                <a16:creationId xmlns:a16="http://schemas.microsoft.com/office/drawing/2014/main" id="{4E21B1FC-9532-BE26-8ABE-426FCEACBC96}"/>
              </a:ext>
            </a:extLst>
          </p:cNvPr>
          <p:cNvSpPr>
            <a:spLocks noGrp="1"/>
          </p:cNvSpPr>
          <p:nvPr>
            <p:ph type="title"/>
          </p:nvPr>
        </p:nvSpPr>
        <p:spPr>
          <a:xfrm>
            <a:off x="531848" y="716984"/>
            <a:ext cx="11238812" cy="625567"/>
          </a:xfrm>
        </p:spPr>
        <p:txBody>
          <a:bodyPr/>
          <a:lstStyle/>
          <a:p>
            <a:r>
              <a:rPr lang="en-US">
                <a:latin typeface="Munistic"/>
              </a:rPr>
              <a:t>Project Budget Estimates (In-Progress)</a:t>
            </a:r>
            <a:endParaRPr lang="en-US"/>
          </a:p>
        </p:txBody>
      </p:sp>
    </p:spTree>
    <p:extLst>
      <p:ext uri="{BB962C8B-B14F-4D97-AF65-F5344CB8AC3E}">
        <p14:creationId xmlns:p14="http://schemas.microsoft.com/office/powerpoint/2010/main" val="168206987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3BDFAB-E03B-F5CA-D4BA-F7E3664EA1F6}"/>
              </a:ext>
            </a:extLst>
          </p:cNvPr>
          <p:cNvSpPr>
            <a:spLocks noGrp="1"/>
          </p:cNvSpPr>
          <p:nvPr>
            <p:ph type="title"/>
          </p:nvPr>
        </p:nvSpPr>
        <p:spPr/>
        <p:txBody>
          <a:bodyPr/>
          <a:lstStyle/>
          <a:p>
            <a:r>
              <a:rPr lang="en-US">
                <a:latin typeface="Munistic"/>
              </a:rPr>
              <a:t>Questions?</a:t>
            </a:r>
            <a:endParaRPr lang="en-US"/>
          </a:p>
        </p:txBody>
      </p:sp>
      <p:sp>
        <p:nvSpPr>
          <p:cNvPr id="4" name="Slide Number Placeholder 3">
            <a:extLst>
              <a:ext uri="{FF2B5EF4-FFF2-40B4-BE49-F238E27FC236}">
                <a16:creationId xmlns:a16="http://schemas.microsoft.com/office/drawing/2014/main" id="{9CA947D3-655A-6E02-612F-B19DF7C809E3}"/>
              </a:ext>
            </a:extLst>
          </p:cNvPr>
          <p:cNvSpPr>
            <a:spLocks noGrp="1"/>
          </p:cNvSpPr>
          <p:nvPr>
            <p:ph type="sldNum" sz="quarter" idx="4294967295"/>
          </p:nvPr>
        </p:nvSpPr>
        <p:spPr>
          <a:xfrm>
            <a:off x="11647488" y="6351588"/>
            <a:ext cx="544512" cy="365125"/>
          </a:xfrm>
        </p:spPr>
        <p:txBody>
          <a:bodyPr/>
          <a:lstStyle/>
          <a:p>
            <a:r>
              <a:rPr lang="en-US"/>
              <a:t>/   </a:t>
            </a:r>
            <a:fld id="{6C7E6F33-74EE-5541-8108-8353B402F8C1}" type="slidenum">
              <a:rPr lang="en-US" smtClean="0"/>
              <a:pPr/>
              <a:t>128</a:t>
            </a:fld>
            <a:endParaRPr lang="en-US"/>
          </a:p>
        </p:txBody>
      </p:sp>
    </p:spTree>
    <p:extLst>
      <p:ext uri="{BB962C8B-B14F-4D97-AF65-F5344CB8AC3E}">
        <p14:creationId xmlns:p14="http://schemas.microsoft.com/office/powerpoint/2010/main" val="128641713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1910D59-985B-0706-5C8F-F7B9C6595596}"/>
              </a:ext>
            </a:extLst>
          </p:cNvPr>
          <p:cNvPicPr>
            <a:picLocks noChangeAspect="1"/>
          </p:cNvPicPr>
          <p:nvPr/>
        </p:nvPicPr>
        <p:blipFill>
          <a:blip r:embed="rId3"/>
          <a:stretch>
            <a:fillRect/>
          </a:stretch>
        </p:blipFill>
        <p:spPr>
          <a:xfrm>
            <a:off x="390362" y="507385"/>
            <a:ext cx="11251647" cy="5560115"/>
          </a:xfrm>
          <a:prstGeom prst="rect">
            <a:avLst/>
          </a:prstGeom>
        </p:spPr>
      </p:pic>
    </p:spTree>
    <p:extLst>
      <p:ext uri="{BB962C8B-B14F-4D97-AF65-F5344CB8AC3E}">
        <p14:creationId xmlns:p14="http://schemas.microsoft.com/office/powerpoint/2010/main" val="303248810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9EF2D-24B2-947F-6487-E951F8D6190C}"/>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18959070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EBF8C0-27B4-F446-0995-D00F77555263}"/>
              </a:ext>
            </a:extLst>
          </p:cNvPr>
          <p:cNvSpPr>
            <a:spLocks noGrp="1"/>
          </p:cNvSpPr>
          <p:nvPr>
            <p:ph type="title"/>
          </p:nvPr>
        </p:nvSpPr>
        <p:spPr>
          <a:xfrm>
            <a:off x="531848" y="716984"/>
            <a:ext cx="6245941" cy="625567"/>
          </a:xfrm>
        </p:spPr>
        <p:txBody>
          <a:bodyPr/>
          <a:lstStyle/>
          <a:p>
            <a:r>
              <a:rPr lang="en-US"/>
              <a:t>Far Requirements</a:t>
            </a:r>
          </a:p>
        </p:txBody>
      </p:sp>
      <p:sp>
        <p:nvSpPr>
          <p:cNvPr id="5" name="Text Placeholder 4">
            <a:extLst>
              <a:ext uri="{FF2B5EF4-FFF2-40B4-BE49-F238E27FC236}">
                <a16:creationId xmlns:a16="http://schemas.microsoft.com/office/drawing/2014/main" id="{FDBC149F-B0AA-1999-65A2-83C00360F9D0}"/>
              </a:ext>
            </a:extLst>
          </p:cNvPr>
          <p:cNvSpPr>
            <a:spLocks noGrp="1"/>
          </p:cNvSpPr>
          <p:nvPr>
            <p:ph type="body" sz="quarter" idx="21"/>
          </p:nvPr>
        </p:nvSpPr>
        <p:spPr>
          <a:xfrm>
            <a:off x="6273609" y="716984"/>
            <a:ext cx="5497051" cy="625567"/>
          </a:xfrm>
        </p:spPr>
        <p:txBody>
          <a:bodyPr/>
          <a:lstStyle/>
          <a:p>
            <a:endParaRPr lang="en-US"/>
          </a:p>
        </p:txBody>
      </p:sp>
      <p:graphicFrame>
        <p:nvGraphicFramePr>
          <p:cNvPr id="3" name="Table 2">
            <a:extLst>
              <a:ext uri="{FF2B5EF4-FFF2-40B4-BE49-F238E27FC236}">
                <a16:creationId xmlns:a16="http://schemas.microsoft.com/office/drawing/2014/main" id="{D1E0C762-5F67-83F5-E9E0-3D4C9D09C5E9}"/>
              </a:ext>
            </a:extLst>
          </p:cNvPr>
          <p:cNvGraphicFramePr>
            <a:graphicFrameLocks noGrp="1"/>
          </p:cNvGraphicFramePr>
          <p:nvPr/>
        </p:nvGraphicFramePr>
        <p:xfrm>
          <a:off x="640521" y="1546084"/>
          <a:ext cx="11238810" cy="4594933"/>
        </p:xfrm>
        <a:graphic>
          <a:graphicData uri="http://schemas.openxmlformats.org/drawingml/2006/table">
            <a:tbl>
              <a:tblPr firstRow="1" bandRow="1">
                <a:tableStyleId>{073A0DAA-6AF3-43AB-8588-CEC1D06C72B9}</a:tableStyleId>
              </a:tblPr>
              <a:tblGrid>
                <a:gridCol w="851461">
                  <a:extLst>
                    <a:ext uri="{9D8B030D-6E8A-4147-A177-3AD203B41FA5}">
                      <a16:colId xmlns:a16="http://schemas.microsoft.com/office/drawing/2014/main" val="3089745894"/>
                    </a:ext>
                  </a:extLst>
                </a:gridCol>
                <a:gridCol w="4755096">
                  <a:extLst>
                    <a:ext uri="{9D8B030D-6E8A-4147-A177-3AD203B41FA5}">
                      <a16:colId xmlns:a16="http://schemas.microsoft.com/office/drawing/2014/main" val="2003570306"/>
                    </a:ext>
                  </a:extLst>
                </a:gridCol>
                <a:gridCol w="5632253">
                  <a:extLst>
                    <a:ext uri="{9D8B030D-6E8A-4147-A177-3AD203B41FA5}">
                      <a16:colId xmlns:a16="http://schemas.microsoft.com/office/drawing/2014/main" val="621346601"/>
                    </a:ext>
                  </a:extLst>
                </a:gridCol>
              </a:tblGrid>
              <a:tr h="577389">
                <a:tc>
                  <a:txBody>
                    <a:bodyPr/>
                    <a:lstStyle/>
                    <a:p>
                      <a:r>
                        <a:rPr lang="en-US"/>
                        <a:t>RBS</a:t>
                      </a:r>
                    </a:p>
                  </a:txBody>
                  <a:tcPr/>
                </a:tc>
                <a:tc>
                  <a:txBody>
                    <a:bodyPr/>
                    <a:lstStyle/>
                    <a:p>
                      <a:r>
                        <a:rPr lang="en-US"/>
                        <a:t>Requirement</a:t>
                      </a:r>
                    </a:p>
                  </a:txBody>
                  <a:tcPr/>
                </a:tc>
                <a:tc>
                  <a:txBody>
                    <a:bodyPr/>
                    <a:lstStyle/>
                    <a:p>
                      <a:r>
                        <a:rPr lang="en-US"/>
                        <a:t>Rationale</a:t>
                      </a:r>
                    </a:p>
                  </a:txBody>
                  <a:tcPr/>
                </a:tc>
                <a:extLst>
                  <a:ext uri="{0D108BD9-81ED-4DB2-BD59-A6C34878D82A}">
                    <a16:rowId xmlns:a16="http://schemas.microsoft.com/office/drawing/2014/main" val="643055058"/>
                  </a:ext>
                </a:extLst>
              </a:tr>
              <a:tr h="577389">
                <a:tc>
                  <a:txBody>
                    <a:bodyPr/>
                    <a:lstStyle/>
                    <a:p>
                      <a:pPr lvl="0">
                        <a:buNone/>
                      </a:pPr>
                      <a:r>
                        <a:rPr lang="en-US" sz="1300">
                          <a:solidFill>
                            <a:srgbClr val="000000"/>
                          </a:solidFill>
                        </a:rPr>
                        <a:t>0.1</a:t>
                      </a:r>
                    </a:p>
                  </a:txBody>
                  <a:tcPr/>
                </a:tc>
                <a:tc>
                  <a:txBody>
                    <a:bodyPr/>
                    <a:lstStyle/>
                    <a:p>
                      <a:pPr lvl="0" algn="l">
                        <a:buNone/>
                      </a:pPr>
                      <a:r>
                        <a:rPr lang="en-US" sz="1300" b="0" i="0" u="none" strike="noStrike" noProof="0">
                          <a:solidFill>
                            <a:srgbClr val="000000"/>
                          </a:solidFill>
                          <a:effectLst/>
                          <a:latin typeface="Calibri"/>
                        </a:rPr>
                        <a:t>Altitude shall be determined by two commercially available recovery electronics</a:t>
                      </a:r>
                      <a:endParaRPr lang="en-US">
                        <a:solidFill>
                          <a:srgbClr val="000000"/>
                        </a:solidFill>
                      </a:endParaRPr>
                    </a:p>
                  </a:txBody>
                  <a:tcPr marL="7620" marR="7620" marT="7620" marB="0"/>
                </a:tc>
                <a:tc>
                  <a:txBody>
                    <a:bodyPr/>
                    <a:lstStyle/>
                    <a:p>
                      <a:pPr lvl="0" algn="l">
                        <a:buNone/>
                      </a:pPr>
                      <a:r>
                        <a:rPr lang="en-US" sz="1300" b="0" i="0" u="none" strike="noStrike" noProof="0">
                          <a:solidFill>
                            <a:srgbClr val="000000"/>
                          </a:solidFill>
                          <a:effectLst/>
                          <a:latin typeface="Aptos Narrow"/>
                        </a:rPr>
                        <a:t>This is a FAR requirement</a:t>
                      </a:r>
                    </a:p>
                  </a:txBody>
                  <a:tcPr marL="7620" marR="7620" marT="7620" marB="0"/>
                </a:tc>
                <a:extLst>
                  <a:ext uri="{0D108BD9-81ED-4DB2-BD59-A6C34878D82A}">
                    <a16:rowId xmlns:a16="http://schemas.microsoft.com/office/drawing/2014/main" val="1847058879"/>
                  </a:ext>
                </a:extLst>
              </a:tr>
              <a:tr h="753816">
                <a:tc>
                  <a:txBody>
                    <a:bodyPr/>
                    <a:lstStyle/>
                    <a:p>
                      <a:pPr lvl="0">
                        <a:buNone/>
                      </a:pPr>
                      <a:r>
                        <a:rPr lang="en-US" sz="1300">
                          <a:solidFill>
                            <a:srgbClr val="000000"/>
                          </a:solidFill>
                        </a:rPr>
                        <a:t>0.2</a:t>
                      </a:r>
                    </a:p>
                  </a:txBody>
                  <a:tcPr/>
                </a:tc>
                <a:tc>
                  <a:txBody>
                    <a:bodyPr/>
                    <a:lstStyle/>
                    <a:p>
                      <a:pPr lvl="0" algn="l">
                        <a:buNone/>
                      </a:pPr>
                      <a:r>
                        <a:rPr lang="en-US" sz="1300" b="0" i="0" u="none" strike="noStrike" noProof="0">
                          <a:solidFill>
                            <a:srgbClr val="000000"/>
                          </a:solidFill>
                          <a:effectLst/>
                        </a:rPr>
                        <a:t>The system shall have dual deployment for recovery.</a:t>
                      </a:r>
                      <a:endParaRPr lang="en-US">
                        <a:solidFill>
                          <a:srgbClr val="000000"/>
                        </a:solidFill>
                      </a:endParaRPr>
                    </a:p>
                  </a:txBody>
                  <a:tcPr marL="7620" marR="7620" marT="7620" marB="0"/>
                </a:tc>
                <a:tc>
                  <a:txBody>
                    <a:bodyPr/>
                    <a:lstStyle/>
                    <a:p>
                      <a:pPr lvl="0" algn="l">
                        <a:buNone/>
                      </a:pPr>
                      <a:r>
                        <a:rPr lang="en-US" sz="1300" b="0" i="0" u="none" strike="noStrike" noProof="0">
                          <a:solidFill>
                            <a:srgbClr val="000000"/>
                          </a:solidFill>
                          <a:effectLst/>
                          <a:latin typeface="Aptos Narrow"/>
                        </a:rPr>
                        <a:t>This is a FAR requirement</a:t>
                      </a:r>
                    </a:p>
                  </a:txBody>
                  <a:tcPr marL="7620" marR="7620" marT="7620" marB="0"/>
                </a:tc>
                <a:extLst>
                  <a:ext uri="{0D108BD9-81ED-4DB2-BD59-A6C34878D82A}">
                    <a16:rowId xmlns:a16="http://schemas.microsoft.com/office/drawing/2014/main" val="4074238505"/>
                  </a:ext>
                </a:extLst>
              </a:tr>
              <a:tr h="417004">
                <a:tc>
                  <a:txBody>
                    <a:bodyPr/>
                    <a:lstStyle/>
                    <a:p>
                      <a:pPr lvl="0">
                        <a:buNone/>
                      </a:pPr>
                      <a:r>
                        <a:rPr lang="en-US" sz="1300">
                          <a:solidFill>
                            <a:srgbClr val="000000"/>
                          </a:solidFill>
                        </a:rPr>
                        <a:t>0.2.1</a:t>
                      </a:r>
                    </a:p>
                  </a:txBody>
                  <a:tcPr/>
                </a:tc>
                <a:tc>
                  <a:txBody>
                    <a:bodyPr/>
                    <a:lstStyle/>
                    <a:p>
                      <a:pPr lvl="0" algn="l">
                        <a:buNone/>
                      </a:pPr>
                      <a:r>
                        <a:rPr lang="en-US" sz="1300" b="0" i="0" u="none" strike="noStrike" noProof="0">
                          <a:solidFill>
                            <a:srgbClr val="000000"/>
                          </a:solidFill>
                          <a:effectLst/>
                        </a:rPr>
                        <a:t>Drogue parachute shall deploy at apogee</a:t>
                      </a:r>
                      <a:endParaRPr lang="en-US">
                        <a:solidFill>
                          <a:srgbClr val="000000"/>
                        </a:solidFill>
                      </a:endParaRPr>
                    </a:p>
                  </a:txBody>
                  <a:tcPr marL="7620" marR="7620" marT="7620" marB="0"/>
                </a:tc>
                <a:tc>
                  <a:txBody>
                    <a:bodyPr/>
                    <a:lstStyle/>
                    <a:p>
                      <a:pPr lvl="0" algn="l">
                        <a:buNone/>
                      </a:pPr>
                      <a:r>
                        <a:rPr lang="en-US" sz="1300" b="0" i="0" u="none" strike="noStrike" noProof="0">
                          <a:solidFill>
                            <a:srgbClr val="000000"/>
                          </a:solidFill>
                          <a:effectLst/>
                          <a:latin typeface="Aptos Narrow"/>
                        </a:rPr>
                        <a:t>This is a FAR requirement</a:t>
                      </a:r>
                    </a:p>
                  </a:txBody>
                  <a:tcPr marL="7620" marR="7620" marT="7620" marB="0"/>
                </a:tc>
                <a:extLst>
                  <a:ext uri="{0D108BD9-81ED-4DB2-BD59-A6C34878D82A}">
                    <a16:rowId xmlns:a16="http://schemas.microsoft.com/office/drawing/2014/main" val="3313582001"/>
                  </a:ext>
                </a:extLst>
              </a:tr>
              <a:tr h="368887">
                <a:tc>
                  <a:txBody>
                    <a:bodyPr/>
                    <a:lstStyle/>
                    <a:p>
                      <a:pPr lvl="0">
                        <a:buNone/>
                      </a:pPr>
                      <a:r>
                        <a:rPr lang="en-US" sz="1300">
                          <a:solidFill>
                            <a:srgbClr val="000000"/>
                          </a:solidFill>
                        </a:rPr>
                        <a:t>0.2.2</a:t>
                      </a:r>
                    </a:p>
                  </a:txBody>
                  <a:tcPr/>
                </a:tc>
                <a:tc>
                  <a:txBody>
                    <a:bodyPr/>
                    <a:lstStyle/>
                    <a:p>
                      <a:pPr lvl="0" algn="l">
                        <a:buNone/>
                      </a:pPr>
                      <a:r>
                        <a:rPr lang="en-US" sz="1300" b="0" i="0" u="none" strike="noStrike" noProof="0">
                          <a:solidFill>
                            <a:srgbClr val="000000"/>
                          </a:solidFill>
                          <a:effectLst/>
                        </a:rPr>
                        <a:t>The main parachute shall deploy below 1000 ft.</a:t>
                      </a:r>
                      <a:endParaRPr lang="en-US">
                        <a:solidFill>
                          <a:srgbClr val="000000"/>
                        </a:solidFill>
                      </a:endParaRPr>
                    </a:p>
                  </a:txBody>
                  <a:tcPr marL="7620" marR="7620" marT="7620" marB="0"/>
                </a:tc>
                <a:tc>
                  <a:txBody>
                    <a:bodyPr/>
                    <a:lstStyle/>
                    <a:p>
                      <a:pPr lvl="0" algn="l">
                        <a:buNone/>
                      </a:pPr>
                      <a:r>
                        <a:rPr lang="en-US" sz="1300" b="0" i="0" u="none" strike="noStrike" noProof="0">
                          <a:solidFill>
                            <a:srgbClr val="000000"/>
                          </a:solidFill>
                          <a:effectLst/>
                          <a:latin typeface="Aptos Narrow"/>
                        </a:rPr>
                        <a:t>This is a FAR requirement</a:t>
                      </a:r>
                    </a:p>
                  </a:txBody>
                  <a:tcPr marL="7620" marR="7620" marT="7620" marB="0"/>
                </a:tc>
                <a:extLst>
                  <a:ext uri="{0D108BD9-81ED-4DB2-BD59-A6C34878D82A}">
                    <a16:rowId xmlns:a16="http://schemas.microsoft.com/office/drawing/2014/main" val="317543205"/>
                  </a:ext>
                </a:extLst>
              </a:tr>
              <a:tr h="462092">
                <a:tc>
                  <a:txBody>
                    <a:bodyPr/>
                    <a:lstStyle/>
                    <a:p>
                      <a:pPr lvl="0">
                        <a:buNone/>
                      </a:pPr>
                      <a:r>
                        <a:rPr lang="en-US" sz="1300">
                          <a:solidFill>
                            <a:srgbClr val="000000"/>
                          </a:solidFill>
                        </a:rPr>
                        <a:t>0.3</a:t>
                      </a:r>
                    </a:p>
                  </a:txBody>
                  <a:tcPr/>
                </a:tc>
                <a:tc>
                  <a:txBody>
                    <a:bodyPr/>
                    <a:lstStyle/>
                    <a:p>
                      <a:pPr lvl="0" algn="l">
                        <a:lnSpc>
                          <a:spcPct val="100000"/>
                        </a:lnSpc>
                        <a:spcBef>
                          <a:spcPts val="0"/>
                        </a:spcBef>
                        <a:spcAft>
                          <a:spcPts val="0"/>
                        </a:spcAft>
                        <a:buNone/>
                      </a:pPr>
                      <a:r>
                        <a:rPr lang="en-US" sz="1300" b="0" i="0" u="none" strike="noStrike" noProof="0">
                          <a:solidFill>
                            <a:srgbClr val="000000"/>
                          </a:solidFill>
                          <a:effectLst/>
                        </a:rPr>
                        <a:t>The system shall contain a tracker.</a:t>
                      </a:r>
                      <a:endParaRPr lang="en-US">
                        <a:solidFill>
                          <a:srgbClr val="000000"/>
                        </a:solidFill>
                      </a:endParaRPr>
                    </a:p>
                  </a:txBody>
                  <a:tcPr marL="7620" marR="7620" marT="7620" marB="0"/>
                </a:tc>
                <a:tc>
                  <a:txBody>
                    <a:bodyPr/>
                    <a:lstStyle/>
                    <a:p>
                      <a:pPr lvl="0" algn="l">
                        <a:lnSpc>
                          <a:spcPct val="100000"/>
                        </a:lnSpc>
                        <a:spcBef>
                          <a:spcPts val="0"/>
                        </a:spcBef>
                        <a:spcAft>
                          <a:spcPts val="0"/>
                        </a:spcAft>
                        <a:buNone/>
                      </a:pPr>
                      <a:r>
                        <a:rPr lang="en-US" sz="1300" b="0" i="0" u="none" strike="noStrike" noProof="0">
                          <a:solidFill>
                            <a:srgbClr val="000000"/>
                          </a:solidFill>
                          <a:effectLst/>
                          <a:latin typeface="Aptos Narrow"/>
                        </a:rPr>
                        <a:t>This is a FAR requirement. GPS telemetry, radio beacon, or other approved in advance</a:t>
                      </a:r>
                    </a:p>
                    <a:p>
                      <a:pPr lvl="0" algn="l">
                        <a:buNone/>
                      </a:pPr>
                      <a:endParaRPr lang="en-US" sz="1300" b="0" i="0" u="none" strike="noStrike" noProof="0">
                        <a:solidFill>
                          <a:srgbClr val="000000"/>
                        </a:solidFill>
                        <a:effectLst/>
                        <a:latin typeface="Aptos Narrow"/>
                      </a:endParaRPr>
                    </a:p>
                  </a:txBody>
                  <a:tcPr marL="7620" marR="7620" marT="7620" marB="0"/>
                </a:tc>
                <a:extLst>
                  <a:ext uri="{0D108BD9-81ED-4DB2-BD59-A6C34878D82A}">
                    <a16:rowId xmlns:a16="http://schemas.microsoft.com/office/drawing/2014/main" val="3899007425"/>
                  </a:ext>
                </a:extLst>
              </a:tr>
              <a:tr h="336810">
                <a:tc>
                  <a:txBody>
                    <a:bodyPr/>
                    <a:lstStyle/>
                    <a:p>
                      <a:pPr lvl="0">
                        <a:buNone/>
                      </a:pPr>
                      <a:r>
                        <a:rPr lang="en-US" sz="1300">
                          <a:solidFill>
                            <a:srgbClr val="000000"/>
                          </a:solidFill>
                        </a:rPr>
                        <a:t>0.4</a:t>
                      </a:r>
                    </a:p>
                  </a:txBody>
                  <a:tcPr/>
                </a:tc>
                <a:tc>
                  <a:txBody>
                    <a:bodyPr/>
                    <a:lstStyle/>
                    <a:p>
                      <a:pPr lvl="0" algn="l">
                        <a:buNone/>
                      </a:pPr>
                      <a:r>
                        <a:rPr lang="en-US" sz="1300" b="0" i="0" u="none" strike="noStrike" noProof="0">
                          <a:solidFill>
                            <a:srgbClr val="000000"/>
                          </a:solidFill>
                          <a:effectLst/>
                        </a:rPr>
                        <a:t>The system shall be recovered successfully.</a:t>
                      </a:r>
                      <a:endParaRPr lang="en-US">
                        <a:solidFill>
                          <a:srgbClr val="000000"/>
                        </a:solidFill>
                      </a:endParaRPr>
                    </a:p>
                  </a:txBody>
                  <a:tcPr marL="7620" marR="7620" marT="7620" marB="0"/>
                </a:tc>
                <a:tc>
                  <a:txBody>
                    <a:bodyPr/>
                    <a:lstStyle/>
                    <a:p>
                      <a:pPr marL="0" marR="0" lvl="0" indent="0" algn="l" rtl="0">
                        <a:lnSpc>
                          <a:spcPct val="100000"/>
                        </a:lnSpc>
                        <a:spcBef>
                          <a:spcPts val="0"/>
                        </a:spcBef>
                        <a:spcAft>
                          <a:spcPts val="0"/>
                        </a:spcAft>
                        <a:buClrTx/>
                        <a:buSzTx/>
                        <a:buFontTx/>
                        <a:buNone/>
                      </a:pPr>
                      <a:r>
                        <a:rPr lang="en-US" sz="1300" b="0" i="0" u="none" strike="noStrike" noProof="0">
                          <a:solidFill>
                            <a:srgbClr val="000000"/>
                          </a:solidFill>
                          <a:effectLst/>
                          <a:latin typeface="Aptos Narrow"/>
                        </a:rPr>
                        <a:t>This is a FAR requirement</a:t>
                      </a:r>
                    </a:p>
                  </a:txBody>
                  <a:tcPr marL="7620" marR="7620" marT="7620" marB="0"/>
                </a:tc>
                <a:extLst>
                  <a:ext uri="{0D108BD9-81ED-4DB2-BD59-A6C34878D82A}">
                    <a16:rowId xmlns:a16="http://schemas.microsoft.com/office/drawing/2014/main" val="2838209726"/>
                  </a:ext>
                </a:extLst>
              </a:tr>
              <a:tr h="384928">
                <a:tc>
                  <a:txBody>
                    <a:bodyPr/>
                    <a:lstStyle/>
                    <a:p>
                      <a:pPr lvl="0">
                        <a:buNone/>
                      </a:pPr>
                      <a:r>
                        <a:rPr lang="en-US" sz="1300">
                          <a:solidFill>
                            <a:srgbClr val="000000"/>
                          </a:solidFill>
                        </a:rPr>
                        <a:t>0.5</a:t>
                      </a:r>
                    </a:p>
                  </a:txBody>
                  <a:tcPr/>
                </a:tc>
                <a:tc>
                  <a:txBody>
                    <a:bodyPr/>
                    <a:lstStyle/>
                    <a:p>
                      <a:pPr lvl="0" algn="l">
                        <a:buNone/>
                      </a:pPr>
                      <a:r>
                        <a:rPr lang="en-US" sz="1300" b="0" i="0" u="none" strike="noStrike" noProof="0">
                          <a:solidFill>
                            <a:srgbClr val="000000"/>
                          </a:solidFill>
                        </a:rPr>
                        <a:t>Rocket must be rail or tower launched.</a:t>
                      </a:r>
                      <a:endParaRPr lang="en-US">
                        <a:solidFill>
                          <a:srgbClr val="000000"/>
                        </a:solidFill>
                      </a:endParaRPr>
                    </a:p>
                  </a:txBody>
                  <a:tcPr marL="7620" marR="7620" marT="7620" marB="0"/>
                </a:tc>
                <a:tc>
                  <a:txBody>
                    <a:bodyPr/>
                    <a:lstStyle/>
                    <a:p>
                      <a:pPr marL="0" lvl="0" indent="0" algn="l">
                        <a:lnSpc>
                          <a:spcPct val="100000"/>
                        </a:lnSpc>
                        <a:spcBef>
                          <a:spcPts val="0"/>
                        </a:spcBef>
                        <a:spcAft>
                          <a:spcPts val="0"/>
                        </a:spcAft>
                        <a:buNone/>
                      </a:pPr>
                      <a:r>
                        <a:rPr lang="en-US" sz="1300" b="0" i="0" u="none" strike="noStrike" noProof="0">
                          <a:solidFill>
                            <a:srgbClr val="000000"/>
                          </a:solidFill>
                          <a:effectLst/>
                          <a:latin typeface="Aptos Narrow"/>
                        </a:rPr>
                        <a:t>This is a FAR requirement</a:t>
                      </a:r>
                    </a:p>
                  </a:txBody>
                  <a:tcPr marL="7620" marR="7620" marT="7620" marB="0"/>
                </a:tc>
                <a:extLst>
                  <a:ext uri="{0D108BD9-81ED-4DB2-BD59-A6C34878D82A}">
                    <a16:rowId xmlns:a16="http://schemas.microsoft.com/office/drawing/2014/main" val="2893101369"/>
                  </a:ext>
                </a:extLst>
              </a:tr>
              <a:tr h="331690">
                <a:tc>
                  <a:txBody>
                    <a:bodyPr/>
                    <a:lstStyle/>
                    <a:p>
                      <a:pPr lvl="0">
                        <a:buNone/>
                      </a:pPr>
                      <a:r>
                        <a:rPr lang="en-US" sz="1300">
                          <a:solidFill>
                            <a:srgbClr val="000000"/>
                          </a:solidFill>
                        </a:rPr>
                        <a:t>0.6</a:t>
                      </a:r>
                    </a:p>
                  </a:txBody>
                  <a:tcPr/>
                </a:tc>
                <a:tc>
                  <a:txBody>
                    <a:bodyPr/>
                    <a:lstStyle/>
                    <a:p>
                      <a:pPr lvl="0" algn="l">
                        <a:buNone/>
                      </a:pPr>
                      <a:r>
                        <a:rPr lang="en-US" sz="1300" b="0" i="0" u="none" strike="noStrike" noProof="0">
                          <a:solidFill>
                            <a:srgbClr val="000000"/>
                          </a:solidFill>
                          <a:latin typeface="Calibri"/>
                        </a:rPr>
                        <a:t>The rocket shall meet FAR/Mars safety requirements.</a:t>
                      </a:r>
                      <a:endParaRPr lang="en-US">
                        <a:solidFill>
                          <a:srgbClr val="000000"/>
                        </a:solidFill>
                      </a:endParaRPr>
                    </a:p>
                  </a:txBody>
                  <a:tcPr marL="7620" marR="7620" marT="7620" marB="0"/>
                </a:tc>
                <a:tc>
                  <a:txBody>
                    <a:bodyPr/>
                    <a:lstStyle/>
                    <a:p>
                      <a:pPr marL="0" lvl="0" indent="0" algn="l">
                        <a:lnSpc>
                          <a:spcPct val="100000"/>
                        </a:lnSpc>
                        <a:spcBef>
                          <a:spcPts val="0"/>
                        </a:spcBef>
                        <a:spcAft>
                          <a:spcPts val="0"/>
                        </a:spcAft>
                        <a:buNone/>
                      </a:pPr>
                      <a:r>
                        <a:rPr lang="en-US" sz="1300" b="0" i="0" u="none" strike="noStrike" noProof="0">
                          <a:solidFill>
                            <a:srgbClr val="000000"/>
                          </a:solidFill>
                          <a:effectLst/>
                          <a:latin typeface="Aptos Narrow"/>
                        </a:rPr>
                        <a:t>This is a FAR requirement</a:t>
                      </a:r>
                    </a:p>
                  </a:txBody>
                  <a:tcPr marL="7620" marR="7620" marT="7620" marB="0"/>
                </a:tc>
                <a:extLst>
                  <a:ext uri="{0D108BD9-81ED-4DB2-BD59-A6C34878D82A}">
                    <a16:rowId xmlns:a16="http://schemas.microsoft.com/office/drawing/2014/main" val="1620656362"/>
                  </a:ext>
                </a:extLst>
              </a:tr>
              <a:tr h="384928">
                <a:tc>
                  <a:txBody>
                    <a:bodyPr/>
                    <a:lstStyle/>
                    <a:p>
                      <a:pPr lvl="0">
                        <a:buNone/>
                      </a:pPr>
                      <a:r>
                        <a:rPr lang="en-US" sz="1300">
                          <a:solidFill>
                            <a:srgbClr val="000000"/>
                          </a:solidFill>
                        </a:rPr>
                        <a:t>0.7</a:t>
                      </a:r>
                    </a:p>
                  </a:txBody>
                  <a:tcPr/>
                </a:tc>
                <a:tc>
                  <a:txBody>
                    <a:bodyPr/>
                    <a:lstStyle/>
                    <a:p>
                      <a:pPr lvl="0" algn="l">
                        <a:buNone/>
                      </a:pPr>
                      <a:r>
                        <a:rPr lang="en-US" sz="1300" b="0" i="0" u="none" strike="noStrike" noProof="0">
                          <a:solidFill>
                            <a:srgbClr val="000000"/>
                          </a:solidFill>
                        </a:rPr>
                        <a:t>The system shall not exceed 250,000 feet in apogee.</a:t>
                      </a:r>
                      <a:endParaRPr lang="en-US">
                        <a:solidFill>
                          <a:srgbClr val="000000"/>
                        </a:solidFill>
                      </a:endParaRPr>
                    </a:p>
                  </a:txBody>
                  <a:tcPr marL="7620" marR="7620" marT="7620" marB="0"/>
                </a:tc>
                <a:tc>
                  <a:txBody>
                    <a:bodyPr/>
                    <a:lstStyle/>
                    <a:p>
                      <a:pPr marL="0" lvl="0" indent="0" algn="l">
                        <a:lnSpc>
                          <a:spcPct val="100000"/>
                        </a:lnSpc>
                        <a:spcBef>
                          <a:spcPts val="0"/>
                        </a:spcBef>
                        <a:spcAft>
                          <a:spcPts val="0"/>
                        </a:spcAft>
                        <a:buNone/>
                      </a:pPr>
                      <a:r>
                        <a:rPr lang="en-US" sz="1300" b="0" i="0" u="none" strike="noStrike" noProof="0">
                          <a:solidFill>
                            <a:srgbClr val="000000"/>
                          </a:solidFill>
                          <a:effectLst/>
                          <a:latin typeface="Aptos Narrow"/>
                        </a:rPr>
                        <a:t>This is a FAR requirement based on FAA COA</a:t>
                      </a:r>
                    </a:p>
                  </a:txBody>
                  <a:tcPr marL="7620" marR="7620" marT="7620" marB="0"/>
                </a:tc>
                <a:extLst>
                  <a:ext uri="{0D108BD9-81ED-4DB2-BD59-A6C34878D82A}">
                    <a16:rowId xmlns:a16="http://schemas.microsoft.com/office/drawing/2014/main" val="1349029960"/>
                  </a:ext>
                </a:extLst>
              </a:tr>
            </a:tbl>
          </a:graphicData>
        </a:graphic>
      </p:graphicFrame>
    </p:spTree>
    <p:extLst>
      <p:ext uri="{BB962C8B-B14F-4D97-AF65-F5344CB8AC3E}">
        <p14:creationId xmlns:p14="http://schemas.microsoft.com/office/powerpoint/2010/main" val="4074093959"/>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PSSTemplateTheme2024">
  <a:themeElements>
    <a:clrScheme name="Cal Poly Brand">
      <a:dk1>
        <a:srgbClr val="154734"/>
      </a:dk1>
      <a:lt1>
        <a:srgbClr val="FFFFFF"/>
      </a:lt1>
      <a:dk2>
        <a:srgbClr val="545859"/>
      </a:dk2>
      <a:lt2>
        <a:srgbClr val="F2F3F1"/>
      </a:lt2>
      <a:accent1>
        <a:srgbClr val="BD8B13"/>
      </a:accent1>
      <a:accent2>
        <a:srgbClr val="597D71"/>
      </a:accent2>
      <a:accent3>
        <a:srgbClr val="348338"/>
      </a:accent3>
      <a:accent4>
        <a:srgbClr val="FFC000"/>
      </a:accent4>
      <a:accent5>
        <a:srgbClr val="B7CDC2"/>
      </a:accent5>
      <a:accent6>
        <a:srgbClr val="F2F3F1"/>
      </a:accent6>
      <a:hlink>
        <a:srgbClr val="BD8A12"/>
      </a:hlink>
      <a:folHlink>
        <a:srgbClr val="535758"/>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Cal Poly Brand">
    <a:dk1>
      <a:srgbClr val="154734"/>
    </a:dk1>
    <a:lt1>
      <a:srgbClr val="FFFFFF"/>
    </a:lt1>
    <a:dk2>
      <a:srgbClr val="545859"/>
    </a:dk2>
    <a:lt2>
      <a:srgbClr val="F2F3F1"/>
    </a:lt2>
    <a:accent1>
      <a:srgbClr val="BD8B13"/>
    </a:accent1>
    <a:accent2>
      <a:srgbClr val="597D71"/>
    </a:accent2>
    <a:accent3>
      <a:srgbClr val="348338"/>
    </a:accent3>
    <a:accent4>
      <a:srgbClr val="FFC000"/>
    </a:accent4>
    <a:accent5>
      <a:srgbClr val="B7CDC2"/>
    </a:accent5>
    <a:accent6>
      <a:srgbClr val="F2F3F1"/>
    </a:accent6>
    <a:hlink>
      <a:srgbClr val="BD8A12"/>
    </a:hlink>
    <a:folHlink>
      <a:srgbClr val="535758"/>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B331AF93F0C2498E4B6F7C9AE715AD" ma:contentTypeVersion="23" ma:contentTypeDescription="Create a new document." ma:contentTypeScope="" ma:versionID="7612d20e8494317d507fc766dcfc4b2a">
  <xsd:schema xmlns:xsd="http://www.w3.org/2001/XMLSchema" xmlns:xs="http://www.w3.org/2001/XMLSchema" xmlns:p="http://schemas.microsoft.com/office/2006/metadata/properties" xmlns:ns2="7a674e79-da70-4e10-ba51-3c787da465b0" xmlns:ns3="48552078-57d5-422b-bf8a-5b02ecfaf7e1" targetNamespace="http://schemas.microsoft.com/office/2006/metadata/properties" ma:root="true" ma:fieldsID="38336ce8ecb75e8f266f6e892669c900" ns2:_="" ns3:_="">
    <xsd:import namespace="7a674e79-da70-4e10-ba51-3c787da465b0"/>
    <xsd:import namespace="48552078-57d5-422b-bf8a-5b02ecfaf7e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LengthInSeconds"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674e79-da70-4e10-ba51-3c787da465b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61ac71e1-17cb-489f-b9df-289fd188e570}" ma:internalName="TaxCatchAll" ma:showField="CatchAllData" ma:web="7a674e79-da70-4e10-ba51-3c787da465b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8552078-57d5-422b-bf8a-5b02ecfaf7e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4842382c-d026-4381-8190-48ffa8899c7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a674e79-da70-4e10-ba51-3c787da465b0" xsi:nil="true"/>
    <lcf76f155ced4ddcb4097134ff3c332f xmlns="48552078-57d5-422b-bf8a-5b02ecfaf7e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7AFC0CA-78E0-4646-85EC-5AA0248374BA}">
  <ds:schemaRefs>
    <ds:schemaRef ds:uri="48552078-57d5-422b-bf8a-5b02ecfaf7e1"/>
    <ds:schemaRef ds:uri="7a674e79-da70-4e10-ba51-3c787da465b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8094365-CCCB-4B07-A86A-CA358CD41A70}">
  <ds:schemaRefs>
    <ds:schemaRef ds:uri="http://schemas.microsoft.com/sharepoint/v3/contenttype/forms"/>
  </ds:schemaRefs>
</ds:datastoreItem>
</file>

<file path=customXml/itemProps3.xml><?xml version="1.0" encoding="utf-8"?>
<ds:datastoreItem xmlns:ds="http://schemas.openxmlformats.org/officeDocument/2006/customXml" ds:itemID="{FF217EE6-0923-4EB7-A904-336E3A229A15}">
  <ds:schemaRefs>
    <ds:schemaRef ds:uri="48552078-57d5-422b-bf8a-5b02ecfaf7e1"/>
    <ds:schemaRef ds:uri="7a674e79-da70-4e10-ba51-3c787da465b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131</Slides>
  <Notes>61</Notes>
  <HiddenSlides>6</HiddenSlides>
  <ScaleCrop>false</ScaleCrop>
  <HeadingPairs>
    <vt:vector size="4" baseType="variant">
      <vt:variant>
        <vt:lpstr>Theme</vt:lpstr>
      </vt:variant>
      <vt:variant>
        <vt:i4>1</vt:i4>
      </vt:variant>
      <vt:variant>
        <vt:lpstr>Slide Titles</vt:lpstr>
      </vt:variant>
      <vt:variant>
        <vt:i4>131</vt:i4>
      </vt:variant>
    </vt:vector>
  </HeadingPairs>
  <TitlesOfParts>
    <vt:vector size="132" baseType="lpstr">
      <vt:lpstr>CPSSTemplateTheme2024</vt:lpstr>
      <vt:lpstr>Archerfish</vt:lpstr>
      <vt:lpstr>Agenda</vt:lpstr>
      <vt:lpstr>Overview</vt:lpstr>
      <vt:lpstr>Overview</vt:lpstr>
      <vt:lpstr>Overview</vt:lpstr>
      <vt:lpstr>Overview</vt:lpstr>
      <vt:lpstr>ConOps</vt:lpstr>
      <vt:lpstr>Requirements</vt:lpstr>
      <vt:lpstr>Requirements</vt:lpstr>
      <vt:lpstr>Requirements</vt:lpstr>
      <vt:lpstr>Altitude Plots</vt:lpstr>
      <vt:lpstr>Fluids</vt:lpstr>
      <vt:lpstr>Fluids – Pump</vt:lpstr>
      <vt:lpstr>Pump Requirements</vt:lpstr>
      <vt:lpstr>Pump Design</vt:lpstr>
      <vt:lpstr>Pump Design</vt:lpstr>
      <vt:lpstr>BP2 Learnings</vt:lpstr>
      <vt:lpstr>Integrated Design</vt:lpstr>
      <vt:lpstr>Pump Mounting</vt:lpstr>
      <vt:lpstr>Pump Electronics</vt:lpstr>
      <vt:lpstr>Future Steps</vt:lpstr>
      <vt:lpstr>Fluids – Bulkheads and Tanks</vt:lpstr>
      <vt:lpstr>Bulkhead Requirements</vt:lpstr>
      <vt:lpstr>Bulkheads </vt:lpstr>
      <vt:lpstr>Bulkheads OX</vt:lpstr>
      <vt:lpstr>Bulkheads OX/GN2</vt:lpstr>
      <vt:lpstr>Bulkheads GN2/Fuel</vt:lpstr>
      <vt:lpstr>Bulkhead Bottom Fuel</vt:lpstr>
      <vt:lpstr>Bulkhead Calcs</vt:lpstr>
      <vt:lpstr>Bulkhead Calcs</vt:lpstr>
      <vt:lpstr>Bulkheads</vt:lpstr>
      <vt:lpstr>Tanks Requirements</vt:lpstr>
      <vt:lpstr>Tank CAD</vt:lpstr>
      <vt:lpstr>Down Pipe CAD</vt:lpstr>
      <vt:lpstr>Manufacturing</vt:lpstr>
      <vt:lpstr>Bulkhead and Tank BOM</vt:lpstr>
      <vt:lpstr>Fluids – Valves and Injector</vt:lpstr>
      <vt:lpstr>Valve Requirements</vt:lpstr>
      <vt:lpstr>Injector Valves</vt:lpstr>
      <vt:lpstr>Valves</vt:lpstr>
      <vt:lpstr>Injector Manifold</vt:lpstr>
      <vt:lpstr>Valves BOM</vt:lpstr>
      <vt:lpstr>Next Steps</vt:lpstr>
      <vt:lpstr>Propulsion</vt:lpstr>
      <vt:lpstr>Engine Design</vt:lpstr>
      <vt:lpstr>Engine Design</vt:lpstr>
      <vt:lpstr>Thrust Curve</vt:lpstr>
      <vt:lpstr>Engine Design</vt:lpstr>
      <vt:lpstr>Engine Design</vt:lpstr>
      <vt:lpstr>Engine Design</vt:lpstr>
      <vt:lpstr>Engine BOM</vt:lpstr>
      <vt:lpstr>Ground System Equipment</vt:lpstr>
      <vt:lpstr>Overall System</vt:lpstr>
      <vt:lpstr>Fluid Systems/P&amp;ID</vt:lpstr>
      <vt:lpstr>Separation Mechanism</vt:lpstr>
      <vt:lpstr>Separation Mechanism</vt:lpstr>
      <vt:lpstr>GSE BOM</vt:lpstr>
      <vt:lpstr>GSE BOM</vt:lpstr>
      <vt:lpstr>Break</vt:lpstr>
      <vt:lpstr>Aerodynamics</vt:lpstr>
      <vt:lpstr>Aerodynamics</vt:lpstr>
      <vt:lpstr>Aerodynamics</vt:lpstr>
      <vt:lpstr>Aerodynamics</vt:lpstr>
      <vt:lpstr>Star-CCM+ CFD </vt:lpstr>
      <vt:lpstr>CFD Models</vt:lpstr>
      <vt:lpstr>CFD Mesh</vt:lpstr>
      <vt:lpstr>CFD Results</vt:lpstr>
      <vt:lpstr>Altitude Sensitivity</vt:lpstr>
      <vt:lpstr>Altitude Plots</vt:lpstr>
      <vt:lpstr>Altitude Plots</vt:lpstr>
      <vt:lpstr>Wind Analysis</vt:lpstr>
      <vt:lpstr>Wind Analysis</vt:lpstr>
      <vt:lpstr>Wind Analysis </vt:lpstr>
      <vt:lpstr>Aerodynamics BOM</vt:lpstr>
      <vt:lpstr>Next Steps</vt:lpstr>
      <vt:lpstr>Overall Model</vt:lpstr>
      <vt:lpstr>Structures</vt:lpstr>
      <vt:lpstr>Content:</vt:lpstr>
      <vt:lpstr>Material Choices</vt:lpstr>
      <vt:lpstr>Main Body</vt:lpstr>
      <vt:lpstr>Couplers</vt:lpstr>
      <vt:lpstr>Bulkheads</vt:lpstr>
      <vt:lpstr>Bulkheads cont.</vt:lpstr>
      <vt:lpstr>Integration of Couplers and Bulkheads</vt:lpstr>
      <vt:lpstr>Force and Moment Calculations</vt:lpstr>
      <vt:lpstr>Bolts</vt:lpstr>
      <vt:lpstr>Manufacturing (Couplers)</vt:lpstr>
      <vt:lpstr>Manufacturing (Bulkheads)</vt:lpstr>
      <vt:lpstr>Next Steps</vt:lpstr>
      <vt:lpstr>Preliminary Structures BOM</vt:lpstr>
      <vt:lpstr>Recovery</vt:lpstr>
      <vt:lpstr>Recovery Layout</vt:lpstr>
      <vt:lpstr>Internal Components</vt:lpstr>
      <vt:lpstr>Outer Profile</vt:lpstr>
      <vt:lpstr>Internal Components</vt:lpstr>
      <vt:lpstr>Internal Components</vt:lpstr>
      <vt:lpstr>Internal Components</vt:lpstr>
      <vt:lpstr>Material Analysis</vt:lpstr>
      <vt:lpstr>Recovery Calcs</vt:lpstr>
      <vt:lpstr>Recovery Calcs</vt:lpstr>
      <vt:lpstr>Recovery Calcs</vt:lpstr>
      <vt:lpstr>Pressure Vessel</vt:lpstr>
      <vt:lpstr>Bill of Materials</vt:lpstr>
      <vt:lpstr>Next Steps</vt:lpstr>
      <vt:lpstr>Avionics</vt:lpstr>
      <vt:lpstr>Systems Overview</vt:lpstr>
      <vt:lpstr>Message Flow</vt:lpstr>
      <vt:lpstr>Complete Electronics Diagram</vt:lpstr>
      <vt:lpstr>Mission Control</vt:lpstr>
      <vt:lpstr>Mission Control System Requirements</vt:lpstr>
      <vt:lpstr>Fill Station </vt:lpstr>
      <vt:lpstr>Fill Station Requirements </vt:lpstr>
      <vt:lpstr>Avionics Bay </vt:lpstr>
      <vt:lpstr>Avionics Bay Requirements (TOM)</vt:lpstr>
      <vt:lpstr>Avionics Bay Requirements (Black Box)</vt:lpstr>
      <vt:lpstr>Engine Controller</vt:lpstr>
      <vt:lpstr>Engine Controller Requirements </vt:lpstr>
      <vt:lpstr>Testing</vt:lpstr>
      <vt:lpstr>Revisions</vt:lpstr>
      <vt:lpstr>Testing</vt:lpstr>
      <vt:lpstr>Testing</vt:lpstr>
      <vt:lpstr>Testing</vt:lpstr>
      <vt:lpstr>Testing</vt:lpstr>
      <vt:lpstr>Testing</vt:lpstr>
      <vt:lpstr>Testing</vt:lpstr>
      <vt:lpstr>Budget</vt:lpstr>
      <vt:lpstr>Project Budget Estimates (In-Progress)</vt:lpstr>
      <vt:lpstr>Questions?</vt:lpstr>
      <vt:lpstr>PowerPoint Presentation</vt:lpstr>
      <vt:lpstr>APPENDIX</vt:lpstr>
      <vt:lpstr>Far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Cameron John Mcclure-Coleman</dc:creator>
  <cp:revision>4</cp:revision>
  <dcterms:created xsi:type="dcterms:W3CDTF">2024-06-04T18:56:50Z</dcterms:created>
  <dcterms:modified xsi:type="dcterms:W3CDTF">2026-04-15T16:22:31Z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0x01010060B331AF93F0C2498E4B6F7C9AE715AD</vt:lpwstr>
  </property>
  <property fmtid="{D5CDD505-2E9C-101B-9397-08002B2CF9AE}" pid="3" name="MediaServiceImageTags">
    <vt:lpwstr/>
  </property>
</Properties>
</file>