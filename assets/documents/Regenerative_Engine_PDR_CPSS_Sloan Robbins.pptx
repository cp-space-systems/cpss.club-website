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2D_C1E8239A.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2.xml" ContentType="application/inkml+xml"/>
  <Override PartName="/ppt/ink/ink3.xml" ContentType="application/inkml+xml"/>
  <Override PartName="/ppt/comments/modernComment_802_F8310285.xml" ContentType="application/vnd.ms-powerpoint.comments+xml"/>
  <Override PartName="/ppt/notesSlides/notesSlide9.xml" ContentType="application/vnd.openxmlformats-officedocument.presentationml.notesSlide+xml"/>
  <Override PartName="/ppt/comments/modernComment_81B_59DB5372.xml" ContentType="application/vnd.ms-powerpoint.comments+xml"/>
  <Override PartName="/ppt/comments/modernComment_820_37497D9D.xml" ContentType="application/vnd.ms-powerpoint.comments+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2"/>
  </p:notesMasterIdLst>
  <p:sldIdLst>
    <p:sldId id="2041" r:id="rId5"/>
    <p:sldId id="259" r:id="rId6"/>
    <p:sldId id="301" r:id="rId7"/>
    <p:sldId id="2054" r:id="rId8"/>
    <p:sldId id="2055" r:id="rId9"/>
    <p:sldId id="2056" r:id="rId10"/>
    <p:sldId id="2057" r:id="rId11"/>
    <p:sldId id="2058" r:id="rId12"/>
    <p:sldId id="2030" r:id="rId13"/>
    <p:sldId id="2031" r:id="rId14"/>
    <p:sldId id="2059" r:id="rId15"/>
    <p:sldId id="2060" r:id="rId16"/>
    <p:sldId id="2061" r:id="rId17"/>
    <p:sldId id="2062" r:id="rId18"/>
    <p:sldId id="2063" r:id="rId19"/>
    <p:sldId id="2064" r:id="rId20"/>
    <p:sldId id="2094" r:id="rId21"/>
    <p:sldId id="2067" r:id="rId22"/>
    <p:sldId id="2068" r:id="rId23"/>
    <p:sldId id="2033" r:id="rId24"/>
    <p:sldId id="2032" r:id="rId25"/>
    <p:sldId id="2049" r:id="rId26"/>
    <p:sldId id="2087" r:id="rId27"/>
    <p:sldId id="2088" r:id="rId28"/>
    <p:sldId id="2089" r:id="rId29"/>
    <p:sldId id="2090" r:id="rId30"/>
    <p:sldId id="2091" r:id="rId31"/>
    <p:sldId id="2092" r:id="rId32"/>
    <p:sldId id="2095" r:id="rId33"/>
    <p:sldId id="2050" r:id="rId34"/>
    <p:sldId id="2034" r:id="rId35"/>
    <p:sldId id="2035" r:id="rId36"/>
    <p:sldId id="2069" r:id="rId37"/>
    <p:sldId id="2070" r:id="rId38"/>
    <p:sldId id="2071" r:id="rId39"/>
    <p:sldId id="2072" r:id="rId40"/>
    <p:sldId id="2073" r:id="rId41"/>
    <p:sldId id="2053" r:id="rId42"/>
    <p:sldId id="2036" r:id="rId43"/>
    <p:sldId id="2042" r:id="rId44"/>
    <p:sldId id="2074" r:id="rId45"/>
    <p:sldId id="2075" r:id="rId46"/>
    <p:sldId id="2085" r:id="rId47"/>
    <p:sldId id="2037" r:id="rId48"/>
    <p:sldId id="2076" r:id="rId49"/>
    <p:sldId id="2077" r:id="rId50"/>
    <p:sldId id="2079" r:id="rId51"/>
    <p:sldId id="2080" r:id="rId52"/>
    <p:sldId id="2038" r:id="rId53"/>
    <p:sldId id="2039" r:id="rId54"/>
    <p:sldId id="2082" r:id="rId55"/>
    <p:sldId id="2083" r:id="rId56"/>
    <p:sldId id="2040" r:id="rId57"/>
    <p:sldId id="2084" r:id="rId58"/>
    <p:sldId id="479" r:id="rId59"/>
    <p:sldId id="459" r:id="rId60"/>
    <p:sldId id="2096"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DA0A2E3-F770-4431-8BC0-B1B9B9FF0D23}">
          <p14:sldIdLst>
            <p14:sldId id="2041"/>
            <p14:sldId id="259"/>
            <p14:sldId id="301"/>
            <p14:sldId id="2054"/>
            <p14:sldId id="2055"/>
            <p14:sldId id="2056"/>
            <p14:sldId id="2057"/>
            <p14:sldId id="2058"/>
            <p14:sldId id="2030"/>
            <p14:sldId id="2031"/>
            <p14:sldId id="2059"/>
            <p14:sldId id="2060"/>
            <p14:sldId id="2061"/>
            <p14:sldId id="2062"/>
            <p14:sldId id="2063"/>
            <p14:sldId id="2064"/>
            <p14:sldId id="2094"/>
            <p14:sldId id="2067"/>
            <p14:sldId id="2068"/>
            <p14:sldId id="2033"/>
            <p14:sldId id="2032"/>
            <p14:sldId id="2049"/>
            <p14:sldId id="2087"/>
            <p14:sldId id="2088"/>
            <p14:sldId id="2089"/>
            <p14:sldId id="2090"/>
            <p14:sldId id="2091"/>
            <p14:sldId id="2092"/>
            <p14:sldId id="2095"/>
            <p14:sldId id="2050"/>
            <p14:sldId id="2034"/>
            <p14:sldId id="2035"/>
            <p14:sldId id="2069"/>
            <p14:sldId id="2070"/>
            <p14:sldId id="2071"/>
            <p14:sldId id="2072"/>
            <p14:sldId id="2073"/>
            <p14:sldId id="2053"/>
            <p14:sldId id="2036"/>
            <p14:sldId id="2042"/>
            <p14:sldId id="2074"/>
            <p14:sldId id="2075"/>
            <p14:sldId id="2085"/>
            <p14:sldId id="2037"/>
            <p14:sldId id="2076"/>
            <p14:sldId id="2077"/>
            <p14:sldId id="2079"/>
            <p14:sldId id="2080"/>
            <p14:sldId id="2038"/>
            <p14:sldId id="2039"/>
            <p14:sldId id="2082"/>
            <p14:sldId id="2083"/>
            <p14:sldId id="2040"/>
            <p14:sldId id="2084"/>
            <p14:sldId id="479"/>
            <p14:sldId id="459"/>
            <p14:sldId id="209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5B27701-9A7C-0E3C-397D-297F31B62F88}" name="Timothy Casey Barry" initials="" userId="S::tibarry@calpoly.edu::db5ff5cd-743e-4ca1-b15e-0469afd79d56" providerId="AD"/>
  <p188:author id="{FEC47005-7FA9-81B6-735F-DA52E8190C8C}" name="Conner Pao" initials="CP" userId="S::copao@calpoly.edu::5ae79f09-c075-4981-ab63-14cb31f1af56" providerId="AD"/>
  <p188:author id="{1EB33F17-957E-B4D8-CAA4-050AB487468B}" name="Metztli Singha" initials="MS" userId="S::msingha@calpoly.edu::58e61414-032b-4e68-bbf6-4086a69883e2" providerId="AD"/>
  <p188:author id="{94554C43-8A85-D3A8-A4D2-4D5D6134B728}" name="Sloan Davian Robbins" initials="SR" userId="S::sdrobbin@calpoly.edu::9619f384-cd66-4ebe-ad2b-7ff0762ea216" providerId="AD"/>
  <p188:author id="{16F46D47-40EF-AF25-0299-32ED11499FA3}" name="Elizabeth Ashley Matranga" initials="EM" userId="S::ematrang@calpoly.edu::0436fd68-7b49-4f04-b527-9a620eafe08e" providerId="AD"/>
  <p188:author id="{5C8E7C4D-0532-25FF-E87F-A1CD415D1DAB}" name="Brayant Silva Hernandez" initials="BS" userId="S::bsilvahe@calpoly.edu::30c98785-428f-4ecb-8273-48372d3a096e" providerId="AD"/>
  <p188:author id="{41CD9461-4812-1D10-0BBA-E68222941669}" name="Brandon Nicholas Muck" initials="BM" userId="S::bmuck@calpoly.edu::f4908edd-4efc-4fee-a672-c1658a75784c" providerId="AD"/>
  <p188:author id="{A5EE9762-B04A-ACA7-D08A-625112A523FD}" name="Devin Chen" initials="DC" userId="S::dchen110@calpoly.edu::a0cc3181-89cd-4524-830f-441b40223ed7" providerId="AD"/>
  <p188:author id="{B685C06E-258F-3D96-522B-2EF331BF47F4}" name="Tate Robert Manley" initials="TM" userId="S::trmanley@calpoly.edu::7a769cc2-ac1b-4a15-a174-bc73dfc5bb1e" providerId="AD"/>
  <p188:author id="{CF429D76-0DBF-14F1-34BB-9059ED08F700}" name="Auriel Corazon Soriano" initials="AS" userId="S::acsorian@calpoly.edu::de55cd38-b297-4347-b611-18ef79d9c61b" providerId="AD"/>
  <p188:author id="{E359218E-D0BD-D1B5-EA44-6E3D4927AB00}" name="Juan Pablo Lopez Godina" initials="JL" userId="S::lopezgod@calpoly.edu::24b80656-c65a-42a8-867c-91144eb88cb7" providerId="AD"/>
  <p188:author id="{405E639C-6B07-7CB0-A077-13254431FA3B}" name="Ellen Catherine Poulsen" initials="EP" userId="S::ecpoulse@calpoly.edu::ce08e450-5d3b-4e9f-911d-ce509b7d6dfc" providerId="AD"/>
  <p188:author id="{8E7AD5A1-3AB1-38D7-60D4-8AB83C7D0D5E}" name="Calla Woodruff Lyons" initials="CL" userId="S::cawoodru@calpoly.edu::7963d992-d501-4e9f-8be3-5aa0a271ec1d" providerId="AD"/>
  <p188:author id="{849D42AE-B138-1CB3-6C48-3D2825550CCA}" name="Kendall Ryane Wilhite" initials="KW" userId="S::kwilhite@calpoly.edu::616df655-aa47-425f-897c-4b0b3ef4e91c" providerId="AD"/>
  <p188:author id="{ADBE0FB5-5363-46AE-2864-5CFF7BEC7C92}" name="Jasmine Cheuklam Cheng" initials="JC" userId="S::jcheng74@calpoly.edu::925333cc-0da8-4708-adb0-f265dbbd90e5" providerId="AD"/>
  <p188:author id="{AC8B5AC5-7988-C296-928E-AA294E5E9992}" name="Joshua L. Chung" initials="JC" userId="S::jchung97@calpoly.edu::33c4e0d6-6d53-4c58-8761-61f7524c3a25" providerId="AD"/>
  <p188:author id="{36DF33DA-D810-6733-FF22-BE39BA8DFCA1}" name="Raymond Lopez" initials="RL" userId="S::rlope122@calpoly.edu::c4c9231f-ca51-4b92-8dea-8604c66d08ec" providerId="AD"/>
  <p188:author id="{84E689DA-0310-B836-286A-3A2CCA402086}" name="Wyatt Thomas Matthews" initials="WM" userId="S::wtmatthe@calpoly.edu::d3e9573d-fc87-4363-9abf-6fb969117ec4" providerId="AD"/>
  <p188:author id="{3B2542DC-5D81-6859-338B-368167A532B4}" name="Tianna Waring" initials="TW" userId="S::twaring@calpoly.edu::fe14226b-7b21-4e0d-8f60-4880e6cdf54a" providerId="AD"/>
  <p188:author id="{B9C3B5DE-EA07-014F-AE73-199304C25B8D}" name="Sean Oxenhorn" initials="SO" userId="S::soxenhor@calpoly.edu::073bf00c-bd78-410d-a655-bed4dd6f1360" providerId="AD"/>
  <p188:author id="{D248EFDE-0C4E-F7D3-D718-2F60F085BE75}" name="Calvin Jay-Ming Fong" initials="CF" userId="S::cfong28@calpoly.edu::c0c53a69-4de3-4927-aa9e-a00ae0d7322b" providerId="AD"/>
  <p188:author id="{EFB807E0-CB45-B64A-2328-831B8DFC25B8}" name="Ryan James Fukui" initials="RF" userId="S::rfukui@calpoly.edu::7a944b96-625c-4b24-bb69-bde5d896ebc3" providerId="AD"/>
  <p188:author id="{3664E6E9-5E13-DE23-F916-425431D8294D}" name="Noah David Shefer" initials="NS" userId="S::nshefer@calpoly.edu::8c08af93-95ff-440b-8e21-ae27e9ec0ceb" providerId="AD"/>
  <p188:author id="{397A80EB-6F6A-3032-BFD9-9DE157C0183D}" name="Arjan Reyes" initials="AR" userId="S::areye162@calpoly.edu::e6294f37-aa8a-4c72-b10d-0da3ee269489" providerId="AD"/>
  <p188:author id="{3DF190F2-9B66-377F-B7E0-4ACE95964A70}" name="Gustavo Gabriel Chavez" initials="GC" userId="S::gchave28@calpoly.edu::f2e535f8-59a6-42e4-a0ae-09caeef9144c" providerId="AD"/>
  <p188:author id="{B07E6FF5-2419-38E6-409A-15115E08C72A}" name="Jeremiah Michael Laing" initials="JL" userId="S::jmlaing@calpoly.edu::489075e8-8fca-4606-963b-8c83ab0fc837" providerId="AD"/>
  <p188:author id="{AA37F2F5-3874-E43D-51D3-BC2B8AE9E661}" name="Tarzan Ma" initials="TM" userId="S::tma08@calpoly.edu::33a7fda7-a4e9-40a5-8e38-d3d418d050e3" providerId="AD"/>
  <p188:author id="{BBB72BFB-C04A-7D11-13C8-4B2E4CF753C3}" name="Yang Hai" initials="YH" userId="S::yahai@calpoly.edu::aae57e85-cf2b-4332-a01e-a5ef3eefedb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2F3F1"/>
    <a:srgbClr val="8A948F"/>
    <a:srgbClr val="CBD1CF"/>
    <a:srgbClr val="F2F0F0"/>
    <a:srgbClr val="154734"/>
    <a:srgbClr val="E7E9E9"/>
    <a:srgbClr val="214734"/>
    <a:srgbClr val="F2F2B0"/>
    <a:srgbClr val="DBD1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079E72-62F4-4932-BDEF-08E00AC314DD}" v="1099" dt="2026-10-17T18:22:27.058"/>
    <p1510:client id="{6985F48E-6580-9F3B-407A-15066BA26DC1}" v="561" dt="2026-10-17T00:32:25.745"/>
    <p1510:client id="{828330E2-E82D-41AA-996B-0F9C8FF559F8}" v="305" dt="2026-10-17T18:45:53.385"/>
    <p1510:client id="{83A805C1-90AF-EF4E-8530-79F25CA8E878}" v="6403" dt="2026-10-18T22:03:32.551"/>
    <p1510:client id="{9FF5EE2E-244B-E145-861C-EF997034DC23}" v="93" dt="2026-10-17T14:41:41.176"/>
    <p1510:client id="{D9765C55-2C3F-46E3-BCAD-56191E454DD8}" v="5753" dt="2026-10-17T18:15:38.9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556"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presProps" Target="presProps.xml"/><Relationship Id="rId68"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omments/modernComment_12D_C1E8239A.xml><?xml version="1.0" encoding="utf-8"?>
<p188:cmLst xmlns:a="http://schemas.openxmlformats.org/drawingml/2006/main" xmlns:r="http://schemas.openxmlformats.org/officeDocument/2006/relationships" xmlns:p188="http://schemas.microsoft.com/office/powerpoint/2018/8/main">
  <p188:cm id="{6011BD39-6C76-48DE-86D6-CA57D97D3748}" authorId="{405E639C-6B07-7CB0-A077-13254431FA3B}" status="resolved" created="2026-10-15T07:37:17.855" complete="100000">
    <ac:txMkLst xmlns:ac="http://schemas.microsoft.com/office/drawing/2013/main/command">
      <pc:docMk xmlns:pc="http://schemas.microsoft.com/office/powerpoint/2013/main/command"/>
      <pc:sldMk xmlns:pc="http://schemas.microsoft.com/office/powerpoint/2013/main/command" cId="3253216154" sldId="301"/>
      <ac:spMk id="7" creationId="{54311E3C-B4B5-0BF6-7DFE-C89D9F93B6A0}"/>
      <ac:txMk cp="0" len="30">
        <ac:context len="51" hash="1821888656"/>
      </ac:txMk>
    </ac:txMkLst>
    <p188:txBody>
      <a:bodyPr/>
      <a:lstStyle/>
      <a:p>
        <a:r>
          <a:rPr lang="en-US"/>
          <a:t>Very nitpicky but each slide is on the section break style instead of the single text style, may look more polished if we switch it over and i volunteer myself to do the work :(</a:t>
        </a:r>
      </a:p>
    </p188:txBody>
  </p188:cm>
</p188:cmLst>
</file>

<file path=ppt/comments/modernComment_81B_59DB5372.xml><?xml version="1.0" encoding="utf-8"?>
<p188:cmLst xmlns:a="http://schemas.openxmlformats.org/drawingml/2006/main" xmlns:r="http://schemas.openxmlformats.org/officeDocument/2006/relationships" xmlns:p188="http://schemas.microsoft.com/office/powerpoint/2018/8/main">
  <p188:cm id="{C99EFCAD-B4A3-46B7-905D-0E54F8939797}" authorId="{405E639C-6B07-7CB0-A077-13254431FA3B}" status="resolved" created="2026-10-16T19:00:55.444" complete="100000">
    <ac:txMkLst xmlns:ac="http://schemas.microsoft.com/office/drawing/2013/main/command">
      <pc:docMk xmlns:pc="http://schemas.microsoft.com/office/powerpoint/2013/main/command"/>
      <pc:sldMk xmlns:pc="http://schemas.microsoft.com/office/powerpoint/2013/main/command" cId="1507545970" sldId="2075"/>
      <ac:spMk id="5" creationId="{82D7A081-2E1F-DB44-6458-AE21A5C9D496}"/>
      <ac:txMk cp="0" len="19">
        <ac:context len="21" hash="2676918476"/>
      </ac:txMk>
    </ac:txMkLst>
    <p188:pos x="5767079" y="180906"/>
    <p188:txBody>
      <a:bodyPr/>
      <a:lstStyle/>
      <a:p>
        <a:r>
          <a:rPr lang="en-US"/>
          <a:t>[@Jeremiah Michael Laing] [@Sloan Davian Robbins] Makes sense for this to have its own section but add questions slide after? doesnt follow current format</a:t>
        </a:r>
      </a:p>
    </p188:txBody>
  </p188:cm>
</p188:cmLst>
</file>

<file path=ppt/comments/modernComment_802_F8310285.xml><?xml version="1.0" encoding="utf-8"?>
<p188:cmLst xmlns:a="http://schemas.openxmlformats.org/drawingml/2006/main" xmlns:r="http://schemas.openxmlformats.org/officeDocument/2006/relationships" xmlns:p188="http://schemas.microsoft.com/office/powerpoint/2018/8/main">
  <p188:cm id="{8F912B5D-5B27-487C-9FEC-CB5AD66B830D}" authorId="{405E639C-6B07-7CB0-A077-13254431FA3B}" created="2026-10-17T17:20:27.269">
    <ac:txMkLst xmlns:ac="http://schemas.microsoft.com/office/drawing/2013/main/command">
      <pc:docMk xmlns:pc="http://schemas.microsoft.com/office/powerpoint/2013/main/command"/>
      <pc:sldMk xmlns:pc="http://schemas.microsoft.com/office/powerpoint/2013/main/command" cId="4163961477" sldId="2050"/>
      <ac:spMk id="8" creationId="{17338A81-9607-8A00-9F77-787FC49D991D}"/>
      <ac:txMk cp="0" len="85">
        <ac:context len="132" hash="2103246599"/>
      </ac:txMk>
    </ac:txMkLst>
    <p188:pos x="6675120" y="975360"/>
    <p188:txBody>
      <a:bodyPr/>
      <a:lstStyle/>
      <a:p>
        <a:r>
          <a:rPr lang="en-US"/>
          <a:t>10 bolts</a:t>
        </a:r>
      </a:p>
    </p188:txBody>
  </p188:cm>
</p188:cmLst>
</file>

<file path=ppt/comments/modernComment_820_37497D9D.xml><?xml version="1.0" encoding="utf-8"?>
<p188:cmLst xmlns:a="http://schemas.openxmlformats.org/drawingml/2006/main" xmlns:r="http://schemas.openxmlformats.org/officeDocument/2006/relationships" xmlns:p188="http://schemas.microsoft.com/office/powerpoint/2018/8/main">
  <p188:cm id="{0EF817B2-3217-4DE5-BB40-A1DD91C9DCEC}" authorId="{405E639C-6B07-7CB0-A077-13254431FA3B}" status="resolved" created="2026-10-16T18:57:53.623" complete="100000">
    <ac:txMkLst xmlns:ac="http://schemas.microsoft.com/office/drawing/2013/main/command">
      <pc:docMk xmlns:pc="http://schemas.microsoft.com/office/powerpoint/2013/main/command"/>
      <pc:sldMk xmlns:pc="http://schemas.microsoft.com/office/powerpoint/2013/main/command" cId="927563165" sldId="2080"/>
      <ac:graphicFrameMk id="6" creationId="{21D8104C-5F86-C629-5349-259345297611}"/>
      <ac:tblMk/>
      <ac:tcMk rowId="10010" colId="20002"/>
      <ac:txMk cp="0" len="7">
        <ac:context len="8" hash="1757550937"/>
      </ac:txMk>
    </ac:txMkLst>
    <p188:pos x="4922848" y="1556892"/>
    <p188:txBody>
      <a:bodyPr/>
      <a:lstStyle/>
      <a:p>
        <a:r>
          <a:rPr lang="en-US"/>
          <a:t>[@Jeremiah Michael Laing] [@Sloan Davian Robbins] Insert another row at bottom for total across BOM on both slides.</a:t>
        </a:r>
      </a:p>
    </p188:txBody>
    <p188:extLst>
      <p:ext xmlns:p="http://schemas.openxmlformats.org/presentationml/2006/main" uri="{57CB4572-C831-44C2-8A1C-0ADB6CCDFE69}">
        <p223:reactions xmlns:p223="http://schemas.microsoft.com/office/powerpoint/2022/03/main">
          <p223:rxn type="👍">
            <p223:instance time="2026-10-17T00:52:08.550" authorId="{B07E6FF5-2419-38E6-409A-15115E08C72A}"/>
          </p223:rxn>
        </p223:reactions>
      </p:ext>
    </p188:extLst>
  </p188:cm>
</p188:cmLst>
</file>

<file path=ppt/diagrams/colors1.xml><?xml version="1.0" encoding="utf-8"?>
<dgm:colorsDef xmlns:dgm="http://schemas.openxmlformats.org/drawingml/2006/diagram" xmlns:a="http://schemas.openxmlformats.org/drawingml/2006/main" uniqueId="urn:microsoft.com/office/officeart/2005/8/colors/accent2_1#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CB20BA-9DD9-D944-89B5-7154FF35A799}" type="doc">
      <dgm:prSet loTypeId="urn:microsoft.com/office/officeart/2005/8/layout/hierarchy6" loCatId="" qsTypeId="urn:microsoft.com/office/officeart/2005/8/quickstyle/simple1#1" qsCatId="simple" csTypeId="urn:microsoft.com/office/officeart/2005/8/colors/accent2_1#1" csCatId="accent2" phldr="1"/>
      <dgm:spPr/>
      <dgm:t>
        <a:bodyPr/>
        <a:lstStyle/>
        <a:p>
          <a:endParaRPr lang="en-US"/>
        </a:p>
      </dgm:t>
    </dgm:pt>
    <dgm:pt modelId="{547A8FA0-F1DB-EC49-A27C-DB9C9FA1EE3B}">
      <dgm:prSet phldrT="[Text]" phldr="1"/>
      <dgm:spPr/>
      <dgm:t>
        <a:bodyPr/>
        <a:lstStyle/>
        <a:p>
          <a:endParaRPr lang="en-US"/>
        </a:p>
      </dgm:t>
    </dgm:pt>
    <dgm:pt modelId="{D19E8173-761C-EB46-98AA-9B6B6DD891C9}" type="parTrans" cxnId="{5C7DAB57-83FA-3143-BFA4-B895FEEF3CEE}">
      <dgm:prSet/>
      <dgm:spPr/>
      <dgm:t>
        <a:bodyPr/>
        <a:lstStyle/>
        <a:p>
          <a:endParaRPr lang="en-US"/>
        </a:p>
      </dgm:t>
    </dgm:pt>
    <dgm:pt modelId="{5C2507FD-0D56-4342-92C0-4AD002176A79}" type="sibTrans" cxnId="{5C7DAB57-83FA-3143-BFA4-B895FEEF3CEE}">
      <dgm:prSet/>
      <dgm:spPr/>
      <dgm:t>
        <a:bodyPr/>
        <a:lstStyle/>
        <a:p>
          <a:endParaRPr lang="en-US"/>
        </a:p>
      </dgm:t>
    </dgm:pt>
    <dgm:pt modelId="{B454B05A-8BBA-DC4F-A856-659508D754E4}">
      <dgm:prSet phldrT="[Text]" phldr="1"/>
      <dgm:spPr/>
      <dgm:t>
        <a:bodyPr/>
        <a:lstStyle/>
        <a:p>
          <a:endParaRPr lang="en-US"/>
        </a:p>
      </dgm:t>
    </dgm:pt>
    <dgm:pt modelId="{E7D0EEBD-B851-9340-ADE0-35F90CCF3385}" type="parTrans" cxnId="{5BD4ABC8-0806-7D4B-A128-2BF08893035F}">
      <dgm:prSet/>
      <dgm:spPr/>
      <dgm:t>
        <a:bodyPr/>
        <a:lstStyle/>
        <a:p>
          <a:endParaRPr lang="en-US"/>
        </a:p>
      </dgm:t>
    </dgm:pt>
    <dgm:pt modelId="{5073DBEF-0725-E943-BB41-5226B0FA3F5C}" type="sibTrans" cxnId="{5BD4ABC8-0806-7D4B-A128-2BF08893035F}">
      <dgm:prSet/>
      <dgm:spPr/>
      <dgm:t>
        <a:bodyPr/>
        <a:lstStyle/>
        <a:p>
          <a:endParaRPr lang="en-US"/>
        </a:p>
      </dgm:t>
    </dgm:pt>
    <dgm:pt modelId="{D8E773E8-857D-8D4B-A260-65EE628E190D}">
      <dgm:prSet phldrT="[Text]" phldr="1"/>
      <dgm:spPr/>
      <dgm:t>
        <a:bodyPr/>
        <a:lstStyle/>
        <a:p>
          <a:endParaRPr lang="en-US"/>
        </a:p>
      </dgm:t>
    </dgm:pt>
    <dgm:pt modelId="{2E9A3E15-1AB9-604B-8033-4E3F8BD4F47A}" type="parTrans" cxnId="{D8938ECF-07A2-F948-B2AE-4EFC94807FA1}">
      <dgm:prSet/>
      <dgm:spPr/>
      <dgm:t>
        <a:bodyPr/>
        <a:lstStyle/>
        <a:p>
          <a:endParaRPr lang="en-US"/>
        </a:p>
      </dgm:t>
    </dgm:pt>
    <dgm:pt modelId="{D32DB5D3-A730-A147-9331-1D874CA57E85}" type="sibTrans" cxnId="{D8938ECF-07A2-F948-B2AE-4EFC94807FA1}">
      <dgm:prSet/>
      <dgm:spPr/>
      <dgm:t>
        <a:bodyPr/>
        <a:lstStyle/>
        <a:p>
          <a:endParaRPr lang="en-US"/>
        </a:p>
      </dgm:t>
    </dgm:pt>
    <dgm:pt modelId="{033373FE-81E6-E649-81BE-69EA5B2D44A0}">
      <dgm:prSet phldrT="[Text]" phldr="1"/>
      <dgm:spPr/>
      <dgm:t>
        <a:bodyPr/>
        <a:lstStyle/>
        <a:p>
          <a:endParaRPr lang="en-US"/>
        </a:p>
      </dgm:t>
    </dgm:pt>
    <dgm:pt modelId="{2D822FD0-E156-B445-BE6D-0EB52E8FFCAA}" type="parTrans" cxnId="{CF6B464A-47F3-4944-B08A-B5BBA3F90337}">
      <dgm:prSet/>
      <dgm:spPr/>
      <dgm:t>
        <a:bodyPr/>
        <a:lstStyle/>
        <a:p>
          <a:endParaRPr lang="en-US"/>
        </a:p>
      </dgm:t>
    </dgm:pt>
    <dgm:pt modelId="{9985F4C4-0787-9E49-851A-E99343096C9C}" type="sibTrans" cxnId="{CF6B464A-47F3-4944-B08A-B5BBA3F90337}">
      <dgm:prSet/>
      <dgm:spPr/>
      <dgm:t>
        <a:bodyPr/>
        <a:lstStyle/>
        <a:p>
          <a:endParaRPr lang="en-US"/>
        </a:p>
      </dgm:t>
    </dgm:pt>
    <dgm:pt modelId="{1E0FDB90-0180-524A-ABB4-84E094362A96}">
      <dgm:prSet phldrT="[Text]" phldr="1"/>
      <dgm:spPr/>
      <dgm:t>
        <a:bodyPr/>
        <a:lstStyle/>
        <a:p>
          <a:endParaRPr lang="en-US"/>
        </a:p>
      </dgm:t>
    </dgm:pt>
    <dgm:pt modelId="{7C5EBF78-6BE4-0E42-B6C2-59D259B752EE}" type="parTrans" cxnId="{551E64BC-9CFB-2044-8FF9-ADC22CFB95FB}">
      <dgm:prSet/>
      <dgm:spPr/>
      <dgm:t>
        <a:bodyPr/>
        <a:lstStyle/>
        <a:p>
          <a:endParaRPr lang="en-US"/>
        </a:p>
      </dgm:t>
    </dgm:pt>
    <dgm:pt modelId="{6EB0F8D3-0B20-3447-9B48-124D2B1009C1}" type="sibTrans" cxnId="{551E64BC-9CFB-2044-8FF9-ADC22CFB95FB}">
      <dgm:prSet/>
      <dgm:spPr/>
      <dgm:t>
        <a:bodyPr/>
        <a:lstStyle/>
        <a:p>
          <a:endParaRPr lang="en-US"/>
        </a:p>
      </dgm:t>
    </dgm:pt>
    <dgm:pt modelId="{32CAEC65-4B6E-7544-B9DC-ED6BC3604D1F}">
      <dgm:prSet phldrT="[Text]" phldr="1"/>
      <dgm:spPr/>
      <dgm:t>
        <a:bodyPr/>
        <a:lstStyle/>
        <a:p>
          <a:endParaRPr lang="en-US"/>
        </a:p>
      </dgm:t>
    </dgm:pt>
    <dgm:pt modelId="{A42FA765-EEE9-8A42-89D3-290D2D614BC3}" type="parTrans" cxnId="{EB46A4F6-B297-F14D-A388-E61A9A512413}">
      <dgm:prSet/>
      <dgm:spPr/>
      <dgm:t>
        <a:bodyPr/>
        <a:lstStyle/>
        <a:p>
          <a:endParaRPr lang="en-US"/>
        </a:p>
      </dgm:t>
    </dgm:pt>
    <dgm:pt modelId="{93AE2571-FF34-0747-B832-3582E961BCC6}" type="sibTrans" cxnId="{EB46A4F6-B297-F14D-A388-E61A9A512413}">
      <dgm:prSet/>
      <dgm:spPr/>
      <dgm:t>
        <a:bodyPr/>
        <a:lstStyle/>
        <a:p>
          <a:endParaRPr lang="en-US"/>
        </a:p>
      </dgm:t>
    </dgm:pt>
    <dgm:pt modelId="{07C6ABE4-D9E0-7F4F-87C2-77B538B97EA6}">
      <dgm:prSet phldrT="[Text]" phldr="1"/>
      <dgm:spPr>
        <a:effectLst>
          <a:outerShdw blurRad="50800" dist="38100" dir="2700000" algn="tl" rotWithShape="0">
            <a:prstClr val="black">
              <a:alpha val="40000"/>
            </a:prstClr>
          </a:outerShdw>
        </a:effectLst>
      </dgm:spPr>
      <dgm:t>
        <a:bodyPr/>
        <a:lstStyle/>
        <a:p>
          <a:endParaRPr lang="en-US"/>
        </a:p>
      </dgm:t>
    </dgm:pt>
    <dgm:pt modelId="{6CCBB489-E539-3F4A-B6C0-12E59BF07364}" type="parTrans" cxnId="{40D925A7-F33B-0249-8694-DEC45CD63778}">
      <dgm:prSet/>
      <dgm:spPr/>
      <dgm:t>
        <a:bodyPr/>
        <a:lstStyle/>
        <a:p>
          <a:endParaRPr lang="en-US"/>
        </a:p>
      </dgm:t>
    </dgm:pt>
    <dgm:pt modelId="{18417F9C-0638-2942-A534-3CEDABE06F0A}" type="sibTrans" cxnId="{40D925A7-F33B-0249-8694-DEC45CD63778}">
      <dgm:prSet/>
      <dgm:spPr/>
      <dgm:t>
        <a:bodyPr/>
        <a:lstStyle/>
        <a:p>
          <a:endParaRPr lang="en-US"/>
        </a:p>
      </dgm:t>
    </dgm:pt>
    <dgm:pt modelId="{E83DE95F-0F05-2544-A439-83D2F57E5A76}">
      <dgm:prSet phldrT="[Text]" phldr="1"/>
      <dgm:spPr>
        <a:effectLst>
          <a:outerShdw blurRad="50800" dist="38100" dir="2700000" algn="tl" rotWithShape="0">
            <a:prstClr val="black">
              <a:alpha val="40000"/>
            </a:prstClr>
          </a:outerShdw>
        </a:effectLst>
      </dgm:spPr>
      <dgm:t>
        <a:bodyPr/>
        <a:lstStyle/>
        <a:p>
          <a:endParaRPr lang="en-US"/>
        </a:p>
      </dgm:t>
    </dgm:pt>
    <dgm:pt modelId="{77A0B712-A4C7-E94E-8A59-72556F465D6D}" type="parTrans" cxnId="{3DB9AFC4-A8CC-C14E-A979-B4157B299BAF}">
      <dgm:prSet/>
      <dgm:spPr/>
      <dgm:t>
        <a:bodyPr/>
        <a:lstStyle/>
        <a:p>
          <a:endParaRPr lang="en-US"/>
        </a:p>
      </dgm:t>
    </dgm:pt>
    <dgm:pt modelId="{3B08E847-3458-744A-945F-27A89FDA7890}" type="sibTrans" cxnId="{3DB9AFC4-A8CC-C14E-A979-B4157B299BAF}">
      <dgm:prSet/>
      <dgm:spPr/>
      <dgm:t>
        <a:bodyPr/>
        <a:lstStyle/>
        <a:p>
          <a:endParaRPr lang="en-US"/>
        </a:p>
      </dgm:t>
    </dgm:pt>
    <dgm:pt modelId="{E62B5D0E-25BA-5946-81EA-7A582882FF8B}">
      <dgm:prSet phldrT="[Text]" phldr="1"/>
      <dgm:spPr>
        <a:effectLst>
          <a:outerShdw blurRad="50800" dist="38100" dir="2700000" algn="tl" rotWithShape="0">
            <a:prstClr val="black">
              <a:alpha val="40000"/>
            </a:prstClr>
          </a:outerShdw>
        </a:effectLst>
      </dgm:spPr>
      <dgm:t>
        <a:bodyPr/>
        <a:lstStyle/>
        <a:p>
          <a:endParaRPr lang="en-US"/>
        </a:p>
      </dgm:t>
    </dgm:pt>
    <dgm:pt modelId="{124F3CB0-700F-054F-8938-064E8EFDE7C7}" type="parTrans" cxnId="{DF54AC66-A724-3F47-9D5F-B24B33435D1F}">
      <dgm:prSet/>
      <dgm:spPr/>
      <dgm:t>
        <a:bodyPr/>
        <a:lstStyle/>
        <a:p>
          <a:endParaRPr lang="en-US"/>
        </a:p>
      </dgm:t>
    </dgm:pt>
    <dgm:pt modelId="{B1BB2CCC-0CFF-6A48-8C39-66C84FAC31F6}" type="sibTrans" cxnId="{DF54AC66-A724-3F47-9D5F-B24B33435D1F}">
      <dgm:prSet/>
      <dgm:spPr/>
      <dgm:t>
        <a:bodyPr/>
        <a:lstStyle/>
        <a:p>
          <a:endParaRPr lang="en-US"/>
        </a:p>
      </dgm:t>
    </dgm:pt>
    <dgm:pt modelId="{524C71C5-51EB-3C4A-B71E-198065C77BFF}" type="pres">
      <dgm:prSet presAssocID="{A4CB20BA-9DD9-D944-89B5-7154FF35A799}" presName="mainComposite" presStyleCnt="0">
        <dgm:presLayoutVars>
          <dgm:chPref val="1"/>
          <dgm:dir/>
          <dgm:animOne val="branch"/>
          <dgm:animLvl val="lvl"/>
          <dgm:resizeHandles val="exact"/>
        </dgm:presLayoutVars>
      </dgm:prSet>
      <dgm:spPr/>
    </dgm:pt>
    <dgm:pt modelId="{4F4F376B-AC5A-FE42-9AFF-653E2599D540}" type="pres">
      <dgm:prSet presAssocID="{A4CB20BA-9DD9-D944-89B5-7154FF35A799}" presName="hierFlow" presStyleCnt="0"/>
      <dgm:spPr/>
    </dgm:pt>
    <dgm:pt modelId="{587BCE4D-2E17-6444-8E0C-86697A0DECE2}" type="pres">
      <dgm:prSet presAssocID="{A4CB20BA-9DD9-D944-89B5-7154FF35A799}" presName="firstBuf" presStyleCnt="0"/>
      <dgm:spPr/>
    </dgm:pt>
    <dgm:pt modelId="{963F76D7-541D-E049-84FB-CD0429D13D62}" type="pres">
      <dgm:prSet presAssocID="{A4CB20BA-9DD9-D944-89B5-7154FF35A799}" presName="hierChild1" presStyleCnt="0">
        <dgm:presLayoutVars>
          <dgm:chPref val="1"/>
          <dgm:animOne val="branch"/>
          <dgm:animLvl val="lvl"/>
        </dgm:presLayoutVars>
      </dgm:prSet>
      <dgm:spPr/>
    </dgm:pt>
    <dgm:pt modelId="{5F065F09-A628-0D42-BBD6-BA7A55DE2BE1}" type="pres">
      <dgm:prSet presAssocID="{547A8FA0-F1DB-EC49-A27C-DB9C9FA1EE3B}" presName="Name14" presStyleCnt="0"/>
      <dgm:spPr/>
    </dgm:pt>
    <dgm:pt modelId="{A5822EC5-059B-BC4C-99CB-519B44108A59}" type="pres">
      <dgm:prSet presAssocID="{547A8FA0-F1DB-EC49-A27C-DB9C9FA1EE3B}" presName="level1Shape" presStyleLbl="node0" presStyleIdx="0" presStyleCnt="1">
        <dgm:presLayoutVars>
          <dgm:chPref val="3"/>
        </dgm:presLayoutVars>
      </dgm:prSet>
      <dgm:spPr/>
    </dgm:pt>
    <dgm:pt modelId="{72045779-A20E-2D4D-875F-2241C26DB84C}" type="pres">
      <dgm:prSet presAssocID="{547A8FA0-F1DB-EC49-A27C-DB9C9FA1EE3B}" presName="hierChild2" presStyleCnt="0"/>
      <dgm:spPr/>
    </dgm:pt>
    <dgm:pt modelId="{9AEB745C-234A-A140-A58B-97D041EB93C5}" type="pres">
      <dgm:prSet presAssocID="{E7D0EEBD-B851-9340-ADE0-35F90CCF3385}" presName="Name19" presStyleLbl="parChTrans1D2" presStyleIdx="0" presStyleCnt="2"/>
      <dgm:spPr/>
    </dgm:pt>
    <dgm:pt modelId="{D006F6A2-1BF8-0043-B74C-4D60E3F55A58}" type="pres">
      <dgm:prSet presAssocID="{B454B05A-8BBA-DC4F-A856-659508D754E4}" presName="Name21" presStyleCnt="0"/>
      <dgm:spPr/>
    </dgm:pt>
    <dgm:pt modelId="{B5833E12-2E9E-364F-887C-3540FB57D1D5}" type="pres">
      <dgm:prSet presAssocID="{B454B05A-8BBA-DC4F-A856-659508D754E4}" presName="level2Shape" presStyleLbl="node2" presStyleIdx="0" presStyleCnt="2"/>
      <dgm:spPr/>
    </dgm:pt>
    <dgm:pt modelId="{E26D28DF-C09C-DE42-9309-6E1E6E9FC764}" type="pres">
      <dgm:prSet presAssocID="{B454B05A-8BBA-DC4F-A856-659508D754E4}" presName="hierChild3" presStyleCnt="0"/>
      <dgm:spPr/>
    </dgm:pt>
    <dgm:pt modelId="{87004C8F-BFCB-884E-BE1D-34799B445CBF}" type="pres">
      <dgm:prSet presAssocID="{2E9A3E15-1AB9-604B-8033-4E3F8BD4F47A}" presName="Name19" presStyleLbl="parChTrans1D3" presStyleIdx="0" presStyleCnt="3"/>
      <dgm:spPr/>
    </dgm:pt>
    <dgm:pt modelId="{7963635C-EED4-5646-8350-278A889329BD}" type="pres">
      <dgm:prSet presAssocID="{D8E773E8-857D-8D4B-A260-65EE628E190D}" presName="Name21" presStyleCnt="0"/>
      <dgm:spPr/>
    </dgm:pt>
    <dgm:pt modelId="{C6C80428-F21A-7B4C-9028-DE9803175538}" type="pres">
      <dgm:prSet presAssocID="{D8E773E8-857D-8D4B-A260-65EE628E190D}" presName="level2Shape" presStyleLbl="node3" presStyleIdx="0" presStyleCnt="3"/>
      <dgm:spPr/>
    </dgm:pt>
    <dgm:pt modelId="{58871D8D-02D5-6D4B-B510-A61F7181EF25}" type="pres">
      <dgm:prSet presAssocID="{D8E773E8-857D-8D4B-A260-65EE628E190D}" presName="hierChild3" presStyleCnt="0"/>
      <dgm:spPr/>
    </dgm:pt>
    <dgm:pt modelId="{E26CF011-DC80-9144-BAA3-528B19E52B68}" type="pres">
      <dgm:prSet presAssocID="{2D822FD0-E156-B445-BE6D-0EB52E8FFCAA}" presName="Name19" presStyleLbl="parChTrans1D3" presStyleIdx="1" presStyleCnt="3"/>
      <dgm:spPr/>
    </dgm:pt>
    <dgm:pt modelId="{B712E02B-E427-4A47-81F6-0C077FCC337F}" type="pres">
      <dgm:prSet presAssocID="{033373FE-81E6-E649-81BE-69EA5B2D44A0}" presName="Name21" presStyleCnt="0"/>
      <dgm:spPr/>
    </dgm:pt>
    <dgm:pt modelId="{9892D0C1-954D-EE44-ACB6-6AF14F37C5BF}" type="pres">
      <dgm:prSet presAssocID="{033373FE-81E6-E649-81BE-69EA5B2D44A0}" presName="level2Shape" presStyleLbl="node3" presStyleIdx="1" presStyleCnt="3"/>
      <dgm:spPr/>
    </dgm:pt>
    <dgm:pt modelId="{CFDE77A5-49F9-4047-8185-9401F52F8316}" type="pres">
      <dgm:prSet presAssocID="{033373FE-81E6-E649-81BE-69EA5B2D44A0}" presName="hierChild3" presStyleCnt="0"/>
      <dgm:spPr/>
    </dgm:pt>
    <dgm:pt modelId="{10EC6125-FD7D-D44D-8518-77ED18472FEF}" type="pres">
      <dgm:prSet presAssocID="{7C5EBF78-6BE4-0E42-B6C2-59D259B752EE}" presName="Name19" presStyleLbl="parChTrans1D2" presStyleIdx="1" presStyleCnt="2"/>
      <dgm:spPr/>
    </dgm:pt>
    <dgm:pt modelId="{D4C090C3-7E30-3647-8D69-B7DD09D78F09}" type="pres">
      <dgm:prSet presAssocID="{1E0FDB90-0180-524A-ABB4-84E094362A96}" presName="Name21" presStyleCnt="0"/>
      <dgm:spPr/>
    </dgm:pt>
    <dgm:pt modelId="{A56EA56A-E92D-B640-A9A5-7C35C291CC20}" type="pres">
      <dgm:prSet presAssocID="{1E0FDB90-0180-524A-ABB4-84E094362A96}" presName="level2Shape" presStyleLbl="node2" presStyleIdx="1" presStyleCnt="2"/>
      <dgm:spPr/>
    </dgm:pt>
    <dgm:pt modelId="{7210A7D6-184E-F445-984B-A21B4F60EC86}" type="pres">
      <dgm:prSet presAssocID="{1E0FDB90-0180-524A-ABB4-84E094362A96}" presName="hierChild3" presStyleCnt="0"/>
      <dgm:spPr/>
    </dgm:pt>
    <dgm:pt modelId="{C14BE7D8-5FD1-484D-9667-FF888445B3A4}" type="pres">
      <dgm:prSet presAssocID="{A42FA765-EEE9-8A42-89D3-290D2D614BC3}" presName="Name19" presStyleLbl="parChTrans1D3" presStyleIdx="2" presStyleCnt="3"/>
      <dgm:spPr/>
    </dgm:pt>
    <dgm:pt modelId="{C2737E70-99E5-E14C-A1C8-C93004E5317C}" type="pres">
      <dgm:prSet presAssocID="{32CAEC65-4B6E-7544-B9DC-ED6BC3604D1F}" presName="Name21" presStyleCnt="0"/>
      <dgm:spPr/>
    </dgm:pt>
    <dgm:pt modelId="{7A326580-3FCB-A043-AA49-94100B202CAE}" type="pres">
      <dgm:prSet presAssocID="{32CAEC65-4B6E-7544-B9DC-ED6BC3604D1F}" presName="level2Shape" presStyleLbl="node3" presStyleIdx="2" presStyleCnt="3"/>
      <dgm:spPr/>
    </dgm:pt>
    <dgm:pt modelId="{5D5FE3E7-FBDE-A840-8021-9CB0B4F9EEE1}" type="pres">
      <dgm:prSet presAssocID="{32CAEC65-4B6E-7544-B9DC-ED6BC3604D1F}" presName="hierChild3" presStyleCnt="0"/>
      <dgm:spPr/>
    </dgm:pt>
    <dgm:pt modelId="{957A58CC-FEAF-A64D-90E6-F9E2CC3B8AD2}" type="pres">
      <dgm:prSet presAssocID="{A4CB20BA-9DD9-D944-89B5-7154FF35A799}" presName="bgShapesFlow" presStyleCnt="0"/>
      <dgm:spPr/>
    </dgm:pt>
    <dgm:pt modelId="{7832EC1F-2093-424C-BE23-EF982FA47694}" type="pres">
      <dgm:prSet presAssocID="{07C6ABE4-D9E0-7F4F-87C2-77B538B97EA6}" presName="rectComp" presStyleCnt="0"/>
      <dgm:spPr/>
    </dgm:pt>
    <dgm:pt modelId="{792FB1A9-32ED-E042-92AB-D8D6F00D3880}" type="pres">
      <dgm:prSet presAssocID="{07C6ABE4-D9E0-7F4F-87C2-77B538B97EA6}" presName="bgRect" presStyleLbl="bgShp" presStyleIdx="0" presStyleCnt="3"/>
      <dgm:spPr/>
    </dgm:pt>
    <dgm:pt modelId="{D6AD495C-4028-AD45-8D0A-3F5DD7024708}" type="pres">
      <dgm:prSet presAssocID="{07C6ABE4-D9E0-7F4F-87C2-77B538B97EA6}" presName="bgRectTx" presStyleLbl="bgShp" presStyleIdx="0" presStyleCnt="3">
        <dgm:presLayoutVars>
          <dgm:bulletEnabled val="1"/>
        </dgm:presLayoutVars>
      </dgm:prSet>
      <dgm:spPr/>
    </dgm:pt>
    <dgm:pt modelId="{DB10CEA9-F124-4A41-963D-EFCEB3A2AB8E}" type="pres">
      <dgm:prSet presAssocID="{07C6ABE4-D9E0-7F4F-87C2-77B538B97EA6}" presName="spComp" presStyleCnt="0"/>
      <dgm:spPr/>
    </dgm:pt>
    <dgm:pt modelId="{F6C76639-4DB5-5647-9407-BACCD8608A24}" type="pres">
      <dgm:prSet presAssocID="{07C6ABE4-D9E0-7F4F-87C2-77B538B97EA6}" presName="vSp" presStyleCnt="0"/>
      <dgm:spPr/>
    </dgm:pt>
    <dgm:pt modelId="{59AEB522-74FC-584F-AB8D-C31A091482D7}" type="pres">
      <dgm:prSet presAssocID="{E83DE95F-0F05-2544-A439-83D2F57E5A76}" presName="rectComp" presStyleCnt="0"/>
      <dgm:spPr/>
    </dgm:pt>
    <dgm:pt modelId="{522296D3-4DAD-5143-86AA-59251D075B91}" type="pres">
      <dgm:prSet presAssocID="{E83DE95F-0F05-2544-A439-83D2F57E5A76}" presName="bgRect" presStyleLbl="bgShp" presStyleIdx="1" presStyleCnt="3"/>
      <dgm:spPr/>
    </dgm:pt>
    <dgm:pt modelId="{60FDFFBA-777E-7442-B4E6-64A6DD98EE25}" type="pres">
      <dgm:prSet presAssocID="{E83DE95F-0F05-2544-A439-83D2F57E5A76}" presName="bgRectTx" presStyleLbl="bgShp" presStyleIdx="1" presStyleCnt="3">
        <dgm:presLayoutVars>
          <dgm:bulletEnabled val="1"/>
        </dgm:presLayoutVars>
      </dgm:prSet>
      <dgm:spPr/>
    </dgm:pt>
    <dgm:pt modelId="{54618ADA-6204-EE4C-B685-1CD26B954D04}" type="pres">
      <dgm:prSet presAssocID="{E83DE95F-0F05-2544-A439-83D2F57E5A76}" presName="spComp" presStyleCnt="0"/>
      <dgm:spPr/>
    </dgm:pt>
    <dgm:pt modelId="{E06999C3-6DFF-4341-8E01-28A44394420B}" type="pres">
      <dgm:prSet presAssocID="{E83DE95F-0F05-2544-A439-83D2F57E5A76}" presName="vSp" presStyleCnt="0"/>
      <dgm:spPr/>
    </dgm:pt>
    <dgm:pt modelId="{C11FC736-729E-2F44-9CFE-147303A3E267}" type="pres">
      <dgm:prSet presAssocID="{E62B5D0E-25BA-5946-81EA-7A582882FF8B}" presName="rectComp" presStyleCnt="0"/>
      <dgm:spPr/>
    </dgm:pt>
    <dgm:pt modelId="{C7433C4C-C693-A548-9EB7-47A174D57262}" type="pres">
      <dgm:prSet presAssocID="{E62B5D0E-25BA-5946-81EA-7A582882FF8B}" presName="bgRect" presStyleLbl="bgShp" presStyleIdx="2" presStyleCnt="3"/>
      <dgm:spPr/>
    </dgm:pt>
    <dgm:pt modelId="{854D81A8-EF0C-424E-B724-67491042C6F7}" type="pres">
      <dgm:prSet presAssocID="{E62B5D0E-25BA-5946-81EA-7A582882FF8B}" presName="bgRectTx" presStyleLbl="bgShp" presStyleIdx="2" presStyleCnt="3">
        <dgm:presLayoutVars>
          <dgm:bulletEnabled val="1"/>
        </dgm:presLayoutVars>
      </dgm:prSet>
      <dgm:spPr/>
    </dgm:pt>
  </dgm:ptLst>
  <dgm:cxnLst>
    <dgm:cxn modelId="{E7A65508-AEA5-7C45-AD84-B72C1C76839D}" type="presOf" srcId="{B454B05A-8BBA-DC4F-A856-659508D754E4}" destId="{B5833E12-2E9E-364F-887C-3540FB57D1D5}" srcOrd="0" destOrd="0" presId="urn:microsoft.com/office/officeart/2005/8/layout/hierarchy6"/>
    <dgm:cxn modelId="{6173DF1B-A89C-B34C-8355-065F888454B5}" type="presOf" srcId="{D8E773E8-857D-8D4B-A260-65EE628E190D}" destId="{C6C80428-F21A-7B4C-9028-DE9803175538}" srcOrd="0" destOrd="0" presId="urn:microsoft.com/office/officeart/2005/8/layout/hierarchy6"/>
    <dgm:cxn modelId="{5FBEE63B-AD8E-AD42-9B1F-838FB692A45A}" type="presOf" srcId="{A4CB20BA-9DD9-D944-89B5-7154FF35A799}" destId="{524C71C5-51EB-3C4A-B71E-198065C77BFF}" srcOrd="0" destOrd="0" presId="urn:microsoft.com/office/officeart/2005/8/layout/hierarchy6"/>
    <dgm:cxn modelId="{7FE8575C-03B6-9149-93AF-8EB5A11C9240}" type="presOf" srcId="{7C5EBF78-6BE4-0E42-B6C2-59D259B752EE}" destId="{10EC6125-FD7D-D44D-8518-77ED18472FEF}" srcOrd="0" destOrd="0" presId="urn:microsoft.com/office/officeart/2005/8/layout/hierarchy6"/>
    <dgm:cxn modelId="{B8E6DE5D-63CC-E349-B3D4-9887147E1D84}" type="presOf" srcId="{2D822FD0-E156-B445-BE6D-0EB52E8FFCAA}" destId="{E26CF011-DC80-9144-BAA3-528B19E52B68}" srcOrd="0" destOrd="0" presId="urn:microsoft.com/office/officeart/2005/8/layout/hierarchy6"/>
    <dgm:cxn modelId="{828EA55E-54B3-094A-9E6A-BE2C7DF04AAC}" type="presOf" srcId="{32CAEC65-4B6E-7544-B9DC-ED6BC3604D1F}" destId="{7A326580-3FCB-A043-AA49-94100B202CAE}" srcOrd="0" destOrd="0" presId="urn:microsoft.com/office/officeart/2005/8/layout/hierarchy6"/>
    <dgm:cxn modelId="{EFC86560-C33B-9B4F-A140-766BC5E77583}" type="presOf" srcId="{07C6ABE4-D9E0-7F4F-87C2-77B538B97EA6}" destId="{792FB1A9-32ED-E042-92AB-D8D6F00D3880}" srcOrd="0" destOrd="0" presId="urn:microsoft.com/office/officeart/2005/8/layout/hierarchy6"/>
    <dgm:cxn modelId="{E7592643-872C-CC47-AA94-6C25C49AEA34}" type="presOf" srcId="{E62B5D0E-25BA-5946-81EA-7A582882FF8B}" destId="{C7433C4C-C693-A548-9EB7-47A174D57262}" srcOrd="0" destOrd="0" presId="urn:microsoft.com/office/officeart/2005/8/layout/hierarchy6"/>
    <dgm:cxn modelId="{DF54AC66-A724-3F47-9D5F-B24B33435D1F}" srcId="{A4CB20BA-9DD9-D944-89B5-7154FF35A799}" destId="{E62B5D0E-25BA-5946-81EA-7A582882FF8B}" srcOrd="3" destOrd="0" parTransId="{124F3CB0-700F-054F-8938-064E8EFDE7C7}" sibTransId="{B1BB2CCC-0CFF-6A48-8C39-66C84FAC31F6}"/>
    <dgm:cxn modelId="{75D94A47-961B-C842-B439-96634F21C83B}" type="presOf" srcId="{1E0FDB90-0180-524A-ABB4-84E094362A96}" destId="{A56EA56A-E92D-B640-A9A5-7C35C291CC20}" srcOrd="0" destOrd="0" presId="urn:microsoft.com/office/officeart/2005/8/layout/hierarchy6"/>
    <dgm:cxn modelId="{CF6B464A-47F3-4944-B08A-B5BBA3F90337}" srcId="{B454B05A-8BBA-DC4F-A856-659508D754E4}" destId="{033373FE-81E6-E649-81BE-69EA5B2D44A0}" srcOrd="1" destOrd="0" parTransId="{2D822FD0-E156-B445-BE6D-0EB52E8FFCAA}" sibTransId="{9985F4C4-0787-9E49-851A-E99343096C9C}"/>
    <dgm:cxn modelId="{38CCEC4D-F4D9-F34A-8479-30560178728A}" type="presOf" srcId="{547A8FA0-F1DB-EC49-A27C-DB9C9FA1EE3B}" destId="{A5822EC5-059B-BC4C-99CB-519B44108A59}" srcOrd="0" destOrd="0" presId="urn:microsoft.com/office/officeart/2005/8/layout/hierarchy6"/>
    <dgm:cxn modelId="{5C7DAB57-83FA-3143-BFA4-B895FEEF3CEE}" srcId="{A4CB20BA-9DD9-D944-89B5-7154FF35A799}" destId="{547A8FA0-F1DB-EC49-A27C-DB9C9FA1EE3B}" srcOrd="0" destOrd="0" parTransId="{D19E8173-761C-EB46-98AA-9B6B6DD891C9}" sibTransId="{5C2507FD-0D56-4342-92C0-4AD002176A79}"/>
    <dgm:cxn modelId="{59A22A92-FBE0-8448-9602-4C12B6436144}" type="presOf" srcId="{E83DE95F-0F05-2544-A439-83D2F57E5A76}" destId="{60FDFFBA-777E-7442-B4E6-64A6DD98EE25}" srcOrd="1" destOrd="0" presId="urn:microsoft.com/office/officeart/2005/8/layout/hierarchy6"/>
    <dgm:cxn modelId="{3EB1D3A0-B35D-0F44-94BA-0D10B686B117}" type="presOf" srcId="{E62B5D0E-25BA-5946-81EA-7A582882FF8B}" destId="{854D81A8-EF0C-424E-B724-67491042C6F7}" srcOrd="1" destOrd="0" presId="urn:microsoft.com/office/officeart/2005/8/layout/hierarchy6"/>
    <dgm:cxn modelId="{D057E6A3-36F3-414A-B1CD-15653C721B74}" type="presOf" srcId="{2E9A3E15-1AB9-604B-8033-4E3F8BD4F47A}" destId="{87004C8F-BFCB-884E-BE1D-34799B445CBF}" srcOrd="0" destOrd="0" presId="urn:microsoft.com/office/officeart/2005/8/layout/hierarchy6"/>
    <dgm:cxn modelId="{40D925A7-F33B-0249-8694-DEC45CD63778}" srcId="{A4CB20BA-9DD9-D944-89B5-7154FF35A799}" destId="{07C6ABE4-D9E0-7F4F-87C2-77B538B97EA6}" srcOrd="1" destOrd="0" parTransId="{6CCBB489-E539-3F4A-B6C0-12E59BF07364}" sibTransId="{18417F9C-0638-2942-A534-3CEDABE06F0A}"/>
    <dgm:cxn modelId="{E5274DAF-56FE-164B-B249-2408AC2CE8CA}" type="presOf" srcId="{E83DE95F-0F05-2544-A439-83D2F57E5A76}" destId="{522296D3-4DAD-5143-86AA-59251D075B91}" srcOrd="0" destOrd="0" presId="urn:microsoft.com/office/officeart/2005/8/layout/hierarchy6"/>
    <dgm:cxn modelId="{4E816AB0-C334-7840-91B9-F6F10C9099AC}" type="presOf" srcId="{A42FA765-EEE9-8A42-89D3-290D2D614BC3}" destId="{C14BE7D8-5FD1-484D-9667-FF888445B3A4}" srcOrd="0" destOrd="0" presId="urn:microsoft.com/office/officeart/2005/8/layout/hierarchy6"/>
    <dgm:cxn modelId="{DCC102B5-1A66-4244-821F-0D5921F0AB79}" type="presOf" srcId="{E7D0EEBD-B851-9340-ADE0-35F90CCF3385}" destId="{9AEB745C-234A-A140-A58B-97D041EB93C5}" srcOrd="0" destOrd="0" presId="urn:microsoft.com/office/officeart/2005/8/layout/hierarchy6"/>
    <dgm:cxn modelId="{551E64BC-9CFB-2044-8FF9-ADC22CFB95FB}" srcId="{547A8FA0-F1DB-EC49-A27C-DB9C9FA1EE3B}" destId="{1E0FDB90-0180-524A-ABB4-84E094362A96}" srcOrd="1" destOrd="0" parTransId="{7C5EBF78-6BE4-0E42-B6C2-59D259B752EE}" sibTransId="{6EB0F8D3-0B20-3447-9B48-124D2B1009C1}"/>
    <dgm:cxn modelId="{3DB9AFC4-A8CC-C14E-A979-B4157B299BAF}" srcId="{A4CB20BA-9DD9-D944-89B5-7154FF35A799}" destId="{E83DE95F-0F05-2544-A439-83D2F57E5A76}" srcOrd="2" destOrd="0" parTransId="{77A0B712-A4C7-E94E-8A59-72556F465D6D}" sibTransId="{3B08E847-3458-744A-945F-27A89FDA7890}"/>
    <dgm:cxn modelId="{5BD4ABC8-0806-7D4B-A128-2BF08893035F}" srcId="{547A8FA0-F1DB-EC49-A27C-DB9C9FA1EE3B}" destId="{B454B05A-8BBA-DC4F-A856-659508D754E4}" srcOrd="0" destOrd="0" parTransId="{E7D0EEBD-B851-9340-ADE0-35F90CCF3385}" sibTransId="{5073DBEF-0725-E943-BB41-5226B0FA3F5C}"/>
    <dgm:cxn modelId="{D8938ECF-07A2-F948-B2AE-4EFC94807FA1}" srcId="{B454B05A-8BBA-DC4F-A856-659508D754E4}" destId="{D8E773E8-857D-8D4B-A260-65EE628E190D}" srcOrd="0" destOrd="0" parTransId="{2E9A3E15-1AB9-604B-8033-4E3F8BD4F47A}" sibTransId="{D32DB5D3-A730-A147-9331-1D874CA57E85}"/>
    <dgm:cxn modelId="{8D7799E4-DD46-8B47-AB78-89F63FCAD5E9}" type="presOf" srcId="{07C6ABE4-D9E0-7F4F-87C2-77B538B97EA6}" destId="{D6AD495C-4028-AD45-8D0A-3F5DD7024708}" srcOrd="1" destOrd="0" presId="urn:microsoft.com/office/officeart/2005/8/layout/hierarchy6"/>
    <dgm:cxn modelId="{EB46A4F6-B297-F14D-A388-E61A9A512413}" srcId="{1E0FDB90-0180-524A-ABB4-84E094362A96}" destId="{32CAEC65-4B6E-7544-B9DC-ED6BC3604D1F}" srcOrd="0" destOrd="0" parTransId="{A42FA765-EEE9-8A42-89D3-290D2D614BC3}" sibTransId="{93AE2571-FF34-0747-B832-3582E961BCC6}"/>
    <dgm:cxn modelId="{EC01F5FF-4651-A84D-80F7-78DE675CAECC}" type="presOf" srcId="{033373FE-81E6-E649-81BE-69EA5B2D44A0}" destId="{9892D0C1-954D-EE44-ACB6-6AF14F37C5BF}" srcOrd="0" destOrd="0" presId="urn:microsoft.com/office/officeart/2005/8/layout/hierarchy6"/>
    <dgm:cxn modelId="{F4F2B294-B6F6-6746-B27F-7480A70828EE}" type="presParOf" srcId="{524C71C5-51EB-3C4A-B71E-198065C77BFF}" destId="{4F4F376B-AC5A-FE42-9AFF-653E2599D540}" srcOrd="0" destOrd="0" presId="urn:microsoft.com/office/officeart/2005/8/layout/hierarchy6"/>
    <dgm:cxn modelId="{FD65B384-8EC0-0B4E-B326-763216722475}" type="presParOf" srcId="{4F4F376B-AC5A-FE42-9AFF-653E2599D540}" destId="{587BCE4D-2E17-6444-8E0C-86697A0DECE2}" srcOrd="0" destOrd="0" presId="urn:microsoft.com/office/officeart/2005/8/layout/hierarchy6"/>
    <dgm:cxn modelId="{52ED0D67-281E-AA40-86F8-DCE60BABB013}" type="presParOf" srcId="{4F4F376B-AC5A-FE42-9AFF-653E2599D540}" destId="{963F76D7-541D-E049-84FB-CD0429D13D62}" srcOrd="1" destOrd="0" presId="urn:microsoft.com/office/officeart/2005/8/layout/hierarchy6"/>
    <dgm:cxn modelId="{65106948-9B3A-A74E-9E0F-3C7EF8F0811A}" type="presParOf" srcId="{963F76D7-541D-E049-84FB-CD0429D13D62}" destId="{5F065F09-A628-0D42-BBD6-BA7A55DE2BE1}" srcOrd="0" destOrd="0" presId="urn:microsoft.com/office/officeart/2005/8/layout/hierarchy6"/>
    <dgm:cxn modelId="{74F1A315-9C21-AD42-A6DF-CEBA0B59CDE6}" type="presParOf" srcId="{5F065F09-A628-0D42-BBD6-BA7A55DE2BE1}" destId="{A5822EC5-059B-BC4C-99CB-519B44108A59}" srcOrd="0" destOrd="0" presId="urn:microsoft.com/office/officeart/2005/8/layout/hierarchy6"/>
    <dgm:cxn modelId="{BB4BE263-4E84-9C42-98DB-C3D9A6BCEEA8}" type="presParOf" srcId="{5F065F09-A628-0D42-BBD6-BA7A55DE2BE1}" destId="{72045779-A20E-2D4D-875F-2241C26DB84C}" srcOrd="1" destOrd="0" presId="urn:microsoft.com/office/officeart/2005/8/layout/hierarchy6"/>
    <dgm:cxn modelId="{F405C748-0A96-DB45-9879-C9CC8FC5A74B}" type="presParOf" srcId="{72045779-A20E-2D4D-875F-2241C26DB84C}" destId="{9AEB745C-234A-A140-A58B-97D041EB93C5}" srcOrd="0" destOrd="0" presId="urn:microsoft.com/office/officeart/2005/8/layout/hierarchy6"/>
    <dgm:cxn modelId="{9199CEAD-1B1B-7541-8F99-7C2BDE8993FC}" type="presParOf" srcId="{72045779-A20E-2D4D-875F-2241C26DB84C}" destId="{D006F6A2-1BF8-0043-B74C-4D60E3F55A58}" srcOrd="1" destOrd="0" presId="urn:microsoft.com/office/officeart/2005/8/layout/hierarchy6"/>
    <dgm:cxn modelId="{10EB8A81-2692-304E-9443-336C00692E6D}" type="presParOf" srcId="{D006F6A2-1BF8-0043-B74C-4D60E3F55A58}" destId="{B5833E12-2E9E-364F-887C-3540FB57D1D5}" srcOrd="0" destOrd="0" presId="urn:microsoft.com/office/officeart/2005/8/layout/hierarchy6"/>
    <dgm:cxn modelId="{733AFFB4-ABF2-6D44-80AF-1FE693461708}" type="presParOf" srcId="{D006F6A2-1BF8-0043-B74C-4D60E3F55A58}" destId="{E26D28DF-C09C-DE42-9309-6E1E6E9FC764}" srcOrd="1" destOrd="0" presId="urn:microsoft.com/office/officeart/2005/8/layout/hierarchy6"/>
    <dgm:cxn modelId="{E0BE1772-D8BF-7C43-9641-E4ADDCED5EB8}" type="presParOf" srcId="{E26D28DF-C09C-DE42-9309-6E1E6E9FC764}" destId="{87004C8F-BFCB-884E-BE1D-34799B445CBF}" srcOrd="0" destOrd="0" presId="urn:microsoft.com/office/officeart/2005/8/layout/hierarchy6"/>
    <dgm:cxn modelId="{ED716F83-153D-2C41-A4D6-2EBA6E67BA50}" type="presParOf" srcId="{E26D28DF-C09C-DE42-9309-6E1E6E9FC764}" destId="{7963635C-EED4-5646-8350-278A889329BD}" srcOrd="1" destOrd="0" presId="urn:microsoft.com/office/officeart/2005/8/layout/hierarchy6"/>
    <dgm:cxn modelId="{E6FED0DC-4DAF-9746-8323-0B8DA3353F61}" type="presParOf" srcId="{7963635C-EED4-5646-8350-278A889329BD}" destId="{C6C80428-F21A-7B4C-9028-DE9803175538}" srcOrd="0" destOrd="0" presId="urn:microsoft.com/office/officeart/2005/8/layout/hierarchy6"/>
    <dgm:cxn modelId="{DDBA5941-2469-E048-98AF-BD9F9E16603A}" type="presParOf" srcId="{7963635C-EED4-5646-8350-278A889329BD}" destId="{58871D8D-02D5-6D4B-B510-A61F7181EF25}" srcOrd="1" destOrd="0" presId="urn:microsoft.com/office/officeart/2005/8/layout/hierarchy6"/>
    <dgm:cxn modelId="{ACAF908D-329D-4941-86DA-66E3CAA03FD6}" type="presParOf" srcId="{E26D28DF-C09C-DE42-9309-6E1E6E9FC764}" destId="{E26CF011-DC80-9144-BAA3-528B19E52B68}" srcOrd="2" destOrd="0" presId="urn:microsoft.com/office/officeart/2005/8/layout/hierarchy6"/>
    <dgm:cxn modelId="{45BF61D4-7A0F-0246-93FB-0C540A9B493D}" type="presParOf" srcId="{E26D28DF-C09C-DE42-9309-6E1E6E9FC764}" destId="{B712E02B-E427-4A47-81F6-0C077FCC337F}" srcOrd="3" destOrd="0" presId="urn:microsoft.com/office/officeart/2005/8/layout/hierarchy6"/>
    <dgm:cxn modelId="{BFE39796-58EA-2940-B3D4-C1823C85131C}" type="presParOf" srcId="{B712E02B-E427-4A47-81F6-0C077FCC337F}" destId="{9892D0C1-954D-EE44-ACB6-6AF14F37C5BF}" srcOrd="0" destOrd="0" presId="urn:microsoft.com/office/officeart/2005/8/layout/hierarchy6"/>
    <dgm:cxn modelId="{C9A0856C-21B4-C34A-AB76-A54857928E81}" type="presParOf" srcId="{B712E02B-E427-4A47-81F6-0C077FCC337F}" destId="{CFDE77A5-49F9-4047-8185-9401F52F8316}" srcOrd="1" destOrd="0" presId="urn:microsoft.com/office/officeart/2005/8/layout/hierarchy6"/>
    <dgm:cxn modelId="{0DED1DD1-8B7C-1140-B4C3-439CFEA6AF25}" type="presParOf" srcId="{72045779-A20E-2D4D-875F-2241C26DB84C}" destId="{10EC6125-FD7D-D44D-8518-77ED18472FEF}" srcOrd="2" destOrd="0" presId="urn:microsoft.com/office/officeart/2005/8/layout/hierarchy6"/>
    <dgm:cxn modelId="{09808C22-F4D4-954C-92A3-E5D81534414B}" type="presParOf" srcId="{72045779-A20E-2D4D-875F-2241C26DB84C}" destId="{D4C090C3-7E30-3647-8D69-B7DD09D78F09}" srcOrd="3" destOrd="0" presId="urn:microsoft.com/office/officeart/2005/8/layout/hierarchy6"/>
    <dgm:cxn modelId="{2FC432EC-4AF9-774B-A2EA-D2ADF4AD0648}" type="presParOf" srcId="{D4C090C3-7E30-3647-8D69-B7DD09D78F09}" destId="{A56EA56A-E92D-B640-A9A5-7C35C291CC20}" srcOrd="0" destOrd="0" presId="urn:microsoft.com/office/officeart/2005/8/layout/hierarchy6"/>
    <dgm:cxn modelId="{59C50827-C80E-FD49-AA6A-6221C22ECE45}" type="presParOf" srcId="{D4C090C3-7E30-3647-8D69-B7DD09D78F09}" destId="{7210A7D6-184E-F445-984B-A21B4F60EC86}" srcOrd="1" destOrd="0" presId="urn:microsoft.com/office/officeart/2005/8/layout/hierarchy6"/>
    <dgm:cxn modelId="{0583655A-8021-8D49-951F-AC405A5EB352}" type="presParOf" srcId="{7210A7D6-184E-F445-984B-A21B4F60EC86}" destId="{C14BE7D8-5FD1-484D-9667-FF888445B3A4}" srcOrd="0" destOrd="0" presId="urn:microsoft.com/office/officeart/2005/8/layout/hierarchy6"/>
    <dgm:cxn modelId="{E541765F-9DA6-704F-8EAD-0CB0F7BAA8E1}" type="presParOf" srcId="{7210A7D6-184E-F445-984B-A21B4F60EC86}" destId="{C2737E70-99E5-E14C-A1C8-C93004E5317C}" srcOrd="1" destOrd="0" presId="urn:microsoft.com/office/officeart/2005/8/layout/hierarchy6"/>
    <dgm:cxn modelId="{240DAD81-A772-CF45-9B43-10016BA722B5}" type="presParOf" srcId="{C2737E70-99E5-E14C-A1C8-C93004E5317C}" destId="{7A326580-3FCB-A043-AA49-94100B202CAE}" srcOrd="0" destOrd="0" presId="urn:microsoft.com/office/officeart/2005/8/layout/hierarchy6"/>
    <dgm:cxn modelId="{5E5687EB-058B-8046-9A09-B5E198854BBB}" type="presParOf" srcId="{C2737E70-99E5-E14C-A1C8-C93004E5317C}" destId="{5D5FE3E7-FBDE-A840-8021-9CB0B4F9EEE1}" srcOrd="1" destOrd="0" presId="urn:microsoft.com/office/officeart/2005/8/layout/hierarchy6"/>
    <dgm:cxn modelId="{F6CE418E-A44F-914F-8068-BC76BF2B8D40}" type="presParOf" srcId="{524C71C5-51EB-3C4A-B71E-198065C77BFF}" destId="{957A58CC-FEAF-A64D-90E6-F9E2CC3B8AD2}" srcOrd="1" destOrd="0" presId="urn:microsoft.com/office/officeart/2005/8/layout/hierarchy6"/>
    <dgm:cxn modelId="{E6F2C75C-CC8F-7048-B23D-BBA9E02E689A}" type="presParOf" srcId="{957A58CC-FEAF-A64D-90E6-F9E2CC3B8AD2}" destId="{7832EC1F-2093-424C-BE23-EF982FA47694}" srcOrd="0" destOrd="0" presId="urn:microsoft.com/office/officeart/2005/8/layout/hierarchy6"/>
    <dgm:cxn modelId="{6D5B9BFD-0B14-C44B-A46A-CB2D62D6DBFF}" type="presParOf" srcId="{7832EC1F-2093-424C-BE23-EF982FA47694}" destId="{792FB1A9-32ED-E042-92AB-D8D6F00D3880}" srcOrd="0" destOrd="0" presId="urn:microsoft.com/office/officeart/2005/8/layout/hierarchy6"/>
    <dgm:cxn modelId="{30BA9744-F59B-B34F-A883-F69F7A891038}" type="presParOf" srcId="{7832EC1F-2093-424C-BE23-EF982FA47694}" destId="{D6AD495C-4028-AD45-8D0A-3F5DD7024708}" srcOrd="1" destOrd="0" presId="urn:microsoft.com/office/officeart/2005/8/layout/hierarchy6"/>
    <dgm:cxn modelId="{3124E865-F0DC-3C40-B061-BCBD3AF6301D}" type="presParOf" srcId="{957A58CC-FEAF-A64D-90E6-F9E2CC3B8AD2}" destId="{DB10CEA9-F124-4A41-963D-EFCEB3A2AB8E}" srcOrd="1" destOrd="0" presId="urn:microsoft.com/office/officeart/2005/8/layout/hierarchy6"/>
    <dgm:cxn modelId="{2843EA33-4001-8D4C-BCCA-AA0AECA80CAE}" type="presParOf" srcId="{DB10CEA9-F124-4A41-963D-EFCEB3A2AB8E}" destId="{F6C76639-4DB5-5647-9407-BACCD8608A24}" srcOrd="0" destOrd="0" presId="urn:microsoft.com/office/officeart/2005/8/layout/hierarchy6"/>
    <dgm:cxn modelId="{08222DDE-B1D8-DA44-BCF2-2F45B7520956}" type="presParOf" srcId="{957A58CC-FEAF-A64D-90E6-F9E2CC3B8AD2}" destId="{59AEB522-74FC-584F-AB8D-C31A091482D7}" srcOrd="2" destOrd="0" presId="urn:microsoft.com/office/officeart/2005/8/layout/hierarchy6"/>
    <dgm:cxn modelId="{6876F543-BBB6-7445-8363-0CBBE26CE926}" type="presParOf" srcId="{59AEB522-74FC-584F-AB8D-C31A091482D7}" destId="{522296D3-4DAD-5143-86AA-59251D075B91}" srcOrd="0" destOrd="0" presId="urn:microsoft.com/office/officeart/2005/8/layout/hierarchy6"/>
    <dgm:cxn modelId="{BCC394CF-17F2-1446-830D-95DD03540E4B}" type="presParOf" srcId="{59AEB522-74FC-584F-AB8D-C31A091482D7}" destId="{60FDFFBA-777E-7442-B4E6-64A6DD98EE25}" srcOrd="1" destOrd="0" presId="urn:microsoft.com/office/officeart/2005/8/layout/hierarchy6"/>
    <dgm:cxn modelId="{2B08904C-0259-BA4B-82D2-6C27B7D04D74}" type="presParOf" srcId="{957A58CC-FEAF-A64D-90E6-F9E2CC3B8AD2}" destId="{54618ADA-6204-EE4C-B685-1CD26B954D04}" srcOrd="3" destOrd="0" presId="urn:microsoft.com/office/officeart/2005/8/layout/hierarchy6"/>
    <dgm:cxn modelId="{75457190-D4C2-2E42-86B3-7AD24099E472}" type="presParOf" srcId="{54618ADA-6204-EE4C-B685-1CD26B954D04}" destId="{E06999C3-6DFF-4341-8E01-28A44394420B}" srcOrd="0" destOrd="0" presId="urn:microsoft.com/office/officeart/2005/8/layout/hierarchy6"/>
    <dgm:cxn modelId="{90420AFE-EFFA-DB42-8D07-DC9169BA4D37}" type="presParOf" srcId="{957A58CC-FEAF-A64D-90E6-F9E2CC3B8AD2}" destId="{C11FC736-729E-2F44-9CFE-147303A3E267}" srcOrd="4" destOrd="0" presId="urn:microsoft.com/office/officeart/2005/8/layout/hierarchy6"/>
    <dgm:cxn modelId="{FCE8B600-132C-6947-9ED4-06CFA3C58BE4}" type="presParOf" srcId="{C11FC736-729E-2F44-9CFE-147303A3E267}" destId="{C7433C4C-C693-A548-9EB7-47A174D57262}" srcOrd="0" destOrd="0" presId="urn:microsoft.com/office/officeart/2005/8/layout/hierarchy6"/>
    <dgm:cxn modelId="{A65A6D84-6451-0A40-9F03-7D9325CA5AC7}" type="presParOf" srcId="{C11FC736-729E-2F44-9CFE-147303A3E267}" destId="{854D81A8-EF0C-424E-B724-67491042C6F7}"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433C4C-C693-A548-9EB7-47A174D57262}">
      <dsp:nvSpPr>
        <dsp:cNvPr id="0" name=""/>
        <dsp:cNvSpPr/>
      </dsp:nvSpPr>
      <dsp:spPr>
        <a:xfrm>
          <a:off x="0" y="2880183"/>
          <a:ext cx="8181298" cy="1233978"/>
        </a:xfrm>
        <a:prstGeom prst="roundRect">
          <a:avLst>
            <a:gd name="adj" fmla="val 10000"/>
          </a:avLst>
        </a:prstGeom>
        <a:solidFill>
          <a:schemeClr val="accent2">
            <a:tint val="40000"/>
            <a:hueOff val="0"/>
            <a:satOff val="0"/>
            <a:lumOff val="0"/>
            <a:alphaOff val="0"/>
          </a:schemeClr>
        </a:solidFill>
        <a:ln>
          <a:noFill/>
        </a:ln>
        <a:effectLst>
          <a:outerShdw blurRad="50800" dist="38100" dir="2700000" algn="tl" rotWithShape="0">
            <a:prstClr val="black">
              <a:alpha val="40000"/>
            </a:prstClr>
          </a:outerShdw>
        </a:effectLst>
      </dsp:spPr>
      <dsp:style>
        <a:lnRef idx="0">
          <a:scrgbClr r="0" g="0" b="0"/>
        </a:lnRef>
        <a:fillRef idx="1">
          <a:scrgbClr r="0" g="0" b="0"/>
        </a:fillRef>
        <a:effectRef idx="0">
          <a:scrgbClr r="0" g="0" b="0"/>
        </a:effectRef>
        <a:fontRef idx="minor"/>
      </dsp:style>
      <dsp:txBody>
        <a:bodyPr spcFirstLastPara="0" vert="horz" wrap="square" lIns="305816" tIns="305816" rIns="305816" bIns="305816" numCol="1" spcCol="1270" anchor="ctr" anchorCtr="0">
          <a:noAutofit/>
        </a:bodyPr>
        <a:lstStyle/>
        <a:p>
          <a:pPr marL="0" lvl="0" indent="0" algn="ctr" defTabSz="1911350">
            <a:lnSpc>
              <a:spcPct val="90000"/>
            </a:lnSpc>
            <a:spcBef>
              <a:spcPct val="0"/>
            </a:spcBef>
            <a:spcAft>
              <a:spcPct val="35000"/>
            </a:spcAft>
            <a:buNone/>
          </a:pPr>
          <a:endParaRPr lang="en-US" sz="4300" kern="1200"/>
        </a:p>
      </dsp:txBody>
      <dsp:txXfrm>
        <a:off x="0" y="2880183"/>
        <a:ext cx="2454389" cy="1233978"/>
      </dsp:txXfrm>
    </dsp:sp>
    <dsp:sp modelId="{522296D3-4DAD-5143-86AA-59251D075B91}">
      <dsp:nvSpPr>
        <dsp:cNvPr id="0" name=""/>
        <dsp:cNvSpPr/>
      </dsp:nvSpPr>
      <dsp:spPr>
        <a:xfrm>
          <a:off x="0" y="1440341"/>
          <a:ext cx="8181298" cy="1233978"/>
        </a:xfrm>
        <a:prstGeom prst="roundRect">
          <a:avLst>
            <a:gd name="adj" fmla="val 10000"/>
          </a:avLst>
        </a:prstGeom>
        <a:solidFill>
          <a:schemeClr val="accent2">
            <a:tint val="40000"/>
            <a:hueOff val="0"/>
            <a:satOff val="0"/>
            <a:lumOff val="0"/>
            <a:alphaOff val="0"/>
          </a:schemeClr>
        </a:solidFill>
        <a:ln>
          <a:noFill/>
        </a:ln>
        <a:effectLst>
          <a:outerShdw blurRad="50800" dist="38100" dir="2700000" algn="tl" rotWithShape="0">
            <a:prstClr val="black">
              <a:alpha val="40000"/>
            </a:prstClr>
          </a:outerShdw>
        </a:effectLst>
      </dsp:spPr>
      <dsp:style>
        <a:lnRef idx="0">
          <a:scrgbClr r="0" g="0" b="0"/>
        </a:lnRef>
        <a:fillRef idx="1">
          <a:scrgbClr r="0" g="0" b="0"/>
        </a:fillRef>
        <a:effectRef idx="0">
          <a:scrgbClr r="0" g="0" b="0"/>
        </a:effectRef>
        <a:fontRef idx="minor"/>
      </dsp:style>
      <dsp:txBody>
        <a:bodyPr spcFirstLastPara="0" vert="horz" wrap="square" lIns="305816" tIns="305816" rIns="305816" bIns="305816" numCol="1" spcCol="1270" anchor="ctr" anchorCtr="0">
          <a:noAutofit/>
        </a:bodyPr>
        <a:lstStyle/>
        <a:p>
          <a:pPr marL="0" lvl="0" indent="0" algn="ctr" defTabSz="1911350">
            <a:lnSpc>
              <a:spcPct val="90000"/>
            </a:lnSpc>
            <a:spcBef>
              <a:spcPct val="0"/>
            </a:spcBef>
            <a:spcAft>
              <a:spcPct val="35000"/>
            </a:spcAft>
            <a:buNone/>
          </a:pPr>
          <a:endParaRPr lang="en-US" sz="4300" kern="1200"/>
        </a:p>
      </dsp:txBody>
      <dsp:txXfrm>
        <a:off x="0" y="1440341"/>
        <a:ext cx="2454389" cy="1233978"/>
      </dsp:txXfrm>
    </dsp:sp>
    <dsp:sp modelId="{792FB1A9-32ED-E042-92AB-D8D6F00D3880}">
      <dsp:nvSpPr>
        <dsp:cNvPr id="0" name=""/>
        <dsp:cNvSpPr/>
      </dsp:nvSpPr>
      <dsp:spPr>
        <a:xfrm>
          <a:off x="0" y="499"/>
          <a:ext cx="8181298" cy="1233978"/>
        </a:xfrm>
        <a:prstGeom prst="roundRect">
          <a:avLst>
            <a:gd name="adj" fmla="val 10000"/>
          </a:avLst>
        </a:prstGeom>
        <a:solidFill>
          <a:schemeClr val="accent2">
            <a:tint val="40000"/>
            <a:hueOff val="0"/>
            <a:satOff val="0"/>
            <a:lumOff val="0"/>
            <a:alphaOff val="0"/>
          </a:schemeClr>
        </a:solidFill>
        <a:ln>
          <a:noFill/>
        </a:ln>
        <a:effectLst>
          <a:outerShdw blurRad="50800" dist="38100" dir="2700000" algn="tl" rotWithShape="0">
            <a:prstClr val="black">
              <a:alpha val="40000"/>
            </a:prstClr>
          </a:outerShdw>
        </a:effectLst>
      </dsp:spPr>
      <dsp:style>
        <a:lnRef idx="0">
          <a:scrgbClr r="0" g="0" b="0"/>
        </a:lnRef>
        <a:fillRef idx="1">
          <a:scrgbClr r="0" g="0" b="0"/>
        </a:fillRef>
        <a:effectRef idx="0">
          <a:scrgbClr r="0" g="0" b="0"/>
        </a:effectRef>
        <a:fontRef idx="minor"/>
      </dsp:style>
      <dsp:txBody>
        <a:bodyPr spcFirstLastPara="0" vert="horz" wrap="square" lIns="305816" tIns="305816" rIns="305816" bIns="305816" numCol="1" spcCol="1270" anchor="ctr" anchorCtr="0">
          <a:noAutofit/>
        </a:bodyPr>
        <a:lstStyle/>
        <a:p>
          <a:pPr marL="0" lvl="0" indent="0" algn="ctr" defTabSz="1911350">
            <a:lnSpc>
              <a:spcPct val="90000"/>
            </a:lnSpc>
            <a:spcBef>
              <a:spcPct val="0"/>
            </a:spcBef>
            <a:spcAft>
              <a:spcPct val="35000"/>
            </a:spcAft>
            <a:buNone/>
          </a:pPr>
          <a:endParaRPr lang="en-US" sz="4300" kern="1200"/>
        </a:p>
      </dsp:txBody>
      <dsp:txXfrm>
        <a:off x="0" y="499"/>
        <a:ext cx="2454389" cy="1233978"/>
      </dsp:txXfrm>
    </dsp:sp>
    <dsp:sp modelId="{A5822EC5-059B-BC4C-99CB-519B44108A59}">
      <dsp:nvSpPr>
        <dsp:cNvPr id="0" name=""/>
        <dsp:cNvSpPr/>
      </dsp:nvSpPr>
      <dsp:spPr>
        <a:xfrm>
          <a:off x="4965834" y="103431"/>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4995982" y="133579"/>
        <a:ext cx="1483684" cy="969024"/>
      </dsp:txXfrm>
    </dsp:sp>
    <dsp:sp modelId="{9AEB745C-234A-A140-A58B-97D041EB93C5}">
      <dsp:nvSpPr>
        <dsp:cNvPr id="0" name=""/>
        <dsp:cNvSpPr/>
      </dsp:nvSpPr>
      <dsp:spPr>
        <a:xfrm>
          <a:off x="4232443" y="1132751"/>
          <a:ext cx="1505380" cy="411728"/>
        </a:xfrm>
        <a:custGeom>
          <a:avLst/>
          <a:gdLst/>
          <a:ahLst/>
          <a:cxnLst/>
          <a:rect l="0" t="0" r="0" b="0"/>
          <a:pathLst>
            <a:path>
              <a:moveTo>
                <a:pt x="1505380" y="0"/>
              </a:moveTo>
              <a:lnTo>
                <a:pt x="1505380" y="205864"/>
              </a:lnTo>
              <a:lnTo>
                <a:pt x="0" y="205864"/>
              </a:lnTo>
              <a:lnTo>
                <a:pt x="0" y="411728"/>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833E12-2E9E-364F-887C-3540FB57D1D5}">
      <dsp:nvSpPr>
        <dsp:cNvPr id="0" name=""/>
        <dsp:cNvSpPr/>
      </dsp:nvSpPr>
      <dsp:spPr>
        <a:xfrm>
          <a:off x="3460453" y="1544479"/>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3490601" y="1574627"/>
        <a:ext cx="1483684" cy="969024"/>
      </dsp:txXfrm>
    </dsp:sp>
    <dsp:sp modelId="{87004C8F-BFCB-884E-BE1D-34799B445CBF}">
      <dsp:nvSpPr>
        <dsp:cNvPr id="0" name=""/>
        <dsp:cNvSpPr/>
      </dsp:nvSpPr>
      <dsp:spPr>
        <a:xfrm>
          <a:off x="3228856" y="2573799"/>
          <a:ext cx="1003587" cy="411728"/>
        </a:xfrm>
        <a:custGeom>
          <a:avLst/>
          <a:gdLst/>
          <a:ahLst/>
          <a:cxnLst/>
          <a:rect l="0" t="0" r="0" b="0"/>
          <a:pathLst>
            <a:path>
              <a:moveTo>
                <a:pt x="1003587" y="0"/>
              </a:moveTo>
              <a:lnTo>
                <a:pt x="1003587" y="205864"/>
              </a:lnTo>
              <a:lnTo>
                <a:pt x="0" y="205864"/>
              </a:lnTo>
              <a:lnTo>
                <a:pt x="0" y="411728"/>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6C80428-F21A-7B4C-9028-DE9803175538}">
      <dsp:nvSpPr>
        <dsp:cNvPr id="0" name=""/>
        <dsp:cNvSpPr/>
      </dsp:nvSpPr>
      <dsp:spPr>
        <a:xfrm>
          <a:off x="2456866" y="2985528"/>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2487014" y="3015676"/>
        <a:ext cx="1483684" cy="969024"/>
      </dsp:txXfrm>
    </dsp:sp>
    <dsp:sp modelId="{E26CF011-DC80-9144-BAA3-528B19E52B68}">
      <dsp:nvSpPr>
        <dsp:cNvPr id="0" name=""/>
        <dsp:cNvSpPr/>
      </dsp:nvSpPr>
      <dsp:spPr>
        <a:xfrm>
          <a:off x="4232443" y="2573799"/>
          <a:ext cx="1003587" cy="411728"/>
        </a:xfrm>
        <a:custGeom>
          <a:avLst/>
          <a:gdLst/>
          <a:ahLst/>
          <a:cxnLst/>
          <a:rect l="0" t="0" r="0" b="0"/>
          <a:pathLst>
            <a:path>
              <a:moveTo>
                <a:pt x="0" y="0"/>
              </a:moveTo>
              <a:lnTo>
                <a:pt x="0" y="205864"/>
              </a:lnTo>
              <a:lnTo>
                <a:pt x="1003587" y="205864"/>
              </a:lnTo>
              <a:lnTo>
                <a:pt x="1003587" y="411728"/>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92D0C1-954D-EE44-ACB6-6AF14F37C5BF}">
      <dsp:nvSpPr>
        <dsp:cNvPr id="0" name=""/>
        <dsp:cNvSpPr/>
      </dsp:nvSpPr>
      <dsp:spPr>
        <a:xfrm>
          <a:off x="4464040" y="2985528"/>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4494188" y="3015676"/>
        <a:ext cx="1483684" cy="969024"/>
      </dsp:txXfrm>
    </dsp:sp>
    <dsp:sp modelId="{10EC6125-FD7D-D44D-8518-77ED18472FEF}">
      <dsp:nvSpPr>
        <dsp:cNvPr id="0" name=""/>
        <dsp:cNvSpPr/>
      </dsp:nvSpPr>
      <dsp:spPr>
        <a:xfrm>
          <a:off x="5737824" y="1132751"/>
          <a:ext cx="1505380" cy="411728"/>
        </a:xfrm>
        <a:custGeom>
          <a:avLst/>
          <a:gdLst/>
          <a:ahLst/>
          <a:cxnLst/>
          <a:rect l="0" t="0" r="0" b="0"/>
          <a:pathLst>
            <a:path>
              <a:moveTo>
                <a:pt x="0" y="0"/>
              </a:moveTo>
              <a:lnTo>
                <a:pt x="0" y="205864"/>
              </a:lnTo>
              <a:lnTo>
                <a:pt x="1505380" y="205864"/>
              </a:lnTo>
              <a:lnTo>
                <a:pt x="1505380" y="411728"/>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56EA56A-E92D-B640-A9A5-7C35C291CC20}">
      <dsp:nvSpPr>
        <dsp:cNvPr id="0" name=""/>
        <dsp:cNvSpPr/>
      </dsp:nvSpPr>
      <dsp:spPr>
        <a:xfrm>
          <a:off x="6471214" y="1544479"/>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6501362" y="1574627"/>
        <a:ext cx="1483684" cy="969024"/>
      </dsp:txXfrm>
    </dsp:sp>
    <dsp:sp modelId="{C14BE7D8-5FD1-484D-9667-FF888445B3A4}">
      <dsp:nvSpPr>
        <dsp:cNvPr id="0" name=""/>
        <dsp:cNvSpPr/>
      </dsp:nvSpPr>
      <dsp:spPr>
        <a:xfrm>
          <a:off x="7197485" y="2573799"/>
          <a:ext cx="91440" cy="411728"/>
        </a:xfrm>
        <a:custGeom>
          <a:avLst/>
          <a:gdLst/>
          <a:ahLst/>
          <a:cxnLst/>
          <a:rect l="0" t="0" r="0" b="0"/>
          <a:pathLst>
            <a:path>
              <a:moveTo>
                <a:pt x="45720" y="0"/>
              </a:moveTo>
              <a:lnTo>
                <a:pt x="45720" y="411728"/>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326580-3FCB-A043-AA49-94100B202CAE}">
      <dsp:nvSpPr>
        <dsp:cNvPr id="0" name=""/>
        <dsp:cNvSpPr/>
      </dsp:nvSpPr>
      <dsp:spPr>
        <a:xfrm>
          <a:off x="6471214" y="2985528"/>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6501362" y="3015676"/>
        <a:ext cx="1483684" cy="96902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10-17T12:17:45.277"/>
    </inkml:context>
    <inkml:brush xml:id="br0">
      <inkml:brushProperty name="width" value="0.1" units="cm"/>
      <inkml:brushProperty name="height" value="0.1" units="cm"/>
      <inkml:brushProperty name="color" value="#FFFFFF"/>
    </inkml:brush>
  </inkml:definitions>
  <inkml:trace contextRef="#ctx0" brushRef="#br0">12901 9700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10-17T12:17:45.283"/>
    </inkml:context>
    <inkml:brush xml:id="br0">
      <inkml:brushProperty name="width" value="0.1" units="cm"/>
      <inkml:brushProperty name="height" value="0.1" units="cm"/>
      <inkml:brushProperty name="color" value="#FFFFFF"/>
    </inkml:brush>
  </inkml:definitions>
  <inkml:trace contextRef="#ctx0" brushRef="#br0">14086 5096 16383 0 0,'7'6'0'0'0,"15"16"0"0"0,12 15 0 0 0,10 14 0 0 0,-1 9 0 0 0,1 3 0 0 0,-3 3 0 0 0,1 2 0 0 0,-5-6 0 0 0,-2-11 0 0 0,-2-1 0 0 0,-8-8 0 0 0,-5-7 0 0 0,-2-2 0 0 0,-1-5 0 0 0,0-4 0 0 0,-1-2 0 0 0,2-2 0 0 0,0-1 0 0 0,-3-1 0 0 0,0-4 0 0 0,-3-2 0 0 0,6-3 0 0 0,8-3 0 0 0,7-2 0 0 0,-1-3 0 0 0,2 4 0 0 0,-2 1 0 0 0,-3-1 0 0 0,-3-2 0 0 0,3 0 0 0 0,6-1 0 0 0,-1-2 0 0 0,-5 1 0 0 0,0-1 0 0 0,4-1 0 0 0,-2 1 0 0 0,-4 0 0 0 0,-2 0 0 0 0,1 4 0 0 0,-2 2 0 0 0,0-1 0 0 0,-2 0 0 0 0,-1-2 0 0 0,3-1 0 0 0,-1 1 0 0 0,1 0 0 0 0,-2 0 0 0 0,1-1 0 0 0,0 0 0 0 0,0-2 0 0 0,-2 3 0 0 0,3 0 0 0 0,0-1 0 0 0,0 1 0 0 0,-1-2 0 0 0,-2 0 0 0 0,-2-1 0 0 0,0 0 0 0 0,-3 0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10-17T12:17:45.284"/>
    </inkml:context>
    <inkml:brush xml:id="br0">
      <inkml:brushProperty name="width" value="0.1" units="cm"/>
      <inkml:brushProperty name="height" value="0.1" units="cm"/>
      <inkml:brushProperty name="color" value="#FFFFFF"/>
    </inkml:brush>
  </inkml:definitions>
  <inkml:trace contextRef="#ctx0" brushRef="#br0">9761 11271 16383 0 0,'0'-2'0'0'0,"-1"-1"0"0"0,-2-5 0 0 0,1-1 0 0 0,1-3 0 0 0,0 0 0 0 0,0-2 0 0 0,1 0 0 0 0,0 1 0 0 0,0 4 0 0 0,0 7 0 0 0,0 5 0 0 0,0 6 0 0 0,0 2 0 0 0,0 2 0 0 0,0 1 0 0 0,0 0 0 0 0,2-3 0 0 0,0 0 0 0 0,0-1 0 0 0,-1 2 0 0 0,0 0 0 0 0,0-5 0 0 0,-1-6 0 0 0,0-5 0 0 0,0-4 0 0 0,0-3 0 0 0,0-1 0 0 0,0-1 0 0 0,-1 1 0 0 0,-2 1 0 0 0,1 0 0 0 0,-1 1 0 0 0,0 1 0 0 0,-3 1 0 0 0,0 3 0 0 0,1 4 0 0 0,1 6 0 0 0,2 3 0 0 0,0 4 0 0 0,2 1 0 0 0,-1 0 0 0 0,0-3 0 0 0,-1 1 0 0 0,0 0 0 0 0,1 1 0 0 0,0 0 0 0 0,1 1 0 0 0,-1 0 0 0 0,1-1 0 0 0,0 1 0 0 0,0 0 0 0 0,0-6 0 0 0,0-5 0 0 0,0-5 0 0 0,0-5 0 0 0,0-2 0 0 0,0-4 0 0 0,0 1 0 0 0,0-2 0 0 0,0 0 0 0 0,0 2 0 0 0,0-1 0 0 0,0 2 0 0 0,0-2 0 0 0,4 2 0 0 0,0 2 0 0 0,0-1 0 0 0,0 2 0 0 0,1 1 0 0 0,-2-1 0 0 0,-1 0 0 0 0,3-2 0 0 0,0-1 0 0 0,-1 0 0 0 0,-1-2 0 0 0,-1 4 0 0 0,-2 4 0 0 0,-2 8 0 0 0,-1 2 0 0 0,-1 2 0 0 0,1 4 0 0 0,0 1 0 0 0,-1 1 0 0 0,-2 1 0 0 0,2 0 0 0 0,1 0 0 0 0,1 1 0 0 0,0 0 0 0 0,2 0 0 0 0,0-3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02B377-E820-46CA-9BA3-BC97D6DDBBF4}" type="datetimeFigureOut">
              <a:rPr lang="en-US" smtClean="0"/>
              <a:t>10/22/2026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B26B15-B115-4FE7-9FF2-7287B02728E4}" type="slidenum">
              <a:rPr lang="en-US" smtClean="0"/>
              <a:t>‹#›</a:t>
            </a:fld>
            <a:endParaRPr lang="en-US"/>
          </a:p>
        </p:txBody>
      </p:sp>
    </p:spTree>
    <p:extLst>
      <p:ext uri="{BB962C8B-B14F-4D97-AF65-F5344CB8AC3E}">
        <p14:creationId xmlns:p14="http://schemas.microsoft.com/office/powerpoint/2010/main" val="444938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ntrs.nasa.gov/api/citations/19670030324/downloads/19670030324.pdf?utm_%E2%80%8B" TargetMode="External"/><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https://www.sciencedirect.com/science/article/pii/S2213846324001342"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Jasmine</a:t>
            </a:r>
          </a:p>
        </p:txBody>
      </p:sp>
      <p:sp>
        <p:nvSpPr>
          <p:cNvPr id="4" name="Slide Number Placeholder 3"/>
          <p:cNvSpPr>
            <a:spLocks noGrp="1"/>
          </p:cNvSpPr>
          <p:nvPr>
            <p:ph type="sldNum" sz="quarter" idx="5"/>
          </p:nvPr>
        </p:nvSpPr>
        <p:spPr/>
        <p:txBody>
          <a:bodyPr/>
          <a:lstStyle/>
          <a:p>
            <a:fld id="{9BB26B15-B115-4FE7-9FF2-7287B02728E4}" type="slidenum">
              <a:rPr lang="en-US" smtClean="0"/>
              <a:t>2</a:t>
            </a:fld>
            <a:endParaRPr lang="en-US"/>
          </a:p>
        </p:txBody>
      </p:sp>
    </p:spTree>
    <p:extLst>
      <p:ext uri="{BB962C8B-B14F-4D97-AF65-F5344CB8AC3E}">
        <p14:creationId xmlns:p14="http://schemas.microsoft.com/office/powerpoint/2010/main" val="2771789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Jasmine</a:t>
            </a:r>
          </a:p>
        </p:txBody>
      </p:sp>
      <p:sp>
        <p:nvSpPr>
          <p:cNvPr id="4" name="Slide Number Placeholder 3"/>
          <p:cNvSpPr>
            <a:spLocks noGrp="1"/>
          </p:cNvSpPr>
          <p:nvPr>
            <p:ph type="sldNum" sz="quarter" idx="5"/>
          </p:nvPr>
        </p:nvSpPr>
        <p:spPr/>
        <p:txBody>
          <a:bodyPr/>
          <a:lstStyle/>
          <a:p>
            <a:fld id="{9BB26B15-B115-4FE7-9FF2-7287B02728E4}" type="slidenum">
              <a:rPr lang="en-US" smtClean="0"/>
              <a:t>3</a:t>
            </a:fld>
            <a:endParaRPr lang="en-US"/>
          </a:p>
        </p:txBody>
      </p:sp>
    </p:spTree>
    <p:extLst>
      <p:ext uri="{BB962C8B-B14F-4D97-AF65-F5344CB8AC3E}">
        <p14:creationId xmlns:p14="http://schemas.microsoft.com/office/powerpoint/2010/main" val="2995494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B26B15-B115-4FE7-9FF2-7287B02728E4}" type="slidenum">
              <a:rPr lang="en-US" smtClean="0"/>
              <a:t>17</a:t>
            </a:fld>
            <a:endParaRPr lang="en-US"/>
          </a:p>
        </p:txBody>
      </p:sp>
    </p:spTree>
    <p:extLst>
      <p:ext uri="{BB962C8B-B14F-4D97-AF65-F5344CB8AC3E}">
        <p14:creationId xmlns:p14="http://schemas.microsoft.com/office/powerpoint/2010/main" val="1229283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https://ntrs.nasa.gov/api/citations/19670030324/downloads/19670030324.pdf?utm_%E2%80%8B</a:t>
            </a:r>
            <a:br>
              <a:rPr lang="en-US">
                <a:cs typeface="+mn-lt"/>
              </a:rPr>
            </a:br>
            <a:r>
              <a:rPr lang="en-US">
                <a:hlinkClick r:id="rId4"/>
              </a:rPr>
              <a:t>Mechanical property improvements of LPBF-AlSi10Mg via forging to modify microstructure and defect ch…</a:t>
            </a:r>
            <a:endParaRPr lang="en-US"/>
          </a:p>
        </p:txBody>
      </p:sp>
      <p:sp>
        <p:nvSpPr>
          <p:cNvPr id="4" name="Slide Number Placeholder 3"/>
          <p:cNvSpPr>
            <a:spLocks noGrp="1"/>
          </p:cNvSpPr>
          <p:nvPr>
            <p:ph type="sldNum" sz="quarter" idx="5"/>
          </p:nvPr>
        </p:nvSpPr>
        <p:spPr/>
        <p:txBody>
          <a:bodyPr/>
          <a:lstStyle/>
          <a:p>
            <a:fld id="{9BB26B15-B115-4FE7-9FF2-7287B02728E4}" type="slidenum">
              <a:rPr lang="en-US" smtClean="0"/>
              <a:t>24</a:t>
            </a:fld>
            <a:endParaRPr lang="en-US"/>
          </a:p>
        </p:txBody>
      </p:sp>
    </p:spTree>
    <p:extLst>
      <p:ext uri="{BB962C8B-B14F-4D97-AF65-F5344CB8AC3E}">
        <p14:creationId xmlns:p14="http://schemas.microsoft.com/office/powerpoint/2010/main" val="1666378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https://ntrs.nasa.gov/api/citations/19670030324/downloads/19670030324.pdf?utm_%E2%80%8B</a:t>
            </a:r>
          </a:p>
        </p:txBody>
      </p:sp>
      <p:sp>
        <p:nvSpPr>
          <p:cNvPr id="4" name="Slide Number Placeholder 3"/>
          <p:cNvSpPr>
            <a:spLocks noGrp="1"/>
          </p:cNvSpPr>
          <p:nvPr>
            <p:ph type="sldNum" sz="quarter" idx="5"/>
          </p:nvPr>
        </p:nvSpPr>
        <p:spPr/>
        <p:txBody>
          <a:bodyPr/>
          <a:lstStyle/>
          <a:p>
            <a:fld id="{9BB26B15-B115-4FE7-9FF2-7287B02728E4}" type="slidenum">
              <a:rPr lang="en-US" smtClean="0"/>
              <a:t>25</a:t>
            </a:fld>
            <a:endParaRPr lang="en-US"/>
          </a:p>
        </p:txBody>
      </p:sp>
    </p:spTree>
    <p:extLst>
      <p:ext uri="{BB962C8B-B14F-4D97-AF65-F5344CB8AC3E}">
        <p14:creationId xmlns:p14="http://schemas.microsoft.com/office/powerpoint/2010/main" val="16663782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BA313-38D9-83D9-041E-9F14B2E65A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1C3609-4B29-61EB-C5C2-7548704079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C8B40C-885B-ED23-E71F-379A05EF7A51}"/>
              </a:ext>
            </a:extLst>
          </p:cNvPr>
          <p:cNvSpPr>
            <a:spLocks noGrp="1"/>
          </p:cNvSpPr>
          <p:nvPr>
            <p:ph type="body" idx="1"/>
          </p:nvPr>
        </p:nvSpPr>
        <p:spPr/>
        <p:txBody>
          <a:bodyPr/>
          <a:lstStyle/>
          <a:p>
            <a:r>
              <a:rPr lang="en-US"/>
              <a:t>https://ntrs.nasa.gov/api/citations/19670030324/downloads/19670030324.pdf?utm_%E2%80%8B</a:t>
            </a:r>
          </a:p>
        </p:txBody>
      </p:sp>
      <p:sp>
        <p:nvSpPr>
          <p:cNvPr id="4" name="Slide Number Placeholder 3">
            <a:extLst>
              <a:ext uri="{FF2B5EF4-FFF2-40B4-BE49-F238E27FC236}">
                <a16:creationId xmlns:a16="http://schemas.microsoft.com/office/drawing/2014/main" id="{443F139E-F4AD-8D4D-B10F-5402C07D6E66}"/>
              </a:ext>
            </a:extLst>
          </p:cNvPr>
          <p:cNvSpPr>
            <a:spLocks noGrp="1"/>
          </p:cNvSpPr>
          <p:nvPr>
            <p:ph type="sldNum" sz="quarter" idx="5"/>
          </p:nvPr>
        </p:nvSpPr>
        <p:spPr/>
        <p:txBody>
          <a:bodyPr/>
          <a:lstStyle/>
          <a:p>
            <a:fld id="{9BB26B15-B115-4FE7-9FF2-7287B02728E4}" type="slidenum">
              <a:rPr lang="en-US" smtClean="0"/>
              <a:t>26</a:t>
            </a:fld>
            <a:endParaRPr lang="en-US"/>
          </a:p>
        </p:txBody>
      </p:sp>
    </p:spTree>
    <p:extLst>
      <p:ext uri="{BB962C8B-B14F-4D97-AF65-F5344CB8AC3E}">
        <p14:creationId xmlns:p14="http://schemas.microsoft.com/office/powerpoint/2010/main" val="32324770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BF42B-6A9C-719D-8FFA-B5C6340CBC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33850-DF35-B0A3-0A14-1D58DAE7D3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B63C23-C17A-D7B3-0236-1A8F83AC8C8A}"/>
              </a:ext>
            </a:extLst>
          </p:cNvPr>
          <p:cNvSpPr>
            <a:spLocks noGrp="1"/>
          </p:cNvSpPr>
          <p:nvPr>
            <p:ph type="body" idx="1"/>
          </p:nvPr>
        </p:nvSpPr>
        <p:spPr/>
        <p:txBody>
          <a:bodyPr/>
          <a:lstStyle/>
          <a:p>
            <a:r>
              <a:rPr lang="en-US"/>
              <a:t>https://ntrs.nasa.gov/api/citations/19670030324/downloads/19670030324.pdf?utm_%E2%80%8B</a:t>
            </a:r>
          </a:p>
        </p:txBody>
      </p:sp>
      <p:sp>
        <p:nvSpPr>
          <p:cNvPr id="4" name="Slide Number Placeholder 3">
            <a:extLst>
              <a:ext uri="{FF2B5EF4-FFF2-40B4-BE49-F238E27FC236}">
                <a16:creationId xmlns:a16="http://schemas.microsoft.com/office/drawing/2014/main" id="{370D1D27-A5A0-8744-5EE3-15F6BDE4300D}"/>
              </a:ext>
            </a:extLst>
          </p:cNvPr>
          <p:cNvSpPr>
            <a:spLocks noGrp="1"/>
          </p:cNvSpPr>
          <p:nvPr>
            <p:ph type="sldNum" sz="quarter" idx="5"/>
          </p:nvPr>
        </p:nvSpPr>
        <p:spPr/>
        <p:txBody>
          <a:bodyPr/>
          <a:lstStyle/>
          <a:p>
            <a:fld id="{9BB26B15-B115-4FE7-9FF2-7287B02728E4}" type="slidenum">
              <a:rPr lang="en-US" smtClean="0"/>
              <a:t>27</a:t>
            </a:fld>
            <a:endParaRPr lang="en-US"/>
          </a:p>
        </p:txBody>
      </p:sp>
    </p:spTree>
    <p:extLst>
      <p:ext uri="{BB962C8B-B14F-4D97-AF65-F5344CB8AC3E}">
        <p14:creationId xmlns:p14="http://schemas.microsoft.com/office/powerpoint/2010/main" val="3680034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3E8B4-2452-4970-AF81-6744C352AC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EE310E-39C4-0338-D1C4-7896D38CC8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7DBA3D-2AA9-19BC-50CB-BB2B9F605684}"/>
              </a:ext>
            </a:extLst>
          </p:cNvPr>
          <p:cNvSpPr>
            <a:spLocks noGrp="1"/>
          </p:cNvSpPr>
          <p:nvPr>
            <p:ph type="body" idx="1"/>
          </p:nvPr>
        </p:nvSpPr>
        <p:spPr/>
        <p:txBody>
          <a:bodyPr/>
          <a:lstStyle/>
          <a:p>
            <a:r>
              <a:rPr lang="en-US"/>
              <a:t>https://ntrs.nasa.gov/api/citations/19670030324/downloads/19670030324.pdf?utm_%E2%80%8B</a:t>
            </a:r>
          </a:p>
        </p:txBody>
      </p:sp>
      <p:sp>
        <p:nvSpPr>
          <p:cNvPr id="4" name="Slide Number Placeholder 3">
            <a:extLst>
              <a:ext uri="{FF2B5EF4-FFF2-40B4-BE49-F238E27FC236}">
                <a16:creationId xmlns:a16="http://schemas.microsoft.com/office/drawing/2014/main" id="{3B0855C1-DED8-3247-8C56-9056F0FFECE6}"/>
              </a:ext>
            </a:extLst>
          </p:cNvPr>
          <p:cNvSpPr>
            <a:spLocks noGrp="1"/>
          </p:cNvSpPr>
          <p:nvPr>
            <p:ph type="sldNum" sz="quarter" idx="5"/>
          </p:nvPr>
        </p:nvSpPr>
        <p:spPr/>
        <p:txBody>
          <a:bodyPr/>
          <a:lstStyle/>
          <a:p>
            <a:fld id="{9BB26B15-B115-4FE7-9FF2-7287B02728E4}" type="slidenum">
              <a:rPr lang="en-US" smtClean="0"/>
              <a:t>28</a:t>
            </a:fld>
            <a:endParaRPr lang="en-US"/>
          </a:p>
        </p:txBody>
      </p:sp>
    </p:spTree>
    <p:extLst>
      <p:ext uri="{BB962C8B-B14F-4D97-AF65-F5344CB8AC3E}">
        <p14:creationId xmlns:p14="http://schemas.microsoft.com/office/powerpoint/2010/main" val="34015167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B26B15-B115-4FE7-9FF2-7287B02728E4}" type="slidenum">
              <a:rPr lang="en-US" smtClean="0"/>
              <a:t>42</a:t>
            </a:fld>
            <a:endParaRPr lang="en-US"/>
          </a:p>
        </p:txBody>
      </p:sp>
    </p:spTree>
    <p:extLst>
      <p:ext uri="{BB962C8B-B14F-4D97-AF65-F5344CB8AC3E}">
        <p14:creationId xmlns:p14="http://schemas.microsoft.com/office/powerpoint/2010/main" val="762515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B26B15-B115-4FE7-9FF2-7287B02728E4}" type="slidenum">
              <a:rPr lang="en-US" smtClean="0"/>
              <a:t>56</a:t>
            </a:fld>
            <a:endParaRPr lang="en-US"/>
          </a:p>
        </p:txBody>
      </p:sp>
    </p:spTree>
    <p:extLst>
      <p:ext uri="{BB962C8B-B14F-4D97-AF65-F5344CB8AC3E}">
        <p14:creationId xmlns:p14="http://schemas.microsoft.com/office/powerpoint/2010/main" val="38204797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jpe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PSS 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ACF6426-A338-EF4F-AD41-195229AE7A29}"/>
              </a:ext>
            </a:extLst>
          </p:cNvPr>
          <p:cNvSpPr/>
          <p:nvPr userDrawn="1"/>
        </p:nvSpPr>
        <p:spPr>
          <a:xfrm>
            <a:off x="9423918" y="111968"/>
            <a:ext cx="2768083" cy="599927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13870095-E196-7646-9F04-CD4BE1D325C9}"/>
              </a:ext>
              <a:ext uri="{C183D7F6-B498-43B3-948B-1728B52AA6E4}">
                <adec:decorative xmlns:adec="http://schemas.microsoft.com/office/drawing/2017/decorative" val="1"/>
              </a:ext>
            </a:extLst>
          </p:cNvPr>
          <p:cNvPicPr>
            <a:picLocks noChangeAspect="1"/>
          </p:cNvPicPr>
          <p:nvPr userDrawn="1"/>
        </p:nvPicPr>
        <p:blipFill rotWithShape="1">
          <a:blip r:embed="rId2">
            <a:alphaModFix amt="45000"/>
          </a:blip>
          <a:srcRect l="44310" t="67464" r="48405" b="25155"/>
          <a:stretch/>
        </p:blipFill>
        <p:spPr>
          <a:xfrm>
            <a:off x="0" y="197231"/>
            <a:ext cx="3734037" cy="2473556"/>
          </a:xfrm>
          <a:prstGeom prst="rect">
            <a:avLst/>
          </a:prstGeom>
        </p:spPr>
      </p:pic>
      <p:sp>
        <p:nvSpPr>
          <p:cNvPr id="12" name="Rectangle 11">
            <a:extLst>
              <a:ext uri="{FF2B5EF4-FFF2-40B4-BE49-F238E27FC236}">
                <a16:creationId xmlns:a16="http://schemas.microsoft.com/office/drawing/2014/main" id="{6B2E4F1C-BC00-7043-9ECB-D12C6377D4EA}"/>
              </a:ext>
              <a:ext uri="{C183D7F6-B498-43B3-948B-1728B52AA6E4}">
                <adec:decorative xmlns:adec="http://schemas.microsoft.com/office/drawing/2017/decorative" val="1"/>
              </a:ext>
            </a:extLst>
          </p:cNvPr>
          <p:cNvSpPr/>
          <p:nvPr userDrawn="1"/>
        </p:nvSpPr>
        <p:spPr>
          <a:xfrm>
            <a:off x="-19050" y="6111242"/>
            <a:ext cx="12211050" cy="7634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highlight>
                <a:srgbClr val="FFFF00"/>
              </a:highlight>
            </a:endParaRPr>
          </a:p>
        </p:txBody>
      </p:sp>
      <p:sp>
        <p:nvSpPr>
          <p:cNvPr id="16" name="Text Placeholder 1">
            <a:extLst>
              <a:ext uri="{FF2B5EF4-FFF2-40B4-BE49-F238E27FC236}">
                <a16:creationId xmlns:a16="http://schemas.microsoft.com/office/drawing/2014/main" id="{CF383971-5B93-4F4F-BE50-345940E02FBE}"/>
              </a:ext>
            </a:extLst>
          </p:cNvPr>
          <p:cNvSpPr>
            <a:spLocks noGrp="1"/>
          </p:cNvSpPr>
          <p:nvPr>
            <p:ph type="body" sz="quarter" idx="11" hasCustomPrompt="1"/>
          </p:nvPr>
        </p:nvSpPr>
        <p:spPr>
          <a:xfrm>
            <a:off x="1155324" y="3789503"/>
            <a:ext cx="4612283" cy="342329"/>
          </a:xfrm>
          <a:noFill/>
        </p:spPr>
        <p:txBody>
          <a:bodyPr anchor="ctr">
            <a:noAutofit/>
          </a:bodyPr>
          <a:lstStyle>
            <a:lvl1pPr marL="0" indent="0">
              <a:lnSpc>
                <a:spcPct val="100000"/>
              </a:lnSpc>
              <a:spcBef>
                <a:spcPts val="0"/>
              </a:spcBef>
              <a:buNone/>
              <a:defRPr sz="1867">
                <a:solidFill>
                  <a:srgbClr val="214734"/>
                </a:solidFill>
                <a:latin typeface="+mn-lt"/>
              </a:defRPr>
            </a:lvl1pPr>
          </a:lstStyle>
          <a:p>
            <a:r>
              <a:rPr lang="en-US"/>
              <a:t>SUBHEAD / PRESENTER</a:t>
            </a:r>
          </a:p>
        </p:txBody>
      </p:sp>
      <p:pic>
        <p:nvPicPr>
          <p:cNvPr id="8" name="Picture 7" descr="A black background with white text&#10;&#10;Description automatically generated">
            <a:extLst>
              <a:ext uri="{FF2B5EF4-FFF2-40B4-BE49-F238E27FC236}">
                <a16:creationId xmlns:a16="http://schemas.microsoft.com/office/drawing/2014/main" id="{F676F84F-D2A7-285B-DE95-C24B6288C16C}"/>
              </a:ext>
            </a:extLst>
          </p:cNvPr>
          <p:cNvPicPr>
            <a:picLocks noChangeAspect="1"/>
          </p:cNvPicPr>
          <p:nvPr userDrawn="1"/>
        </p:nvPicPr>
        <p:blipFill>
          <a:blip r:embed="rId3"/>
          <a:stretch>
            <a:fillRect/>
          </a:stretch>
        </p:blipFill>
        <p:spPr>
          <a:xfrm>
            <a:off x="673211" y="5682065"/>
            <a:ext cx="2933826" cy="1650278"/>
          </a:xfrm>
          <a:prstGeom prst="rect">
            <a:avLst/>
          </a:prstGeom>
        </p:spPr>
      </p:pic>
      <p:pic>
        <p:nvPicPr>
          <p:cNvPr id="7" name="Picture 6">
            <a:extLst>
              <a:ext uri="{FF2B5EF4-FFF2-40B4-BE49-F238E27FC236}">
                <a16:creationId xmlns:a16="http://schemas.microsoft.com/office/drawing/2014/main" id="{725A8725-F4AA-D694-6668-85C81FA9A0E6}"/>
              </a:ext>
            </a:extLst>
          </p:cNvPr>
          <p:cNvPicPr>
            <a:picLocks noChangeAspect="1"/>
          </p:cNvPicPr>
          <p:nvPr userDrawn="1"/>
        </p:nvPicPr>
        <p:blipFill rotWithShape="1">
          <a:blip r:embed="rId4"/>
          <a:srcRect l="29967" t="7630" r="33872" b="-174"/>
          <a:stretch/>
        </p:blipFill>
        <p:spPr>
          <a:xfrm>
            <a:off x="9550918" y="197231"/>
            <a:ext cx="2510860" cy="5915285"/>
          </a:xfrm>
          <a:prstGeom prst="rect">
            <a:avLst/>
          </a:prstGeom>
          <a:ln w="0">
            <a:solidFill>
              <a:schemeClr val="tx1"/>
            </a:solidFill>
          </a:ln>
        </p:spPr>
      </p:pic>
      <p:sp>
        <p:nvSpPr>
          <p:cNvPr id="3" name="Title 1">
            <a:extLst>
              <a:ext uri="{FF2B5EF4-FFF2-40B4-BE49-F238E27FC236}">
                <a16:creationId xmlns:a16="http://schemas.microsoft.com/office/drawing/2014/main" id="{DF2501E8-5BC5-9809-BF5F-F16E520A7487}"/>
              </a:ext>
            </a:extLst>
          </p:cNvPr>
          <p:cNvSpPr>
            <a:spLocks noGrp="1"/>
          </p:cNvSpPr>
          <p:nvPr>
            <p:ph type="title" hasCustomPrompt="1"/>
          </p:nvPr>
        </p:nvSpPr>
        <p:spPr>
          <a:xfrm>
            <a:off x="1155325" y="1936493"/>
            <a:ext cx="8268594" cy="1791189"/>
          </a:xfrm>
          <a:noFill/>
          <a:effectLst/>
        </p:spPr>
        <p:txBody>
          <a:bodyPr>
            <a:noAutofit/>
          </a:bodyPr>
          <a:lstStyle>
            <a:lvl1pPr algn="l">
              <a:lnSpc>
                <a:spcPts val="12000"/>
              </a:lnSpc>
              <a:defRPr sz="11600">
                <a:solidFill>
                  <a:schemeClr val="tx1"/>
                </a:solidFill>
                <a:latin typeface="Munistic" panose="02000500000000000000" pitchFamily="2" charset="0"/>
                <a:ea typeface="Munistic" panose="02000500000000000000" pitchFamily="2" charset="0"/>
                <a:cs typeface="Calibri" panose="020F0502020204030204" pitchFamily="34" charset="0"/>
              </a:defRPr>
            </a:lvl1pPr>
          </a:lstStyle>
          <a:p>
            <a:r>
              <a:rPr lang="en-US"/>
              <a:t>TITLE</a:t>
            </a:r>
          </a:p>
        </p:txBody>
      </p:sp>
    </p:spTree>
    <p:extLst>
      <p:ext uri="{BB962C8B-B14F-4D97-AF65-F5344CB8AC3E}">
        <p14:creationId xmlns:p14="http://schemas.microsoft.com/office/powerpoint/2010/main" val="185668433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PSS 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DD4D18C-A602-01DF-EB9E-A2368BD69E3D}"/>
              </a:ext>
            </a:extLst>
          </p:cNvPr>
          <p:cNvSpPr/>
          <p:nvPr userDrawn="1"/>
        </p:nvSpPr>
        <p:spPr>
          <a:xfrm>
            <a:off x="9423918" y="111968"/>
            <a:ext cx="2768083" cy="599927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13870095-E196-7646-9F04-CD4BE1D325C9}"/>
              </a:ext>
              <a:ext uri="{C183D7F6-B498-43B3-948B-1728B52AA6E4}">
                <adec:decorative xmlns:adec="http://schemas.microsoft.com/office/drawing/2017/decorative" val="1"/>
              </a:ext>
            </a:extLst>
          </p:cNvPr>
          <p:cNvPicPr>
            <a:picLocks noChangeAspect="1"/>
          </p:cNvPicPr>
          <p:nvPr userDrawn="1"/>
        </p:nvPicPr>
        <p:blipFill rotWithShape="1">
          <a:blip r:embed="rId2">
            <a:alphaModFix amt="45000"/>
          </a:blip>
          <a:srcRect l="44310" t="67464" r="48405" b="25155"/>
          <a:stretch/>
        </p:blipFill>
        <p:spPr>
          <a:xfrm>
            <a:off x="0" y="197231"/>
            <a:ext cx="3734037" cy="2473556"/>
          </a:xfrm>
          <a:prstGeom prst="rect">
            <a:avLst/>
          </a:prstGeom>
        </p:spPr>
      </p:pic>
      <p:sp>
        <p:nvSpPr>
          <p:cNvPr id="12" name="Rectangle 11">
            <a:extLst>
              <a:ext uri="{FF2B5EF4-FFF2-40B4-BE49-F238E27FC236}">
                <a16:creationId xmlns:a16="http://schemas.microsoft.com/office/drawing/2014/main" id="{6B2E4F1C-BC00-7043-9ECB-D12C6377D4EA}"/>
              </a:ext>
              <a:ext uri="{C183D7F6-B498-43B3-948B-1728B52AA6E4}">
                <adec:decorative xmlns:adec="http://schemas.microsoft.com/office/drawing/2017/decorative" val="1"/>
              </a:ext>
            </a:extLst>
          </p:cNvPr>
          <p:cNvSpPr/>
          <p:nvPr userDrawn="1"/>
        </p:nvSpPr>
        <p:spPr>
          <a:xfrm>
            <a:off x="-19050" y="6111242"/>
            <a:ext cx="12211050" cy="7634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highlight>
                <a:srgbClr val="FFFF00"/>
              </a:highlight>
            </a:endParaRPr>
          </a:p>
        </p:txBody>
      </p:sp>
      <p:sp>
        <p:nvSpPr>
          <p:cNvPr id="16" name="Text Placeholder 1">
            <a:extLst>
              <a:ext uri="{FF2B5EF4-FFF2-40B4-BE49-F238E27FC236}">
                <a16:creationId xmlns:a16="http://schemas.microsoft.com/office/drawing/2014/main" id="{CF383971-5B93-4F4F-BE50-345940E02FBE}"/>
              </a:ext>
            </a:extLst>
          </p:cNvPr>
          <p:cNvSpPr>
            <a:spLocks noGrp="1"/>
          </p:cNvSpPr>
          <p:nvPr>
            <p:ph type="body" sz="quarter" idx="11" hasCustomPrompt="1"/>
          </p:nvPr>
        </p:nvSpPr>
        <p:spPr>
          <a:xfrm>
            <a:off x="1155324" y="3789503"/>
            <a:ext cx="4612283" cy="342329"/>
          </a:xfrm>
          <a:noFill/>
        </p:spPr>
        <p:txBody>
          <a:bodyPr anchor="ctr">
            <a:noAutofit/>
          </a:bodyPr>
          <a:lstStyle>
            <a:lvl1pPr marL="0" indent="0">
              <a:lnSpc>
                <a:spcPct val="100000"/>
              </a:lnSpc>
              <a:spcBef>
                <a:spcPts val="0"/>
              </a:spcBef>
              <a:buNone/>
              <a:defRPr sz="1867">
                <a:solidFill>
                  <a:srgbClr val="214734"/>
                </a:solidFill>
                <a:latin typeface="+mn-lt"/>
              </a:defRPr>
            </a:lvl1pPr>
          </a:lstStyle>
          <a:p>
            <a:r>
              <a:rPr lang="en-US"/>
              <a:t>SUBHEAD / PRESENTER</a:t>
            </a:r>
          </a:p>
        </p:txBody>
      </p:sp>
      <p:sp>
        <p:nvSpPr>
          <p:cNvPr id="2" name="Title 1">
            <a:extLst>
              <a:ext uri="{FF2B5EF4-FFF2-40B4-BE49-F238E27FC236}">
                <a16:creationId xmlns:a16="http://schemas.microsoft.com/office/drawing/2014/main" id="{AA1B2EF7-886B-B608-BCC1-C1D136A6F23A}"/>
              </a:ext>
            </a:extLst>
          </p:cNvPr>
          <p:cNvSpPr>
            <a:spLocks noGrp="1"/>
          </p:cNvSpPr>
          <p:nvPr>
            <p:ph type="title" hasCustomPrompt="1"/>
          </p:nvPr>
        </p:nvSpPr>
        <p:spPr>
          <a:xfrm>
            <a:off x="1155325" y="1936493"/>
            <a:ext cx="8268594" cy="1791189"/>
          </a:xfrm>
          <a:noFill/>
          <a:effectLst/>
        </p:spPr>
        <p:txBody>
          <a:bodyPr>
            <a:noAutofit/>
          </a:bodyPr>
          <a:lstStyle>
            <a:lvl1pPr algn="l">
              <a:lnSpc>
                <a:spcPts val="12000"/>
              </a:lnSpc>
              <a:defRPr sz="11600">
                <a:solidFill>
                  <a:schemeClr val="tx1"/>
                </a:solidFill>
                <a:latin typeface="Munistic" panose="02000500000000000000" pitchFamily="2" charset="0"/>
                <a:ea typeface="Munistic" panose="02000500000000000000" pitchFamily="2" charset="0"/>
                <a:cs typeface="Calibri" panose="020F0502020204030204" pitchFamily="34" charset="0"/>
              </a:defRPr>
            </a:lvl1pPr>
          </a:lstStyle>
          <a:p>
            <a:r>
              <a:rPr lang="en-US"/>
              <a:t>TITLE</a:t>
            </a:r>
          </a:p>
        </p:txBody>
      </p:sp>
      <p:pic>
        <p:nvPicPr>
          <p:cNvPr id="8" name="Picture 7" descr="A black background with white text&#10;&#10;Description automatically generated">
            <a:extLst>
              <a:ext uri="{FF2B5EF4-FFF2-40B4-BE49-F238E27FC236}">
                <a16:creationId xmlns:a16="http://schemas.microsoft.com/office/drawing/2014/main" id="{F676F84F-D2A7-285B-DE95-C24B6288C16C}"/>
              </a:ext>
            </a:extLst>
          </p:cNvPr>
          <p:cNvPicPr>
            <a:picLocks noChangeAspect="1"/>
          </p:cNvPicPr>
          <p:nvPr userDrawn="1"/>
        </p:nvPicPr>
        <p:blipFill>
          <a:blip r:embed="rId3"/>
          <a:stretch>
            <a:fillRect/>
          </a:stretch>
        </p:blipFill>
        <p:spPr>
          <a:xfrm>
            <a:off x="673211" y="5682065"/>
            <a:ext cx="2933826" cy="1650278"/>
          </a:xfrm>
          <a:prstGeom prst="rect">
            <a:avLst/>
          </a:prstGeom>
        </p:spPr>
      </p:pic>
      <p:pic>
        <p:nvPicPr>
          <p:cNvPr id="4" name="Picture 3" descr="A rocket launching with smoke and clouds&#10;&#10;Description automatically generated">
            <a:extLst>
              <a:ext uri="{FF2B5EF4-FFF2-40B4-BE49-F238E27FC236}">
                <a16:creationId xmlns:a16="http://schemas.microsoft.com/office/drawing/2014/main" id="{E750C3AB-0179-755E-F739-F078654D6077}"/>
              </a:ext>
            </a:extLst>
          </p:cNvPr>
          <p:cNvPicPr>
            <a:picLocks noChangeAspect="1"/>
          </p:cNvPicPr>
          <p:nvPr userDrawn="1"/>
        </p:nvPicPr>
        <p:blipFill rotWithShape="1">
          <a:blip r:embed="rId4"/>
          <a:srcRect l="23639" t="7076" r="24952" b="10889"/>
          <a:stretch/>
        </p:blipFill>
        <p:spPr>
          <a:xfrm>
            <a:off x="9550918" y="197231"/>
            <a:ext cx="2522894" cy="5914011"/>
          </a:xfrm>
          <a:prstGeom prst="rect">
            <a:avLst/>
          </a:prstGeom>
        </p:spPr>
      </p:pic>
    </p:spTree>
    <p:extLst>
      <p:ext uri="{BB962C8B-B14F-4D97-AF65-F5344CB8AC3E}">
        <p14:creationId xmlns:p14="http://schemas.microsoft.com/office/powerpoint/2010/main" val="614846607"/>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Green">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BFF4E795-26B7-6D5D-B586-5DD40B596D1F}"/>
              </a:ext>
              <a:ext uri="{C183D7F6-B498-43B3-948B-1728B52AA6E4}">
                <adec:decorative xmlns:adec="http://schemas.microsoft.com/office/drawing/2017/decorative" val="1"/>
              </a:ext>
            </a:extLst>
          </p:cNvPr>
          <p:cNvPicPr>
            <a:picLocks noChangeAspect="1"/>
          </p:cNvPicPr>
          <p:nvPr userDrawn="1"/>
        </p:nvPicPr>
        <p:blipFill rotWithShape="1">
          <a:blip r:embed="rId2">
            <a:alphaModFix amt="45000"/>
          </a:blip>
          <a:srcRect l="45063" t="25956" r="45411" b="58583"/>
          <a:stretch/>
        </p:blipFill>
        <p:spPr>
          <a:xfrm>
            <a:off x="7309797" y="929369"/>
            <a:ext cx="4882203" cy="5181872"/>
          </a:xfrm>
          <a:prstGeom prst="rect">
            <a:avLst/>
          </a:prstGeom>
        </p:spPr>
      </p:pic>
      <p:pic>
        <p:nvPicPr>
          <p:cNvPr id="16" name="Picture 15">
            <a:extLst>
              <a:ext uri="{FF2B5EF4-FFF2-40B4-BE49-F238E27FC236}">
                <a16:creationId xmlns:a16="http://schemas.microsoft.com/office/drawing/2014/main" id="{EFC3FAE2-B9A3-11FC-09B5-B294C3FC6EAF}"/>
              </a:ext>
              <a:ext uri="{C183D7F6-B498-43B3-948B-1728B52AA6E4}">
                <adec:decorative xmlns:adec="http://schemas.microsoft.com/office/drawing/2017/decorative" val="1"/>
              </a:ext>
            </a:extLst>
          </p:cNvPr>
          <p:cNvPicPr>
            <a:picLocks noChangeAspect="1"/>
          </p:cNvPicPr>
          <p:nvPr userDrawn="1"/>
        </p:nvPicPr>
        <p:blipFill rotWithShape="1">
          <a:blip r:embed="rId3">
            <a:alphaModFix amt="45000"/>
          </a:blip>
          <a:srcRect l="44310" t="67464" r="48405" b="25155"/>
          <a:stretch/>
        </p:blipFill>
        <p:spPr>
          <a:xfrm>
            <a:off x="0" y="174604"/>
            <a:ext cx="3734037" cy="2473556"/>
          </a:xfrm>
          <a:prstGeom prst="rect">
            <a:avLst/>
          </a:prstGeom>
        </p:spPr>
      </p:pic>
      <p:sp>
        <p:nvSpPr>
          <p:cNvPr id="11" name="Title 10">
            <a:extLst>
              <a:ext uri="{FF2B5EF4-FFF2-40B4-BE49-F238E27FC236}">
                <a16:creationId xmlns:a16="http://schemas.microsoft.com/office/drawing/2014/main" id="{1CE0D07B-C2E4-C644-90AF-440D283DAB21}"/>
              </a:ext>
            </a:extLst>
          </p:cNvPr>
          <p:cNvSpPr>
            <a:spLocks noGrp="1"/>
          </p:cNvSpPr>
          <p:nvPr>
            <p:ph type="title" hasCustomPrompt="1"/>
          </p:nvPr>
        </p:nvSpPr>
        <p:spPr>
          <a:xfrm>
            <a:off x="672347" y="504496"/>
            <a:ext cx="10712828" cy="1037865"/>
          </a:xfrm>
          <a:solidFill>
            <a:srgbClr val="214734"/>
          </a:solidFill>
          <a:ln>
            <a:noFill/>
          </a:ln>
          <a:effectLst>
            <a:outerShdw blurRad="50800" dist="38100" dir="2700000" algn="tl" rotWithShape="0">
              <a:prstClr val="black">
                <a:alpha val="40000"/>
              </a:prstClr>
            </a:outerShdw>
          </a:effectLst>
        </p:spPr>
        <p:txBody>
          <a:bodyPr>
            <a:noAutofit/>
          </a:bodyPr>
          <a:lstStyle>
            <a:lvl1pPr algn="l">
              <a:defRPr sz="6400" spc="400">
                <a:solidFill>
                  <a:schemeClr val="bg1"/>
                </a:solidFill>
                <a:latin typeface="Munistic" panose="02000500000000000000" pitchFamily="2" charset="0"/>
              </a:defRPr>
            </a:lvl1pPr>
          </a:lstStyle>
          <a:p>
            <a:r>
              <a:rPr lang="en-US"/>
              <a:t>SECTION BREAK</a:t>
            </a:r>
          </a:p>
        </p:txBody>
      </p:sp>
      <p:sp>
        <p:nvSpPr>
          <p:cNvPr id="13" name="Text Placeholder 1">
            <a:extLst>
              <a:ext uri="{FF2B5EF4-FFF2-40B4-BE49-F238E27FC236}">
                <a16:creationId xmlns:a16="http://schemas.microsoft.com/office/drawing/2014/main" id="{59DBFB00-DD14-A147-2672-46D754793ADC}"/>
              </a:ext>
            </a:extLst>
          </p:cNvPr>
          <p:cNvSpPr>
            <a:spLocks noGrp="1"/>
          </p:cNvSpPr>
          <p:nvPr>
            <p:ph type="body" sz="quarter" idx="11" hasCustomPrompt="1"/>
          </p:nvPr>
        </p:nvSpPr>
        <p:spPr>
          <a:xfrm>
            <a:off x="672347" y="1842273"/>
            <a:ext cx="4612283" cy="342329"/>
          </a:xfrm>
          <a:solidFill>
            <a:schemeClr val="bg1"/>
          </a:solidFill>
        </p:spPr>
        <p:txBody>
          <a:bodyPr anchor="ctr">
            <a:noAutofit/>
          </a:bodyPr>
          <a:lstStyle>
            <a:lvl1pPr marL="0" indent="0">
              <a:lnSpc>
                <a:spcPct val="100000"/>
              </a:lnSpc>
              <a:spcBef>
                <a:spcPts val="0"/>
              </a:spcBef>
              <a:buNone/>
              <a:defRPr sz="1867">
                <a:solidFill>
                  <a:srgbClr val="214734"/>
                </a:solidFill>
                <a:latin typeface="+mn-lt"/>
              </a:defRPr>
            </a:lvl1pPr>
          </a:lstStyle>
          <a:p>
            <a:r>
              <a:rPr lang="en-US"/>
              <a:t>SUBHEAD / PRESENTER</a:t>
            </a:r>
          </a:p>
        </p:txBody>
      </p:sp>
      <p:sp>
        <p:nvSpPr>
          <p:cNvPr id="2" name="Rectangle 1">
            <a:extLst>
              <a:ext uri="{FF2B5EF4-FFF2-40B4-BE49-F238E27FC236}">
                <a16:creationId xmlns:a16="http://schemas.microsoft.com/office/drawing/2014/main" id="{6D04C95E-9E81-9163-47B2-E45D6ED58FC5}"/>
              </a:ext>
              <a:ext uri="{C183D7F6-B498-43B3-948B-1728B52AA6E4}">
                <adec:decorative xmlns:adec="http://schemas.microsoft.com/office/drawing/2017/decorative" val="1"/>
              </a:ext>
            </a:extLst>
          </p:cNvPr>
          <p:cNvSpPr/>
          <p:nvPr userDrawn="1"/>
        </p:nvSpPr>
        <p:spPr>
          <a:xfrm>
            <a:off x="0" y="6111241"/>
            <a:ext cx="12192000" cy="79192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highlight>
                <a:srgbClr val="FFFF00"/>
              </a:highlight>
            </a:endParaRPr>
          </a:p>
        </p:txBody>
      </p:sp>
      <p:pic>
        <p:nvPicPr>
          <p:cNvPr id="3" name="Picture 2" descr="A black background with white text&#10;&#10;Description automatically generated">
            <a:extLst>
              <a:ext uri="{FF2B5EF4-FFF2-40B4-BE49-F238E27FC236}">
                <a16:creationId xmlns:a16="http://schemas.microsoft.com/office/drawing/2014/main" id="{833AF3E0-66FD-6F0A-8E65-197BA2386EEF}"/>
              </a:ext>
            </a:extLst>
          </p:cNvPr>
          <p:cNvPicPr>
            <a:picLocks noChangeAspect="1"/>
          </p:cNvPicPr>
          <p:nvPr userDrawn="1"/>
        </p:nvPicPr>
        <p:blipFill>
          <a:blip r:embed="rId4"/>
          <a:stretch>
            <a:fillRect/>
          </a:stretch>
        </p:blipFill>
        <p:spPr>
          <a:xfrm>
            <a:off x="672347" y="5682065"/>
            <a:ext cx="2933826" cy="1650278"/>
          </a:xfrm>
          <a:prstGeom prst="rect">
            <a:avLst/>
          </a:prstGeom>
        </p:spPr>
      </p:pic>
    </p:spTree>
    <p:extLst>
      <p:ext uri="{BB962C8B-B14F-4D97-AF65-F5344CB8AC3E}">
        <p14:creationId xmlns:p14="http://schemas.microsoft.com/office/powerpoint/2010/main" val="3502661408"/>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ngle Text">
    <p:spTree>
      <p:nvGrpSpPr>
        <p:cNvPr id="1" name=""/>
        <p:cNvGrpSpPr/>
        <p:nvPr/>
      </p:nvGrpSpPr>
      <p:grpSpPr>
        <a:xfrm>
          <a:off x="0" y="0"/>
          <a:ext cx="0" cy="0"/>
          <a:chOff x="0" y="0"/>
          <a:chExt cx="0" cy="0"/>
        </a:xfrm>
      </p:grpSpPr>
      <p:sp>
        <p:nvSpPr>
          <p:cNvPr id="6" name="Text Placeholder 18">
            <a:extLst>
              <a:ext uri="{FF2B5EF4-FFF2-40B4-BE49-F238E27FC236}">
                <a16:creationId xmlns:a16="http://schemas.microsoft.com/office/drawing/2014/main" id="{0CD4B7BB-C6B1-4047-93CA-4A6BC6CADA85}"/>
              </a:ext>
            </a:extLst>
          </p:cNvPr>
          <p:cNvSpPr>
            <a:spLocks noGrp="1"/>
          </p:cNvSpPr>
          <p:nvPr>
            <p:ph type="body" sz="quarter" idx="15" hasCustomPrompt="1"/>
          </p:nvPr>
        </p:nvSpPr>
        <p:spPr>
          <a:xfrm>
            <a:off x="838199" y="1969476"/>
            <a:ext cx="10515600" cy="4033401"/>
          </a:xfrm>
        </p:spPr>
        <p:txBody>
          <a:bodyPr numCol="2" spcCol="457200">
            <a:noAutofit/>
          </a:bodyPr>
          <a:lstStyle>
            <a:lvl1pPr marL="380990" indent="-259074" algn="l">
              <a:lnSpc>
                <a:spcPct val="100000"/>
              </a:lnSpc>
              <a:spcAft>
                <a:spcPts val="800"/>
              </a:spcAft>
              <a:buFont typeface="Arial" panose="020B0604020202020204" pitchFamily="34" charset="0"/>
              <a:buChar char="•"/>
              <a:defRPr sz="1867"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0"/>
            <a:r>
              <a:rPr lang="en-US"/>
              <a:t>Est sit </a:t>
            </a:r>
            <a:r>
              <a:rPr lang="en-US" err="1"/>
              <a:t>amet</a:t>
            </a:r>
            <a:r>
              <a:rPr lang="en-US"/>
              <a:t> </a:t>
            </a:r>
            <a:r>
              <a:rPr lang="en-US" err="1"/>
              <a:t>facilisis</a:t>
            </a:r>
            <a:r>
              <a:rPr lang="en-US"/>
              <a:t> magna </a:t>
            </a:r>
            <a:r>
              <a:rPr lang="en-US" err="1"/>
              <a:t>etiam</a:t>
            </a:r>
            <a:r>
              <a:rPr lang="en-US"/>
              <a:t> </a:t>
            </a:r>
            <a:r>
              <a:rPr lang="en-US" err="1"/>
              <a:t>tempor</a:t>
            </a:r>
            <a:r>
              <a:rPr lang="en-US"/>
              <a:t> </a:t>
            </a:r>
            <a:r>
              <a:rPr lang="en-US" err="1"/>
              <a:t>orci</a:t>
            </a:r>
            <a:r>
              <a:rPr lang="en-US"/>
              <a:t>. </a:t>
            </a:r>
            <a:r>
              <a:rPr lang="en-US" err="1"/>
              <a:t>Vivamus</a:t>
            </a:r>
            <a:r>
              <a:rPr lang="en-US"/>
              <a:t> </a:t>
            </a:r>
            <a:r>
              <a:rPr lang="en-US" err="1"/>
              <a:t>arcu</a:t>
            </a:r>
            <a:r>
              <a:rPr lang="en-US"/>
              <a:t> </a:t>
            </a:r>
            <a:r>
              <a:rPr lang="en-US" err="1"/>
              <a:t>felis</a:t>
            </a:r>
            <a:r>
              <a:rPr lang="en-US"/>
              <a:t> </a:t>
            </a:r>
            <a:r>
              <a:rPr lang="en-US" err="1"/>
              <a:t>bibendum</a:t>
            </a:r>
            <a:r>
              <a:rPr lang="en-US"/>
              <a:t> </a:t>
            </a:r>
            <a:r>
              <a:rPr lang="en-US" err="1"/>
              <a:t>ut</a:t>
            </a:r>
            <a:r>
              <a:rPr lang="en-US"/>
              <a:t> </a:t>
            </a:r>
            <a:r>
              <a:rPr lang="en-US" err="1"/>
              <a:t>tristique</a:t>
            </a:r>
            <a:r>
              <a:rPr lang="en-US"/>
              <a:t> et </a:t>
            </a:r>
            <a:r>
              <a:rPr lang="en-US" err="1"/>
              <a:t>egestas</a:t>
            </a:r>
            <a:r>
              <a:rPr lang="en-US"/>
              <a:t>. Non </a:t>
            </a:r>
            <a:r>
              <a:rPr lang="en-US" err="1"/>
              <a:t>consectetur</a:t>
            </a:r>
            <a:r>
              <a:rPr lang="en-US"/>
              <a:t>. </a:t>
            </a:r>
          </a:p>
          <a:p>
            <a:pPr lvl="0"/>
            <a:r>
              <a:rPr lang="en-US"/>
              <a:t>Vestibulum </a:t>
            </a:r>
            <a:r>
              <a:rPr lang="en-US" err="1"/>
              <a:t>rhoncus</a:t>
            </a:r>
            <a:r>
              <a:rPr lang="en-US"/>
              <a:t> </a:t>
            </a:r>
            <a:r>
              <a:rPr lang="en-US" err="1"/>
              <a:t>est</a:t>
            </a:r>
            <a:r>
              <a:rPr lang="en-US"/>
              <a:t> </a:t>
            </a:r>
            <a:r>
              <a:rPr lang="en-US" err="1"/>
              <a:t>pellentesque</a:t>
            </a:r>
            <a:r>
              <a:rPr lang="en-US"/>
              <a:t> </a:t>
            </a:r>
            <a:r>
              <a:rPr lang="en-US" err="1"/>
              <a:t>elit</a:t>
            </a:r>
            <a:r>
              <a:rPr lang="en-US"/>
              <a:t> </a:t>
            </a:r>
            <a:r>
              <a:rPr lang="en-US" err="1"/>
              <a:t>ullamcorper</a:t>
            </a:r>
            <a:r>
              <a:rPr lang="en-US"/>
              <a:t> </a:t>
            </a:r>
            <a:r>
              <a:rPr lang="en-US" err="1"/>
              <a:t>dignissim</a:t>
            </a:r>
            <a:r>
              <a:rPr lang="en-US"/>
              <a:t> </a:t>
            </a:r>
            <a:r>
              <a:rPr lang="en-US" err="1"/>
              <a:t>cras</a:t>
            </a:r>
            <a:r>
              <a:rPr lang="en-US"/>
              <a:t>. </a:t>
            </a:r>
            <a:r>
              <a:rPr lang="en-US" err="1"/>
              <a:t>Egestas</a:t>
            </a:r>
            <a:r>
              <a:rPr lang="en-US"/>
              <a:t> </a:t>
            </a:r>
            <a:r>
              <a:rPr lang="en-US" err="1"/>
              <a:t>egestas</a:t>
            </a:r>
            <a:r>
              <a:rPr lang="en-US"/>
              <a:t> </a:t>
            </a:r>
            <a:r>
              <a:rPr lang="en-US" err="1"/>
              <a:t>fringilla</a:t>
            </a:r>
            <a:r>
              <a:rPr lang="en-US"/>
              <a:t> </a:t>
            </a:r>
            <a:r>
              <a:rPr lang="en-US" err="1"/>
              <a:t>phasellus</a:t>
            </a:r>
            <a:r>
              <a:rPr lang="en-US"/>
              <a:t> </a:t>
            </a:r>
            <a:r>
              <a:rPr lang="en-US" err="1"/>
              <a:t>faucibus</a:t>
            </a:r>
            <a:r>
              <a:rPr lang="en-US"/>
              <a:t> </a:t>
            </a:r>
            <a:r>
              <a:rPr lang="en-US" err="1"/>
              <a:t>scelerisque</a:t>
            </a:r>
            <a:r>
              <a:rPr lang="en-US"/>
              <a:t>. Nunc pulvinar </a:t>
            </a:r>
            <a:r>
              <a:rPr lang="en-US" err="1"/>
              <a:t>sapien</a:t>
            </a:r>
            <a:r>
              <a:rPr lang="en-US"/>
              <a:t> et ligula. </a:t>
            </a:r>
          </a:p>
          <a:p>
            <a:pPr lvl="0"/>
            <a:r>
              <a:rPr lang="en-US" err="1"/>
              <a:t>Posuere</a:t>
            </a:r>
            <a:r>
              <a:rPr lang="en-US"/>
              <a:t> </a:t>
            </a:r>
            <a:r>
              <a:rPr lang="en-US" err="1"/>
              <a:t>urna</a:t>
            </a:r>
            <a:r>
              <a:rPr lang="en-US"/>
              <a:t> </a:t>
            </a:r>
            <a:r>
              <a:rPr lang="en-US" err="1"/>
              <a:t>nec</a:t>
            </a:r>
            <a:r>
              <a:rPr lang="en-US"/>
              <a:t> </a:t>
            </a:r>
            <a:r>
              <a:rPr lang="en-US" err="1"/>
              <a:t>tincidunt</a:t>
            </a:r>
            <a:r>
              <a:rPr lang="en-US"/>
              <a:t> </a:t>
            </a:r>
            <a:r>
              <a:rPr lang="en-US" err="1"/>
              <a:t>praesent</a:t>
            </a:r>
            <a:r>
              <a:rPr lang="en-US"/>
              <a:t> semper </a:t>
            </a:r>
            <a:r>
              <a:rPr lang="en-US" err="1"/>
              <a:t>feugiat</a:t>
            </a:r>
            <a:r>
              <a:rPr lang="en-US"/>
              <a:t> </a:t>
            </a:r>
            <a:r>
              <a:rPr lang="en-US" err="1"/>
              <a:t>nibh</a:t>
            </a:r>
            <a:r>
              <a:rPr lang="en-US"/>
              <a:t> sed pulvinar. </a:t>
            </a:r>
            <a:r>
              <a:rPr lang="en-US" err="1"/>
              <a:t>Neque</a:t>
            </a:r>
            <a:r>
              <a:rPr lang="en-US"/>
              <a:t> </a:t>
            </a:r>
            <a:r>
              <a:rPr lang="en-US" err="1"/>
              <a:t>sodales</a:t>
            </a:r>
            <a:r>
              <a:rPr lang="en-US"/>
              <a:t> </a:t>
            </a:r>
            <a:r>
              <a:rPr lang="en-US" err="1"/>
              <a:t>ut</a:t>
            </a:r>
            <a:r>
              <a:rPr lang="en-US"/>
              <a:t> </a:t>
            </a:r>
            <a:r>
              <a:rPr lang="en-US" err="1"/>
              <a:t>etiam</a:t>
            </a:r>
            <a:r>
              <a:rPr lang="en-US"/>
              <a:t> sit </a:t>
            </a:r>
            <a:r>
              <a:rPr lang="en-US" err="1"/>
              <a:t>amet</a:t>
            </a:r>
            <a:r>
              <a:rPr lang="en-US"/>
              <a:t> </a:t>
            </a:r>
            <a:r>
              <a:rPr lang="en-US" err="1"/>
              <a:t>nisl</a:t>
            </a:r>
            <a:r>
              <a:rPr lang="en-US"/>
              <a:t>.</a:t>
            </a:r>
          </a:p>
          <a:p>
            <a:pPr lvl="0"/>
            <a:r>
              <a:rPr lang="en-US" err="1"/>
              <a:t>Nulla</a:t>
            </a:r>
            <a:r>
              <a:rPr lang="en-US"/>
              <a:t> </a:t>
            </a:r>
            <a:r>
              <a:rPr lang="en-US" err="1"/>
              <a:t>pellentesque</a:t>
            </a:r>
            <a:r>
              <a:rPr lang="en-US"/>
              <a:t> </a:t>
            </a:r>
            <a:r>
              <a:rPr lang="en-US" err="1"/>
              <a:t>dignissim</a:t>
            </a:r>
            <a:r>
              <a:rPr lang="en-US"/>
              <a:t> </a:t>
            </a:r>
            <a:r>
              <a:rPr lang="en-US" err="1"/>
              <a:t>enim</a:t>
            </a:r>
            <a:r>
              <a:rPr lang="en-US"/>
              <a:t> sit </a:t>
            </a:r>
            <a:r>
              <a:rPr lang="en-US" err="1"/>
              <a:t>amet</a:t>
            </a:r>
            <a:r>
              <a:rPr lang="en-US"/>
              <a:t> </a:t>
            </a:r>
            <a:r>
              <a:rPr lang="en-US" err="1"/>
              <a:t>venenatis</a:t>
            </a:r>
            <a:r>
              <a:rPr lang="en-US"/>
              <a:t> </a:t>
            </a:r>
            <a:r>
              <a:rPr lang="en-US" err="1"/>
              <a:t>urna</a:t>
            </a:r>
            <a:r>
              <a:rPr lang="en-US"/>
              <a:t> cursus.</a:t>
            </a:r>
          </a:p>
        </p:txBody>
      </p:sp>
      <p:sp>
        <p:nvSpPr>
          <p:cNvPr id="8" name="Footer Placeholder 7">
            <a:extLst>
              <a:ext uri="{FF2B5EF4-FFF2-40B4-BE49-F238E27FC236}">
                <a16:creationId xmlns:a16="http://schemas.microsoft.com/office/drawing/2014/main" id="{2AEA19FC-85B9-A74F-AD5A-59ABB758120F}"/>
              </a:ext>
            </a:extLst>
          </p:cNvPr>
          <p:cNvSpPr>
            <a:spLocks noGrp="1"/>
          </p:cNvSpPr>
          <p:nvPr>
            <p:ph type="ftr" sz="quarter" idx="16"/>
          </p:nvPr>
        </p:nvSpPr>
        <p:spPr/>
        <p:txBody>
          <a:bodyPr/>
          <a:lstStyle/>
          <a:p>
            <a:r>
              <a:rPr lang="en-US"/>
              <a:t>TVC PDR</a:t>
            </a:r>
          </a:p>
        </p:txBody>
      </p:sp>
      <p:sp>
        <p:nvSpPr>
          <p:cNvPr id="9" name="Slide Number Placeholder 8">
            <a:extLst>
              <a:ext uri="{FF2B5EF4-FFF2-40B4-BE49-F238E27FC236}">
                <a16:creationId xmlns:a16="http://schemas.microsoft.com/office/drawing/2014/main" id="{F6E7EF3A-0A9F-E14C-9FC6-E8477BAFA82F}"/>
              </a:ext>
            </a:extLst>
          </p:cNvPr>
          <p:cNvSpPr>
            <a:spLocks noGrp="1"/>
          </p:cNvSpPr>
          <p:nvPr>
            <p:ph type="sldNum" sz="quarter" idx="17"/>
          </p:nvPr>
        </p:nvSpPr>
        <p:spPr/>
        <p:txBody>
          <a:bodyPr/>
          <a:lstStyle/>
          <a:p>
            <a:r>
              <a:rPr lang="en-US"/>
              <a:t>/   </a:t>
            </a:r>
            <a:fld id="{6C7E6F33-74EE-5541-8108-8353B402F8C1}" type="slidenum">
              <a:rPr lang="en-US" smtClean="0"/>
              <a:pPr/>
              <a:t>‹#›</a:t>
            </a:fld>
            <a:endParaRPr lang="en-US"/>
          </a:p>
        </p:txBody>
      </p:sp>
      <p:sp>
        <p:nvSpPr>
          <p:cNvPr id="3" name="Title 1">
            <a:extLst>
              <a:ext uri="{FF2B5EF4-FFF2-40B4-BE49-F238E27FC236}">
                <a16:creationId xmlns:a16="http://schemas.microsoft.com/office/drawing/2014/main" id="{A6BF5017-BA1C-8F45-BB42-EEE9D7480633}"/>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4" name="Text Placeholder 6">
            <a:extLst>
              <a:ext uri="{FF2B5EF4-FFF2-40B4-BE49-F238E27FC236}">
                <a16:creationId xmlns:a16="http://schemas.microsoft.com/office/drawing/2014/main" id="{85C63B35-1231-8F6B-6C6C-CDF9478F3812}"/>
              </a:ext>
            </a:extLst>
          </p:cNvPr>
          <p:cNvSpPr>
            <a:spLocks noGrp="1"/>
          </p:cNvSpPr>
          <p:nvPr>
            <p:ph type="body" sz="quarter" idx="13"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atin typeface="+mn-lt"/>
                <a:ea typeface="Source Sans Pro" panose="020B0503030403020204" pitchFamily="34" charset="0"/>
              </a:defRPr>
            </a:lvl1pPr>
          </a:lstStyle>
          <a:p>
            <a:pPr lvl="0"/>
            <a:r>
              <a:rPr lang="en-US"/>
              <a:t>SUBHEAD TO GO HERE</a:t>
            </a:r>
          </a:p>
        </p:txBody>
      </p:sp>
    </p:spTree>
    <p:extLst>
      <p:ext uri="{BB962C8B-B14F-4D97-AF65-F5344CB8AC3E}">
        <p14:creationId xmlns:p14="http://schemas.microsoft.com/office/powerpoint/2010/main" val="254828567"/>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efault Page Subheade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1FE2933-6B02-0144-BF1A-69A51D5C0313}"/>
              </a:ext>
            </a:extLst>
          </p:cNvPr>
          <p:cNvSpPr>
            <a:spLocks noGrp="1"/>
          </p:cNvSpPr>
          <p:nvPr>
            <p:ph type="ftr" sz="quarter" idx="14"/>
          </p:nvPr>
        </p:nvSpPr>
        <p:spPr/>
        <p:txBody>
          <a:bodyPr/>
          <a:lstStyle/>
          <a:p>
            <a:r>
              <a:rPr lang="en-US"/>
              <a:t>TVC PDR</a:t>
            </a:r>
          </a:p>
        </p:txBody>
      </p:sp>
      <p:sp>
        <p:nvSpPr>
          <p:cNvPr id="6" name="Slide Number Placeholder 5">
            <a:extLst>
              <a:ext uri="{FF2B5EF4-FFF2-40B4-BE49-F238E27FC236}">
                <a16:creationId xmlns:a16="http://schemas.microsoft.com/office/drawing/2014/main" id="{A2D18749-87A2-0341-9D35-5E74E8AB75D5}"/>
              </a:ext>
            </a:extLst>
          </p:cNvPr>
          <p:cNvSpPr>
            <a:spLocks noGrp="1"/>
          </p:cNvSpPr>
          <p:nvPr>
            <p:ph type="sldNum" sz="quarter" idx="15"/>
          </p:nvPr>
        </p:nvSpPr>
        <p:spPr/>
        <p:txBody>
          <a:bodyPr/>
          <a:lstStyle/>
          <a:p>
            <a:r>
              <a:rPr lang="en-US"/>
              <a:t>/   </a:t>
            </a:r>
            <a:fld id="{6C7E6F33-74EE-5541-8108-8353B402F8C1}" type="slidenum">
              <a:rPr lang="en-US" smtClean="0"/>
              <a:pPr/>
              <a:t>‹#›</a:t>
            </a:fld>
            <a:endParaRPr lang="en-US"/>
          </a:p>
        </p:txBody>
      </p:sp>
      <p:sp>
        <p:nvSpPr>
          <p:cNvPr id="3" name="Title 1">
            <a:extLst>
              <a:ext uri="{FF2B5EF4-FFF2-40B4-BE49-F238E27FC236}">
                <a16:creationId xmlns:a16="http://schemas.microsoft.com/office/drawing/2014/main" id="{8741B1D5-6B16-DA0F-FCA2-985C4E559DB3}"/>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4" name="Text Placeholder 6">
            <a:extLst>
              <a:ext uri="{FF2B5EF4-FFF2-40B4-BE49-F238E27FC236}">
                <a16:creationId xmlns:a16="http://schemas.microsoft.com/office/drawing/2014/main" id="{E44BF4C7-D96F-A28B-E74D-1491453DAF83}"/>
              </a:ext>
            </a:extLst>
          </p:cNvPr>
          <p:cNvSpPr>
            <a:spLocks noGrp="1"/>
          </p:cNvSpPr>
          <p:nvPr>
            <p:ph type="body" sz="quarter" idx="13"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230423256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and 1 figure">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D943BAF3-7A31-4B45-9099-035BC373E673}"/>
              </a:ext>
            </a:extLst>
          </p:cNvPr>
          <p:cNvSpPr>
            <a:spLocks noGrp="1"/>
          </p:cNvSpPr>
          <p:nvPr>
            <p:ph type="body" sz="quarter" idx="15" hasCustomPrompt="1"/>
          </p:nvPr>
        </p:nvSpPr>
        <p:spPr>
          <a:xfrm>
            <a:off x="411045" y="2282383"/>
            <a:ext cx="6523989" cy="3758909"/>
          </a:xfrm>
          <a:solidFill>
            <a:schemeClr val="bg1"/>
          </a:solidFill>
          <a:effectLst>
            <a:outerShdw blurRad="50800" dist="38100" dir="2700000" algn="tl" rotWithShape="0">
              <a:prstClr val="black">
                <a:alpha val="40000"/>
              </a:prstClr>
            </a:outerShdw>
          </a:effectLst>
        </p:spPr>
        <p:txBody>
          <a:bodyPr>
            <a:noAutofit/>
          </a:bodyPr>
          <a:lstStyle>
            <a:lvl1pPr marL="0" indent="0">
              <a:lnSpc>
                <a:spcPct val="100000"/>
              </a:lnSpc>
              <a:spcAft>
                <a:spcPts val="800"/>
              </a:spcAft>
              <a:buNone/>
              <a:defRPr sz="1867" spc="0" baseline="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Est sit </a:t>
            </a:r>
            <a:r>
              <a:rPr lang="en-US" err="1"/>
              <a:t>amet</a:t>
            </a:r>
            <a:r>
              <a:rPr lang="en-US"/>
              <a:t> </a:t>
            </a:r>
            <a:r>
              <a:rPr lang="en-US" err="1"/>
              <a:t>facilisis</a:t>
            </a:r>
            <a:r>
              <a:rPr lang="en-US"/>
              <a:t> magna </a:t>
            </a:r>
            <a:r>
              <a:rPr lang="en-US" err="1"/>
              <a:t>etiam</a:t>
            </a:r>
            <a:r>
              <a:rPr lang="en-US"/>
              <a:t> </a:t>
            </a:r>
            <a:r>
              <a:rPr lang="en-US" err="1"/>
              <a:t>tempor</a:t>
            </a:r>
            <a:r>
              <a:rPr lang="en-US"/>
              <a:t> </a:t>
            </a:r>
            <a:r>
              <a:rPr lang="en-US" err="1"/>
              <a:t>orci</a:t>
            </a:r>
            <a:r>
              <a:rPr lang="en-US"/>
              <a:t>. </a:t>
            </a:r>
            <a:r>
              <a:rPr lang="en-US" err="1"/>
              <a:t>Vivamus</a:t>
            </a:r>
            <a:r>
              <a:rPr lang="en-US"/>
              <a:t> </a:t>
            </a:r>
            <a:r>
              <a:rPr lang="en-US" err="1"/>
              <a:t>arcu</a:t>
            </a:r>
            <a:r>
              <a:rPr lang="en-US"/>
              <a:t> </a:t>
            </a:r>
            <a:r>
              <a:rPr lang="en-US" err="1"/>
              <a:t>felis</a:t>
            </a:r>
            <a:r>
              <a:rPr lang="en-US"/>
              <a:t> </a:t>
            </a:r>
            <a:r>
              <a:rPr lang="en-US" err="1"/>
              <a:t>bibendum</a:t>
            </a:r>
            <a:r>
              <a:rPr lang="en-US"/>
              <a:t> </a:t>
            </a:r>
            <a:r>
              <a:rPr lang="en-US" err="1"/>
              <a:t>ut</a:t>
            </a:r>
            <a:r>
              <a:rPr lang="en-US"/>
              <a:t> </a:t>
            </a:r>
            <a:r>
              <a:rPr lang="en-US" err="1"/>
              <a:t>tristique</a:t>
            </a:r>
            <a:r>
              <a:rPr lang="en-US"/>
              <a:t> et </a:t>
            </a:r>
            <a:r>
              <a:rPr lang="en-US" err="1"/>
              <a:t>egestas</a:t>
            </a:r>
            <a:r>
              <a:rPr lang="en-US"/>
              <a:t>. Non </a:t>
            </a:r>
            <a:r>
              <a:rPr lang="en-US" err="1"/>
              <a:t>consectetur</a:t>
            </a:r>
            <a:r>
              <a:rPr lang="en-US"/>
              <a:t>. </a:t>
            </a:r>
          </a:p>
          <a:p>
            <a:pPr lvl="0"/>
            <a:r>
              <a:rPr lang="en-US"/>
              <a:t>Vestibulum </a:t>
            </a:r>
            <a:r>
              <a:rPr lang="en-US" err="1"/>
              <a:t>rhoncus</a:t>
            </a:r>
            <a:r>
              <a:rPr lang="en-US"/>
              <a:t> </a:t>
            </a:r>
            <a:r>
              <a:rPr lang="en-US" err="1"/>
              <a:t>est</a:t>
            </a:r>
            <a:r>
              <a:rPr lang="en-US"/>
              <a:t> </a:t>
            </a:r>
            <a:r>
              <a:rPr lang="en-US" err="1"/>
              <a:t>pellentesque</a:t>
            </a:r>
            <a:r>
              <a:rPr lang="en-US"/>
              <a:t> </a:t>
            </a:r>
            <a:r>
              <a:rPr lang="en-US" err="1"/>
              <a:t>elit</a:t>
            </a:r>
            <a:r>
              <a:rPr lang="en-US"/>
              <a:t> </a:t>
            </a:r>
            <a:r>
              <a:rPr lang="en-US" err="1"/>
              <a:t>ullamcorper</a:t>
            </a:r>
            <a:r>
              <a:rPr lang="en-US"/>
              <a:t> </a:t>
            </a:r>
            <a:r>
              <a:rPr lang="en-US" err="1"/>
              <a:t>dignissim</a:t>
            </a:r>
            <a:r>
              <a:rPr lang="en-US"/>
              <a:t> </a:t>
            </a:r>
            <a:r>
              <a:rPr lang="en-US" err="1"/>
              <a:t>cras</a:t>
            </a:r>
            <a:r>
              <a:rPr lang="en-US"/>
              <a:t>. </a:t>
            </a:r>
            <a:r>
              <a:rPr lang="en-US" err="1"/>
              <a:t>Egestas</a:t>
            </a:r>
            <a:r>
              <a:rPr lang="en-US"/>
              <a:t> </a:t>
            </a:r>
            <a:r>
              <a:rPr lang="en-US" err="1"/>
              <a:t>egestas</a:t>
            </a:r>
            <a:r>
              <a:rPr lang="en-US"/>
              <a:t> </a:t>
            </a:r>
            <a:r>
              <a:rPr lang="en-US" err="1"/>
              <a:t>fringilla</a:t>
            </a:r>
            <a:r>
              <a:rPr lang="en-US"/>
              <a:t> </a:t>
            </a:r>
            <a:r>
              <a:rPr lang="en-US" err="1"/>
              <a:t>phasellus</a:t>
            </a:r>
            <a:r>
              <a:rPr lang="en-US"/>
              <a:t> </a:t>
            </a:r>
            <a:r>
              <a:rPr lang="en-US" err="1"/>
              <a:t>faucibus</a:t>
            </a:r>
            <a:r>
              <a:rPr lang="en-US"/>
              <a:t> </a:t>
            </a:r>
            <a:r>
              <a:rPr lang="en-US" err="1"/>
              <a:t>scelerisque</a:t>
            </a:r>
            <a:r>
              <a:rPr lang="en-US"/>
              <a:t>. Nunc pulvinar </a:t>
            </a:r>
            <a:r>
              <a:rPr lang="en-US" err="1"/>
              <a:t>sapien</a:t>
            </a:r>
            <a:r>
              <a:rPr lang="en-US"/>
              <a:t> et ligula. </a:t>
            </a:r>
          </a:p>
        </p:txBody>
      </p:sp>
      <p:sp>
        <p:nvSpPr>
          <p:cNvPr id="22" name="Picture Placeholder 21">
            <a:extLst>
              <a:ext uri="{FF2B5EF4-FFF2-40B4-BE49-F238E27FC236}">
                <a16:creationId xmlns:a16="http://schemas.microsoft.com/office/drawing/2014/main" id="{F99D334D-2533-6E48-9EF8-BE59D29480EF}"/>
              </a:ext>
            </a:extLst>
          </p:cNvPr>
          <p:cNvSpPr>
            <a:spLocks noGrp="1"/>
          </p:cNvSpPr>
          <p:nvPr>
            <p:ph type="pic" sz="quarter" idx="16"/>
          </p:nvPr>
        </p:nvSpPr>
        <p:spPr>
          <a:xfrm>
            <a:off x="7333005" y="1772903"/>
            <a:ext cx="4455584" cy="3854908"/>
          </a:xfrm>
          <a:solidFill>
            <a:schemeClr val="bg1">
              <a:lumMod val="85000"/>
            </a:schemeClr>
          </a:solidFill>
          <a:effectLst>
            <a:outerShdw blurRad="50800" dist="38100" dir="2700000" algn="tl" rotWithShape="0">
              <a:prstClr val="black">
                <a:alpha val="40000"/>
              </a:prstClr>
            </a:outerShdw>
          </a:effectLst>
        </p:spPr>
        <p:txBody>
          <a:bodyPr wrap="none">
            <a:noAutofit/>
          </a:bodyPr>
          <a:lstStyle>
            <a:lvl1pPr>
              <a:defRPr>
                <a:noFill/>
              </a:defRPr>
            </a:lvl1pPr>
          </a:lstStyle>
          <a:p>
            <a:endParaRPr lang="en-US"/>
          </a:p>
        </p:txBody>
      </p:sp>
      <p:sp>
        <p:nvSpPr>
          <p:cNvPr id="9" name="Text Placeholder 8">
            <a:extLst>
              <a:ext uri="{FF2B5EF4-FFF2-40B4-BE49-F238E27FC236}">
                <a16:creationId xmlns:a16="http://schemas.microsoft.com/office/drawing/2014/main" id="{016C8243-B7BC-DC4F-90A7-7EA801AC9FF7}"/>
              </a:ext>
            </a:extLst>
          </p:cNvPr>
          <p:cNvSpPr>
            <a:spLocks noGrp="1"/>
          </p:cNvSpPr>
          <p:nvPr>
            <p:ph type="body" sz="quarter" idx="13" hasCustomPrompt="1"/>
          </p:nvPr>
        </p:nvSpPr>
        <p:spPr>
          <a:xfrm>
            <a:off x="403411" y="1772903"/>
            <a:ext cx="6539257" cy="509480"/>
          </a:xfrm>
          <a:solidFill>
            <a:srgbClr val="214734"/>
          </a:solidFill>
          <a:ln>
            <a:solidFill>
              <a:schemeClr val="tx1"/>
            </a:solidFill>
          </a:ln>
          <a:effectLst>
            <a:outerShdw blurRad="50800" dist="38100" dir="2700000" algn="tl" rotWithShape="0">
              <a:prstClr val="black">
                <a:alpha val="40000"/>
              </a:prstClr>
            </a:outerShdw>
          </a:effectLst>
        </p:spPr>
        <p:txBody>
          <a:bodyPr>
            <a:noAutofit/>
          </a:bodyPr>
          <a:lstStyle>
            <a:lvl1pPr marL="0" indent="0" algn="l">
              <a:lnSpc>
                <a:spcPct val="100000"/>
              </a:lnSpc>
              <a:buNone/>
              <a:defRPr sz="2133" b="1" i="0" spc="67" baseline="0">
                <a:solidFill>
                  <a:schemeClr val="bg1"/>
                </a:solidFill>
                <a:latin typeface="Utopia Std Semibold" panose="02040503060506020204" pitchFamily="18" charset="77"/>
              </a:defRPr>
            </a:lvl1pPr>
          </a:lstStyle>
          <a:p>
            <a:pPr lvl="0"/>
            <a:r>
              <a:rPr lang="en-US"/>
              <a:t>Subhead Goes here</a:t>
            </a:r>
          </a:p>
        </p:txBody>
      </p:sp>
      <p:sp>
        <p:nvSpPr>
          <p:cNvPr id="7" name="Footer Placeholder 6">
            <a:extLst>
              <a:ext uri="{FF2B5EF4-FFF2-40B4-BE49-F238E27FC236}">
                <a16:creationId xmlns:a16="http://schemas.microsoft.com/office/drawing/2014/main" id="{8AC1DF36-2526-8D40-854C-D53DB4595CDC}"/>
              </a:ext>
            </a:extLst>
          </p:cNvPr>
          <p:cNvSpPr>
            <a:spLocks noGrp="1"/>
          </p:cNvSpPr>
          <p:nvPr>
            <p:ph type="ftr" sz="quarter" idx="17"/>
          </p:nvPr>
        </p:nvSpPr>
        <p:spPr/>
        <p:txBody>
          <a:bodyPr/>
          <a:lstStyle/>
          <a:p>
            <a:r>
              <a:rPr lang="en-US"/>
              <a:t>TVC PDR</a:t>
            </a:r>
          </a:p>
        </p:txBody>
      </p:sp>
      <p:sp>
        <p:nvSpPr>
          <p:cNvPr id="10" name="Slide Number Placeholder 9">
            <a:extLst>
              <a:ext uri="{FF2B5EF4-FFF2-40B4-BE49-F238E27FC236}">
                <a16:creationId xmlns:a16="http://schemas.microsoft.com/office/drawing/2014/main" id="{9D4A67AE-6F12-344F-8718-33C755B55C68}"/>
              </a:ext>
            </a:extLst>
          </p:cNvPr>
          <p:cNvSpPr>
            <a:spLocks noGrp="1"/>
          </p:cNvSpPr>
          <p:nvPr>
            <p:ph type="sldNum" sz="quarter" idx="18"/>
          </p:nvPr>
        </p:nvSpPr>
        <p:spPr/>
        <p:txBody>
          <a:bodyPr/>
          <a:lstStyle/>
          <a:p>
            <a:r>
              <a:rPr lang="en-US"/>
              <a:t>/   </a:t>
            </a:r>
            <a:fld id="{6C7E6F33-74EE-5541-8108-8353B402F8C1}" type="slidenum">
              <a:rPr lang="en-US" smtClean="0"/>
              <a:pPr/>
              <a:t>‹#›</a:t>
            </a:fld>
            <a:endParaRPr lang="en-US"/>
          </a:p>
        </p:txBody>
      </p:sp>
      <p:sp>
        <p:nvSpPr>
          <p:cNvPr id="2" name="TextBox 1">
            <a:extLst>
              <a:ext uri="{FF2B5EF4-FFF2-40B4-BE49-F238E27FC236}">
                <a16:creationId xmlns:a16="http://schemas.microsoft.com/office/drawing/2014/main" id="{861053FA-BAD7-44CE-5D42-39BA17DA6A0B}"/>
              </a:ext>
            </a:extLst>
          </p:cNvPr>
          <p:cNvSpPr txBox="1"/>
          <p:nvPr userDrawn="1"/>
        </p:nvSpPr>
        <p:spPr>
          <a:xfrm>
            <a:off x="8362617" y="5804796"/>
            <a:ext cx="2396359" cy="369332"/>
          </a:xfrm>
          <a:prstGeom prst="rect">
            <a:avLst/>
          </a:prstGeom>
          <a:noFill/>
        </p:spPr>
        <p:txBody>
          <a:bodyPr wrap="square" rtlCol="0">
            <a:spAutoFit/>
          </a:bodyPr>
          <a:lstStyle/>
          <a:p>
            <a:pPr algn="ctr"/>
            <a:r>
              <a:rPr lang="en-US"/>
              <a:t>Figure &lt;#&gt;</a:t>
            </a:r>
          </a:p>
        </p:txBody>
      </p:sp>
      <p:sp>
        <p:nvSpPr>
          <p:cNvPr id="3" name="Title 1">
            <a:extLst>
              <a:ext uri="{FF2B5EF4-FFF2-40B4-BE49-F238E27FC236}">
                <a16:creationId xmlns:a16="http://schemas.microsoft.com/office/drawing/2014/main" id="{8C088181-E434-FDA5-6CFC-CB73488C0460}"/>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4" name="Text Placeholder 6">
            <a:extLst>
              <a:ext uri="{FF2B5EF4-FFF2-40B4-BE49-F238E27FC236}">
                <a16:creationId xmlns:a16="http://schemas.microsoft.com/office/drawing/2014/main" id="{9C148A7B-A2D0-E5FD-CB1E-130899249C99}"/>
              </a:ext>
            </a:extLst>
          </p:cNvPr>
          <p:cNvSpPr>
            <a:spLocks noGrp="1"/>
          </p:cNvSpPr>
          <p:nvPr>
            <p:ph type="body" sz="quarter" idx="19"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248707800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lend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1FE2933-6B02-0144-BF1A-69A51D5C0313}"/>
              </a:ext>
            </a:extLst>
          </p:cNvPr>
          <p:cNvSpPr>
            <a:spLocks noGrp="1"/>
          </p:cNvSpPr>
          <p:nvPr>
            <p:ph type="ftr" sz="quarter" idx="14"/>
          </p:nvPr>
        </p:nvSpPr>
        <p:spPr/>
        <p:txBody>
          <a:bodyPr/>
          <a:lstStyle/>
          <a:p>
            <a:r>
              <a:rPr lang="en-US"/>
              <a:t>TVC PDR</a:t>
            </a:r>
          </a:p>
        </p:txBody>
      </p:sp>
      <p:sp>
        <p:nvSpPr>
          <p:cNvPr id="6" name="Slide Number Placeholder 5">
            <a:extLst>
              <a:ext uri="{FF2B5EF4-FFF2-40B4-BE49-F238E27FC236}">
                <a16:creationId xmlns:a16="http://schemas.microsoft.com/office/drawing/2014/main" id="{A2D18749-87A2-0341-9D35-5E74E8AB75D5}"/>
              </a:ext>
            </a:extLst>
          </p:cNvPr>
          <p:cNvSpPr>
            <a:spLocks noGrp="1"/>
          </p:cNvSpPr>
          <p:nvPr>
            <p:ph type="sldNum" sz="quarter" idx="15"/>
          </p:nvPr>
        </p:nvSpPr>
        <p:spPr/>
        <p:txBody>
          <a:bodyPr/>
          <a:lstStyle/>
          <a:p>
            <a:r>
              <a:rPr lang="en-US"/>
              <a:t>/   </a:t>
            </a:r>
            <a:fld id="{6C7E6F33-74EE-5541-8108-8353B402F8C1}" type="slidenum">
              <a:rPr lang="en-US" smtClean="0"/>
              <a:pPr/>
              <a:t>‹#›</a:t>
            </a:fld>
            <a:endParaRPr lang="en-US"/>
          </a:p>
        </p:txBody>
      </p:sp>
      <p:graphicFrame>
        <p:nvGraphicFramePr>
          <p:cNvPr id="4" name="Table 3">
            <a:extLst>
              <a:ext uri="{FF2B5EF4-FFF2-40B4-BE49-F238E27FC236}">
                <a16:creationId xmlns:a16="http://schemas.microsoft.com/office/drawing/2014/main" id="{4A1D46CD-BE0A-0919-CEF5-62328905F6B9}"/>
              </a:ext>
            </a:extLst>
          </p:cNvPr>
          <p:cNvGraphicFramePr>
            <a:graphicFrameLocks noGrp="1"/>
          </p:cNvGraphicFramePr>
          <p:nvPr userDrawn="1">
            <p:extLst>
              <p:ext uri="{D42A27DB-BD31-4B8C-83A1-F6EECF244321}">
                <p14:modId xmlns:p14="http://schemas.microsoft.com/office/powerpoint/2010/main" val="1533347744"/>
              </p:ext>
            </p:extLst>
          </p:nvPr>
        </p:nvGraphicFramePr>
        <p:xfrm>
          <a:off x="531848" y="1447600"/>
          <a:ext cx="11238808" cy="4798464"/>
        </p:xfrm>
        <a:graphic>
          <a:graphicData uri="http://schemas.openxmlformats.org/drawingml/2006/table">
            <a:tbl>
              <a:tblPr firstRow="1" bandRow="1">
                <a:effectLst>
                  <a:outerShdw blurRad="50800" dist="38100" dir="2700000" algn="tl" rotWithShape="0">
                    <a:prstClr val="black">
                      <a:alpha val="40000"/>
                    </a:prstClr>
                  </a:outerShdw>
                </a:effectLst>
                <a:tableStyleId>{FABFCF23-3B69-468F-B69F-88F6DE6A72F2}</a:tableStyleId>
              </a:tblPr>
              <a:tblGrid>
                <a:gridCol w="1605544">
                  <a:extLst>
                    <a:ext uri="{9D8B030D-6E8A-4147-A177-3AD203B41FA5}">
                      <a16:colId xmlns:a16="http://schemas.microsoft.com/office/drawing/2014/main" val="2963902180"/>
                    </a:ext>
                  </a:extLst>
                </a:gridCol>
                <a:gridCol w="1605544">
                  <a:extLst>
                    <a:ext uri="{9D8B030D-6E8A-4147-A177-3AD203B41FA5}">
                      <a16:colId xmlns:a16="http://schemas.microsoft.com/office/drawing/2014/main" val="1259372983"/>
                    </a:ext>
                  </a:extLst>
                </a:gridCol>
                <a:gridCol w="1605544">
                  <a:extLst>
                    <a:ext uri="{9D8B030D-6E8A-4147-A177-3AD203B41FA5}">
                      <a16:colId xmlns:a16="http://schemas.microsoft.com/office/drawing/2014/main" val="1377521332"/>
                    </a:ext>
                  </a:extLst>
                </a:gridCol>
                <a:gridCol w="1605544">
                  <a:extLst>
                    <a:ext uri="{9D8B030D-6E8A-4147-A177-3AD203B41FA5}">
                      <a16:colId xmlns:a16="http://schemas.microsoft.com/office/drawing/2014/main" val="2106119576"/>
                    </a:ext>
                  </a:extLst>
                </a:gridCol>
                <a:gridCol w="1605544">
                  <a:extLst>
                    <a:ext uri="{9D8B030D-6E8A-4147-A177-3AD203B41FA5}">
                      <a16:colId xmlns:a16="http://schemas.microsoft.com/office/drawing/2014/main" val="713845557"/>
                    </a:ext>
                  </a:extLst>
                </a:gridCol>
                <a:gridCol w="1605544">
                  <a:extLst>
                    <a:ext uri="{9D8B030D-6E8A-4147-A177-3AD203B41FA5}">
                      <a16:colId xmlns:a16="http://schemas.microsoft.com/office/drawing/2014/main" val="3549223602"/>
                    </a:ext>
                  </a:extLst>
                </a:gridCol>
                <a:gridCol w="1605544">
                  <a:extLst>
                    <a:ext uri="{9D8B030D-6E8A-4147-A177-3AD203B41FA5}">
                      <a16:colId xmlns:a16="http://schemas.microsoft.com/office/drawing/2014/main" val="3959218983"/>
                    </a:ext>
                  </a:extLst>
                </a:gridCol>
              </a:tblGrid>
              <a:tr h="159948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5173388"/>
                  </a:ext>
                </a:extLst>
              </a:tr>
              <a:tr h="159948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6384521"/>
                  </a:ext>
                </a:extLst>
              </a:tr>
              <a:tr h="159948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8082159"/>
                  </a:ext>
                </a:extLst>
              </a:tr>
            </a:tbl>
          </a:graphicData>
        </a:graphic>
      </p:graphicFrame>
      <p:sp>
        <p:nvSpPr>
          <p:cNvPr id="9" name="Title 1">
            <a:extLst>
              <a:ext uri="{FF2B5EF4-FFF2-40B4-BE49-F238E27FC236}">
                <a16:creationId xmlns:a16="http://schemas.microsoft.com/office/drawing/2014/main" id="{C340446C-FD7E-704D-EA32-739BE84EA7EC}"/>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10" name="Text Placeholder 6">
            <a:extLst>
              <a:ext uri="{FF2B5EF4-FFF2-40B4-BE49-F238E27FC236}">
                <a16:creationId xmlns:a16="http://schemas.microsoft.com/office/drawing/2014/main" id="{98D6584E-967D-B41A-E738-FC8ECB851DE1}"/>
              </a:ext>
            </a:extLst>
          </p:cNvPr>
          <p:cNvSpPr>
            <a:spLocks noGrp="1"/>
          </p:cNvSpPr>
          <p:nvPr>
            <p:ph type="body" sz="quarter" idx="21"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1957307688"/>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Row Content">
    <p:spTree>
      <p:nvGrpSpPr>
        <p:cNvPr id="1" name=""/>
        <p:cNvGrpSpPr/>
        <p:nvPr/>
      </p:nvGrpSpPr>
      <p:grpSpPr>
        <a:xfrm>
          <a:off x="0" y="0"/>
          <a:ext cx="0" cy="0"/>
          <a:chOff x="0" y="0"/>
          <a:chExt cx="0" cy="0"/>
        </a:xfrm>
      </p:grpSpPr>
      <p:sp>
        <p:nvSpPr>
          <p:cNvPr id="12" name="Text Placeholder 8">
            <a:extLst>
              <a:ext uri="{FF2B5EF4-FFF2-40B4-BE49-F238E27FC236}">
                <a16:creationId xmlns:a16="http://schemas.microsoft.com/office/drawing/2014/main" id="{D004BC79-4A47-F947-8EF2-485C0AEA7EE3}"/>
              </a:ext>
            </a:extLst>
          </p:cNvPr>
          <p:cNvSpPr>
            <a:spLocks noGrp="1"/>
          </p:cNvSpPr>
          <p:nvPr>
            <p:ph type="body" sz="quarter" idx="13" hasCustomPrompt="1"/>
          </p:nvPr>
        </p:nvSpPr>
        <p:spPr>
          <a:xfrm>
            <a:off x="1681961" y="1932036"/>
            <a:ext cx="8851900" cy="329032"/>
          </a:xfrm>
          <a:solidFill>
            <a:schemeClr val="tx1"/>
          </a:solidFill>
          <a:effectLst>
            <a:outerShdw blurRad="50800" dist="38100" dir="2700000" algn="tl" rotWithShape="0">
              <a:prstClr val="black">
                <a:alpha val="40000"/>
              </a:prstClr>
            </a:outerShdw>
          </a:effectLst>
        </p:spPr>
        <p:txBody>
          <a:bodyPr>
            <a:noAutofit/>
          </a:bodyPr>
          <a:lstStyle>
            <a:lvl1pPr marL="0" indent="0" algn="l">
              <a:lnSpc>
                <a:spcPts val="1893"/>
              </a:lnSpc>
              <a:buNone/>
              <a:defRPr sz="1600" b="1" i="0" spc="200" baseline="0">
                <a:solidFill>
                  <a:schemeClr val="bg1"/>
                </a:solidFill>
                <a:latin typeface="Utopia Std Subhead" panose="02040603060506020204" pitchFamily="18" charset="77"/>
              </a:defRPr>
            </a:lvl1pPr>
          </a:lstStyle>
          <a:p>
            <a:pPr lvl="0"/>
            <a:r>
              <a:rPr lang="en-US"/>
              <a:t>SUBHEAD GOES HERE</a:t>
            </a:r>
          </a:p>
        </p:txBody>
      </p:sp>
      <p:sp>
        <p:nvSpPr>
          <p:cNvPr id="8" name="Text Placeholder 8">
            <a:extLst>
              <a:ext uri="{FF2B5EF4-FFF2-40B4-BE49-F238E27FC236}">
                <a16:creationId xmlns:a16="http://schemas.microsoft.com/office/drawing/2014/main" id="{A1A618D6-EB63-EA43-A21C-B103C35BC517}"/>
              </a:ext>
            </a:extLst>
          </p:cNvPr>
          <p:cNvSpPr>
            <a:spLocks noGrp="1"/>
          </p:cNvSpPr>
          <p:nvPr>
            <p:ph type="body" sz="quarter" idx="14" hasCustomPrompt="1"/>
          </p:nvPr>
        </p:nvSpPr>
        <p:spPr>
          <a:xfrm>
            <a:off x="1681960" y="3390359"/>
            <a:ext cx="8852563" cy="329032"/>
          </a:xfrm>
          <a:solidFill>
            <a:schemeClr val="tx1"/>
          </a:solidFill>
          <a:effectLst>
            <a:outerShdw blurRad="50800" dist="38100" dir="2700000" algn="tl" rotWithShape="0">
              <a:prstClr val="black">
                <a:alpha val="40000"/>
              </a:prstClr>
            </a:outerShdw>
          </a:effectLst>
        </p:spPr>
        <p:txBody>
          <a:bodyPr>
            <a:noAutofit/>
          </a:bodyPr>
          <a:lstStyle>
            <a:lvl1pPr marL="0" indent="0" algn="l">
              <a:lnSpc>
                <a:spcPts val="1893"/>
              </a:lnSpc>
              <a:buNone/>
              <a:defRPr sz="1600" b="1" i="0" spc="200" baseline="0">
                <a:solidFill>
                  <a:schemeClr val="bg1"/>
                </a:solidFill>
                <a:latin typeface="Utopia Std Subhead" panose="02040603060506020204" pitchFamily="18" charset="77"/>
              </a:defRPr>
            </a:lvl1pPr>
          </a:lstStyle>
          <a:p>
            <a:pPr lvl="0"/>
            <a:r>
              <a:rPr lang="en-US"/>
              <a:t>SUBHEAD GOES HERE</a:t>
            </a:r>
          </a:p>
        </p:txBody>
      </p:sp>
      <p:sp>
        <p:nvSpPr>
          <p:cNvPr id="10" name="Text Placeholder 8">
            <a:extLst>
              <a:ext uri="{FF2B5EF4-FFF2-40B4-BE49-F238E27FC236}">
                <a16:creationId xmlns:a16="http://schemas.microsoft.com/office/drawing/2014/main" id="{E2DDEC8D-78EC-A644-8B8B-9708FEC341A4}"/>
              </a:ext>
            </a:extLst>
          </p:cNvPr>
          <p:cNvSpPr>
            <a:spLocks noGrp="1"/>
          </p:cNvSpPr>
          <p:nvPr>
            <p:ph type="body" sz="quarter" idx="15" hasCustomPrompt="1"/>
          </p:nvPr>
        </p:nvSpPr>
        <p:spPr>
          <a:xfrm>
            <a:off x="1681961" y="4848681"/>
            <a:ext cx="8852563" cy="329032"/>
          </a:xfrm>
          <a:solidFill>
            <a:schemeClr val="tx1"/>
          </a:solidFill>
          <a:effectLst>
            <a:outerShdw blurRad="50800" dist="38100" dir="2700000" algn="tl" rotWithShape="0">
              <a:prstClr val="black">
                <a:alpha val="40000"/>
              </a:prstClr>
            </a:outerShdw>
          </a:effectLst>
        </p:spPr>
        <p:txBody>
          <a:bodyPr>
            <a:noAutofit/>
          </a:bodyPr>
          <a:lstStyle>
            <a:lvl1pPr marL="0" indent="0" algn="l">
              <a:lnSpc>
                <a:spcPts val="1893"/>
              </a:lnSpc>
              <a:buNone/>
              <a:defRPr sz="1600" b="1" i="0" spc="200" baseline="0">
                <a:solidFill>
                  <a:schemeClr val="bg1"/>
                </a:solidFill>
                <a:latin typeface="Utopia Std Subhead" panose="02040603060506020204" pitchFamily="18" charset="77"/>
              </a:defRPr>
            </a:lvl1pPr>
          </a:lstStyle>
          <a:p>
            <a:pPr lvl="0"/>
            <a:r>
              <a:rPr lang="en-US"/>
              <a:t>SUBHEAD GOES HERE</a:t>
            </a:r>
          </a:p>
        </p:txBody>
      </p:sp>
      <p:sp>
        <p:nvSpPr>
          <p:cNvPr id="4" name="Text Placeholder 3">
            <a:extLst>
              <a:ext uri="{FF2B5EF4-FFF2-40B4-BE49-F238E27FC236}">
                <a16:creationId xmlns:a16="http://schemas.microsoft.com/office/drawing/2014/main" id="{B2BDBB06-23EC-1249-9E7A-B7F4379BBF55}"/>
              </a:ext>
            </a:extLst>
          </p:cNvPr>
          <p:cNvSpPr>
            <a:spLocks noGrp="1"/>
          </p:cNvSpPr>
          <p:nvPr>
            <p:ph type="body" sz="quarter" idx="16" hasCustomPrompt="1"/>
          </p:nvPr>
        </p:nvSpPr>
        <p:spPr>
          <a:xfrm>
            <a:off x="1681961" y="2251312"/>
            <a:ext cx="8851900" cy="677576"/>
          </a:xfrm>
          <a:solidFill>
            <a:schemeClr val="bg1"/>
          </a:solidFill>
          <a:effectLst>
            <a:outerShdw blurRad="50800" dist="38100" dir="2700000" algn="tl" rotWithShape="0">
              <a:prstClr val="black">
                <a:alpha val="40000"/>
              </a:prstClr>
            </a:outerShdw>
          </a:effectLst>
        </p:spPr>
        <p:txBody>
          <a:bodyPr/>
          <a:lstStyle>
            <a:lvl1pPr>
              <a:lnSpc>
                <a:spcPct val="100000"/>
              </a:lnSpc>
              <a:spcAft>
                <a:spcPts val="400"/>
              </a:spcAft>
              <a:defRPr sz="1600" spc="0"/>
            </a:lvl1pPr>
            <a:lvl5pPr>
              <a:lnSpc>
                <a:spcPct val="100000"/>
              </a:lnSpc>
              <a:spcAft>
                <a:spcPts val="400"/>
              </a:spcAft>
              <a:defRPr spc="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5" name="Text Placeholder 3">
            <a:extLst>
              <a:ext uri="{FF2B5EF4-FFF2-40B4-BE49-F238E27FC236}">
                <a16:creationId xmlns:a16="http://schemas.microsoft.com/office/drawing/2014/main" id="{715E79F7-F96B-B74D-A872-5DD93CD2610D}"/>
              </a:ext>
            </a:extLst>
          </p:cNvPr>
          <p:cNvSpPr>
            <a:spLocks noGrp="1"/>
          </p:cNvSpPr>
          <p:nvPr>
            <p:ph type="body" sz="quarter" idx="17" hasCustomPrompt="1"/>
          </p:nvPr>
        </p:nvSpPr>
        <p:spPr>
          <a:xfrm>
            <a:off x="1681961" y="3709635"/>
            <a:ext cx="8851900" cy="677576"/>
          </a:xfrm>
          <a:solidFill>
            <a:schemeClr val="bg1"/>
          </a:solidFill>
          <a:effectLst>
            <a:outerShdw blurRad="50800" dist="38100" dir="2700000" algn="tl" rotWithShape="0">
              <a:prstClr val="black">
                <a:alpha val="40000"/>
              </a:prstClr>
            </a:outerShdw>
          </a:effectLst>
        </p:spPr>
        <p:txBody>
          <a:bodyPr/>
          <a:lstStyle>
            <a:lvl1pP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6" name="Text Placeholder 3">
            <a:extLst>
              <a:ext uri="{FF2B5EF4-FFF2-40B4-BE49-F238E27FC236}">
                <a16:creationId xmlns:a16="http://schemas.microsoft.com/office/drawing/2014/main" id="{A359F78B-FA29-2044-A54D-9B0DD377B177}"/>
              </a:ext>
            </a:extLst>
          </p:cNvPr>
          <p:cNvSpPr>
            <a:spLocks noGrp="1"/>
          </p:cNvSpPr>
          <p:nvPr>
            <p:ph type="body" sz="quarter" idx="18" hasCustomPrompt="1"/>
          </p:nvPr>
        </p:nvSpPr>
        <p:spPr>
          <a:xfrm>
            <a:off x="1681961" y="5177713"/>
            <a:ext cx="8851900" cy="677576"/>
          </a:xfrm>
          <a:solidFill>
            <a:schemeClr val="bg1"/>
          </a:solidFill>
          <a:effectLst>
            <a:outerShdw blurRad="50800" dist="38100" dir="2700000" algn="tl" rotWithShape="0">
              <a:prstClr val="black">
                <a:alpha val="40000"/>
              </a:prstClr>
            </a:outerShdw>
          </a:effectLst>
        </p:spPr>
        <p:txBody>
          <a:bodyPr/>
          <a:lstStyle>
            <a:lvl1pP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7" name="Footer Placeholder 6">
            <a:extLst>
              <a:ext uri="{FF2B5EF4-FFF2-40B4-BE49-F238E27FC236}">
                <a16:creationId xmlns:a16="http://schemas.microsoft.com/office/drawing/2014/main" id="{DA38EC65-2C85-C046-9738-37708E947827}"/>
              </a:ext>
            </a:extLst>
          </p:cNvPr>
          <p:cNvSpPr>
            <a:spLocks noGrp="1"/>
          </p:cNvSpPr>
          <p:nvPr>
            <p:ph type="ftr" sz="quarter" idx="19"/>
          </p:nvPr>
        </p:nvSpPr>
        <p:spPr/>
        <p:txBody>
          <a:bodyPr/>
          <a:lstStyle/>
          <a:p>
            <a:r>
              <a:rPr lang="en-US"/>
              <a:t>TVC PDR</a:t>
            </a:r>
          </a:p>
        </p:txBody>
      </p:sp>
      <p:sp>
        <p:nvSpPr>
          <p:cNvPr id="9" name="Slide Number Placeholder 8">
            <a:extLst>
              <a:ext uri="{FF2B5EF4-FFF2-40B4-BE49-F238E27FC236}">
                <a16:creationId xmlns:a16="http://schemas.microsoft.com/office/drawing/2014/main" id="{8B5F4566-2799-E844-91E1-99813A0D72D4}"/>
              </a:ext>
            </a:extLst>
          </p:cNvPr>
          <p:cNvSpPr>
            <a:spLocks noGrp="1"/>
          </p:cNvSpPr>
          <p:nvPr>
            <p:ph type="sldNum" sz="quarter" idx="20"/>
          </p:nvPr>
        </p:nvSpPr>
        <p:spPr/>
        <p:txBody>
          <a:bodyPr/>
          <a:lstStyle/>
          <a:p>
            <a:r>
              <a:rPr lang="en-US"/>
              <a:t>/   </a:t>
            </a:r>
            <a:fld id="{6C7E6F33-74EE-5541-8108-8353B402F8C1}" type="slidenum">
              <a:rPr lang="en-US" smtClean="0"/>
              <a:pPr/>
              <a:t>‹#›</a:t>
            </a:fld>
            <a:endParaRPr lang="en-US"/>
          </a:p>
        </p:txBody>
      </p:sp>
      <p:sp>
        <p:nvSpPr>
          <p:cNvPr id="2" name="Title 1">
            <a:extLst>
              <a:ext uri="{FF2B5EF4-FFF2-40B4-BE49-F238E27FC236}">
                <a16:creationId xmlns:a16="http://schemas.microsoft.com/office/drawing/2014/main" id="{CDDF12B1-EE1A-0211-39EE-B5088049CBA3}"/>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3" name="Text Placeholder 6">
            <a:extLst>
              <a:ext uri="{FF2B5EF4-FFF2-40B4-BE49-F238E27FC236}">
                <a16:creationId xmlns:a16="http://schemas.microsoft.com/office/drawing/2014/main" id="{84F27BFF-80B9-A405-74E9-B75DF1404F40}"/>
              </a:ext>
            </a:extLst>
          </p:cNvPr>
          <p:cNvSpPr>
            <a:spLocks noGrp="1"/>
          </p:cNvSpPr>
          <p:nvPr>
            <p:ph type="body" sz="quarter" idx="21"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3412792988"/>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Content">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DA38EC65-2C85-C046-9738-37708E947827}"/>
              </a:ext>
            </a:extLst>
          </p:cNvPr>
          <p:cNvSpPr>
            <a:spLocks noGrp="1"/>
          </p:cNvSpPr>
          <p:nvPr>
            <p:ph type="ftr" sz="quarter" idx="19"/>
          </p:nvPr>
        </p:nvSpPr>
        <p:spPr/>
        <p:txBody>
          <a:bodyPr/>
          <a:lstStyle/>
          <a:p>
            <a:r>
              <a:rPr lang="en-US"/>
              <a:t>TVC PDR</a:t>
            </a:r>
          </a:p>
        </p:txBody>
      </p:sp>
      <p:sp>
        <p:nvSpPr>
          <p:cNvPr id="9" name="Slide Number Placeholder 8">
            <a:extLst>
              <a:ext uri="{FF2B5EF4-FFF2-40B4-BE49-F238E27FC236}">
                <a16:creationId xmlns:a16="http://schemas.microsoft.com/office/drawing/2014/main" id="{8B5F4566-2799-E844-91E1-99813A0D72D4}"/>
              </a:ext>
            </a:extLst>
          </p:cNvPr>
          <p:cNvSpPr>
            <a:spLocks noGrp="1"/>
          </p:cNvSpPr>
          <p:nvPr>
            <p:ph type="sldNum" sz="quarter" idx="20"/>
          </p:nvPr>
        </p:nvSpPr>
        <p:spPr/>
        <p:txBody>
          <a:bodyPr/>
          <a:lstStyle/>
          <a:p>
            <a:r>
              <a:rPr lang="en-US"/>
              <a:t>/   </a:t>
            </a:r>
            <a:fld id="{6C7E6F33-74EE-5541-8108-8353B402F8C1}" type="slidenum">
              <a:rPr lang="en-US" smtClean="0"/>
              <a:pPr/>
              <a:t>‹#›</a:t>
            </a:fld>
            <a:endParaRPr lang="en-US"/>
          </a:p>
        </p:txBody>
      </p:sp>
      <p:graphicFrame>
        <p:nvGraphicFramePr>
          <p:cNvPr id="2" name="Table 1">
            <a:extLst>
              <a:ext uri="{FF2B5EF4-FFF2-40B4-BE49-F238E27FC236}">
                <a16:creationId xmlns:a16="http://schemas.microsoft.com/office/drawing/2014/main" id="{FCFD4D33-18A9-0A6E-0AAF-FE7AC6594B91}"/>
              </a:ext>
            </a:extLst>
          </p:cNvPr>
          <p:cNvGraphicFramePr>
            <a:graphicFrameLocks noGrp="1"/>
          </p:cNvGraphicFramePr>
          <p:nvPr userDrawn="1">
            <p:extLst>
              <p:ext uri="{D42A27DB-BD31-4B8C-83A1-F6EECF244321}">
                <p14:modId xmlns:p14="http://schemas.microsoft.com/office/powerpoint/2010/main" val="3498004817"/>
              </p:ext>
            </p:extLst>
          </p:nvPr>
        </p:nvGraphicFramePr>
        <p:xfrm>
          <a:off x="838199" y="1574800"/>
          <a:ext cx="10541000" cy="4450080"/>
        </p:xfrm>
        <a:graphic>
          <a:graphicData uri="http://schemas.openxmlformats.org/drawingml/2006/table">
            <a:tbl>
              <a:tblPr firstRow="1" bandRow="1">
                <a:effectLst>
                  <a:outerShdw blurRad="50800" dist="38100" dir="2700000" algn="tl" rotWithShape="0">
                    <a:prstClr val="black">
                      <a:alpha val="40000"/>
                    </a:prstClr>
                  </a:outerShdw>
                </a:effectLst>
                <a:tableStyleId>{073A0DAA-6AF3-43AB-8588-CEC1D06C72B9}</a:tableStyleId>
              </a:tblPr>
              <a:tblGrid>
                <a:gridCol w="2635250">
                  <a:extLst>
                    <a:ext uri="{9D8B030D-6E8A-4147-A177-3AD203B41FA5}">
                      <a16:colId xmlns:a16="http://schemas.microsoft.com/office/drawing/2014/main" val="1965054100"/>
                    </a:ext>
                  </a:extLst>
                </a:gridCol>
                <a:gridCol w="2635250">
                  <a:extLst>
                    <a:ext uri="{9D8B030D-6E8A-4147-A177-3AD203B41FA5}">
                      <a16:colId xmlns:a16="http://schemas.microsoft.com/office/drawing/2014/main" val="3697149893"/>
                    </a:ext>
                  </a:extLst>
                </a:gridCol>
                <a:gridCol w="2635250">
                  <a:extLst>
                    <a:ext uri="{9D8B030D-6E8A-4147-A177-3AD203B41FA5}">
                      <a16:colId xmlns:a16="http://schemas.microsoft.com/office/drawing/2014/main" val="1595340377"/>
                    </a:ext>
                  </a:extLst>
                </a:gridCol>
                <a:gridCol w="2635250">
                  <a:extLst>
                    <a:ext uri="{9D8B030D-6E8A-4147-A177-3AD203B41FA5}">
                      <a16:colId xmlns:a16="http://schemas.microsoft.com/office/drawing/2014/main" val="331523819"/>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457428074"/>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0525839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954533974"/>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58504868"/>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638788330"/>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804200877"/>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10545"/>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766833763"/>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4752792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3635773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537135765"/>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009913505"/>
                  </a:ext>
                </a:extLst>
              </a:tr>
            </a:tbl>
          </a:graphicData>
        </a:graphic>
      </p:graphicFrame>
      <p:sp>
        <p:nvSpPr>
          <p:cNvPr id="3" name="Title 1">
            <a:extLst>
              <a:ext uri="{FF2B5EF4-FFF2-40B4-BE49-F238E27FC236}">
                <a16:creationId xmlns:a16="http://schemas.microsoft.com/office/drawing/2014/main" id="{8D0F17E4-3749-A469-1182-4B885E2D800A}"/>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4" name="Text Placeholder 6">
            <a:extLst>
              <a:ext uri="{FF2B5EF4-FFF2-40B4-BE49-F238E27FC236}">
                <a16:creationId xmlns:a16="http://schemas.microsoft.com/office/drawing/2014/main" id="{B853CFF4-544C-6735-D25A-8567F8600A7F}"/>
              </a:ext>
            </a:extLst>
          </p:cNvPr>
          <p:cNvSpPr>
            <a:spLocks noGrp="1"/>
          </p:cNvSpPr>
          <p:nvPr>
            <p:ph type="body" sz="quarter" idx="21"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1891206089"/>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rg Char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1FE2933-6B02-0144-BF1A-69A51D5C0313}"/>
              </a:ext>
            </a:extLst>
          </p:cNvPr>
          <p:cNvSpPr>
            <a:spLocks noGrp="1"/>
          </p:cNvSpPr>
          <p:nvPr>
            <p:ph type="ftr" sz="quarter" idx="14"/>
          </p:nvPr>
        </p:nvSpPr>
        <p:spPr/>
        <p:txBody>
          <a:bodyPr/>
          <a:lstStyle/>
          <a:p>
            <a:r>
              <a:rPr lang="en-US"/>
              <a:t>TVC PDR</a:t>
            </a:r>
          </a:p>
        </p:txBody>
      </p:sp>
      <p:sp>
        <p:nvSpPr>
          <p:cNvPr id="6" name="Slide Number Placeholder 5">
            <a:extLst>
              <a:ext uri="{FF2B5EF4-FFF2-40B4-BE49-F238E27FC236}">
                <a16:creationId xmlns:a16="http://schemas.microsoft.com/office/drawing/2014/main" id="{A2D18749-87A2-0341-9D35-5E74E8AB75D5}"/>
              </a:ext>
            </a:extLst>
          </p:cNvPr>
          <p:cNvSpPr>
            <a:spLocks noGrp="1"/>
          </p:cNvSpPr>
          <p:nvPr>
            <p:ph type="sldNum" sz="quarter" idx="15"/>
          </p:nvPr>
        </p:nvSpPr>
        <p:spPr/>
        <p:txBody>
          <a:bodyPr/>
          <a:lstStyle/>
          <a:p>
            <a:r>
              <a:rPr lang="en-US"/>
              <a:t>/   </a:t>
            </a:r>
            <a:fld id="{6C7E6F33-74EE-5541-8108-8353B402F8C1}" type="slidenum">
              <a:rPr lang="en-US" smtClean="0"/>
              <a:pPr/>
              <a:t>‹#›</a:t>
            </a:fld>
            <a:endParaRPr lang="en-US"/>
          </a:p>
        </p:txBody>
      </p:sp>
      <p:graphicFrame>
        <p:nvGraphicFramePr>
          <p:cNvPr id="4" name="Diagram 3">
            <a:extLst>
              <a:ext uri="{FF2B5EF4-FFF2-40B4-BE49-F238E27FC236}">
                <a16:creationId xmlns:a16="http://schemas.microsoft.com/office/drawing/2014/main" id="{52295235-6AC3-C13B-416E-A3B319880513}"/>
              </a:ext>
            </a:extLst>
          </p:cNvPr>
          <p:cNvGraphicFramePr/>
          <p:nvPr userDrawn="1">
            <p:extLst>
              <p:ext uri="{D42A27DB-BD31-4B8C-83A1-F6EECF244321}">
                <p14:modId xmlns:p14="http://schemas.microsoft.com/office/powerpoint/2010/main" val="863356610"/>
              </p:ext>
            </p:extLst>
          </p:nvPr>
        </p:nvGraphicFramePr>
        <p:xfrm>
          <a:off x="2005351" y="1789501"/>
          <a:ext cx="8181298" cy="41146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1">
            <a:extLst>
              <a:ext uri="{FF2B5EF4-FFF2-40B4-BE49-F238E27FC236}">
                <a16:creationId xmlns:a16="http://schemas.microsoft.com/office/drawing/2014/main" id="{25E81817-1137-F9C6-035D-63C34598BD7A}"/>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8" name="Text Placeholder 6">
            <a:extLst>
              <a:ext uri="{FF2B5EF4-FFF2-40B4-BE49-F238E27FC236}">
                <a16:creationId xmlns:a16="http://schemas.microsoft.com/office/drawing/2014/main" id="{7ABFDC6C-BCCF-2CF2-F8C7-C459DF7AAD71}"/>
              </a:ext>
            </a:extLst>
          </p:cNvPr>
          <p:cNvSpPr>
            <a:spLocks noGrp="1"/>
          </p:cNvSpPr>
          <p:nvPr>
            <p:ph type="body" sz="quarter" idx="19"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4078964122"/>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12" name="Text Placeholder 8">
            <a:extLst>
              <a:ext uri="{FF2B5EF4-FFF2-40B4-BE49-F238E27FC236}">
                <a16:creationId xmlns:a16="http://schemas.microsoft.com/office/drawing/2014/main" id="{D004BC79-4A47-F947-8EF2-485C0AEA7EE3}"/>
              </a:ext>
            </a:extLst>
          </p:cNvPr>
          <p:cNvSpPr>
            <a:spLocks noGrp="1"/>
          </p:cNvSpPr>
          <p:nvPr>
            <p:ph type="body" sz="quarter" idx="13" hasCustomPrompt="1"/>
          </p:nvPr>
        </p:nvSpPr>
        <p:spPr>
          <a:xfrm>
            <a:off x="838201" y="2050795"/>
            <a:ext cx="2775740" cy="329032"/>
          </a:xfrm>
        </p:spPr>
        <p:txBody>
          <a:bodyPr>
            <a:noAutofit/>
          </a:bodyPr>
          <a:lstStyle>
            <a:lvl1pPr marL="0" indent="0" algn="l">
              <a:lnSpc>
                <a:spcPts val="1893"/>
              </a:lnSpc>
              <a:buNone/>
              <a:defRPr sz="1600" b="1" i="0" spc="200" baseline="0">
                <a:solidFill>
                  <a:schemeClr val="accent2"/>
                </a:solidFill>
                <a:latin typeface="Utopia Std Subhead" panose="02040603060506020204" pitchFamily="18" charset="77"/>
              </a:defRPr>
            </a:lvl1pPr>
          </a:lstStyle>
          <a:p>
            <a:pPr lvl="0"/>
            <a:r>
              <a:rPr lang="en-US"/>
              <a:t>SUBHEAD GOES HERE</a:t>
            </a:r>
          </a:p>
        </p:txBody>
      </p:sp>
      <p:sp>
        <p:nvSpPr>
          <p:cNvPr id="4" name="Text Placeholder 3">
            <a:extLst>
              <a:ext uri="{FF2B5EF4-FFF2-40B4-BE49-F238E27FC236}">
                <a16:creationId xmlns:a16="http://schemas.microsoft.com/office/drawing/2014/main" id="{B2BDBB06-23EC-1249-9E7A-B7F4379BBF55}"/>
              </a:ext>
            </a:extLst>
          </p:cNvPr>
          <p:cNvSpPr>
            <a:spLocks noGrp="1"/>
          </p:cNvSpPr>
          <p:nvPr>
            <p:ph type="body" sz="quarter" idx="16" hasCustomPrompt="1"/>
          </p:nvPr>
        </p:nvSpPr>
        <p:spPr>
          <a:xfrm>
            <a:off x="838200" y="2536824"/>
            <a:ext cx="4572000" cy="2877739"/>
          </a:xfrm>
        </p:spPr>
        <p:txBody>
          <a:bodyPr/>
          <a:lstStyle>
            <a:lvl1pP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7" name="Text Placeholder 8">
            <a:extLst>
              <a:ext uri="{FF2B5EF4-FFF2-40B4-BE49-F238E27FC236}">
                <a16:creationId xmlns:a16="http://schemas.microsoft.com/office/drawing/2014/main" id="{1BE8467C-F8A0-0B46-954C-0CCA5AE188E5}"/>
              </a:ext>
            </a:extLst>
          </p:cNvPr>
          <p:cNvSpPr>
            <a:spLocks noGrp="1"/>
          </p:cNvSpPr>
          <p:nvPr>
            <p:ph type="body" sz="quarter" idx="19" hasCustomPrompt="1"/>
          </p:nvPr>
        </p:nvSpPr>
        <p:spPr>
          <a:xfrm>
            <a:off x="6781801" y="2050795"/>
            <a:ext cx="2775740" cy="329032"/>
          </a:xfrm>
        </p:spPr>
        <p:txBody>
          <a:bodyPr>
            <a:noAutofit/>
          </a:bodyPr>
          <a:lstStyle>
            <a:lvl1pPr marL="0" indent="0" algn="l">
              <a:lnSpc>
                <a:spcPts val="1893"/>
              </a:lnSpc>
              <a:buNone/>
              <a:defRPr sz="1600" b="1" i="0" spc="200" baseline="0">
                <a:solidFill>
                  <a:schemeClr val="accent2"/>
                </a:solidFill>
                <a:latin typeface="Utopia Std Subhead" panose="02040603060506020204" pitchFamily="18" charset="77"/>
              </a:defRPr>
            </a:lvl1pPr>
          </a:lstStyle>
          <a:p>
            <a:pPr lvl="0"/>
            <a:r>
              <a:rPr lang="en-US"/>
              <a:t>SUBHEAD GOES HERE</a:t>
            </a:r>
          </a:p>
        </p:txBody>
      </p:sp>
      <p:sp>
        <p:nvSpPr>
          <p:cNvPr id="15" name="Text Placeholder 3">
            <a:extLst>
              <a:ext uri="{FF2B5EF4-FFF2-40B4-BE49-F238E27FC236}">
                <a16:creationId xmlns:a16="http://schemas.microsoft.com/office/drawing/2014/main" id="{B764E411-936F-3044-8265-A066A2B83B67}"/>
              </a:ext>
            </a:extLst>
          </p:cNvPr>
          <p:cNvSpPr>
            <a:spLocks noGrp="1"/>
          </p:cNvSpPr>
          <p:nvPr>
            <p:ph type="body" sz="quarter" idx="20" hasCustomPrompt="1"/>
          </p:nvPr>
        </p:nvSpPr>
        <p:spPr>
          <a:xfrm>
            <a:off x="6781800" y="2536824"/>
            <a:ext cx="4572000" cy="2877739"/>
          </a:xfrm>
        </p:spPr>
        <p:txBody>
          <a:bodyPr/>
          <a:lstStyle>
            <a:lvl1pP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cxnSp>
        <p:nvCxnSpPr>
          <p:cNvPr id="19" name="Straight Connector 18">
            <a:extLst>
              <a:ext uri="{FF2B5EF4-FFF2-40B4-BE49-F238E27FC236}">
                <a16:creationId xmlns:a16="http://schemas.microsoft.com/office/drawing/2014/main" id="{7F7C988E-4FD1-F44B-8698-26D540F4924A}"/>
              </a:ext>
              <a:ext uri="{C183D7F6-B498-43B3-948B-1728B52AA6E4}">
                <adec:decorative xmlns:adec="http://schemas.microsoft.com/office/drawing/2017/decorative" val="1"/>
              </a:ext>
            </a:extLst>
          </p:cNvPr>
          <p:cNvCxnSpPr>
            <a:cxnSpLocks/>
          </p:cNvCxnSpPr>
          <p:nvPr userDrawn="1"/>
        </p:nvCxnSpPr>
        <p:spPr>
          <a:xfrm rot="16200000">
            <a:off x="4754881" y="3962247"/>
            <a:ext cx="268224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Footer Placeholder 6">
            <a:extLst>
              <a:ext uri="{FF2B5EF4-FFF2-40B4-BE49-F238E27FC236}">
                <a16:creationId xmlns:a16="http://schemas.microsoft.com/office/drawing/2014/main" id="{905959D2-BEEE-8D4C-8216-8C05C61B75DC}"/>
              </a:ext>
            </a:extLst>
          </p:cNvPr>
          <p:cNvSpPr>
            <a:spLocks noGrp="1"/>
          </p:cNvSpPr>
          <p:nvPr>
            <p:ph type="ftr" sz="quarter" idx="21"/>
          </p:nvPr>
        </p:nvSpPr>
        <p:spPr/>
        <p:txBody>
          <a:bodyPr/>
          <a:lstStyle/>
          <a:p>
            <a:r>
              <a:rPr lang="en-US"/>
              <a:t>TVC PDR</a:t>
            </a:r>
          </a:p>
        </p:txBody>
      </p:sp>
      <p:sp>
        <p:nvSpPr>
          <p:cNvPr id="8" name="Slide Number Placeholder 7">
            <a:extLst>
              <a:ext uri="{FF2B5EF4-FFF2-40B4-BE49-F238E27FC236}">
                <a16:creationId xmlns:a16="http://schemas.microsoft.com/office/drawing/2014/main" id="{67AAF54B-C785-4346-9B7B-CA106BFE8CDB}"/>
              </a:ext>
            </a:extLst>
          </p:cNvPr>
          <p:cNvSpPr>
            <a:spLocks noGrp="1"/>
          </p:cNvSpPr>
          <p:nvPr>
            <p:ph type="sldNum" sz="quarter" idx="22"/>
          </p:nvPr>
        </p:nvSpPr>
        <p:spPr/>
        <p:txBody>
          <a:bodyPr/>
          <a:lstStyle/>
          <a:p>
            <a:r>
              <a:rPr lang="en-US"/>
              <a:t>/   </a:t>
            </a:r>
            <a:fld id="{6C7E6F33-74EE-5541-8108-8353B402F8C1}" type="slidenum">
              <a:rPr lang="en-US" smtClean="0"/>
              <a:pPr/>
              <a:t>‹#›</a:t>
            </a:fld>
            <a:endParaRPr lang="en-US"/>
          </a:p>
        </p:txBody>
      </p:sp>
      <p:sp>
        <p:nvSpPr>
          <p:cNvPr id="2" name="Title 1">
            <a:extLst>
              <a:ext uri="{FF2B5EF4-FFF2-40B4-BE49-F238E27FC236}">
                <a16:creationId xmlns:a16="http://schemas.microsoft.com/office/drawing/2014/main" id="{DEFADD21-6454-BE34-6E68-D413B7D2DFB0}"/>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3" name="Text Placeholder 6">
            <a:extLst>
              <a:ext uri="{FF2B5EF4-FFF2-40B4-BE49-F238E27FC236}">
                <a16:creationId xmlns:a16="http://schemas.microsoft.com/office/drawing/2014/main" id="{33AB676C-24E8-044C-8B5B-55C022944459}"/>
              </a:ext>
            </a:extLst>
          </p:cNvPr>
          <p:cNvSpPr>
            <a:spLocks noGrp="1"/>
          </p:cNvSpPr>
          <p:nvPr>
            <p:ph type="body" sz="quarter" idx="23"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135773899"/>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Column Content">
    <p:spTree>
      <p:nvGrpSpPr>
        <p:cNvPr id="1" name=""/>
        <p:cNvGrpSpPr/>
        <p:nvPr/>
      </p:nvGrpSpPr>
      <p:grpSpPr>
        <a:xfrm>
          <a:off x="0" y="0"/>
          <a:ext cx="0" cy="0"/>
          <a:chOff x="0" y="0"/>
          <a:chExt cx="0" cy="0"/>
        </a:xfrm>
      </p:grpSpPr>
      <p:sp>
        <p:nvSpPr>
          <p:cNvPr id="12" name="Text Placeholder 8">
            <a:extLst>
              <a:ext uri="{FF2B5EF4-FFF2-40B4-BE49-F238E27FC236}">
                <a16:creationId xmlns:a16="http://schemas.microsoft.com/office/drawing/2014/main" id="{D004BC79-4A47-F947-8EF2-485C0AEA7EE3}"/>
              </a:ext>
            </a:extLst>
          </p:cNvPr>
          <p:cNvSpPr>
            <a:spLocks noGrp="1"/>
          </p:cNvSpPr>
          <p:nvPr>
            <p:ph type="body" sz="quarter" idx="13" hasCustomPrompt="1"/>
          </p:nvPr>
        </p:nvSpPr>
        <p:spPr>
          <a:xfrm>
            <a:off x="838201" y="2050795"/>
            <a:ext cx="2775740" cy="329032"/>
          </a:xfrm>
        </p:spPr>
        <p:txBody>
          <a:bodyPr>
            <a:noAutofit/>
          </a:bodyPr>
          <a:lstStyle>
            <a:lvl1pPr marL="0" indent="0" algn="ctr">
              <a:lnSpc>
                <a:spcPts val="1893"/>
              </a:lnSpc>
              <a:buNone/>
              <a:defRPr sz="1600" b="1" i="0" spc="200" baseline="0">
                <a:solidFill>
                  <a:schemeClr val="accent2"/>
                </a:solidFill>
                <a:latin typeface="Utopia Std Subhead" panose="02040603060506020204" pitchFamily="18" charset="77"/>
              </a:defRPr>
            </a:lvl1pPr>
          </a:lstStyle>
          <a:p>
            <a:pPr lvl="0"/>
            <a:r>
              <a:rPr lang="en-US"/>
              <a:t>SUBHEAD GOES HERE</a:t>
            </a:r>
          </a:p>
        </p:txBody>
      </p:sp>
      <p:sp>
        <p:nvSpPr>
          <p:cNvPr id="4" name="Text Placeholder 3">
            <a:extLst>
              <a:ext uri="{FF2B5EF4-FFF2-40B4-BE49-F238E27FC236}">
                <a16:creationId xmlns:a16="http://schemas.microsoft.com/office/drawing/2014/main" id="{B2BDBB06-23EC-1249-9E7A-B7F4379BBF55}"/>
              </a:ext>
            </a:extLst>
          </p:cNvPr>
          <p:cNvSpPr>
            <a:spLocks noGrp="1"/>
          </p:cNvSpPr>
          <p:nvPr>
            <p:ph type="body" sz="quarter" idx="16" hasCustomPrompt="1"/>
          </p:nvPr>
        </p:nvSpPr>
        <p:spPr>
          <a:xfrm>
            <a:off x="838201" y="2536824"/>
            <a:ext cx="2775740" cy="2877739"/>
          </a:xfrm>
        </p:spPr>
        <p:txBody>
          <a:bodyPr/>
          <a:lstStyle>
            <a:lvl1pPr algn="ct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1" name="Text Placeholder 3">
            <a:extLst>
              <a:ext uri="{FF2B5EF4-FFF2-40B4-BE49-F238E27FC236}">
                <a16:creationId xmlns:a16="http://schemas.microsoft.com/office/drawing/2014/main" id="{EEBD7929-DCAA-9F42-A87C-7B5A76711BF6}"/>
              </a:ext>
            </a:extLst>
          </p:cNvPr>
          <p:cNvSpPr>
            <a:spLocks noGrp="1"/>
          </p:cNvSpPr>
          <p:nvPr>
            <p:ph type="body" sz="quarter" idx="17" hasCustomPrompt="1"/>
          </p:nvPr>
        </p:nvSpPr>
        <p:spPr>
          <a:xfrm>
            <a:off x="4720371" y="2536824"/>
            <a:ext cx="2775740" cy="2877739"/>
          </a:xfrm>
        </p:spPr>
        <p:txBody>
          <a:bodyPr/>
          <a:lstStyle>
            <a:lvl1pPr algn="ct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3" name="Text Placeholder 3">
            <a:extLst>
              <a:ext uri="{FF2B5EF4-FFF2-40B4-BE49-F238E27FC236}">
                <a16:creationId xmlns:a16="http://schemas.microsoft.com/office/drawing/2014/main" id="{1684F489-4B0E-7447-8E87-1F18960C53D0}"/>
              </a:ext>
            </a:extLst>
          </p:cNvPr>
          <p:cNvSpPr>
            <a:spLocks noGrp="1"/>
          </p:cNvSpPr>
          <p:nvPr>
            <p:ph type="body" sz="quarter" idx="18" hasCustomPrompt="1"/>
          </p:nvPr>
        </p:nvSpPr>
        <p:spPr>
          <a:xfrm>
            <a:off x="8608767" y="2536824"/>
            <a:ext cx="2775740" cy="2877739"/>
          </a:xfrm>
        </p:spPr>
        <p:txBody>
          <a:bodyPr/>
          <a:lstStyle>
            <a:lvl1pPr algn="ct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7" name="Text Placeholder 8">
            <a:extLst>
              <a:ext uri="{FF2B5EF4-FFF2-40B4-BE49-F238E27FC236}">
                <a16:creationId xmlns:a16="http://schemas.microsoft.com/office/drawing/2014/main" id="{1BE8467C-F8A0-0B46-954C-0CCA5AE188E5}"/>
              </a:ext>
            </a:extLst>
          </p:cNvPr>
          <p:cNvSpPr>
            <a:spLocks noGrp="1"/>
          </p:cNvSpPr>
          <p:nvPr>
            <p:ph type="body" sz="quarter" idx="19" hasCustomPrompt="1"/>
          </p:nvPr>
        </p:nvSpPr>
        <p:spPr>
          <a:xfrm>
            <a:off x="4708130" y="2050795"/>
            <a:ext cx="2775740" cy="329032"/>
          </a:xfrm>
        </p:spPr>
        <p:txBody>
          <a:bodyPr>
            <a:noAutofit/>
          </a:bodyPr>
          <a:lstStyle>
            <a:lvl1pPr marL="0" indent="0" algn="ctr">
              <a:lnSpc>
                <a:spcPts val="1893"/>
              </a:lnSpc>
              <a:buNone/>
              <a:defRPr sz="1600" b="1" i="0" spc="200" baseline="0">
                <a:solidFill>
                  <a:schemeClr val="accent2"/>
                </a:solidFill>
                <a:latin typeface="Utopia Std Subhead" panose="02040603060506020204" pitchFamily="18" charset="77"/>
              </a:defRPr>
            </a:lvl1pPr>
          </a:lstStyle>
          <a:p>
            <a:pPr lvl="0"/>
            <a:r>
              <a:rPr lang="en-US"/>
              <a:t>SUBHEAD GOES HERE</a:t>
            </a:r>
          </a:p>
        </p:txBody>
      </p:sp>
      <p:sp>
        <p:nvSpPr>
          <p:cNvPr id="18" name="Text Placeholder 8">
            <a:extLst>
              <a:ext uri="{FF2B5EF4-FFF2-40B4-BE49-F238E27FC236}">
                <a16:creationId xmlns:a16="http://schemas.microsoft.com/office/drawing/2014/main" id="{3DA5635F-177B-8C4B-A3DC-69876D820030}"/>
              </a:ext>
            </a:extLst>
          </p:cNvPr>
          <p:cNvSpPr>
            <a:spLocks noGrp="1"/>
          </p:cNvSpPr>
          <p:nvPr>
            <p:ph type="body" sz="quarter" idx="20" hasCustomPrompt="1"/>
          </p:nvPr>
        </p:nvSpPr>
        <p:spPr>
          <a:xfrm>
            <a:off x="8578059" y="2050795"/>
            <a:ext cx="2775740" cy="329032"/>
          </a:xfrm>
        </p:spPr>
        <p:txBody>
          <a:bodyPr>
            <a:noAutofit/>
          </a:bodyPr>
          <a:lstStyle>
            <a:lvl1pPr marL="0" indent="0" algn="ctr">
              <a:lnSpc>
                <a:spcPts val="1893"/>
              </a:lnSpc>
              <a:buNone/>
              <a:defRPr sz="1600" b="1" i="0" spc="200" baseline="0">
                <a:solidFill>
                  <a:schemeClr val="accent2"/>
                </a:solidFill>
                <a:latin typeface="Utopia Std Subhead" panose="02040603060506020204" pitchFamily="18" charset="77"/>
              </a:defRPr>
            </a:lvl1pPr>
          </a:lstStyle>
          <a:p>
            <a:pPr lvl="0"/>
            <a:r>
              <a:rPr lang="en-US"/>
              <a:t>SUBHEAD GOES HERE</a:t>
            </a:r>
          </a:p>
        </p:txBody>
      </p:sp>
      <p:cxnSp>
        <p:nvCxnSpPr>
          <p:cNvPr id="19" name="Straight Connector 18">
            <a:extLst>
              <a:ext uri="{FF2B5EF4-FFF2-40B4-BE49-F238E27FC236}">
                <a16:creationId xmlns:a16="http://schemas.microsoft.com/office/drawing/2014/main" id="{67428C66-1F80-4C4D-BCD2-480123DFFAFE}"/>
              </a:ext>
              <a:ext uri="{C183D7F6-B498-43B3-948B-1728B52AA6E4}">
                <adec:decorative xmlns:adec="http://schemas.microsoft.com/office/drawing/2017/decorative" val="1"/>
              </a:ext>
            </a:extLst>
          </p:cNvPr>
          <p:cNvCxnSpPr>
            <a:cxnSpLocks/>
          </p:cNvCxnSpPr>
          <p:nvPr userDrawn="1"/>
        </p:nvCxnSpPr>
        <p:spPr>
          <a:xfrm rot="16200000">
            <a:off x="2811780" y="3974947"/>
            <a:ext cx="268224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C5691CA-25BF-4244-8679-B624DA433733}"/>
              </a:ext>
              <a:ext uri="{C183D7F6-B498-43B3-948B-1728B52AA6E4}">
                <adec:decorative xmlns:adec="http://schemas.microsoft.com/office/drawing/2017/decorative" val="1"/>
              </a:ext>
            </a:extLst>
          </p:cNvPr>
          <p:cNvCxnSpPr>
            <a:cxnSpLocks/>
          </p:cNvCxnSpPr>
          <p:nvPr userDrawn="1"/>
        </p:nvCxnSpPr>
        <p:spPr>
          <a:xfrm rot="16200000">
            <a:off x="6697980" y="3974947"/>
            <a:ext cx="268224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763FDE-A720-A74F-88A3-418704C0C76E}"/>
              </a:ext>
            </a:extLst>
          </p:cNvPr>
          <p:cNvSpPr>
            <a:spLocks noGrp="1"/>
          </p:cNvSpPr>
          <p:nvPr>
            <p:ph type="ftr" sz="quarter" idx="21"/>
          </p:nvPr>
        </p:nvSpPr>
        <p:spPr/>
        <p:txBody>
          <a:bodyPr/>
          <a:lstStyle/>
          <a:p>
            <a:r>
              <a:rPr lang="en-US"/>
              <a:t>TVC PDR</a:t>
            </a:r>
          </a:p>
        </p:txBody>
      </p:sp>
      <p:sp>
        <p:nvSpPr>
          <p:cNvPr id="6" name="Slide Number Placeholder 5">
            <a:extLst>
              <a:ext uri="{FF2B5EF4-FFF2-40B4-BE49-F238E27FC236}">
                <a16:creationId xmlns:a16="http://schemas.microsoft.com/office/drawing/2014/main" id="{6018CB42-5BE5-6847-AFF9-834D3CA91620}"/>
              </a:ext>
            </a:extLst>
          </p:cNvPr>
          <p:cNvSpPr>
            <a:spLocks noGrp="1"/>
          </p:cNvSpPr>
          <p:nvPr>
            <p:ph type="sldNum" sz="quarter" idx="22"/>
          </p:nvPr>
        </p:nvSpPr>
        <p:spPr/>
        <p:txBody>
          <a:bodyPr/>
          <a:lstStyle/>
          <a:p>
            <a:r>
              <a:rPr lang="en-US"/>
              <a:t>/   </a:t>
            </a:r>
            <a:fld id="{6C7E6F33-74EE-5541-8108-8353B402F8C1}" type="slidenum">
              <a:rPr lang="en-US" smtClean="0"/>
              <a:pPr/>
              <a:t>‹#›</a:t>
            </a:fld>
            <a:endParaRPr lang="en-US"/>
          </a:p>
        </p:txBody>
      </p:sp>
      <p:sp>
        <p:nvSpPr>
          <p:cNvPr id="2" name="Title 1">
            <a:extLst>
              <a:ext uri="{FF2B5EF4-FFF2-40B4-BE49-F238E27FC236}">
                <a16:creationId xmlns:a16="http://schemas.microsoft.com/office/drawing/2014/main" id="{6B77353C-CFFF-511E-7354-4D6270ED083B}"/>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3" name="Text Placeholder 6">
            <a:extLst>
              <a:ext uri="{FF2B5EF4-FFF2-40B4-BE49-F238E27FC236}">
                <a16:creationId xmlns:a16="http://schemas.microsoft.com/office/drawing/2014/main" id="{F9264D32-4627-AEB4-A26E-5E5631D79079}"/>
              </a:ext>
            </a:extLst>
          </p:cNvPr>
          <p:cNvSpPr>
            <a:spLocks noGrp="1"/>
          </p:cNvSpPr>
          <p:nvPr>
            <p:ph type="body" sz="quarter" idx="23"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2802205634"/>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Gallery, 6 or Custom">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4AA42E8-9C39-454E-ADD6-58C0005063C5}"/>
              </a:ext>
              <a:ext uri="{C183D7F6-B498-43B3-948B-1728B52AA6E4}">
                <adec:decorative xmlns:adec="http://schemas.microsoft.com/office/drawing/2017/decorative" val="1"/>
              </a:ext>
            </a:extLst>
          </p:cNvPr>
          <p:cNvSpPr/>
          <p:nvPr userDrawn="1"/>
        </p:nvSpPr>
        <p:spPr>
          <a:xfrm flipH="1">
            <a:off x="3977532" y="823482"/>
            <a:ext cx="7946523" cy="5134246"/>
          </a:xfrm>
          <a:prstGeom prst="rect">
            <a:avLst/>
          </a:pr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108" eaLnBrk="1" fontAlgn="auto" hangingPunct="1">
              <a:spcBef>
                <a:spcPts val="0"/>
              </a:spcBef>
              <a:spcAft>
                <a:spcPts val="0"/>
              </a:spcAft>
              <a:defRPr/>
            </a:pPr>
            <a:endParaRPr lang="en-US" sz="1801">
              <a:latin typeface="Muli Regular" charset="0"/>
            </a:endParaRPr>
          </a:p>
        </p:txBody>
      </p:sp>
      <p:sp>
        <p:nvSpPr>
          <p:cNvPr id="9" name="Picture Placeholder 6">
            <a:extLst>
              <a:ext uri="{FF2B5EF4-FFF2-40B4-BE49-F238E27FC236}">
                <a16:creationId xmlns:a16="http://schemas.microsoft.com/office/drawing/2014/main" id="{9DB7D153-61A8-B34E-A15C-9B46F446BCA3}"/>
              </a:ext>
            </a:extLst>
          </p:cNvPr>
          <p:cNvSpPr>
            <a:spLocks noGrp="1" noChangeAspect="1"/>
          </p:cNvSpPr>
          <p:nvPr>
            <p:ph type="pic" sz="quarter" idx="19"/>
          </p:nvPr>
        </p:nvSpPr>
        <p:spPr>
          <a:xfrm>
            <a:off x="4294824" y="3448048"/>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10" name="Picture Placeholder 6">
            <a:extLst>
              <a:ext uri="{FF2B5EF4-FFF2-40B4-BE49-F238E27FC236}">
                <a16:creationId xmlns:a16="http://schemas.microsoft.com/office/drawing/2014/main" id="{7D336015-19B8-2247-9DF3-762298B05F56}"/>
              </a:ext>
            </a:extLst>
          </p:cNvPr>
          <p:cNvSpPr>
            <a:spLocks noGrp="1" noChangeAspect="1"/>
          </p:cNvSpPr>
          <p:nvPr>
            <p:ph type="pic" sz="quarter" idx="16"/>
          </p:nvPr>
        </p:nvSpPr>
        <p:spPr>
          <a:xfrm>
            <a:off x="4294825" y="1441992"/>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11" name="Picture Placeholder 6">
            <a:extLst>
              <a:ext uri="{FF2B5EF4-FFF2-40B4-BE49-F238E27FC236}">
                <a16:creationId xmlns:a16="http://schemas.microsoft.com/office/drawing/2014/main" id="{0DE58043-A190-A54E-A57D-DB8D7710CA6E}"/>
              </a:ext>
            </a:extLst>
          </p:cNvPr>
          <p:cNvSpPr>
            <a:spLocks noGrp="1" noChangeAspect="1"/>
          </p:cNvSpPr>
          <p:nvPr>
            <p:ph type="pic" sz="quarter" idx="17"/>
          </p:nvPr>
        </p:nvSpPr>
        <p:spPr>
          <a:xfrm>
            <a:off x="6836048" y="1444666"/>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12" name="Picture Placeholder 6">
            <a:extLst>
              <a:ext uri="{FF2B5EF4-FFF2-40B4-BE49-F238E27FC236}">
                <a16:creationId xmlns:a16="http://schemas.microsoft.com/office/drawing/2014/main" id="{21A2D792-C3A8-B94C-8D1A-FF993AF9B647}"/>
              </a:ext>
            </a:extLst>
          </p:cNvPr>
          <p:cNvSpPr>
            <a:spLocks noGrp="1" noChangeAspect="1"/>
          </p:cNvSpPr>
          <p:nvPr>
            <p:ph type="pic" sz="quarter" idx="18"/>
          </p:nvPr>
        </p:nvSpPr>
        <p:spPr>
          <a:xfrm>
            <a:off x="9377270" y="1441992"/>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13" name="Picture Placeholder 6">
            <a:extLst>
              <a:ext uri="{FF2B5EF4-FFF2-40B4-BE49-F238E27FC236}">
                <a16:creationId xmlns:a16="http://schemas.microsoft.com/office/drawing/2014/main" id="{16F74465-B7AF-DC42-B0E0-DAEE3F794FD1}"/>
              </a:ext>
            </a:extLst>
          </p:cNvPr>
          <p:cNvSpPr>
            <a:spLocks noGrp="1" noChangeAspect="1"/>
          </p:cNvSpPr>
          <p:nvPr>
            <p:ph type="pic" sz="quarter" idx="20"/>
          </p:nvPr>
        </p:nvSpPr>
        <p:spPr>
          <a:xfrm>
            <a:off x="6836046" y="3448050"/>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14" name="Picture Placeholder 6">
            <a:extLst>
              <a:ext uri="{FF2B5EF4-FFF2-40B4-BE49-F238E27FC236}">
                <a16:creationId xmlns:a16="http://schemas.microsoft.com/office/drawing/2014/main" id="{09C94A2A-6979-4D49-945C-5C430721B087}"/>
              </a:ext>
            </a:extLst>
          </p:cNvPr>
          <p:cNvSpPr>
            <a:spLocks noGrp="1" noChangeAspect="1"/>
          </p:cNvSpPr>
          <p:nvPr>
            <p:ph type="pic" sz="quarter" idx="21"/>
          </p:nvPr>
        </p:nvSpPr>
        <p:spPr>
          <a:xfrm>
            <a:off x="9377269" y="3448049"/>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4" name="Footer Placeholder 3">
            <a:extLst>
              <a:ext uri="{FF2B5EF4-FFF2-40B4-BE49-F238E27FC236}">
                <a16:creationId xmlns:a16="http://schemas.microsoft.com/office/drawing/2014/main" id="{BD16ABDF-2326-9E45-8E5D-9E5FC6E22C90}"/>
              </a:ext>
            </a:extLst>
          </p:cNvPr>
          <p:cNvSpPr>
            <a:spLocks noGrp="1"/>
          </p:cNvSpPr>
          <p:nvPr>
            <p:ph type="ftr" sz="quarter" idx="22"/>
          </p:nvPr>
        </p:nvSpPr>
        <p:spPr/>
        <p:txBody>
          <a:bodyPr/>
          <a:lstStyle/>
          <a:p>
            <a:r>
              <a:rPr lang="en-US"/>
              <a:t>TVC PDR</a:t>
            </a:r>
          </a:p>
        </p:txBody>
      </p:sp>
      <p:sp>
        <p:nvSpPr>
          <p:cNvPr id="5" name="Slide Number Placeholder 4">
            <a:extLst>
              <a:ext uri="{FF2B5EF4-FFF2-40B4-BE49-F238E27FC236}">
                <a16:creationId xmlns:a16="http://schemas.microsoft.com/office/drawing/2014/main" id="{7C81559F-D07E-9448-A48A-3FAC38248852}"/>
              </a:ext>
            </a:extLst>
          </p:cNvPr>
          <p:cNvSpPr>
            <a:spLocks noGrp="1"/>
          </p:cNvSpPr>
          <p:nvPr>
            <p:ph type="sldNum" sz="quarter" idx="23"/>
          </p:nvPr>
        </p:nvSpPr>
        <p:spPr/>
        <p:txBody>
          <a:bodyPr/>
          <a:lstStyle/>
          <a:p>
            <a:r>
              <a:rPr lang="en-US"/>
              <a:t>/   </a:t>
            </a:r>
            <a:fld id="{6C7E6F33-74EE-5541-8108-8353B402F8C1}" type="slidenum">
              <a:rPr lang="en-US" smtClean="0"/>
              <a:pPr/>
              <a:t>‹#›</a:t>
            </a:fld>
            <a:endParaRPr lang="en-US"/>
          </a:p>
        </p:txBody>
      </p:sp>
      <p:sp>
        <p:nvSpPr>
          <p:cNvPr id="2" name="Title Placeholder 1">
            <a:extLst>
              <a:ext uri="{FF2B5EF4-FFF2-40B4-BE49-F238E27FC236}">
                <a16:creationId xmlns:a16="http://schemas.microsoft.com/office/drawing/2014/main" id="{7C63A3F1-3298-8C4D-984E-C388DD7476D4}"/>
              </a:ext>
            </a:extLst>
          </p:cNvPr>
          <p:cNvSpPr>
            <a:spLocks noGrp="1"/>
          </p:cNvSpPr>
          <p:nvPr>
            <p:ph type="title" hasCustomPrompt="1"/>
          </p:nvPr>
        </p:nvSpPr>
        <p:spPr>
          <a:xfrm>
            <a:off x="402398" y="639864"/>
            <a:ext cx="3108207" cy="779362"/>
          </a:xfrm>
          <a:prstGeom prst="rect">
            <a:avLst/>
          </a:prstGeom>
          <a:solidFill>
            <a:schemeClr val="bg1"/>
          </a:solidFill>
          <a:effectLst>
            <a:outerShdw blurRad="50800" dist="38100" dir="2700000" algn="tl" rotWithShape="0">
              <a:prstClr val="black">
                <a:alpha val="40000"/>
              </a:prstClr>
            </a:outerShdw>
          </a:effectLst>
        </p:spPr>
        <p:txBody>
          <a:bodyPr vert="horz" lIns="91440" tIns="45720" rIns="91440" bIns="45720" rtlCol="0" anchor="t">
            <a:noAutofit/>
          </a:bodyPr>
          <a:lstStyle>
            <a:lvl1pPr algn="l">
              <a:defRPr/>
            </a:lvl1pPr>
          </a:lstStyle>
          <a:p>
            <a:r>
              <a:rPr lang="en-US"/>
              <a:t>Page Title</a:t>
            </a:r>
          </a:p>
        </p:txBody>
      </p:sp>
      <p:sp>
        <p:nvSpPr>
          <p:cNvPr id="6" name="Text Placeholder 6">
            <a:extLst>
              <a:ext uri="{FF2B5EF4-FFF2-40B4-BE49-F238E27FC236}">
                <a16:creationId xmlns:a16="http://schemas.microsoft.com/office/drawing/2014/main" id="{240F6009-FD34-5694-97BE-792BA362FA48}"/>
              </a:ext>
            </a:extLst>
          </p:cNvPr>
          <p:cNvSpPr>
            <a:spLocks noGrp="1"/>
          </p:cNvSpPr>
          <p:nvPr>
            <p:ph type="body" sz="quarter" idx="24" hasCustomPrompt="1"/>
          </p:nvPr>
        </p:nvSpPr>
        <p:spPr>
          <a:xfrm>
            <a:off x="402397" y="1419226"/>
            <a:ext cx="3108207" cy="1010209"/>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
        <p:nvSpPr>
          <p:cNvPr id="16" name="Text Placeholder 18">
            <a:extLst>
              <a:ext uri="{FF2B5EF4-FFF2-40B4-BE49-F238E27FC236}">
                <a16:creationId xmlns:a16="http://schemas.microsoft.com/office/drawing/2014/main" id="{9B350A66-F079-A443-A6E6-F4E8B55CB8BA}"/>
              </a:ext>
            </a:extLst>
          </p:cNvPr>
          <p:cNvSpPr>
            <a:spLocks noGrp="1"/>
          </p:cNvSpPr>
          <p:nvPr>
            <p:ph type="body" sz="quarter" idx="15" hasCustomPrompt="1"/>
          </p:nvPr>
        </p:nvSpPr>
        <p:spPr>
          <a:xfrm>
            <a:off x="402398" y="2429435"/>
            <a:ext cx="3108207" cy="3528293"/>
          </a:xfrm>
          <a:solidFill>
            <a:schemeClr val="bg1"/>
          </a:solidFill>
          <a:effectLst>
            <a:outerShdw blurRad="50800" dist="38100" dir="2700000" algn="tl" rotWithShape="0">
              <a:prstClr val="black">
                <a:alpha val="40000"/>
              </a:prstClr>
            </a:outerShdw>
          </a:effectLst>
        </p:spPr>
        <p:txBody>
          <a:bodyPr>
            <a:normAutofit/>
          </a:bodyPr>
          <a:lstStyle>
            <a:lvl1pPr marL="380990" indent="-259074" algn="l">
              <a:lnSpc>
                <a:spcPct val="100000"/>
              </a:lnSpc>
              <a:spcAft>
                <a:spcPts val="400"/>
              </a:spcAft>
              <a:buFont typeface="Arial" panose="020B0604020202020204" pitchFamily="34" charset="0"/>
              <a:buChar char="•"/>
              <a:defRPr sz="1733"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p>
          <a:p>
            <a:pPr lvl="0"/>
            <a:r>
              <a:rPr lang="en-US" err="1"/>
              <a:t>Sollicitudin</a:t>
            </a:r>
            <a:r>
              <a:rPr lang="en-US"/>
              <a:t> </a:t>
            </a:r>
            <a:r>
              <a:rPr lang="en-US" err="1"/>
              <a:t>tempor</a:t>
            </a:r>
            <a:r>
              <a:rPr lang="en-US"/>
              <a:t> id </a:t>
            </a:r>
            <a:br>
              <a:rPr lang="en-US"/>
            </a:br>
            <a:r>
              <a:rPr lang="en-US" err="1"/>
              <a:t>eu</a:t>
            </a:r>
            <a:r>
              <a:rPr lang="en-US"/>
              <a:t> </a:t>
            </a:r>
            <a:r>
              <a:rPr lang="en-US" err="1"/>
              <a:t>nisl</a:t>
            </a:r>
            <a:r>
              <a:rPr lang="en-US"/>
              <a:t> </a:t>
            </a:r>
            <a:r>
              <a:rPr lang="en-US" err="1"/>
              <a:t>nunc</a:t>
            </a:r>
            <a:r>
              <a:rPr lang="en-US"/>
              <a:t> mi ipsum </a:t>
            </a:r>
            <a:r>
              <a:rPr lang="en-US" err="1"/>
              <a:t>faucibus</a:t>
            </a:r>
            <a:r>
              <a:rPr lang="en-US"/>
              <a:t>.</a:t>
            </a:r>
          </a:p>
        </p:txBody>
      </p:sp>
    </p:spTree>
    <p:extLst>
      <p:ext uri="{BB962C8B-B14F-4D97-AF65-F5344CB8AC3E}">
        <p14:creationId xmlns:p14="http://schemas.microsoft.com/office/powerpoint/2010/main" val="3239492143"/>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4AA42E8-9C39-454E-ADD6-58C0005063C5}"/>
              </a:ext>
              <a:ext uri="{C183D7F6-B498-43B3-948B-1728B52AA6E4}">
                <adec:decorative xmlns:adec="http://schemas.microsoft.com/office/drawing/2017/decorative" val="1"/>
              </a:ext>
            </a:extLst>
          </p:cNvPr>
          <p:cNvSpPr/>
          <p:nvPr userDrawn="1"/>
        </p:nvSpPr>
        <p:spPr>
          <a:xfrm flipH="1">
            <a:off x="3977532" y="823482"/>
            <a:ext cx="7946523" cy="5134246"/>
          </a:xfrm>
          <a:prstGeom prst="rect">
            <a:avLst/>
          </a:pr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108" eaLnBrk="1" fontAlgn="auto" hangingPunct="1">
              <a:spcBef>
                <a:spcPts val="0"/>
              </a:spcBef>
              <a:spcAft>
                <a:spcPts val="0"/>
              </a:spcAft>
              <a:defRPr/>
            </a:pPr>
            <a:endParaRPr lang="en-US" sz="1801">
              <a:latin typeface="Muli Regular" charset="0"/>
            </a:endParaRPr>
          </a:p>
        </p:txBody>
      </p:sp>
      <p:sp>
        <p:nvSpPr>
          <p:cNvPr id="10" name="Picture Placeholder 6">
            <a:extLst>
              <a:ext uri="{FF2B5EF4-FFF2-40B4-BE49-F238E27FC236}">
                <a16:creationId xmlns:a16="http://schemas.microsoft.com/office/drawing/2014/main" id="{7D336015-19B8-2247-9DF3-762298B05F56}"/>
              </a:ext>
            </a:extLst>
          </p:cNvPr>
          <p:cNvSpPr>
            <a:spLocks noGrp="1" noChangeAspect="1"/>
          </p:cNvSpPr>
          <p:nvPr>
            <p:ph type="pic" sz="quarter" idx="16"/>
          </p:nvPr>
        </p:nvSpPr>
        <p:spPr>
          <a:xfrm>
            <a:off x="4294872" y="1352255"/>
            <a:ext cx="7311842" cy="4076700"/>
          </a:xfrm>
          <a:solidFill>
            <a:schemeClr val="bg1">
              <a:lumMod val="85000"/>
            </a:schemeClr>
          </a:solidFill>
          <a:ln>
            <a:noFill/>
          </a:ln>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4" name="Footer Placeholder 3">
            <a:extLst>
              <a:ext uri="{FF2B5EF4-FFF2-40B4-BE49-F238E27FC236}">
                <a16:creationId xmlns:a16="http://schemas.microsoft.com/office/drawing/2014/main" id="{BD16ABDF-2326-9E45-8E5D-9E5FC6E22C90}"/>
              </a:ext>
            </a:extLst>
          </p:cNvPr>
          <p:cNvSpPr>
            <a:spLocks noGrp="1"/>
          </p:cNvSpPr>
          <p:nvPr>
            <p:ph type="ftr" sz="quarter" idx="22"/>
          </p:nvPr>
        </p:nvSpPr>
        <p:spPr/>
        <p:txBody>
          <a:bodyPr/>
          <a:lstStyle/>
          <a:p>
            <a:r>
              <a:rPr lang="en-US"/>
              <a:t>TVC PDR</a:t>
            </a:r>
          </a:p>
        </p:txBody>
      </p:sp>
      <p:sp>
        <p:nvSpPr>
          <p:cNvPr id="5" name="Slide Number Placeholder 4">
            <a:extLst>
              <a:ext uri="{FF2B5EF4-FFF2-40B4-BE49-F238E27FC236}">
                <a16:creationId xmlns:a16="http://schemas.microsoft.com/office/drawing/2014/main" id="{7C81559F-D07E-9448-A48A-3FAC38248852}"/>
              </a:ext>
            </a:extLst>
          </p:cNvPr>
          <p:cNvSpPr>
            <a:spLocks noGrp="1"/>
          </p:cNvSpPr>
          <p:nvPr>
            <p:ph type="sldNum" sz="quarter" idx="23"/>
          </p:nvPr>
        </p:nvSpPr>
        <p:spPr/>
        <p:txBody>
          <a:bodyPr/>
          <a:lstStyle/>
          <a:p>
            <a:r>
              <a:rPr lang="en-US"/>
              <a:t>/   </a:t>
            </a:r>
            <a:fld id="{6C7E6F33-74EE-5541-8108-8353B402F8C1}" type="slidenum">
              <a:rPr lang="en-US" smtClean="0"/>
              <a:pPr/>
              <a:t>‹#›</a:t>
            </a:fld>
            <a:endParaRPr lang="en-US"/>
          </a:p>
        </p:txBody>
      </p:sp>
      <p:sp>
        <p:nvSpPr>
          <p:cNvPr id="8" name="Title Placeholder 1">
            <a:extLst>
              <a:ext uri="{FF2B5EF4-FFF2-40B4-BE49-F238E27FC236}">
                <a16:creationId xmlns:a16="http://schemas.microsoft.com/office/drawing/2014/main" id="{188C06E2-59A6-4FE8-C5A7-6180FBDDFC23}"/>
              </a:ext>
            </a:extLst>
          </p:cNvPr>
          <p:cNvSpPr>
            <a:spLocks noGrp="1"/>
          </p:cNvSpPr>
          <p:nvPr>
            <p:ph type="title" hasCustomPrompt="1"/>
          </p:nvPr>
        </p:nvSpPr>
        <p:spPr>
          <a:xfrm>
            <a:off x="402398" y="639864"/>
            <a:ext cx="3108207" cy="779362"/>
          </a:xfrm>
          <a:prstGeom prst="rect">
            <a:avLst/>
          </a:prstGeom>
          <a:solidFill>
            <a:schemeClr val="bg1"/>
          </a:solidFill>
          <a:effectLst>
            <a:outerShdw blurRad="50800" dist="38100" dir="2700000" algn="tl" rotWithShape="0">
              <a:prstClr val="black">
                <a:alpha val="40000"/>
              </a:prstClr>
            </a:outerShdw>
          </a:effectLst>
        </p:spPr>
        <p:txBody>
          <a:bodyPr vert="horz" lIns="91440" tIns="45720" rIns="91440" bIns="45720" rtlCol="0" anchor="t">
            <a:noAutofit/>
          </a:bodyPr>
          <a:lstStyle>
            <a:lvl1pPr algn="l">
              <a:defRPr/>
            </a:lvl1pPr>
          </a:lstStyle>
          <a:p>
            <a:r>
              <a:rPr lang="en-US"/>
              <a:t>Page Title</a:t>
            </a:r>
          </a:p>
        </p:txBody>
      </p:sp>
      <p:sp>
        <p:nvSpPr>
          <p:cNvPr id="9" name="Text Placeholder 6">
            <a:extLst>
              <a:ext uri="{FF2B5EF4-FFF2-40B4-BE49-F238E27FC236}">
                <a16:creationId xmlns:a16="http://schemas.microsoft.com/office/drawing/2014/main" id="{B7FCDA71-99A0-621A-1565-FFB026DDF512}"/>
              </a:ext>
            </a:extLst>
          </p:cNvPr>
          <p:cNvSpPr>
            <a:spLocks noGrp="1"/>
          </p:cNvSpPr>
          <p:nvPr>
            <p:ph type="body" sz="quarter" idx="19" hasCustomPrompt="1"/>
          </p:nvPr>
        </p:nvSpPr>
        <p:spPr>
          <a:xfrm>
            <a:off x="402397" y="1419226"/>
            <a:ext cx="3108207" cy="1010209"/>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
        <p:nvSpPr>
          <p:cNvPr id="16" name="Text Placeholder 18">
            <a:extLst>
              <a:ext uri="{FF2B5EF4-FFF2-40B4-BE49-F238E27FC236}">
                <a16:creationId xmlns:a16="http://schemas.microsoft.com/office/drawing/2014/main" id="{9B350A66-F079-A443-A6E6-F4E8B55CB8BA}"/>
              </a:ext>
            </a:extLst>
          </p:cNvPr>
          <p:cNvSpPr>
            <a:spLocks noGrp="1"/>
          </p:cNvSpPr>
          <p:nvPr>
            <p:ph type="body" sz="quarter" idx="15" hasCustomPrompt="1"/>
          </p:nvPr>
        </p:nvSpPr>
        <p:spPr>
          <a:xfrm>
            <a:off x="402398" y="2429435"/>
            <a:ext cx="3108207" cy="3528293"/>
          </a:xfrm>
          <a:solidFill>
            <a:schemeClr val="bg1"/>
          </a:solidFill>
          <a:effectLst>
            <a:outerShdw blurRad="50800" dist="38100" dir="2700000" algn="tl" rotWithShape="0">
              <a:prstClr val="black">
                <a:alpha val="40000"/>
              </a:prstClr>
            </a:outerShdw>
          </a:effectLst>
        </p:spPr>
        <p:txBody>
          <a:bodyPr>
            <a:normAutofit/>
          </a:bodyPr>
          <a:lstStyle>
            <a:lvl1pPr marL="380990" indent="-259074" algn="l">
              <a:lnSpc>
                <a:spcPct val="100000"/>
              </a:lnSpc>
              <a:spcAft>
                <a:spcPts val="400"/>
              </a:spcAft>
              <a:buFont typeface="Arial" panose="020B0604020202020204" pitchFamily="34" charset="0"/>
              <a:buChar char="•"/>
              <a:defRPr sz="1733"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p>
          <a:p>
            <a:pPr lvl="0"/>
            <a:r>
              <a:rPr lang="en-US" err="1"/>
              <a:t>Sollicitudin</a:t>
            </a:r>
            <a:r>
              <a:rPr lang="en-US"/>
              <a:t> </a:t>
            </a:r>
            <a:r>
              <a:rPr lang="en-US" err="1"/>
              <a:t>tempor</a:t>
            </a:r>
            <a:r>
              <a:rPr lang="en-US"/>
              <a:t> id </a:t>
            </a:r>
            <a:br>
              <a:rPr lang="en-US"/>
            </a:br>
            <a:r>
              <a:rPr lang="en-US" err="1"/>
              <a:t>eu</a:t>
            </a:r>
            <a:r>
              <a:rPr lang="en-US"/>
              <a:t> </a:t>
            </a:r>
            <a:r>
              <a:rPr lang="en-US" err="1"/>
              <a:t>nisl</a:t>
            </a:r>
            <a:r>
              <a:rPr lang="en-US"/>
              <a:t> </a:t>
            </a:r>
            <a:r>
              <a:rPr lang="en-US" err="1"/>
              <a:t>nunc</a:t>
            </a:r>
            <a:r>
              <a:rPr lang="en-US"/>
              <a:t> mi ipsum </a:t>
            </a:r>
            <a:r>
              <a:rPr lang="en-US" err="1"/>
              <a:t>faucibus</a:t>
            </a:r>
            <a:r>
              <a:rPr lang="en-US"/>
              <a:t>.</a:t>
            </a:r>
          </a:p>
        </p:txBody>
      </p:sp>
    </p:spTree>
    <p:extLst>
      <p:ext uri="{BB962C8B-B14F-4D97-AF65-F5344CB8AC3E}">
        <p14:creationId xmlns:p14="http://schemas.microsoft.com/office/powerpoint/2010/main" val="680396927"/>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 Gallery, 4">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C74FF91-56F8-4041-8084-DCA6FE3768A6}"/>
              </a:ext>
            </a:extLst>
          </p:cNvPr>
          <p:cNvSpPr>
            <a:spLocks noGrp="1"/>
          </p:cNvSpPr>
          <p:nvPr>
            <p:ph type="pic" sz="quarter" idx="10"/>
          </p:nvPr>
        </p:nvSpPr>
        <p:spPr>
          <a:xfrm>
            <a:off x="827040" y="2272822"/>
            <a:ext cx="2499360" cy="2495551"/>
          </a:xfrm>
          <a:solidFill>
            <a:schemeClr val="bg1">
              <a:lumMod val="85000"/>
            </a:schemeClr>
          </a:solidFill>
          <a:effectLst>
            <a:outerShdw blurRad="50800" dist="38100" dir="2700000" algn="tl" rotWithShape="0">
              <a:prstClr val="black">
                <a:alpha val="40000"/>
              </a:prstClr>
            </a:outerShdw>
          </a:effectLst>
        </p:spPr>
        <p:txBody>
          <a:bodyPr/>
          <a:lstStyle>
            <a:lvl1pPr marL="0" indent="0" algn="ctr">
              <a:buNone/>
              <a:defRPr/>
            </a:lvl1pPr>
          </a:lstStyle>
          <a:p>
            <a:endParaRPr lang="en-US"/>
          </a:p>
        </p:txBody>
      </p:sp>
      <p:sp>
        <p:nvSpPr>
          <p:cNvPr id="10" name="Picture Placeholder 8">
            <a:extLst>
              <a:ext uri="{FF2B5EF4-FFF2-40B4-BE49-F238E27FC236}">
                <a16:creationId xmlns:a16="http://schemas.microsoft.com/office/drawing/2014/main" id="{9890E7C6-6DB0-2747-A517-8DEE6CDE9DAF}"/>
              </a:ext>
            </a:extLst>
          </p:cNvPr>
          <p:cNvSpPr>
            <a:spLocks noGrp="1"/>
          </p:cNvSpPr>
          <p:nvPr>
            <p:ph type="pic" sz="quarter" idx="11"/>
          </p:nvPr>
        </p:nvSpPr>
        <p:spPr>
          <a:xfrm>
            <a:off x="3501573" y="2272822"/>
            <a:ext cx="2495551" cy="2495551"/>
          </a:xfrm>
          <a:solidFill>
            <a:schemeClr val="bg1">
              <a:lumMod val="85000"/>
            </a:schemeClr>
          </a:solidFill>
          <a:effectLst>
            <a:outerShdw blurRad="50800" dist="38100" dir="2700000" algn="tl" rotWithShape="0">
              <a:prstClr val="black">
                <a:alpha val="40000"/>
              </a:prstClr>
            </a:outerShdw>
          </a:effectLst>
        </p:spPr>
        <p:txBody>
          <a:bodyPr/>
          <a:lstStyle>
            <a:lvl1pPr marL="0" indent="0" algn="ctr">
              <a:buNone/>
              <a:defRPr/>
            </a:lvl1pPr>
          </a:lstStyle>
          <a:p>
            <a:endParaRPr lang="en-US"/>
          </a:p>
        </p:txBody>
      </p:sp>
      <p:sp>
        <p:nvSpPr>
          <p:cNvPr id="11" name="Picture Placeholder 8">
            <a:extLst>
              <a:ext uri="{FF2B5EF4-FFF2-40B4-BE49-F238E27FC236}">
                <a16:creationId xmlns:a16="http://schemas.microsoft.com/office/drawing/2014/main" id="{770EB97E-35CF-6846-8293-859346561647}"/>
              </a:ext>
            </a:extLst>
          </p:cNvPr>
          <p:cNvSpPr>
            <a:spLocks noGrp="1"/>
          </p:cNvSpPr>
          <p:nvPr>
            <p:ph type="pic" sz="quarter" idx="12"/>
          </p:nvPr>
        </p:nvSpPr>
        <p:spPr>
          <a:xfrm>
            <a:off x="6183721" y="2272822"/>
            <a:ext cx="2495551" cy="2495551"/>
          </a:xfrm>
          <a:solidFill>
            <a:schemeClr val="bg1">
              <a:lumMod val="85000"/>
            </a:schemeClr>
          </a:solidFill>
          <a:effectLst>
            <a:outerShdw blurRad="50800" dist="38100" dir="2700000" algn="tl" rotWithShape="0">
              <a:prstClr val="black">
                <a:alpha val="40000"/>
              </a:prstClr>
            </a:outerShdw>
          </a:effectLst>
        </p:spPr>
        <p:txBody>
          <a:bodyPr/>
          <a:lstStyle>
            <a:lvl1pPr marL="0" indent="0" algn="ctr">
              <a:buNone/>
              <a:defRPr/>
            </a:lvl1pPr>
          </a:lstStyle>
          <a:p>
            <a:endParaRPr lang="en-US"/>
          </a:p>
        </p:txBody>
      </p:sp>
      <p:sp>
        <p:nvSpPr>
          <p:cNvPr id="12" name="Picture Placeholder 8">
            <a:extLst>
              <a:ext uri="{FF2B5EF4-FFF2-40B4-BE49-F238E27FC236}">
                <a16:creationId xmlns:a16="http://schemas.microsoft.com/office/drawing/2014/main" id="{B67E2AC7-593C-1A48-9B8F-BCBC2F014AE8}"/>
              </a:ext>
            </a:extLst>
          </p:cNvPr>
          <p:cNvSpPr>
            <a:spLocks noGrp="1"/>
          </p:cNvSpPr>
          <p:nvPr>
            <p:ph type="pic" sz="quarter" idx="13"/>
          </p:nvPr>
        </p:nvSpPr>
        <p:spPr>
          <a:xfrm>
            <a:off x="8856346" y="2272821"/>
            <a:ext cx="2495551" cy="2495551"/>
          </a:xfrm>
          <a:solidFill>
            <a:schemeClr val="bg1">
              <a:lumMod val="85000"/>
            </a:schemeClr>
          </a:solidFill>
          <a:effectLst>
            <a:outerShdw blurRad="50800" dist="38100" dir="2700000" algn="tl" rotWithShape="0">
              <a:prstClr val="black">
                <a:alpha val="40000"/>
              </a:prstClr>
            </a:outerShdw>
          </a:effectLst>
        </p:spPr>
        <p:txBody>
          <a:bodyPr/>
          <a:lstStyle>
            <a:lvl1pPr marL="0" indent="0" algn="ctr">
              <a:buNone/>
              <a:defRPr/>
            </a:lvl1pPr>
          </a:lstStyle>
          <a:p>
            <a:endParaRPr lang="en-US"/>
          </a:p>
        </p:txBody>
      </p:sp>
      <p:sp>
        <p:nvSpPr>
          <p:cNvPr id="3" name="Title 1">
            <a:extLst>
              <a:ext uri="{FF2B5EF4-FFF2-40B4-BE49-F238E27FC236}">
                <a16:creationId xmlns:a16="http://schemas.microsoft.com/office/drawing/2014/main" id="{F18BDDAE-2A68-FBA5-7B53-C1B0ACA5EBCE}"/>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4" name="Text Placeholder 6">
            <a:extLst>
              <a:ext uri="{FF2B5EF4-FFF2-40B4-BE49-F238E27FC236}">
                <a16:creationId xmlns:a16="http://schemas.microsoft.com/office/drawing/2014/main" id="{37C61FBC-F81F-DB41-B3CB-92857737A91D}"/>
              </a:ext>
            </a:extLst>
          </p:cNvPr>
          <p:cNvSpPr>
            <a:spLocks noGrp="1"/>
          </p:cNvSpPr>
          <p:nvPr>
            <p:ph type="body" sz="quarter" idx="23"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2095081866"/>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9" name="Google Shape;19;p3"/>
          <p:cNvSpPr txBox="1">
            <a:spLocks noGrp="1"/>
          </p:cNvSpPr>
          <p:nvPr>
            <p:ph type="sldNum" idx="12"/>
          </p:nvPr>
        </p:nvSpPr>
        <p:spPr>
          <a:xfrm>
            <a:off x="11354939" y="6323867"/>
            <a:ext cx="365600" cy="524800"/>
          </a:xfrm>
          <a:prstGeom prst="rect">
            <a:avLst/>
          </a:prstGeom>
          <a:noFill/>
          <a:ln>
            <a:noFill/>
          </a:ln>
        </p:spPr>
        <p:txBody>
          <a:bodyPr spcFirstLastPara="1" wrap="square" lIns="91425" tIns="91425" rIns="91425" bIns="91425" anchor="ctr" anchorCtr="0">
            <a:normAutofit/>
          </a:bodyPr>
          <a:lstStyle>
            <a:lvl1pPr marL="0" lvl="0" indent="0" algn="r">
              <a:lnSpc>
                <a:spcPct val="100000"/>
              </a:lnSpc>
              <a:spcBef>
                <a:spcPts val="0"/>
              </a:spcBef>
              <a:spcAft>
                <a:spcPts val="0"/>
              </a:spcAft>
              <a:buSzPts val="1000"/>
              <a:buNone/>
              <a:defRPr/>
            </a:lvl1pPr>
            <a:lvl2pPr marL="0" lvl="1" indent="0" algn="r">
              <a:lnSpc>
                <a:spcPct val="100000"/>
              </a:lnSpc>
              <a:spcBef>
                <a:spcPts val="0"/>
              </a:spcBef>
              <a:spcAft>
                <a:spcPts val="0"/>
              </a:spcAft>
              <a:buSzPts val="1000"/>
              <a:buNone/>
              <a:defRPr/>
            </a:lvl2pPr>
            <a:lvl3pPr marL="0" lvl="2" indent="0" algn="r">
              <a:lnSpc>
                <a:spcPct val="100000"/>
              </a:lnSpc>
              <a:spcBef>
                <a:spcPts val="0"/>
              </a:spcBef>
              <a:spcAft>
                <a:spcPts val="0"/>
              </a:spcAft>
              <a:buSzPts val="1000"/>
              <a:buNone/>
              <a:defRPr/>
            </a:lvl3pPr>
            <a:lvl4pPr marL="0" lvl="3" indent="0" algn="r">
              <a:lnSpc>
                <a:spcPct val="100000"/>
              </a:lnSpc>
              <a:spcBef>
                <a:spcPts val="0"/>
              </a:spcBef>
              <a:spcAft>
                <a:spcPts val="0"/>
              </a:spcAft>
              <a:buSzPts val="1000"/>
              <a:buNone/>
              <a:defRPr/>
            </a:lvl4pPr>
            <a:lvl5pPr marL="0" lvl="4" indent="0" algn="r">
              <a:lnSpc>
                <a:spcPct val="100000"/>
              </a:lnSpc>
              <a:spcBef>
                <a:spcPts val="0"/>
              </a:spcBef>
              <a:spcAft>
                <a:spcPts val="0"/>
              </a:spcAft>
              <a:buSzPts val="1000"/>
              <a:buNone/>
              <a:defRPr/>
            </a:lvl5pPr>
            <a:lvl6pPr marL="0" lvl="5" indent="0" algn="r">
              <a:lnSpc>
                <a:spcPct val="100000"/>
              </a:lnSpc>
              <a:spcBef>
                <a:spcPts val="0"/>
              </a:spcBef>
              <a:spcAft>
                <a:spcPts val="0"/>
              </a:spcAft>
              <a:buSzPts val="1000"/>
              <a:buNone/>
              <a:defRPr/>
            </a:lvl6pPr>
            <a:lvl7pPr marL="0" lvl="6" indent="0" algn="r">
              <a:lnSpc>
                <a:spcPct val="100000"/>
              </a:lnSpc>
              <a:spcBef>
                <a:spcPts val="0"/>
              </a:spcBef>
              <a:spcAft>
                <a:spcPts val="0"/>
              </a:spcAft>
              <a:buSzPts val="1000"/>
              <a:buNone/>
              <a:defRPr/>
            </a:lvl7pPr>
            <a:lvl8pPr marL="0" lvl="7" indent="0" algn="r">
              <a:lnSpc>
                <a:spcPct val="100000"/>
              </a:lnSpc>
              <a:spcBef>
                <a:spcPts val="0"/>
              </a:spcBef>
              <a:spcAft>
                <a:spcPts val="0"/>
              </a:spcAft>
              <a:buSzPts val="1000"/>
              <a:buNone/>
              <a:defRPr/>
            </a:lvl8pPr>
            <a:lvl9pPr marL="0" lvl="8" indent="0" algn="r">
              <a:lnSpc>
                <a:spcPct val="100000"/>
              </a:lnSpc>
              <a:spcBef>
                <a:spcPts val="0"/>
              </a:spcBef>
              <a:spcAft>
                <a:spcPts val="0"/>
              </a:spcAft>
              <a:buSzPts val="100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20" name="Google Shape;20;p3"/>
          <p:cNvSpPr txBox="1">
            <a:spLocks noGrp="1"/>
          </p:cNvSpPr>
          <p:nvPr>
            <p:ph type="body" idx="1"/>
          </p:nvPr>
        </p:nvSpPr>
        <p:spPr>
          <a:xfrm>
            <a:off x="415600" y="1502467"/>
            <a:ext cx="11362400" cy="4792000"/>
          </a:xfrm>
          <a:prstGeom prst="rect">
            <a:avLst/>
          </a:prstGeom>
          <a:noFill/>
          <a:ln>
            <a:noFill/>
          </a:ln>
        </p:spPr>
        <p:txBody>
          <a:bodyPr spcFirstLastPara="1" wrap="square" lIns="91425" tIns="91425" rIns="91425" bIns="91425" anchor="t" anchorCtr="0">
            <a:norm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0"/>
              </a:spcBef>
              <a:spcAft>
                <a:spcPts val="0"/>
              </a:spcAft>
              <a:buSzPts val="1400"/>
              <a:buChar char="○"/>
              <a:defRPr/>
            </a:lvl2pPr>
            <a:lvl3pPr marL="1828754" lvl="2" indent="-423323" algn="l">
              <a:lnSpc>
                <a:spcPct val="115000"/>
              </a:lnSpc>
              <a:spcBef>
                <a:spcPts val="0"/>
              </a:spcBef>
              <a:spcAft>
                <a:spcPts val="0"/>
              </a:spcAft>
              <a:buSzPts val="1400"/>
              <a:buChar char="■"/>
              <a:defRPr/>
            </a:lvl3pPr>
            <a:lvl4pPr marL="2438339" lvl="3" indent="-423323" algn="l">
              <a:lnSpc>
                <a:spcPct val="115000"/>
              </a:lnSpc>
              <a:spcBef>
                <a:spcPts val="0"/>
              </a:spcBef>
              <a:spcAft>
                <a:spcPts val="0"/>
              </a:spcAft>
              <a:buSzPts val="1400"/>
              <a:buChar char="●"/>
              <a:defRPr/>
            </a:lvl4pPr>
            <a:lvl5pPr marL="3047924" lvl="4" indent="-423323" algn="l">
              <a:lnSpc>
                <a:spcPct val="115000"/>
              </a:lnSpc>
              <a:spcBef>
                <a:spcPts val="0"/>
              </a:spcBef>
              <a:spcAft>
                <a:spcPts val="0"/>
              </a:spcAft>
              <a:buSzPts val="1400"/>
              <a:buChar char="○"/>
              <a:defRPr/>
            </a:lvl5pPr>
            <a:lvl6pPr marL="3657509" lvl="5" indent="-423323" algn="l">
              <a:lnSpc>
                <a:spcPct val="115000"/>
              </a:lnSpc>
              <a:spcBef>
                <a:spcPts val="0"/>
              </a:spcBef>
              <a:spcAft>
                <a:spcPts val="0"/>
              </a:spcAft>
              <a:buSzPts val="1400"/>
              <a:buChar char="■"/>
              <a:defRPr/>
            </a:lvl6pPr>
            <a:lvl7pPr marL="4267093" lvl="6" indent="-423323" algn="l">
              <a:lnSpc>
                <a:spcPct val="115000"/>
              </a:lnSpc>
              <a:spcBef>
                <a:spcPts val="0"/>
              </a:spcBef>
              <a:spcAft>
                <a:spcPts val="0"/>
              </a:spcAft>
              <a:buSzPts val="1400"/>
              <a:buChar char="●"/>
              <a:defRPr/>
            </a:lvl7pPr>
            <a:lvl8pPr marL="4876678" lvl="7" indent="-423323" algn="l">
              <a:lnSpc>
                <a:spcPct val="115000"/>
              </a:lnSpc>
              <a:spcBef>
                <a:spcPts val="0"/>
              </a:spcBef>
              <a:spcAft>
                <a:spcPts val="0"/>
              </a:spcAft>
              <a:buSzPts val="1400"/>
              <a:buChar char="○"/>
              <a:defRPr/>
            </a:lvl8pPr>
            <a:lvl9pPr marL="5486263" lvl="8" indent="-423323" algn="l">
              <a:lnSpc>
                <a:spcPct val="115000"/>
              </a:lnSpc>
              <a:spcBef>
                <a:spcPts val="0"/>
              </a:spcBef>
              <a:spcAft>
                <a:spcPts val="0"/>
              </a:spcAft>
              <a:buSzPts val="1400"/>
              <a:buChar char="■"/>
              <a:defRPr/>
            </a:lvl9pPr>
          </a:lstStyle>
          <a:p>
            <a:endParaRPr/>
          </a:p>
        </p:txBody>
      </p:sp>
    </p:spTree>
    <p:extLst>
      <p:ext uri="{BB962C8B-B14F-4D97-AF65-F5344CB8AC3E}">
        <p14:creationId xmlns:p14="http://schemas.microsoft.com/office/powerpoint/2010/main" val="4020496264"/>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End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00C3C-7EC6-AE23-71FD-2D47F48F913E}"/>
              </a:ext>
            </a:extLst>
          </p:cNvPr>
          <p:cNvSpPr>
            <a:spLocks noGrp="1"/>
          </p:cNvSpPr>
          <p:nvPr>
            <p:ph type="ctrTitle" hasCustomPrompt="1"/>
          </p:nvPr>
        </p:nvSpPr>
        <p:spPr>
          <a:xfrm>
            <a:off x="2587978" y="2219239"/>
            <a:ext cx="6343650" cy="1540459"/>
          </a:xfrm>
          <a:noFill/>
          <a:effectLst/>
        </p:spPr>
        <p:txBody>
          <a:bodyPr anchor="b"/>
          <a:lstStyle>
            <a:lvl1pPr algn="ctr">
              <a:defRPr sz="6000">
                <a:latin typeface="Munistic" panose="02000500000000000000" pitchFamily="2" charset="0"/>
              </a:defRPr>
            </a:lvl1pPr>
          </a:lstStyle>
          <a:p>
            <a:r>
              <a:rPr lang="en-US"/>
              <a:t>THANK YOU</a:t>
            </a:r>
          </a:p>
        </p:txBody>
      </p:sp>
      <p:sp>
        <p:nvSpPr>
          <p:cNvPr id="3" name="Subtitle 2">
            <a:extLst>
              <a:ext uri="{FF2B5EF4-FFF2-40B4-BE49-F238E27FC236}">
                <a16:creationId xmlns:a16="http://schemas.microsoft.com/office/drawing/2014/main" id="{EAEFFB5D-8493-2F65-E03A-B3D502FEDF8D}"/>
              </a:ext>
            </a:extLst>
          </p:cNvPr>
          <p:cNvSpPr>
            <a:spLocks noGrp="1"/>
          </p:cNvSpPr>
          <p:nvPr>
            <p:ph type="subTitle" idx="1" hasCustomPrompt="1"/>
          </p:nvPr>
        </p:nvSpPr>
        <p:spPr>
          <a:xfrm>
            <a:off x="2587977" y="3851774"/>
            <a:ext cx="6343650" cy="1655762"/>
          </a:xfrm>
        </p:spPr>
        <p:txBody>
          <a:bodyPr/>
          <a:lstStyle>
            <a:lvl1pPr marL="0" indent="0" algn="ctr">
              <a:buNone/>
              <a:defRPr sz="24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CAL POLY SPACE SYSTEMS</a:t>
            </a:r>
          </a:p>
        </p:txBody>
      </p:sp>
      <p:sp>
        <p:nvSpPr>
          <p:cNvPr id="4" name="Date Placeholder 3">
            <a:extLst>
              <a:ext uri="{FF2B5EF4-FFF2-40B4-BE49-F238E27FC236}">
                <a16:creationId xmlns:a16="http://schemas.microsoft.com/office/drawing/2014/main" id="{A094F224-0262-F26D-51D3-0465D1119920}"/>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7AE2E9E9-586D-E749-733C-47775405D399}"/>
              </a:ext>
            </a:extLst>
          </p:cNvPr>
          <p:cNvSpPr>
            <a:spLocks noGrp="1"/>
          </p:cNvSpPr>
          <p:nvPr>
            <p:ph type="ftr" sz="quarter" idx="11"/>
          </p:nvPr>
        </p:nvSpPr>
        <p:spPr/>
        <p:txBody>
          <a:bodyPr/>
          <a:lstStyle/>
          <a:p>
            <a:r>
              <a:rPr lang="en-US"/>
              <a:t>TVC PDR</a:t>
            </a:r>
          </a:p>
        </p:txBody>
      </p:sp>
      <p:sp>
        <p:nvSpPr>
          <p:cNvPr id="6" name="Slide Number Placeholder 5">
            <a:extLst>
              <a:ext uri="{FF2B5EF4-FFF2-40B4-BE49-F238E27FC236}">
                <a16:creationId xmlns:a16="http://schemas.microsoft.com/office/drawing/2014/main" id="{6D2A02A3-A1D5-01D2-3C50-0CD19B4D1202}"/>
              </a:ext>
            </a:extLst>
          </p:cNvPr>
          <p:cNvSpPr>
            <a:spLocks noGrp="1"/>
          </p:cNvSpPr>
          <p:nvPr>
            <p:ph type="sldNum" sz="quarter" idx="12"/>
          </p:nvPr>
        </p:nvSpPr>
        <p:spPr/>
        <p:txBody>
          <a:bodyPr/>
          <a:lstStyle/>
          <a:p>
            <a:fld id="{A34BE8CB-CD86-4941-8F6D-69456A036F2B}" type="slidenum">
              <a:rPr lang="en-US" smtClean="0"/>
              <a:t>‹#›</a:t>
            </a:fld>
            <a:endParaRPr lang="en-US"/>
          </a:p>
        </p:txBody>
      </p:sp>
      <p:pic>
        <p:nvPicPr>
          <p:cNvPr id="1026" name="Picture 2" descr="A blue and white text on a black background&#10;&#10;Description automatically generated">
            <a:extLst>
              <a:ext uri="{FF2B5EF4-FFF2-40B4-BE49-F238E27FC236}">
                <a16:creationId xmlns:a16="http://schemas.microsoft.com/office/drawing/2014/main" id="{49352888-9D9B-1C21-29E5-BFAD18FC90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12988" y="382323"/>
            <a:ext cx="4666567" cy="1203992"/>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A blue and purple text on a black background&#10;&#10;Description automatically generated">
            <a:extLst>
              <a:ext uri="{FF2B5EF4-FFF2-40B4-BE49-F238E27FC236}">
                <a16:creationId xmlns:a16="http://schemas.microsoft.com/office/drawing/2014/main" id="{3CCAC7A9-2D82-8951-05CD-88BE8C463DD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15729" y="3058564"/>
            <a:ext cx="2437339" cy="88762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oeing Logo and symbol, meaning, history, PNG, brand">
            <a:extLst>
              <a:ext uri="{FF2B5EF4-FFF2-40B4-BE49-F238E27FC236}">
                <a16:creationId xmlns:a16="http://schemas.microsoft.com/office/drawing/2014/main" id="{76909B21-5469-297F-5C83-A9E1FE46791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236518" y="205670"/>
            <a:ext cx="4510697" cy="1518204"/>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omposites One Showroom | CompositesWorld">
            <a:extLst>
              <a:ext uri="{FF2B5EF4-FFF2-40B4-BE49-F238E27FC236}">
                <a16:creationId xmlns:a16="http://schemas.microsoft.com/office/drawing/2014/main" id="{0F458620-B139-69DE-42D6-0DBB12F4A301}"/>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82037" y="5321043"/>
            <a:ext cx="5080980" cy="73851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 logo for a ski resort&#10;&#10;Description automatically generated">
            <a:extLst>
              <a:ext uri="{FF2B5EF4-FFF2-40B4-BE49-F238E27FC236}">
                <a16:creationId xmlns:a16="http://schemas.microsoft.com/office/drawing/2014/main" id="{612C1C81-5266-DB95-7CD7-5DDBFC636F2E}"/>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2553" y="1848874"/>
            <a:ext cx="3493904" cy="1112292"/>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Axiom Materials to be Acquired by Kordsa, Merging International Leaders in  Industrial Materials">
            <a:extLst>
              <a:ext uri="{FF2B5EF4-FFF2-40B4-BE49-F238E27FC236}">
                <a16:creationId xmlns:a16="http://schemas.microsoft.com/office/drawing/2014/main" id="{754FFED0-D488-3252-EBAD-8F183D97ACE7}"/>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280817" y="4231282"/>
            <a:ext cx="2307161" cy="688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4065717"/>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199" y="737139"/>
            <a:ext cx="10515600" cy="943848"/>
          </a:xfrm>
          <a:prstGeom prst="rect">
            <a:avLst/>
          </a:prstGeom>
          <a:solidFill>
            <a:schemeClr val="bg1"/>
          </a:solidFill>
          <a:effectLst>
            <a:outerShdw blurRad="50800" dist="38100" dir="2700000" algn="tl" rotWithShape="0">
              <a:prstClr val="black">
                <a:alpha val="40000"/>
              </a:prstClr>
            </a:outerShdw>
          </a:effectLst>
        </p:spPr>
        <p:txBody>
          <a:bodyPr vert="horz" lIns="91440" tIns="45720" rIns="91440" bIns="45720" rtlCol="0" anchor="ctr">
            <a:noAutofit/>
          </a:bodyPr>
          <a:lstStyle/>
          <a:p>
            <a:r>
              <a:rPr lang="en-US"/>
              <a:t>TITLE</a:t>
            </a:r>
          </a:p>
        </p:txBody>
      </p:sp>
      <p:sp>
        <p:nvSpPr>
          <p:cNvPr id="3" name="Text Placeholder 2"/>
          <p:cNvSpPr>
            <a:spLocks noGrp="1"/>
          </p:cNvSpPr>
          <p:nvPr>
            <p:ph type="body" idx="1"/>
          </p:nvPr>
        </p:nvSpPr>
        <p:spPr>
          <a:xfrm>
            <a:off x="838200" y="2232594"/>
            <a:ext cx="10515600" cy="3624868"/>
          </a:xfrm>
          <a:prstGeom prst="rect">
            <a:avLst/>
          </a:prstGeom>
        </p:spPr>
        <p:txBody>
          <a:bodyPr vert="horz" lIns="91440" tIns="45720" rIns="91440" bIns="4572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6B19DA-7078-8248-93A9-40A85B001A1C}"/>
              </a:ext>
              <a:ext uri="{C183D7F6-B498-43B3-948B-1728B52AA6E4}">
                <adec:decorative xmlns:adec="http://schemas.microsoft.com/office/drawing/2017/decorative" val="1"/>
              </a:ext>
            </a:extLst>
          </p:cNvPr>
          <p:cNvCxnSpPr/>
          <p:nvPr userDrawn="1"/>
        </p:nvCxnSpPr>
        <p:spPr>
          <a:xfrm>
            <a:off x="403413" y="6287377"/>
            <a:ext cx="11385177"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A9FAD1C2-7B31-4845-82E3-2D766FA7E142}"/>
              </a:ext>
              <a:ext uri="{C183D7F6-B498-43B3-948B-1728B52AA6E4}">
                <adec:decorative xmlns:adec="http://schemas.microsoft.com/office/drawing/2017/decorative" val="1"/>
              </a:ext>
            </a:extLst>
          </p:cNvPr>
          <p:cNvSpPr/>
          <p:nvPr userDrawn="1"/>
        </p:nvSpPr>
        <p:spPr>
          <a:xfrm>
            <a:off x="-1" y="0"/>
            <a:ext cx="12192000" cy="18553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 name="Footer Placeholder 3">
            <a:extLst>
              <a:ext uri="{FF2B5EF4-FFF2-40B4-BE49-F238E27FC236}">
                <a16:creationId xmlns:a16="http://schemas.microsoft.com/office/drawing/2014/main" id="{2113EB39-BDD5-3540-B088-F494392B9C65}"/>
              </a:ext>
            </a:extLst>
          </p:cNvPr>
          <p:cNvSpPr>
            <a:spLocks noGrp="1"/>
          </p:cNvSpPr>
          <p:nvPr>
            <p:ph type="ftr" sz="quarter" idx="3"/>
          </p:nvPr>
        </p:nvSpPr>
        <p:spPr>
          <a:xfrm>
            <a:off x="7491867" y="6351113"/>
            <a:ext cx="4114800" cy="366183"/>
          </a:xfrm>
          <a:prstGeom prst="rect">
            <a:avLst/>
          </a:prstGeom>
        </p:spPr>
        <p:txBody>
          <a:bodyPr vert="horz" lIns="91440" tIns="45720" rIns="91440" bIns="45720" rtlCol="0" anchor="ctr"/>
          <a:lstStyle>
            <a:lvl1pPr algn="r">
              <a:defRPr sz="933" b="0" i="0" spc="133" baseline="0">
                <a:solidFill>
                  <a:schemeClr val="tx1">
                    <a:tint val="75000"/>
                  </a:schemeClr>
                </a:solidFill>
                <a:latin typeface="Source Sans Pro" panose="020B0503030403020204" pitchFamily="34" charset="0"/>
              </a:defRPr>
            </a:lvl1pPr>
          </a:lstStyle>
          <a:p>
            <a:r>
              <a:rPr lang="en-US"/>
              <a:t>TVC PDR</a:t>
            </a:r>
          </a:p>
        </p:txBody>
      </p:sp>
      <p:sp>
        <p:nvSpPr>
          <p:cNvPr id="5" name="Slide Number Placeholder 4">
            <a:extLst>
              <a:ext uri="{FF2B5EF4-FFF2-40B4-BE49-F238E27FC236}">
                <a16:creationId xmlns:a16="http://schemas.microsoft.com/office/drawing/2014/main" id="{706EE155-D1A5-5C42-B024-39462222F25F}"/>
              </a:ext>
            </a:extLst>
          </p:cNvPr>
          <p:cNvSpPr>
            <a:spLocks noGrp="1"/>
          </p:cNvSpPr>
          <p:nvPr>
            <p:ph type="sldNum" sz="quarter" idx="4"/>
          </p:nvPr>
        </p:nvSpPr>
        <p:spPr>
          <a:xfrm>
            <a:off x="11379199" y="6351113"/>
            <a:ext cx="544856" cy="366183"/>
          </a:xfrm>
          <a:prstGeom prst="rect">
            <a:avLst/>
          </a:prstGeom>
        </p:spPr>
        <p:txBody>
          <a:bodyPr vert="horz" lIns="91440" tIns="45720" rIns="91440" bIns="45720" rtlCol="0" anchor="ctr"/>
          <a:lstStyle>
            <a:lvl1pPr algn="r">
              <a:defRPr sz="933" b="0" i="0">
                <a:solidFill>
                  <a:schemeClr val="bg2">
                    <a:lumMod val="75000"/>
                  </a:schemeClr>
                </a:solidFill>
                <a:latin typeface="Source Sans Pro" panose="020B0503030403020204" pitchFamily="34" charset="0"/>
              </a:defRPr>
            </a:lvl1pPr>
          </a:lstStyle>
          <a:p>
            <a:r>
              <a:rPr lang="en-US"/>
              <a:t>/   </a:t>
            </a:r>
            <a:fld id="{6C7E6F33-74EE-5541-8108-8353B402F8C1}" type="slidenum">
              <a:rPr lang="en-US" smtClean="0"/>
              <a:pPr/>
              <a:t>‹#›</a:t>
            </a:fld>
            <a:endParaRPr lang="en-US"/>
          </a:p>
        </p:txBody>
      </p:sp>
      <p:pic>
        <p:nvPicPr>
          <p:cNvPr id="6" name="Picture 5" descr="A green and white text&#10;&#10;Description automatically generated">
            <a:extLst>
              <a:ext uri="{FF2B5EF4-FFF2-40B4-BE49-F238E27FC236}">
                <a16:creationId xmlns:a16="http://schemas.microsoft.com/office/drawing/2014/main" id="{7E2A885B-EFC7-5D6A-F066-22010D9DFA5D}"/>
              </a:ext>
            </a:extLst>
          </p:cNvPr>
          <p:cNvPicPr>
            <a:picLocks noChangeAspect="1"/>
          </p:cNvPicPr>
          <p:nvPr userDrawn="1"/>
        </p:nvPicPr>
        <p:blipFill>
          <a:blip r:embed="rId19"/>
          <a:stretch>
            <a:fillRect/>
          </a:stretch>
        </p:blipFill>
        <p:spPr>
          <a:xfrm>
            <a:off x="267945" y="6120861"/>
            <a:ext cx="1471448" cy="827689"/>
          </a:xfrm>
          <a:prstGeom prst="rect">
            <a:avLst/>
          </a:prstGeom>
        </p:spPr>
      </p:pic>
      <p:pic>
        <p:nvPicPr>
          <p:cNvPr id="7" name="Picture 6" descr="A green and white text&#10;&#10;Description automatically generated">
            <a:extLst>
              <a:ext uri="{FF2B5EF4-FFF2-40B4-BE49-F238E27FC236}">
                <a16:creationId xmlns:a16="http://schemas.microsoft.com/office/drawing/2014/main" id="{900A4ABF-D1EE-4564-993E-1FF575D474BE}"/>
              </a:ext>
            </a:extLst>
          </p:cNvPr>
          <p:cNvPicPr>
            <a:picLocks noChangeAspect="1"/>
          </p:cNvPicPr>
          <p:nvPr userDrawn="1"/>
        </p:nvPicPr>
        <p:blipFill>
          <a:blip r:embed="rId19">
            <a:alphaModFix amt="8000"/>
          </a:blip>
          <a:stretch>
            <a:fillRect/>
          </a:stretch>
        </p:blipFill>
        <p:spPr>
          <a:xfrm>
            <a:off x="2124029" y="1232590"/>
            <a:ext cx="7809463" cy="4392819"/>
          </a:xfrm>
          <a:prstGeom prst="rect">
            <a:avLst/>
          </a:prstGeom>
        </p:spPr>
      </p:pic>
    </p:spTree>
    <p:extLst>
      <p:ext uri="{BB962C8B-B14F-4D97-AF65-F5344CB8AC3E}">
        <p14:creationId xmlns:p14="http://schemas.microsoft.com/office/powerpoint/2010/main" val="44649789"/>
      </p:ext>
    </p:extLst>
  </p:cSld>
  <p:clrMap bg1="lt1" tx1="dk1" bg2="lt2" tx2="dk2" accent1="accent1" accent2="accent2" accent3="accent3" accent4="accent4" accent5="accent5" accent6="accent6" hlink="hlink" folHlink="folHlink"/>
  <p:sldLayoutIdLst>
    <p:sldLayoutId id="2147483663" r:id="rId1"/>
    <p:sldLayoutId id="2147483688" r:id="rId2"/>
    <p:sldLayoutId id="2147483664" r:id="rId3"/>
    <p:sldLayoutId id="2147483668" r:id="rId4"/>
    <p:sldLayoutId id="2147483674" r:id="rId5"/>
    <p:sldLayoutId id="2147483666" r:id="rId6"/>
    <p:sldLayoutId id="2147483685" r:id="rId7"/>
    <p:sldLayoutId id="2147483669" r:id="rId8"/>
    <p:sldLayoutId id="2147483684" r:id="rId9"/>
    <p:sldLayoutId id="2147483686" r:id="rId10"/>
    <p:sldLayoutId id="2147483670" r:id="rId11"/>
    <p:sldLayoutId id="2147483671" r:id="rId12"/>
    <p:sldLayoutId id="2147483675" r:id="rId13"/>
    <p:sldLayoutId id="2147483687" r:id="rId14"/>
    <p:sldLayoutId id="2147483676" r:id="rId15"/>
    <p:sldLayoutId id="2147483689" r:id="rId16"/>
    <p:sldLayoutId id="2147483690" r:id="rId17"/>
  </p:sldLayoutIdLst>
  <p:hf hdr="0" dt="0"/>
  <p:txStyles>
    <p:titleStyle>
      <a:lvl1pPr algn="ctr" defTabSz="914377" rtl="0" eaLnBrk="1" latinLnBrk="0" hangingPunct="1">
        <a:lnSpc>
          <a:spcPct val="100000"/>
        </a:lnSpc>
        <a:spcBef>
          <a:spcPct val="0"/>
        </a:spcBef>
        <a:buNone/>
        <a:defRPr sz="4200" kern="1200" spc="400" baseline="0">
          <a:solidFill>
            <a:schemeClr val="tx1"/>
          </a:solidFill>
          <a:latin typeface="Munistic" panose="02000500000000000000" pitchFamily="2" charset="0"/>
          <a:ea typeface="+mj-ea"/>
          <a:cs typeface="+mj-cs"/>
        </a:defRPr>
      </a:lvl1pPr>
    </p:titleStyle>
    <p:bodyStyle>
      <a:lvl1pPr marL="0" indent="0" algn="l" defTabSz="914377" rtl="0" eaLnBrk="1" latinLnBrk="0" hangingPunct="1">
        <a:lnSpc>
          <a:spcPct val="100000"/>
        </a:lnSpc>
        <a:spcBef>
          <a:spcPts val="1000"/>
        </a:spcBef>
        <a:buSzPct val="75000"/>
        <a:buFont typeface="Arial" panose="020B0604020202020204" pitchFamily="34" charset="0"/>
        <a:buNone/>
        <a:defRPr sz="1867" b="0" i="0" kern="800" cap="none" spc="27"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2D_C1E8239A.xm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31.png"/><Relationship Id="rId4" Type="http://schemas.openxmlformats.org/officeDocument/2006/relationships/customXml" Target="../ink/ink1.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customXml" Target="../ink/ink3.xml"/><Relationship Id="rId5" Type="http://schemas.openxmlformats.org/officeDocument/2006/relationships/image" Target="../media/image34.png"/><Relationship Id="rId4" Type="http://schemas.openxmlformats.org/officeDocument/2006/relationships/customXml" Target="../ink/ink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8.jpeg"/><Relationship Id="rId2" Type="http://schemas.microsoft.com/office/2018/10/relationships/comments" Target="../comments/modernComment_802_F8310285.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microsoft.com/office/2018/10/relationships/comments" Target="../comments/modernComment_81B_59DB5372.xml"/><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microsoft.com/office/2018/10/relationships/comments" Target="../comments/modernComment_820_37497D9D.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D31444-2F79-DA81-B0F3-7E8B40D552C3}"/>
              </a:ext>
            </a:extLst>
          </p:cNvPr>
          <p:cNvSpPr>
            <a:spLocks noGrp="1"/>
          </p:cNvSpPr>
          <p:nvPr>
            <p:ph type="body" sz="quarter" idx="15"/>
          </p:nvPr>
        </p:nvSpPr>
        <p:spPr/>
        <p:txBody>
          <a:bodyPr vert="horz" lIns="91440" tIns="45720" rIns="91440" bIns="45720" numCol="2" spcCol="457200" rtlCol="0" anchor="t">
            <a:noAutofit/>
          </a:bodyPr>
          <a:lstStyle/>
          <a:p>
            <a:pPr marL="121920" indent="0">
              <a:buNone/>
            </a:pPr>
            <a:r>
              <a:rPr lang="en-US" sz="1850">
                <a:ea typeface="Source Sans Pro"/>
                <a:cs typeface="Calibri" panose="020F0502020204030204"/>
              </a:rPr>
              <a:t>Project Overview - Sloan</a:t>
            </a:r>
          </a:p>
          <a:p>
            <a:pPr marL="121920" indent="0">
              <a:buNone/>
            </a:pPr>
            <a:r>
              <a:rPr lang="en-US" sz="1850">
                <a:ea typeface="Source Sans Pro"/>
                <a:cs typeface="Calibri" panose="020F0502020204030204"/>
              </a:rPr>
              <a:t>Geometry and cooling - Sloan</a:t>
            </a:r>
            <a:endParaRPr lang="en-US" sz="1850">
              <a:cs typeface="Calibri" panose="020F0502020204030204"/>
            </a:endParaRPr>
          </a:p>
          <a:p>
            <a:pPr marL="121920" indent="0">
              <a:buNone/>
            </a:pPr>
            <a:r>
              <a:rPr lang="en-US" sz="1850">
                <a:ea typeface="Source Sans Pro"/>
                <a:cs typeface="Calibri" panose="020F0502020204030204"/>
              </a:rPr>
              <a:t>Stresses and Factor of Safety - Ellen</a:t>
            </a:r>
            <a:endParaRPr lang="en-US" sz="1850">
              <a:cs typeface="Calibri" panose="020F0502020204030204"/>
            </a:endParaRPr>
          </a:p>
          <a:p>
            <a:pPr marL="121916" indent="0">
              <a:buNone/>
            </a:pPr>
            <a:r>
              <a:rPr lang="en-US" sz="1850">
                <a:ea typeface="Source Sans Pro"/>
                <a:cs typeface="Calibri" panose="020F0502020204030204"/>
              </a:rPr>
              <a:t>Injector Design and Ignitor - Wyatt</a:t>
            </a:r>
          </a:p>
          <a:p>
            <a:pPr marL="121916" indent="0">
              <a:buNone/>
            </a:pPr>
            <a:r>
              <a:rPr lang="en-US" sz="1850">
                <a:ea typeface="Source Sans Pro"/>
                <a:cs typeface="Calibri" panose="020F0502020204030204"/>
              </a:rPr>
              <a:t>Testing and Logistics and Electronics - Jeremiah</a:t>
            </a:r>
          </a:p>
          <a:p>
            <a:pPr marL="121920" indent="0">
              <a:buNone/>
            </a:pPr>
            <a:r>
              <a:rPr lang="en-US" sz="1850">
                <a:ea typeface="Source Sans Pro"/>
                <a:cs typeface="Calibri" panose="020F0502020204030204"/>
              </a:rPr>
              <a:t>Failure and Risks - Sloan</a:t>
            </a:r>
          </a:p>
          <a:p>
            <a:pPr marL="121920" indent="0">
              <a:buNone/>
            </a:pPr>
            <a:r>
              <a:rPr lang="en-US" sz="1850">
                <a:ea typeface="Source Sans Pro"/>
                <a:cs typeface="Calibri" panose="020F0502020204030204"/>
              </a:rPr>
              <a:t>References/Closeout - Sloan</a:t>
            </a:r>
          </a:p>
        </p:txBody>
      </p:sp>
      <p:sp>
        <p:nvSpPr>
          <p:cNvPr id="3" name="Footer Placeholder 2">
            <a:extLst>
              <a:ext uri="{FF2B5EF4-FFF2-40B4-BE49-F238E27FC236}">
                <a16:creationId xmlns:a16="http://schemas.microsoft.com/office/drawing/2014/main" id="{C6C3C270-E70E-891B-C020-87D0E83D5DCB}"/>
              </a:ext>
            </a:extLst>
          </p:cNvPr>
          <p:cNvSpPr>
            <a:spLocks noGrp="1"/>
          </p:cNvSpPr>
          <p:nvPr>
            <p:ph type="ftr" sz="quarter" idx="16"/>
          </p:nvPr>
        </p:nvSpPr>
        <p:spPr/>
        <p:txBody>
          <a:bodyPr/>
          <a:lstStyle/>
          <a:p>
            <a:r>
              <a:rPr lang="en-US"/>
              <a:t>REGEN PDR</a:t>
            </a:r>
          </a:p>
        </p:txBody>
      </p:sp>
      <p:sp>
        <p:nvSpPr>
          <p:cNvPr id="4" name="Slide Number Placeholder 3">
            <a:extLst>
              <a:ext uri="{FF2B5EF4-FFF2-40B4-BE49-F238E27FC236}">
                <a16:creationId xmlns:a16="http://schemas.microsoft.com/office/drawing/2014/main" id="{56774A70-174B-3E84-06DD-BA5049BA04FF}"/>
              </a:ext>
            </a:extLst>
          </p:cNvPr>
          <p:cNvSpPr>
            <a:spLocks noGrp="1"/>
          </p:cNvSpPr>
          <p:nvPr>
            <p:ph type="sldNum" sz="quarter" idx="17"/>
          </p:nvPr>
        </p:nvSpPr>
        <p:spPr/>
        <p:txBody>
          <a:bodyPr/>
          <a:lstStyle/>
          <a:p>
            <a:r>
              <a:rPr lang="en-US"/>
              <a:t>/   </a:t>
            </a:r>
            <a:fld id="{6C7E6F33-74EE-5541-8108-8353B402F8C1}" type="slidenum">
              <a:rPr lang="en-US" smtClean="0"/>
              <a:pPr/>
              <a:t>1</a:t>
            </a:fld>
            <a:endParaRPr lang="en-US"/>
          </a:p>
        </p:txBody>
      </p:sp>
      <p:sp>
        <p:nvSpPr>
          <p:cNvPr id="5" name="Title 4">
            <a:extLst>
              <a:ext uri="{FF2B5EF4-FFF2-40B4-BE49-F238E27FC236}">
                <a16:creationId xmlns:a16="http://schemas.microsoft.com/office/drawing/2014/main" id="{46F07848-2EF7-A7DB-7207-8A0C74B7041E}"/>
              </a:ext>
            </a:extLst>
          </p:cNvPr>
          <p:cNvSpPr>
            <a:spLocks noGrp="1"/>
          </p:cNvSpPr>
          <p:nvPr>
            <p:ph type="title"/>
          </p:nvPr>
        </p:nvSpPr>
        <p:spPr>
          <a:xfrm>
            <a:off x="531848" y="716984"/>
            <a:ext cx="8685754" cy="625567"/>
          </a:xfrm>
        </p:spPr>
        <p:txBody>
          <a:bodyPr/>
          <a:lstStyle/>
          <a:p>
            <a:r>
              <a:rPr lang="en-US">
                <a:latin typeface="Munistic"/>
              </a:rPr>
              <a:t>Section Assignments</a:t>
            </a:r>
            <a:endParaRPr lang="en-US"/>
          </a:p>
        </p:txBody>
      </p:sp>
    </p:spTree>
    <p:extLst>
      <p:ext uri="{BB962C8B-B14F-4D97-AF65-F5344CB8AC3E}">
        <p14:creationId xmlns:p14="http://schemas.microsoft.com/office/powerpoint/2010/main" val="232453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70238A2-F230-2DC2-E7E0-2B97A2248EBB}"/>
              </a:ext>
            </a:extLst>
          </p:cNvPr>
          <p:cNvSpPr>
            <a:spLocks noGrp="1"/>
          </p:cNvSpPr>
          <p:nvPr>
            <p:ph type="body" sz="quarter" idx="11"/>
          </p:nvPr>
        </p:nvSpPr>
        <p:spPr>
          <a:xfrm>
            <a:off x="139659" y="4983173"/>
            <a:ext cx="7997858" cy="1028298"/>
          </a:xfrm>
        </p:spPr>
        <p:txBody>
          <a:bodyPr/>
          <a:lstStyle/>
          <a:p>
            <a:r>
              <a:rPr lang="en-US" sz="1850">
                <a:ea typeface="Source Sans Pro"/>
              </a:rPr>
              <a:t>Design Review, October 17, 2026 </a:t>
            </a:r>
            <a:endParaRPr lang="en-US"/>
          </a:p>
          <a:p>
            <a:endParaRPr lang="en-US" sz="1850">
              <a:ea typeface="Source Sans Pro"/>
              <a:cs typeface="Calibri"/>
            </a:endParaRPr>
          </a:p>
        </p:txBody>
      </p:sp>
      <p:sp>
        <p:nvSpPr>
          <p:cNvPr id="3" name="Title 2">
            <a:extLst>
              <a:ext uri="{FF2B5EF4-FFF2-40B4-BE49-F238E27FC236}">
                <a16:creationId xmlns:a16="http://schemas.microsoft.com/office/drawing/2014/main" id="{C3B7B22B-A6A2-90C9-1095-3EAB3E16D708}"/>
              </a:ext>
            </a:extLst>
          </p:cNvPr>
          <p:cNvSpPr>
            <a:spLocks noGrp="1"/>
          </p:cNvSpPr>
          <p:nvPr>
            <p:ph type="title"/>
          </p:nvPr>
        </p:nvSpPr>
        <p:spPr>
          <a:xfrm>
            <a:off x="1679901" y="1967008"/>
            <a:ext cx="5700000" cy="1744152"/>
          </a:xfrm>
        </p:spPr>
        <p:txBody>
          <a:bodyPr/>
          <a:lstStyle/>
          <a:p>
            <a:pPr algn="ctr">
              <a:lnSpc>
                <a:spcPct val="100000"/>
              </a:lnSpc>
            </a:pPr>
            <a:r>
              <a:rPr lang="en-US" sz="5000" b="1">
                <a:latin typeface="Munistic"/>
                <a:cs typeface="Calibri"/>
              </a:rPr>
              <a:t>Regenerative</a:t>
            </a:r>
            <a:br>
              <a:rPr lang="en-US" sz="5000" b="1">
                <a:latin typeface="Munistic"/>
                <a:cs typeface="Calibri"/>
              </a:rPr>
            </a:br>
            <a:r>
              <a:rPr lang="en-US" sz="5000" b="1">
                <a:latin typeface="Munistic"/>
                <a:cs typeface="Calibri"/>
              </a:rPr>
              <a:t>Engine PDR</a:t>
            </a:r>
            <a:endParaRPr lang="en-US" b="1"/>
          </a:p>
        </p:txBody>
      </p:sp>
    </p:spTree>
    <p:extLst>
      <p:ext uri="{BB962C8B-B14F-4D97-AF65-F5344CB8AC3E}">
        <p14:creationId xmlns:p14="http://schemas.microsoft.com/office/powerpoint/2010/main" val="2007878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DE29332-6DCC-B0D7-CF0A-7217D7543F6A}"/>
              </a:ext>
            </a:extLst>
          </p:cNvPr>
          <p:cNvSpPr>
            <a:spLocks noGrp="1"/>
          </p:cNvSpPr>
          <p:nvPr>
            <p:ph type="body" sz="quarter" idx="15"/>
          </p:nvPr>
        </p:nvSpPr>
        <p:spPr>
          <a:xfrm>
            <a:off x="726439" y="1866993"/>
            <a:ext cx="10706228" cy="2820852"/>
          </a:xfrm>
        </p:spPr>
        <p:txBody>
          <a:bodyPr vert="horz" lIns="91440" tIns="45720" rIns="91440" bIns="45720" numCol="2" spcCol="457200" rtlCol="0" anchor="t">
            <a:noAutofit/>
          </a:bodyPr>
          <a:lstStyle/>
          <a:p>
            <a:pPr marL="578485" indent="-457200">
              <a:buAutoNum type="arabicPeriod"/>
            </a:pPr>
            <a:r>
              <a:rPr lang="en-US"/>
              <a:t>Overview</a:t>
            </a:r>
            <a:r>
              <a:rPr lang="en-US">
                <a:solidFill>
                  <a:srgbClr val="BD8B13"/>
                </a:solidFill>
              </a:rPr>
              <a:t>   2</a:t>
            </a:r>
          </a:p>
          <a:p>
            <a:pPr marL="578485" indent="-457200">
              <a:buAutoNum type="arabicPeriod"/>
            </a:pPr>
            <a:r>
              <a:rPr lang="en-US"/>
              <a:t>Requirements</a:t>
            </a:r>
            <a:r>
              <a:rPr lang="en-US">
                <a:solidFill>
                  <a:srgbClr val="BD8B13"/>
                </a:solidFill>
              </a:rPr>
              <a:t>   5</a:t>
            </a:r>
          </a:p>
          <a:p>
            <a:pPr marL="578485" indent="-457200">
              <a:buAutoNum type="arabicPeriod"/>
            </a:pPr>
            <a:r>
              <a:rPr lang="en-US"/>
              <a:t>Geometry &amp; Cooling Design</a:t>
            </a:r>
            <a:r>
              <a:rPr lang="en-US">
                <a:solidFill>
                  <a:srgbClr val="BD8B13"/>
                </a:solidFill>
              </a:rPr>
              <a:t>   8</a:t>
            </a:r>
          </a:p>
          <a:p>
            <a:pPr marL="578485" indent="-457200">
              <a:buAutoNum type="arabicPeriod"/>
            </a:pPr>
            <a:r>
              <a:rPr lang="en-US"/>
              <a:t>Thermal Analysis</a:t>
            </a:r>
            <a:r>
              <a:rPr lang="en-US">
                <a:solidFill>
                  <a:srgbClr val="BD8B13"/>
                </a:solidFill>
              </a:rPr>
              <a:t>   13</a:t>
            </a:r>
          </a:p>
          <a:p>
            <a:pPr marL="578485" indent="-457200">
              <a:buAutoNum type="arabicPeriod"/>
            </a:pPr>
            <a:r>
              <a:rPr lang="en-US"/>
              <a:t>Stresses &amp; FOS </a:t>
            </a:r>
            <a:r>
              <a:rPr lang="en-US">
                <a:solidFill>
                  <a:srgbClr val="BD8B13"/>
                </a:solidFill>
              </a:rPr>
              <a:t>19</a:t>
            </a:r>
          </a:p>
          <a:p>
            <a:pPr marL="578485" indent="-457200">
              <a:buAutoNum type="arabicPeriod"/>
            </a:pPr>
            <a:r>
              <a:rPr lang="en-US"/>
              <a:t>Injector &amp; Plumbing</a:t>
            </a:r>
            <a:r>
              <a:rPr lang="en-US">
                <a:solidFill>
                  <a:srgbClr val="BD8B13"/>
                </a:solidFill>
              </a:rPr>
              <a:t>   31</a:t>
            </a:r>
          </a:p>
          <a:p>
            <a:pPr marL="578485" indent="-457200">
              <a:buAutoNum type="arabicPeriod"/>
            </a:pPr>
            <a:r>
              <a:rPr lang="en-US"/>
              <a:t>Feed System &amp; Manufacturing</a:t>
            </a:r>
            <a:r>
              <a:rPr lang="en-US">
                <a:solidFill>
                  <a:srgbClr val="BD8B13"/>
                </a:solidFill>
              </a:rPr>
              <a:t>   34</a:t>
            </a:r>
          </a:p>
          <a:p>
            <a:pPr marL="578485" indent="-457200">
              <a:buAutoNum type="arabicPeriod"/>
            </a:pPr>
            <a:r>
              <a:rPr lang="en-US"/>
              <a:t>Peripherals</a:t>
            </a:r>
            <a:r>
              <a:rPr lang="en-US">
                <a:solidFill>
                  <a:srgbClr val="BD8B13"/>
                </a:solidFill>
              </a:rPr>
              <a:t>   38</a:t>
            </a:r>
          </a:p>
          <a:p>
            <a:pPr marL="578485" indent="-457200">
              <a:buAutoNum type="arabicPeriod"/>
            </a:pPr>
            <a:r>
              <a:rPr lang="en-US"/>
              <a:t>Testing &amp; Logistics </a:t>
            </a:r>
            <a:r>
              <a:rPr lang="en-US">
                <a:solidFill>
                  <a:srgbClr val="BD8B13"/>
                </a:solidFill>
              </a:rPr>
              <a:t>42</a:t>
            </a:r>
          </a:p>
          <a:p>
            <a:pPr marL="578485" indent="-457200">
              <a:buAutoNum type="arabicPeriod"/>
            </a:pPr>
            <a:r>
              <a:rPr lang="en-US" sz="1850">
                <a:ea typeface="Source Sans Pro"/>
              </a:rPr>
              <a:t>Failures &amp; Risks</a:t>
            </a:r>
            <a:r>
              <a:rPr lang="en-US" sz="1850">
                <a:solidFill>
                  <a:srgbClr val="BD8B13"/>
                </a:solidFill>
                <a:ea typeface="Source Sans Pro"/>
              </a:rPr>
              <a:t> 48</a:t>
            </a:r>
          </a:p>
        </p:txBody>
      </p:sp>
      <p:sp>
        <p:nvSpPr>
          <p:cNvPr id="3" name="Footer Placeholder 2">
            <a:extLst>
              <a:ext uri="{FF2B5EF4-FFF2-40B4-BE49-F238E27FC236}">
                <a16:creationId xmlns:a16="http://schemas.microsoft.com/office/drawing/2014/main" id="{41D01802-58E4-3EA8-8F19-FA314EDA67C0}"/>
              </a:ext>
            </a:extLst>
          </p:cNvPr>
          <p:cNvSpPr>
            <a:spLocks noGrp="1"/>
          </p:cNvSpPr>
          <p:nvPr>
            <p:ph type="ftr" sz="quarter" idx="16"/>
          </p:nvPr>
        </p:nvSpPr>
        <p:spPr/>
        <p:txBody>
          <a:bodyPr/>
          <a:lstStyle/>
          <a:p>
            <a:r>
              <a:rPr lang="en-US" sz="900">
                <a:ea typeface="Source Sans Pro"/>
              </a:rPr>
              <a:t>REGEN PDR</a:t>
            </a:r>
          </a:p>
        </p:txBody>
      </p:sp>
      <p:sp>
        <p:nvSpPr>
          <p:cNvPr id="4" name="Slide Number Placeholder 3">
            <a:extLst>
              <a:ext uri="{FF2B5EF4-FFF2-40B4-BE49-F238E27FC236}">
                <a16:creationId xmlns:a16="http://schemas.microsoft.com/office/drawing/2014/main" id="{1668C6DD-A259-7136-3515-63274A784122}"/>
              </a:ext>
            </a:extLst>
          </p:cNvPr>
          <p:cNvSpPr>
            <a:spLocks noGrp="1"/>
          </p:cNvSpPr>
          <p:nvPr>
            <p:ph type="sldNum" sz="quarter" idx="17"/>
          </p:nvPr>
        </p:nvSpPr>
        <p:spPr/>
        <p:txBody>
          <a:bodyPr/>
          <a:lstStyle/>
          <a:p>
            <a:r>
              <a:rPr lang="en-US"/>
              <a:t>/   1</a:t>
            </a:r>
          </a:p>
        </p:txBody>
      </p:sp>
      <p:sp>
        <p:nvSpPr>
          <p:cNvPr id="5" name="Title 4">
            <a:extLst>
              <a:ext uri="{FF2B5EF4-FFF2-40B4-BE49-F238E27FC236}">
                <a16:creationId xmlns:a16="http://schemas.microsoft.com/office/drawing/2014/main" id="{D1A85E83-6A09-F842-7E7D-67BF02F6B48F}"/>
              </a:ext>
            </a:extLst>
          </p:cNvPr>
          <p:cNvSpPr>
            <a:spLocks noGrp="1"/>
          </p:cNvSpPr>
          <p:nvPr>
            <p:ph type="title"/>
          </p:nvPr>
        </p:nvSpPr>
        <p:spPr/>
        <p:txBody>
          <a:bodyPr/>
          <a:lstStyle/>
          <a:p>
            <a:r>
              <a:rPr lang="en-US"/>
              <a:t>Agenda</a:t>
            </a:r>
          </a:p>
        </p:txBody>
      </p:sp>
      <p:sp>
        <p:nvSpPr>
          <p:cNvPr id="6" name="Text Placeholder 5">
            <a:extLst>
              <a:ext uri="{FF2B5EF4-FFF2-40B4-BE49-F238E27FC236}">
                <a16:creationId xmlns:a16="http://schemas.microsoft.com/office/drawing/2014/main" id="{8163757E-76D8-6490-39B9-E8A38D1CC8CA}"/>
              </a:ext>
            </a:extLst>
          </p:cNvPr>
          <p:cNvSpPr>
            <a:spLocks noGrp="1"/>
          </p:cNvSpPr>
          <p:nvPr>
            <p:ph type="body" sz="quarter" idx="13"/>
          </p:nvPr>
        </p:nvSpPr>
        <p:spPr/>
        <p:txBody>
          <a:bodyPr/>
          <a:lstStyle/>
          <a:p>
            <a:r>
              <a:rPr lang="en-US"/>
              <a:t> </a:t>
            </a:r>
          </a:p>
        </p:txBody>
      </p:sp>
    </p:spTree>
    <p:extLst>
      <p:ext uri="{BB962C8B-B14F-4D97-AF65-F5344CB8AC3E}">
        <p14:creationId xmlns:p14="http://schemas.microsoft.com/office/powerpoint/2010/main" val="3253216154"/>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5BE04A8-C408-BDED-45B3-8A83F892B3B6}"/>
              </a:ext>
            </a:extLst>
          </p:cNvPr>
          <p:cNvSpPr>
            <a:spLocks noGrp="1"/>
          </p:cNvSpPr>
          <p:nvPr>
            <p:ph type="ftr" sz="quarter" idx="16"/>
          </p:nvPr>
        </p:nvSpPr>
        <p:spPr/>
        <p:txBody>
          <a:bodyPr/>
          <a:lstStyle/>
          <a:p>
            <a:r>
              <a:rPr lang="en-US"/>
              <a:t>REGEN PDR</a:t>
            </a:r>
          </a:p>
        </p:txBody>
      </p:sp>
      <p:sp>
        <p:nvSpPr>
          <p:cNvPr id="4" name="Slide Number Placeholder 3">
            <a:extLst>
              <a:ext uri="{FF2B5EF4-FFF2-40B4-BE49-F238E27FC236}">
                <a16:creationId xmlns:a16="http://schemas.microsoft.com/office/drawing/2014/main" id="{F9525B9B-B1B7-4916-8661-9A98924E3A74}"/>
              </a:ext>
            </a:extLst>
          </p:cNvPr>
          <p:cNvSpPr>
            <a:spLocks noGrp="1"/>
          </p:cNvSpPr>
          <p:nvPr>
            <p:ph type="sldNum" sz="quarter" idx="17"/>
          </p:nvPr>
        </p:nvSpPr>
        <p:spPr/>
        <p:txBody>
          <a:bodyPr/>
          <a:lstStyle/>
          <a:p>
            <a:r>
              <a:rPr lang="en-US"/>
              <a:t>/   2</a:t>
            </a:r>
          </a:p>
        </p:txBody>
      </p:sp>
      <p:sp>
        <p:nvSpPr>
          <p:cNvPr id="5" name="Title 4">
            <a:extLst>
              <a:ext uri="{FF2B5EF4-FFF2-40B4-BE49-F238E27FC236}">
                <a16:creationId xmlns:a16="http://schemas.microsoft.com/office/drawing/2014/main" id="{A0FBFFE1-7921-6442-DA45-6B42B55B07FF}"/>
              </a:ext>
            </a:extLst>
          </p:cNvPr>
          <p:cNvSpPr>
            <a:spLocks noGrp="1"/>
          </p:cNvSpPr>
          <p:nvPr>
            <p:ph type="title"/>
          </p:nvPr>
        </p:nvSpPr>
        <p:spPr/>
        <p:txBody>
          <a:bodyPr/>
          <a:lstStyle/>
          <a:p>
            <a:r>
              <a:rPr lang="en-US">
                <a:latin typeface="Munistic"/>
              </a:rPr>
              <a:t>Project Overview</a:t>
            </a:r>
            <a:endParaRPr lang="en-US"/>
          </a:p>
        </p:txBody>
      </p:sp>
      <p:sp>
        <p:nvSpPr>
          <p:cNvPr id="8" name="Body 11">
            <a:extLst>
              <a:ext uri="{FF2B5EF4-FFF2-40B4-BE49-F238E27FC236}">
                <a16:creationId xmlns:a16="http://schemas.microsoft.com/office/drawing/2014/main" id="{08436816-9E7E-F1EE-5F85-F19638C055EE}"/>
              </a:ext>
            </a:extLst>
          </p:cNvPr>
          <p:cNvSpPr txBox="1"/>
          <p:nvPr/>
        </p:nvSpPr>
        <p:spPr>
          <a:xfrm>
            <a:off x="560000" y="1640000"/>
            <a:ext cx="11070000" cy="4360000"/>
          </a:xfrm>
          <a:prstGeom prst="rect">
            <a:avLst/>
          </a:prstGeom>
          <a:noFill/>
        </p:spPr>
        <p:txBody>
          <a:bodyPr wrap="square" lIns="91440" tIns="45720" rIns="91440" bIns="45720" anchor="t">
            <a:noAutofit/>
          </a:bodyPr>
          <a:lstStyle/>
          <a:p>
            <a:pPr marL="285750" indent="-285750">
              <a:spcBef>
                <a:spcPts val="600"/>
              </a:spcBef>
              <a:buClr>
                <a:srgbClr val="BD8B13"/>
              </a:buClr>
              <a:buFont typeface="Arial"/>
              <a:buChar char="•"/>
            </a:pPr>
            <a:r>
              <a:rPr lang="en-US" sz="2200">
                <a:solidFill>
                  <a:schemeClr val="tx1"/>
                </a:solidFill>
              </a:rPr>
              <a:t>Regeneratively cooled N2O / ethanol engine, 300 </a:t>
            </a:r>
            <a:r>
              <a:rPr lang="en-US" sz="2200" err="1">
                <a:solidFill>
                  <a:schemeClr val="tx1"/>
                </a:solidFill>
              </a:rPr>
              <a:t>lbf</a:t>
            </a:r>
            <a:r>
              <a:rPr lang="en-US" sz="2200">
                <a:solidFill>
                  <a:schemeClr val="tx1"/>
                </a:solidFill>
              </a:rPr>
              <a:t> at sea level</a:t>
            </a:r>
          </a:p>
          <a:p>
            <a:pPr marL="285750" indent="-285750">
              <a:spcBef>
                <a:spcPts val="600"/>
              </a:spcBef>
              <a:buClr>
                <a:srgbClr val="BD8B13"/>
              </a:buClr>
              <a:buFont typeface="Arial"/>
              <a:buChar char="•"/>
            </a:pPr>
            <a:r>
              <a:rPr lang="en-US" sz="2200">
                <a:solidFill>
                  <a:schemeClr val="tx1"/>
                </a:solidFill>
              </a:rPr>
              <a:t>Fuel cools the chamber before injection (no film cooling, no ablatives</a:t>
            </a:r>
            <a:r>
              <a:rPr lang="en-US" sz="2200"/>
              <a:t>, no single use components)</a:t>
            </a:r>
            <a:endParaRPr lang="en-US" sz="2200">
              <a:solidFill>
                <a:schemeClr val="tx1"/>
              </a:solidFill>
            </a:endParaRPr>
          </a:p>
          <a:p>
            <a:pPr marL="285750" indent="-285750">
              <a:spcBef>
                <a:spcPts val="600"/>
              </a:spcBef>
              <a:buClr>
                <a:srgbClr val="BD8B13"/>
              </a:buClr>
              <a:buFont typeface="Arial"/>
              <a:buChar char="•"/>
            </a:pPr>
            <a:r>
              <a:rPr lang="en-US" sz="2200"/>
              <a:t>Chamber p</a:t>
            </a:r>
            <a:r>
              <a:rPr lang="en-US" sz="2200">
                <a:solidFill>
                  <a:schemeClr val="tx1"/>
                </a:solidFill>
              </a:rPr>
              <a:t>rinted as one piece in AlSi10Mg with integral cooling channels</a:t>
            </a:r>
          </a:p>
          <a:p>
            <a:pPr marL="285750" indent="-285750">
              <a:spcBef>
                <a:spcPts val="600"/>
              </a:spcBef>
              <a:buClr>
                <a:srgbClr val="BD8B13"/>
              </a:buClr>
              <a:buFont typeface="Arial"/>
              <a:buChar char="•"/>
            </a:pPr>
            <a:r>
              <a:rPr lang="en-US" sz="2200">
                <a:solidFill>
                  <a:schemeClr val="tx1"/>
                </a:solidFill>
              </a:rPr>
              <a:t>Goals: validate the thermal model, demonstrate repeated hot fires, and gather data</a:t>
            </a:r>
          </a:p>
          <a:p>
            <a:pPr marL="285750" indent="-285750">
              <a:spcBef>
                <a:spcPts val="600"/>
              </a:spcBef>
              <a:buClr>
                <a:srgbClr val="BD8B13"/>
              </a:buClr>
              <a:buFont typeface="Arial"/>
              <a:buChar char="•"/>
            </a:pPr>
            <a:r>
              <a:rPr lang="en-US" sz="2200"/>
              <a:t>With characterized engine, future engines can be built to support higher performance, flight vehicles, and other projects</a:t>
            </a:r>
            <a:endParaRPr lang="en-US" sz="2200">
              <a:solidFill>
                <a:schemeClr val="tx1"/>
              </a:solidFill>
            </a:endParaRPr>
          </a:p>
          <a:p>
            <a:pPr>
              <a:spcBef>
                <a:spcPts val="600"/>
              </a:spcBef>
              <a:buClr>
                <a:srgbClr val="BD8B13"/>
              </a:buClr>
            </a:pPr>
            <a:endParaRPr lang="en-US" sz="2200" i="1">
              <a:solidFill>
                <a:srgbClr val="BD8B13"/>
              </a:solidFill>
            </a:endParaRPr>
          </a:p>
        </p:txBody>
      </p:sp>
    </p:spTree>
    <p:extLst>
      <p:ext uri="{BB962C8B-B14F-4D97-AF65-F5344CB8AC3E}">
        <p14:creationId xmlns:p14="http://schemas.microsoft.com/office/powerpoint/2010/main" val="4056889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5BE04A8-C408-BDED-45B3-8A83F892B3B6}"/>
              </a:ext>
            </a:extLst>
          </p:cNvPr>
          <p:cNvSpPr>
            <a:spLocks noGrp="1"/>
          </p:cNvSpPr>
          <p:nvPr>
            <p:ph type="ftr" sz="quarter" idx="16"/>
          </p:nvPr>
        </p:nvSpPr>
        <p:spPr/>
        <p:txBody>
          <a:bodyPr/>
          <a:lstStyle/>
          <a:p>
            <a:r>
              <a:rPr lang="en-US"/>
              <a:t>REGEN PDR</a:t>
            </a:r>
          </a:p>
        </p:txBody>
      </p:sp>
      <p:sp>
        <p:nvSpPr>
          <p:cNvPr id="4" name="Slide Number Placeholder 3">
            <a:extLst>
              <a:ext uri="{FF2B5EF4-FFF2-40B4-BE49-F238E27FC236}">
                <a16:creationId xmlns:a16="http://schemas.microsoft.com/office/drawing/2014/main" id="{F9525B9B-B1B7-4916-8661-9A98924E3A74}"/>
              </a:ext>
            </a:extLst>
          </p:cNvPr>
          <p:cNvSpPr>
            <a:spLocks noGrp="1"/>
          </p:cNvSpPr>
          <p:nvPr>
            <p:ph type="sldNum" sz="quarter" idx="17"/>
          </p:nvPr>
        </p:nvSpPr>
        <p:spPr/>
        <p:txBody>
          <a:bodyPr/>
          <a:lstStyle/>
          <a:p>
            <a:r>
              <a:rPr lang="en-US"/>
              <a:t>/   3</a:t>
            </a:r>
          </a:p>
        </p:txBody>
      </p:sp>
      <p:sp>
        <p:nvSpPr>
          <p:cNvPr id="5" name="Title 4">
            <a:extLst>
              <a:ext uri="{FF2B5EF4-FFF2-40B4-BE49-F238E27FC236}">
                <a16:creationId xmlns:a16="http://schemas.microsoft.com/office/drawing/2014/main" id="{A0FBFFE1-7921-6442-DA45-6B42B55B07FF}"/>
              </a:ext>
            </a:extLst>
          </p:cNvPr>
          <p:cNvSpPr>
            <a:spLocks noGrp="1"/>
          </p:cNvSpPr>
          <p:nvPr>
            <p:ph type="title"/>
          </p:nvPr>
        </p:nvSpPr>
        <p:spPr/>
        <p:txBody>
          <a:bodyPr/>
          <a:lstStyle/>
          <a:p>
            <a:r>
              <a:rPr lang="en-US">
                <a:latin typeface="Munistic"/>
              </a:rPr>
              <a:t>Design Point</a:t>
            </a:r>
            <a:endParaRPr lang="en-US"/>
          </a:p>
        </p:txBody>
      </p:sp>
      <p:sp>
        <p:nvSpPr>
          <p:cNvPr id="8" name="Body 11">
            <a:extLst>
              <a:ext uri="{FF2B5EF4-FFF2-40B4-BE49-F238E27FC236}">
                <a16:creationId xmlns:a16="http://schemas.microsoft.com/office/drawing/2014/main" id="{A0CB9D64-5176-D141-A445-5165B5477C4D}"/>
              </a:ext>
            </a:extLst>
          </p:cNvPr>
          <p:cNvSpPr txBox="1"/>
          <p:nvPr/>
        </p:nvSpPr>
        <p:spPr>
          <a:xfrm>
            <a:off x="560000" y="1640000"/>
            <a:ext cx="5756400" cy="4360000"/>
          </a:xfrm>
          <a:prstGeom prst="rect">
            <a:avLst/>
          </a:prstGeom>
          <a:noFill/>
        </p:spPr>
        <p:txBody>
          <a:bodyPr wrap="square" lIns="91440" tIns="45720" rIns="91440" bIns="45720" anchor="t">
            <a:noAutofit/>
          </a:bodyPr>
          <a:lstStyle/>
          <a:p>
            <a:pPr marL="285750" indent="-285750">
              <a:spcBef>
                <a:spcPts val="900"/>
              </a:spcBef>
              <a:buClr>
                <a:srgbClr val="BD8B13"/>
              </a:buClr>
              <a:buFont typeface="Arial"/>
              <a:buChar char="•"/>
            </a:pPr>
            <a:r>
              <a:rPr lang="en-US" sz="2200">
                <a:solidFill>
                  <a:schemeClr val="tx1"/>
                </a:solidFill>
              </a:rPr>
              <a:t>Chamber pressure 200 psi, overall O/F 2.00</a:t>
            </a:r>
          </a:p>
          <a:p>
            <a:pPr marL="285750" indent="-285750">
              <a:spcBef>
                <a:spcPts val="900"/>
              </a:spcBef>
              <a:buClr>
                <a:srgbClr val="BD8B13"/>
              </a:buClr>
              <a:buFont typeface="Arial"/>
              <a:buChar char="•"/>
            </a:pPr>
            <a:r>
              <a:rPr lang="en-US" sz="2200">
                <a:solidFill>
                  <a:schemeClr val="tx1"/>
                </a:solidFill>
              </a:rPr>
              <a:t>Thrust 300 lbf sea level, delivered Isp 158 s </a:t>
            </a:r>
          </a:p>
          <a:p>
            <a:pPr marL="285750" indent="-285750">
              <a:spcBef>
                <a:spcPts val="900"/>
              </a:spcBef>
              <a:buClr>
                <a:srgbClr val="BD8B13"/>
              </a:buClr>
              <a:buFont typeface="Arial"/>
              <a:buChar char="•"/>
            </a:pPr>
            <a:r>
              <a:rPr lang="en-US" sz="2200">
                <a:solidFill>
                  <a:schemeClr val="tx1"/>
                </a:solidFill>
              </a:rPr>
              <a:t>Total flow 0.861 kg/s: 0.574 oxidizer, 0.287 fuel</a:t>
            </a:r>
          </a:p>
          <a:p>
            <a:pPr marL="285750" indent="-285750">
              <a:spcBef>
                <a:spcPts val="900"/>
              </a:spcBef>
              <a:buClr>
                <a:srgbClr val="BD8B13"/>
              </a:buClr>
              <a:buFont typeface="Arial"/>
              <a:buChar char="•"/>
            </a:pPr>
            <a:r>
              <a:rPr lang="en-US" sz="2200">
                <a:solidFill>
                  <a:schemeClr val="tx1"/>
                </a:solidFill>
              </a:rPr>
              <a:t>Running fuel rich trades 28 s of Isp for a flame 1,200 K cooler, along with more coolant</a:t>
            </a:r>
          </a:p>
          <a:p>
            <a:pPr marL="285750" indent="-285750">
              <a:spcBef>
                <a:spcPts val="900"/>
              </a:spcBef>
              <a:buClr>
                <a:srgbClr val="BD8B13"/>
              </a:buClr>
              <a:buFont typeface="Arial"/>
              <a:buChar char="•"/>
            </a:pPr>
            <a:r>
              <a:rPr lang="en-US" sz="2200"/>
              <a:t>Lower Pc reduces heat flux at cost of performance</a:t>
            </a:r>
            <a:endParaRPr lang="en-US" sz="2200">
              <a:solidFill>
                <a:schemeClr val="tx1"/>
              </a:solidFill>
            </a:endParaRPr>
          </a:p>
        </p:txBody>
      </p:sp>
      <p:graphicFrame>
        <p:nvGraphicFramePr>
          <p:cNvPr id="10" name="Table 12">
            <a:extLst>
              <a:ext uri="{FF2B5EF4-FFF2-40B4-BE49-F238E27FC236}">
                <a16:creationId xmlns:a16="http://schemas.microsoft.com/office/drawing/2014/main" id="{4FDE5959-F530-8E99-3D0C-CA1760B20735}"/>
              </a:ext>
            </a:extLst>
          </p:cNvPr>
          <p:cNvGraphicFramePr>
            <a:graphicFrameLocks noGrp="1"/>
          </p:cNvGraphicFramePr>
          <p:nvPr>
            <p:extLst>
              <p:ext uri="{D42A27DB-BD31-4B8C-83A1-F6EECF244321}">
                <p14:modId xmlns:p14="http://schemas.microsoft.com/office/powerpoint/2010/main" val="3149698358"/>
              </p:ext>
            </p:extLst>
          </p:nvPr>
        </p:nvGraphicFramePr>
        <p:xfrm>
          <a:off x="6466400" y="1890000"/>
          <a:ext cx="5163598" cy="1487280"/>
        </p:xfrm>
        <a:graphic>
          <a:graphicData uri="http://schemas.openxmlformats.org/drawingml/2006/table">
            <a:tbl>
              <a:tblPr firstRow="1" bandRow="1"/>
              <a:tblGrid>
                <a:gridCol w="1739908">
                  <a:extLst>
                    <a:ext uri="{9D8B030D-6E8A-4147-A177-3AD203B41FA5}">
                      <a16:colId xmlns:a16="http://schemas.microsoft.com/office/drawing/2014/main" val="20000"/>
                    </a:ext>
                  </a:extLst>
                </a:gridCol>
                <a:gridCol w="841891">
                  <a:extLst>
                    <a:ext uri="{9D8B030D-6E8A-4147-A177-3AD203B41FA5}">
                      <a16:colId xmlns:a16="http://schemas.microsoft.com/office/drawing/2014/main" val="20001"/>
                    </a:ext>
                  </a:extLst>
                </a:gridCol>
                <a:gridCol w="1234773">
                  <a:extLst>
                    <a:ext uri="{9D8B030D-6E8A-4147-A177-3AD203B41FA5}">
                      <a16:colId xmlns:a16="http://schemas.microsoft.com/office/drawing/2014/main" val="20002"/>
                    </a:ext>
                  </a:extLst>
                </a:gridCol>
                <a:gridCol w="1347026">
                  <a:extLst>
                    <a:ext uri="{9D8B030D-6E8A-4147-A177-3AD203B41FA5}">
                      <a16:colId xmlns:a16="http://schemas.microsoft.com/office/drawing/2014/main" val="20003"/>
                    </a:ext>
                  </a:extLst>
                </a:gridCol>
              </a:tblGrid>
              <a:tr h="678640">
                <a:tc>
                  <a:txBody>
                    <a:bodyPr/>
                    <a:lstStyle/>
                    <a:p>
                      <a:r>
                        <a:rPr lang="en-US" sz="1800" b="1">
                          <a:solidFill>
                            <a:srgbClr val="FFFFFF"/>
                          </a:solidFill>
                        </a:rPr>
                        <a:t>Case</a:t>
                      </a:r>
                    </a:p>
                  </a:txBody>
                  <a:tcPr marL="72000" marR="72000" marT="40000" marB="40000" anchor="ctr">
                    <a:lnB w="6350">
                      <a:solidFill>
                        <a:srgbClr val="B7CDC2"/>
                      </a:solidFill>
                    </a:lnB>
                    <a:solidFill>
                      <a:srgbClr val="154734"/>
                    </a:solidFill>
                  </a:tcPr>
                </a:tc>
                <a:tc>
                  <a:txBody>
                    <a:bodyPr/>
                    <a:lstStyle/>
                    <a:p>
                      <a:r>
                        <a:rPr lang="en-US" sz="1800" b="1">
                          <a:solidFill>
                            <a:srgbClr val="FFFFFF"/>
                          </a:solidFill>
                        </a:rPr>
                        <a:t>O/F</a:t>
                      </a:r>
                    </a:p>
                  </a:txBody>
                  <a:tcPr marL="72000" marR="72000" marT="40000" marB="40000" anchor="ctr">
                    <a:lnB w="6350">
                      <a:solidFill>
                        <a:srgbClr val="B7CDC2"/>
                      </a:solidFill>
                    </a:lnB>
                    <a:solidFill>
                      <a:srgbClr val="154734"/>
                    </a:solidFill>
                  </a:tcPr>
                </a:tc>
                <a:tc>
                  <a:txBody>
                    <a:bodyPr/>
                    <a:lstStyle/>
                    <a:p>
                      <a:r>
                        <a:rPr lang="en-US" sz="1800" b="1">
                          <a:solidFill>
                            <a:srgbClr val="FFFFFF"/>
                          </a:solidFill>
                        </a:rPr>
                        <a:t>Flame temp</a:t>
                      </a:r>
                    </a:p>
                  </a:txBody>
                  <a:tcPr marL="72000" marR="72000" marT="40000" marB="40000" anchor="ctr">
                    <a:lnB w="6350">
                      <a:solidFill>
                        <a:srgbClr val="B7CDC2"/>
                      </a:solidFill>
                    </a:lnB>
                    <a:solidFill>
                      <a:srgbClr val="154734"/>
                    </a:solidFill>
                  </a:tcPr>
                </a:tc>
                <a:tc>
                  <a:txBody>
                    <a:bodyPr/>
                    <a:lstStyle/>
                    <a:p>
                      <a:r>
                        <a:rPr lang="en-US" sz="1800" b="1">
                          <a:solidFill>
                            <a:srgbClr val="FFFFFF"/>
                          </a:solidFill>
                        </a:rPr>
                        <a:t>Delivered Isp</a:t>
                      </a:r>
                    </a:p>
                  </a:txBody>
                  <a:tcPr marL="72000" marR="72000" marT="40000" marB="40000" anchor="ctr">
                    <a:lnB w="6350">
                      <a:solidFill>
                        <a:srgbClr val="B7CDC2"/>
                      </a:solidFill>
                    </a:lnB>
                    <a:solidFill>
                      <a:srgbClr val="154734"/>
                    </a:solidFill>
                  </a:tcPr>
                </a:tc>
                <a:extLst>
                  <a:ext uri="{0D108BD9-81ED-4DB2-BD59-A6C34878D82A}">
                    <a16:rowId xmlns:a16="http://schemas.microsoft.com/office/drawing/2014/main" val="10000"/>
                  </a:ext>
                </a:extLst>
              </a:tr>
              <a:tr h="404320">
                <a:tc>
                  <a:txBody>
                    <a:bodyPr/>
                    <a:lstStyle/>
                    <a:p>
                      <a:r>
                        <a:rPr lang="en-US" sz="1800">
                          <a:solidFill>
                            <a:schemeClr val="tx1"/>
                          </a:solidFill>
                        </a:rPr>
                        <a:t>Design</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800">
                          <a:solidFill>
                            <a:schemeClr val="tx1"/>
                          </a:solidFill>
                        </a:rPr>
                        <a:t>2.00</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800">
                          <a:solidFill>
                            <a:schemeClr val="tx1"/>
                          </a:solidFill>
                        </a:rPr>
                        <a:t>1,894 K</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800">
                          <a:solidFill>
                            <a:schemeClr val="tx1"/>
                          </a:solidFill>
                        </a:rPr>
                        <a:t>157.8 s</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extLst>
                  <a:ext uri="{0D108BD9-81ED-4DB2-BD59-A6C34878D82A}">
                    <a16:rowId xmlns:a16="http://schemas.microsoft.com/office/drawing/2014/main" val="10001"/>
                  </a:ext>
                </a:extLst>
              </a:tr>
              <a:tr h="404320">
                <a:tc>
                  <a:txBody>
                    <a:bodyPr/>
                    <a:lstStyle/>
                    <a:p>
                      <a:r>
                        <a:rPr lang="en-US" sz="1800">
                          <a:solidFill>
                            <a:schemeClr val="tx1"/>
                          </a:solidFill>
                        </a:rPr>
                        <a:t>Peak Isp</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800">
                          <a:solidFill>
                            <a:schemeClr val="tx1"/>
                          </a:solidFill>
                        </a:rPr>
                        <a:t>4.80</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800">
                          <a:solidFill>
                            <a:schemeClr val="tx1"/>
                          </a:solidFill>
                        </a:rPr>
                        <a:t>3,096 K</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800">
                          <a:solidFill>
                            <a:schemeClr val="tx1"/>
                          </a:solidFill>
                        </a:rPr>
                        <a:t>186.0 s</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022139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5BE04A8-C408-BDED-45B3-8A83F892B3B6}"/>
              </a:ext>
            </a:extLst>
          </p:cNvPr>
          <p:cNvSpPr>
            <a:spLocks noGrp="1"/>
          </p:cNvSpPr>
          <p:nvPr>
            <p:ph type="ftr" sz="quarter" idx="16"/>
          </p:nvPr>
        </p:nvSpPr>
        <p:spPr/>
        <p:txBody>
          <a:bodyPr/>
          <a:lstStyle/>
          <a:p>
            <a:r>
              <a:rPr lang="en-US"/>
              <a:t>REGEN PDR</a:t>
            </a:r>
          </a:p>
        </p:txBody>
      </p:sp>
      <p:sp>
        <p:nvSpPr>
          <p:cNvPr id="4" name="Slide Number Placeholder 3">
            <a:extLst>
              <a:ext uri="{FF2B5EF4-FFF2-40B4-BE49-F238E27FC236}">
                <a16:creationId xmlns:a16="http://schemas.microsoft.com/office/drawing/2014/main" id="{F9525B9B-B1B7-4916-8661-9A98924E3A74}"/>
              </a:ext>
            </a:extLst>
          </p:cNvPr>
          <p:cNvSpPr>
            <a:spLocks noGrp="1"/>
          </p:cNvSpPr>
          <p:nvPr>
            <p:ph type="sldNum" sz="quarter" idx="17"/>
          </p:nvPr>
        </p:nvSpPr>
        <p:spPr/>
        <p:txBody>
          <a:bodyPr/>
          <a:lstStyle/>
          <a:p>
            <a:r>
              <a:rPr lang="en-US"/>
              <a:t>/   4</a:t>
            </a:r>
          </a:p>
        </p:txBody>
      </p:sp>
      <p:sp>
        <p:nvSpPr>
          <p:cNvPr id="5" name="Title 4">
            <a:extLst>
              <a:ext uri="{FF2B5EF4-FFF2-40B4-BE49-F238E27FC236}">
                <a16:creationId xmlns:a16="http://schemas.microsoft.com/office/drawing/2014/main" id="{A0FBFFE1-7921-6442-DA45-6B42B55B07FF}"/>
              </a:ext>
            </a:extLst>
          </p:cNvPr>
          <p:cNvSpPr>
            <a:spLocks noGrp="1"/>
          </p:cNvSpPr>
          <p:nvPr>
            <p:ph type="title"/>
          </p:nvPr>
        </p:nvSpPr>
        <p:spPr>
          <a:xfrm>
            <a:off x="560602" y="716984"/>
            <a:ext cx="9862982" cy="625567"/>
          </a:xfrm>
        </p:spPr>
        <p:txBody>
          <a:bodyPr/>
          <a:lstStyle/>
          <a:p>
            <a:r>
              <a:rPr lang="en-US"/>
              <a:t>Requirements </a:t>
            </a:r>
            <a:r>
              <a:rPr lang="en-US" err="1"/>
              <a:t>Flowdown</a:t>
            </a:r>
            <a:r>
              <a:rPr lang="en-US"/>
              <a:t> </a:t>
            </a:r>
          </a:p>
        </p:txBody>
      </p:sp>
      <p:sp>
        <p:nvSpPr>
          <p:cNvPr id="8" name="Body 11">
            <a:extLst>
              <a:ext uri="{FF2B5EF4-FFF2-40B4-BE49-F238E27FC236}">
                <a16:creationId xmlns:a16="http://schemas.microsoft.com/office/drawing/2014/main" id="{F73E4423-94A5-E8C0-A9BD-9DA60478DD56}"/>
              </a:ext>
            </a:extLst>
          </p:cNvPr>
          <p:cNvSpPr txBox="1"/>
          <p:nvPr/>
        </p:nvSpPr>
        <p:spPr>
          <a:xfrm>
            <a:off x="560000" y="1640000"/>
            <a:ext cx="11070000" cy="4360000"/>
          </a:xfrm>
          <a:prstGeom prst="rect">
            <a:avLst/>
          </a:prstGeom>
          <a:noFill/>
        </p:spPr>
        <p:txBody>
          <a:bodyPr wrap="square" lIns="91440" tIns="45720" rIns="91440" bIns="45720" anchor="t">
            <a:noAutofit/>
          </a:bodyPr>
          <a:lstStyle/>
          <a:p>
            <a:pPr marL="285750" indent="-285750">
              <a:spcBef>
                <a:spcPts val="600"/>
              </a:spcBef>
              <a:buClr>
                <a:srgbClr val="BD8B13"/>
              </a:buClr>
              <a:buFont typeface="Arial"/>
              <a:buChar char="•"/>
            </a:pPr>
            <a:r>
              <a:rPr lang="en-US" sz="2200">
                <a:solidFill>
                  <a:schemeClr val="tx1"/>
                </a:solidFill>
              </a:rPr>
              <a:t>300 </a:t>
            </a:r>
            <a:r>
              <a:rPr lang="en-US" sz="2200" err="1">
                <a:solidFill>
                  <a:schemeClr val="tx1"/>
                </a:solidFill>
              </a:rPr>
              <a:t>lbf</a:t>
            </a:r>
            <a:r>
              <a:rPr lang="en-US" sz="2200">
                <a:solidFill>
                  <a:schemeClr val="tx1"/>
                </a:solidFill>
              </a:rPr>
              <a:t> sea level thrust drives throat area and total mass flow</a:t>
            </a:r>
          </a:p>
          <a:p>
            <a:pPr marL="285750" indent="-285750">
              <a:spcBef>
                <a:spcPts val="600"/>
              </a:spcBef>
              <a:buClr>
                <a:srgbClr val="BD8B13"/>
              </a:buClr>
              <a:buFont typeface="Arial"/>
              <a:buChar char="•"/>
            </a:pPr>
            <a:r>
              <a:rPr lang="en-US" sz="2200">
                <a:solidFill>
                  <a:schemeClr val="tx1"/>
                </a:solidFill>
              </a:rPr>
              <a:t>Cooling keeps the hot wall temperature safe for AlSi10Mg (Strength falls sharply after 300 °C)</a:t>
            </a:r>
          </a:p>
          <a:p>
            <a:pPr marL="285750" indent="-285750">
              <a:spcBef>
                <a:spcPts val="600"/>
              </a:spcBef>
              <a:buClr>
                <a:srgbClr val="BD8B13"/>
              </a:buClr>
              <a:buFont typeface="Arial"/>
              <a:buChar char="•"/>
            </a:pPr>
            <a:r>
              <a:rPr lang="en-US" sz="2200">
                <a:solidFill>
                  <a:schemeClr val="tx1"/>
                </a:solidFill>
              </a:rPr>
              <a:t>Bluegrass integration caps supply pressures: fuel 700 psi max, oxidizer self pressurized</a:t>
            </a:r>
          </a:p>
          <a:p>
            <a:pPr marL="285750" indent="-285750">
              <a:spcBef>
                <a:spcPts val="600"/>
              </a:spcBef>
              <a:buClr>
                <a:srgbClr val="BD8B13"/>
              </a:buClr>
              <a:buFont typeface="Arial"/>
              <a:buChar char="•"/>
            </a:pPr>
            <a:r>
              <a:rPr lang="en-US" sz="2200">
                <a:solidFill>
                  <a:schemeClr val="tx1"/>
                </a:solidFill>
              </a:rPr>
              <a:t>LPBF manufacturability sets a 1.0 mm floor on any printed geometry</a:t>
            </a:r>
          </a:p>
        </p:txBody>
      </p:sp>
    </p:spTree>
    <p:extLst>
      <p:ext uri="{BB962C8B-B14F-4D97-AF65-F5344CB8AC3E}">
        <p14:creationId xmlns:p14="http://schemas.microsoft.com/office/powerpoint/2010/main" val="1427207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5BE04A8-C408-BDED-45B3-8A83F892B3B6}"/>
              </a:ext>
            </a:extLst>
          </p:cNvPr>
          <p:cNvSpPr>
            <a:spLocks noGrp="1"/>
          </p:cNvSpPr>
          <p:nvPr>
            <p:ph type="ftr" sz="quarter" idx="16"/>
          </p:nvPr>
        </p:nvSpPr>
        <p:spPr/>
        <p:txBody>
          <a:bodyPr/>
          <a:lstStyle/>
          <a:p>
            <a:r>
              <a:rPr lang="en-US"/>
              <a:t>REGEN PDR</a:t>
            </a:r>
          </a:p>
        </p:txBody>
      </p:sp>
      <p:sp>
        <p:nvSpPr>
          <p:cNvPr id="4" name="Slide Number Placeholder 3">
            <a:extLst>
              <a:ext uri="{FF2B5EF4-FFF2-40B4-BE49-F238E27FC236}">
                <a16:creationId xmlns:a16="http://schemas.microsoft.com/office/drawing/2014/main" id="{F9525B9B-B1B7-4916-8661-9A98924E3A74}"/>
              </a:ext>
            </a:extLst>
          </p:cNvPr>
          <p:cNvSpPr>
            <a:spLocks noGrp="1"/>
          </p:cNvSpPr>
          <p:nvPr>
            <p:ph type="sldNum" sz="quarter" idx="17"/>
          </p:nvPr>
        </p:nvSpPr>
        <p:spPr/>
        <p:txBody>
          <a:bodyPr/>
          <a:lstStyle/>
          <a:p>
            <a:r>
              <a:rPr lang="en-US"/>
              <a:t>/   5</a:t>
            </a:r>
          </a:p>
        </p:txBody>
      </p:sp>
      <p:sp>
        <p:nvSpPr>
          <p:cNvPr id="5" name="Title 4">
            <a:extLst>
              <a:ext uri="{FF2B5EF4-FFF2-40B4-BE49-F238E27FC236}">
                <a16:creationId xmlns:a16="http://schemas.microsoft.com/office/drawing/2014/main" id="{A0FBFFE1-7921-6442-DA45-6B42B55B07FF}"/>
              </a:ext>
            </a:extLst>
          </p:cNvPr>
          <p:cNvSpPr>
            <a:spLocks noGrp="1"/>
          </p:cNvSpPr>
          <p:nvPr>
            <p:ph type="title"/>
          </p:nvPr>
        </p:nvSpPr>
        <p:spPr>
          <a:xfrm>
            <a:off x="553776" y="716984"/>
            <a:ext cx="10245791" cy="625567"/>
          </a:xfrm>
        </p:spPr>
        <p:txBody>
          <a:bodyPr/>
          <a:lstStyle/>
          <a:p>
            <a:r>
              <a:rPr lang="en-US"/>
              <a:t>Requirements &amp; Verification (1/2) </a:t>
            </a:r>
          </a:p>
        </p:txBody>
      </p:sp>
      <p:graphicFrame>
        <p:nvGraphicFramePr>
          <p:cNvPr id="8" name="Table 11">
            <a:extLst>
              <a:ext uri="{FF2B5EF4-FFF2-40B4-BE49-F238E27FC236}">
                <a16:creationId xmlns:a16="http://schemas.microsoft.com/office/drawing/2014/main" id="{E5B98154-2136-708A-7E35-2254104F0E44}"/>
              </a:ext>
            </a:extLst>
          </p:cNvPr>
          <p:cNvGraphicFramePr>
            <a:graphicFrameLocks noGrp="1"/>
          </p:cNvGraphicFramePr>
          <p:nvPr>
            <p:extLst>
              <p:ext uri="{D42A27DB-BD31-4B8C-83A1-F6EECF244321}">
                <p14:modId xmlns:p14="http://schemas.microsoft.com/office/powerpoint/2010/main" val="1664392569"/>
              </p:ext>
            </p:extLst>
          </p:nvPr>
        </p:nvGraphicFramePr>
        <p:xfrm>
          <a:off x="560000" y="1690000"/>
          <a:ext cx="11069998" cy="4148038"/>
        </p:xfrm>
        <a:graphic>
          <a:graphicData uri="http://schemas.openxmlformats.org/drawingml/2006/table">
            <a:tbl>
              <a:tblPr firstRow="1" bandRow="1"/>
              <a:tblGrid>
                <a:gridCol w="527142">
                  <a:extLst>
                    <a:ext uri="{9D8B030D-6E8A-4147-A177-3AD203B41FA5}">
                      <a16:colId xmlns:a16="http://schemas.microsoft.com/office/drawing/2014/main" val="20000"/>
                    </a:ext>
                  </a:extLst>
                </a:gridCol>
                <a:gridCol w="3162857">
                  <a:extLst>
                    <a:ext uri="{9D8B030D-6E8A-4147-A177-3AD203B41FA5}">
                      <a16:colId xmlns:a16="http://schemas.microsoft.com/office/drawing/2014/main" val="20001"/>
                    </a:ext>
                  </a:extLst>
                </a:gridCol>
                <a:gridCol w="3373714">
                  <a:extLst>
                    <a:ext uri="{9D8B030D-6E8A-4147-A177-3AD203B41FA5}">
                      <a16:colId xmlns:a16="http://schemas.microsoft.com/office/drawing/2014/main" val="20002"/>
                    </a:ext>
                  </a:extLst>
                </a:gridCol>
                <a:gridCol w="4006285">
                  <a:extLst>
                    <a:ext uri="{9D8B030D-6E8A-4147-A177-3AD203B41FA5}">
                      <a16:colId xmlns:a16="http://schemas.microsoft.com/office/drawing/2014/main" val="20003"/>
                    </a:ext>
                  </a:extLst>
                </a:gridCol>
              </a:tblGrid>
              <a:tr h="389080">
                <a:tc>
                  <a:txBody>
                    <a:bodyPr/>
                    <a:lstStyle/>
                    <a:p>
                      <a:r>
                        <a:rPr lang="en-US" sz="1700" b="1">
                          <a:solidFill>
                            <a:srgbClr val="FFFFFF"/>
                          </a:solidFill>
                        </a:rPr>
                        <a:t>#</a:t>
                      </a:r>
                    </a:p>
                  </a:txBody>
                  <a:tcPr marL="72000" marR="72000" marT="40000" marB="40000" anchor="ctr">
                    <a:lnB w="6350">
                      <a:solidFill>
                        <a:srgbClr val="B7CDC2"/>
                      </a:solidFill>
                    </a:lnB>
                    <a:solidFill>
                      <a:srgbClr val="154734"/>
                    </a:solidFill>
                  </a:tcPr>
                </a:tc>
                <a:tc>
                  <a:txBody>
                    <a:bodyPr/>
                    <a:lstStyle/>
                    <a:p>
                      <a:r>
                        <a:rPr lang="en-US" sz="1700" b="1">
                          <a:solidFill>
                            <a:srgbClr val="FFFFFF"/>
                          </a:solidFill>
                        </a:rPr>
                        <a:t>Requirement</a:t>
                      </a:r>
                    </a:p>
                  </a:txBody>
                  <a:tcPr marL="72000" marR="72000" marT="40000" marB="40000" anchor="ctr">
                    <a:lnB w="6350">
                      <a:solidFill>
                        <a:srgbClr val="B7CDC2"/>
                      </a:solidFill>
                    </a:lnB>
                    <a:solidFill>
                      <a:srgbClr val="154734"/>
                    </a:solidFill>
                  </a:tcPr>
                </a:tc>
                <a:tc>
                  <a:txBody>
                    <a:bodyPr/>
                    <a:lstStyle/>
                    <a:p>
                      <a:r>
                        <a:rPr lang="en-US" sz="1700" b="1">
                          <a:solidFill>
                            <a:srgbClr val="FFFFFF"/>
                          </a:solidFill>
                        </a:rPr>
                        <a:t>Rationale</a:t>
                      </a:r>
                    </a:p>
                  </a:txBody>
                  <a:tcPr marL="72000" marR="72000" marT="40000" marB="40000" anchor="ctr">
                    <a:lnB w="6350">
                      <a:solidFill>
                        <a:srgbClr val="B7CDC2"/>
                      </a:solidFill>
                    </a:lnB>
                    <a:solidFill>
                      <a:srgbClr val="154734"/>
                    </a:solidFill>
                  </a:tcPr>
                </a:tc>
                <a:tc>
                  <a:txBody>
                    <a:bodyPr/>
                    <a:lstStyle/>
                    <a:p>
                      <a:r>
                        <a:rPr lang="en-US" sz="1700" b="1">
                          <a:solidFill>
                            <a:srgbClr val="FFFFFF"/>
                          </a:solidFill>
                        </a:rPr>
                        <a:t>Verification</a:t>
                      </a:r>
                    </a:p>
                  </a:txBody>
                  <a:tcPr marL="72000" marR="72000" marT="40000" marB="40000" anchor="ctr">
                    <a:lnB w="6350">
                      <a:solidFill>
                        <a:srgbClr val="B7CDC2"/>
                      </a:solidFill>
                    </a:lnB>
                    <a:solidFill>
                      <a:srgbClr val="154734"/>
                    </a:solidFill>
                  </a:tcPr>
                </a:tc>
                <a:extLst>
                  <a:ext uri="{0D108BD9-81ED-4DB2-BD59-A6C34878D82A}">
                    <a16:rowId xmlns:a16="http://schemas.microsoft.com/office/drawing/2014/main" val="10000"/>
                  </a:ext>
                </a:extLst>
              </a:tr>
              <a:tr h="648160">
                <a:tc>
                  <a:txBody>
                    <a:bodyPr/>
                    <a:lstStyle/>
                    <a:p>
                      <a:r>
                        <a:rPr lang="en-US" sz="1700">
                          <a:solidFill>
                            <a:schemeClr val="tx1"/>
                          </a:solidFill>
                        </a:rPr>
                        <a:t>1</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700">
                          <a:solidFill>
                            <a:schemeClr val="tx1"/>
                          </a:solidFill>
                        </a:rPr>
                        <a:t>Produce 300 lbf ±10% at sea level</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700">
                          <a:solidFill>
                            <a:schemeClr val="tx1"/>
                          </a:solidFill>
                        </a:rPr>
                        <a:t>Matches program goal, sizes stand load path</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700">
                          <a:solidFill>
                            <a:schemeClr val="tx1"/>
                          </a:solidFill>
                        </a:rPr>
                        <a:t>Test: Load cell during hot fire</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extLst>
                  <a:ext uri="{0D108BD9-81ED-4DB2-BD59-A6C34878D82A}">
                    <a16:rowId xmlns:a16="http://schemas.microsoft.com/office/drawing/2014/main" val="10001"/>
                  </a:ext>
                </a:extLst>
              </a:tr>
              <a:tr h="648160">
                <a:tc>
                  <a:txBody>
                    <a:bodyPr/>
                    <a:lstStyle/>
                    <a:p>
                      <a:r>
                        <a:rPr lang="en-US" sz="1700">
                          <a:solidFill>
                            <a:schemeClr val="tx1"/>
                          </a:solidFill>
                        </a:rPr>
                        <a:t>2</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700">
                          <a:solidFill>
                            <a:schemeClr val="tx1"/>
                          </a:solidFill>
                        </a:rPr>
                        <a:t>Operate at Pc 200 psi ±10%</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700">
                          <a:solidFill>
                            <a:schemeClr val="tx1"/>
                          </a:solidFill>
                        </a:rPr>
                        <a:t>Sets throat size and all thermal loads</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700">
                          <a:solidFill>
                            <a:schemeClr val="tx1"/>
                          </a:solidFill>
                        </a:rPr>
                        <a:t>Test: Chamber pressure transducer during hot fire</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extLst>
                  <a:ext uri="{0D108BD9-81ED-4DB2-BD59-A6C34878D82A}">
                    <a16:rowId xmlns:a16="http://schemas.microsoft.com/office/drawing/2014/main" val="10002"/>
                  </a:ext>
                </a:extLst>
              </a:tr>
              <a:tr h="648160">
                <a:tc>
                  <a:txBody>
                    <a:bodyPr/>
                    <a:lstStyle/>
                    <a:p>
                      <a:r>
                        <a:rPr lang="en-US" sz="1700">
                          <a:solidFill>
                            <a:schemeClr val="tx1"/>
                          </a:solidFill>
                        </a:rPr>
                        <a:t>3</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700">
                          <a:solidFill>
                            <a:schemeClr val="tx1"/>
                          </a:solidFill>
                        </a:rPr>
                        <a:t>Peak hot wall below 300 °C for ≥ 10 s</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700">
                          <a:solidFill>
                            <a:schemeClr val="tx1"/>
                          </a:solidFill>
                        </a:rPr>
                        <a:t>AlSi10Mg strength falls sharply above 300 °C</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700">
                          <a:solidFill>
                            <a:schemeClr val="tx1"/>
                          </a:solidFill>
                        </a:rPr>
                        <a:t>Test + analysis: Coolant and barrel temp during hot fire testing, analyze data</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extLst>
                  <a:ext uri="{0D108BD9-81ED-4DB2-BD59-A6C34878D82A}">
                    <a16:rowId xmlns:a16="http://schemas.microsoft.com/office/drawing/2014/main" val="10003"/>
                  </a:ext>
                </a:extLst>
              </a:tr>
              <a:tr h="907239">
                <a:tc>
                  <a:txBody>
                    <a:bodyPr/>
                    <a:lstStyle/>
                    <a:p>
                      <a:r>
                        <a:rPr lang="en-US" sz="1700">
                          <a:solidFill>
                            <a:schemeClr val="tx1"/>
                          </a:solidFill>
                        </a:rPr>
                        <a:t>4</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700">
                          <a:solidFill>
                            <a:schemeClr val="tx1"/>
                          </a:solidFill>
                        </a:rPr>
                        <a:t>Bulk coolant subcooled at jacket outlet</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700">
                          <a:solidFill>
                            <a:schemeClr val="tx1"/>
                          </a:solidFill>
                        </a:rPr>
                        <a:t>Bulk boiling starves fuel flow and drives an O/F excursion</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700">
                          <a:solidFill>
                            <a:schemeClr val="tx1"/>
                          </a:solidFill>
                        </a:rPr>
                        <a:t>Test + analysis: Coolant temp and pressure during hot fire, analyze data</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extLst>
                  <a:ext uri="{0D108BD9-81ED-4DB2-BD59-A6C34878D82A}">
                    <a16:rowId xmlns:a16="http://schemas.microsoft.com/office/drawing/2014/main" val="10004"/>
                  </a:ext>
                </a:extLst>
              </a:tr>
              <a:tr h="907239">
                <a:tc>
                  <a:txBody>
                    <a:bodyPr/>
                    <a:lstStyle/>
                    <a:p>
                      <a:r>
                        <a:rPr lang="en-US" sz="1700">
                          <a:solidFill>
                            <a:schemeClr val="tx1"/>
                          </a:solidFill>
                        </a:rPr>
                        <a:t>5</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700">
                          <a:solidFill>
                            <a:schemeClr val="tx1"/>
                          </a:solidFill>
                        </a:rPr>
                        <a:t>Jacket holds 700 psi with chamber at 0 psi, FoS ≥ 1.5</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700">
                          <a:solidFill>
                            <a:schemeClr val="tx1"/>
                          </a:solidFill>
                        </a:rPr>
                        <a:t>Worst case during fuel lead and cold flow</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700">
                          <a:solidFill>
                            <a:schemeClr val="tx1"/>
                          </a:solidFill>
                        </a:rPr>
                        <a:t>Test: Hydrostatic</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16318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5BE04A8-C408-BDED-45B3-8A83F892B3B6}"/>
              </a:ext>
            </a:extLst>
          </p:cNvPr>
          <p:cNvSpPr>
            <a:spLocks noGrp="1"/>
          </p:cNvSpPr>
          <p:nvPr>
            <p:ph type="ftr" sz="quarter" idx="16"/>
          </p:nvPr>
        </p:nvSpPr>
        <p:spPr/>
        <p:txBody>
          <a:bodyPr/>
          <a:lstStyle/>
          <a:p>
            <a:r>
              <a:rPr lang="en-US"/>
              <a:t>REGEN PDR</a:t>
            </a:r>
          </a:p>
        </p:txBody>
      </p:sp>
      <p:sp>
        <p:nvSpPr>
          <p:cNvPr id="4" name="Slide Number Placeholder 3">
            <a:extLst>
              <a:ext uri="{FF2B5EF4-FFF2-40B4-BE49-F238E27FC236}">
                <a16:creationId xmlns:a16="http://schemas.microsoft.com/office/drawing/2014/main" id="{F9525B9B-B1B7-4916-8661-9A98924E3A74}"/>
              </a:ext>
            </a:extLst>
          </p:cNvPr>
          <p:cNvSpPr>
            <a:spLocks noGrp="1"/>
          </p:cNvSpPr>
          <p:nvPr>
            <p:ph type="sldNum" sz="quarter" idx="17"/>
          </p:nvPr>
        </p:nvSpPr>
        <p:spPr/>
        <p:txBody>
          <a:bodyPr/>
          <a:lstStyle/>
          <a:p>
            <a:r>
              <a:rPr lang="en-US"/>
              <a:t>/   6</a:t>
            </a:r>
          </a:p>
        </p:txBody>
      </p:sp>
      <p:sp>
        <p:nvSpPr>
          <p:cNvPr id="5" name="Title 4">
            <a:extLst>
              <a:ext uri="{FF2B5EF4-FFF2-40B4-BE49-F238E27FC236}">
                <a16:creationId xmlns:a16="http://schemas.microsoft.com/office/drawing/2014/main" id="{A0FBFFE1-7921-6442-DA45-6B42B55B07FF}"/>
              </a:ext>
            </a:extLst>
          </p:cNvPr>
          <p:cNvSpPr>
            <a:spLocks noGrp="1"/>
          </p:cNvSpPr>
          <p:nvPr>
            <p:ph type="title"/>
          </p:nvPr>
        </p:nvSpPr>
        <p:spPr>
          <a:xfrm>
            <a:off x="531848" y="716984"/>
            <a:ext cx="10265547" cy="625567"/>
          </a:xfrm>
        </p:spPr>
        <p:txBody>
          <a:bodyPr/>
          <a:lstStyle/>
          <a:p>
            <a:r>
              <a:rPr lang="en-US">
                <a:latin typeface="Munistic"/>
              </a:rPr>
              <a:t>Requirements &amp; Verification (2/2) </a:t>
            </a:r>
            <a:endParaRPr lang="en-US">
              <a:solidFill>
                <a:srgbClr val="000000"/>
              </a:solidFill>
              <a:latin typeface="Munistic"/>
            </a:endParaRPr>
          </a:p>
        </p:txBody>
      </p:sp>
      <p:graphicFrame>
        <p:nvGraphicFramePr>
          <p:cNvPr id="10" name="Table 11">
            <a:extLst>
              <a:ext uri="{FF2B5EF4-FFF2-40B4-BE49-F238E27FC236}">
                <a16:creationId xmlns:a16="http://schemas.microsoft.com/office/drawing/2014/main" id="{4E4F5D4A-0E6D-06FB-7E6D-CA8D2591EC45}"/>
              </a:ext>
            </a:extLst>
          </p:cNvPr>
          <p:cNvGraphicFramePr>
            <a:graphicFrameLocks noGrp="1"/>
          </p:cNvGraphicFramePr>
          <p:nvPr>
            <p:extLst>
              <p:ext uri="{D42A27DB-BD31-4B8C-83A1-F6EECF244321}">
                <p14:modId xmlns:p14="http://schemas.microsoft.com/office/powerpoint/2010/main" val="2564267138"/>
              </p:ext>
            </p:extLst>
          </p:nvPr>
        </p:nvGraphicFramePr>
        <p:xfrm>
          <a:off x="560000" y="1690000"/>
          <a:ext cx="11069998" cy="3118880"/>
        </p:xfrm>
        <a:graphic>
          <a:graphicData uri="http://schemas.openxmlformats.org/drawingml/2006/table">
            <a:tbl>
              <a:tblPr firstRow="1" bandRow="1"/>
              <a:tblGrid>
                <a:gridCol w="527142">
                  <a:extLst>
                    <a:ext uri="{9D8B030D-6E8A-4147-A177-3AD203B41FA5}">
                      <a16:colId xmlns:a16="http://schemas.microsoft.com/office/drawing/2014/main" val="20000"/>
                    </a:ext>
                  </a:extLst>
                </a:gridCol>
                <a:gridCol w="3162857">
                  <a:extLst>
                    <a:ext uri="{9D8B030D-6E8A-4147-A177-3AD203B41FA5}">
                      <a16:colId xmlns:a16="http://schemas.microsoft.com/office/drawing/2014/main" val="20001"/>
                    </a:ext>
                  </a:extLst>
                </a:gridCol>
                <a:gridCol w="3373714">
                  <a:extLst>
                    <a:ext uri="{9D8B030D-6E8A-4147-A177-3AD203B41FA5}">
                      <a16:colId xmlns:a16="http://schemas.microsoft.com/office/drawing/2014/main" val="20002"/>
                    </a:ext>
                  </a:extLst>
                </a:gridCol>
                <a:gridCol w="4006285">
                  <a:extLst>
                    <a:ext uri="{9D8B030D-6E8A-4147-A177-3AD203B41FA5}">
                      <a16:colId xmlns:a16="http://schemas.microsoft.com/office/drawing/2014/main" val="20003"/>
                    </a:ext>
                  </a:extLst>
                </a:gridCol>
              </a:tblGrid>
              <a:tr h="404320">
                <a:tc>
                  <a:txBody>
                    <a:bodyPr/>
                    <a:lstStyle/>
                    <a:p>
                      <a:r>
                        <a:rPr lang="en-US" sz="1800" b="1">
                          <a:solidFill>
                            <a:srgbClr val="FFFFFF"/>
                          </a:solidFill>
                        </a:rPr>
                        <a:t>#</a:t>
                      </a:r>
                    </a:p>
                  </a:txBody>
                  <a:tcPr marL="72000" marR="72000" marT="40000" marB="40000" anchor="ctr">
                    <a:lnB w="6350">
                      <a:solidFill>
                        <a:srgbClr val="B7CDC2"/>
                      </a:solidFill>
                    </a:lnB>
                    <a:solidFill>
                      <a:srgbClr val="154734"/>
                    </a:solidFill>
                  </a:tcPr>
                </a:tc>
                <a:tc>
                  <a:txBody>
                    <a:bodyPr/>
                    <a:lstStyle/>
                    <a:p>
                      <a:r>
                        <a:rPr lang="en-US" sz="1800" b="1">
                          <a:solidFill>
                            <a:srgbClr val="FFFFFF"/>
                          </a:solidFill>
                        </a:rPr>
                        <a:t>Requirement</a:t>
                      </a:r>
                    </a:p>
                  </a:txBody>
                  <a:tcPr marL="72000" marR="72000" marT="40000" marB="40000" anchor="ctr">
                    <a:lnB w="6350">
                      <a:solidFill>
                        <a:srgbClr val="B7CDC2"/>
                      </a:solidFill>
                    </a:lnB>
                    <a:solidFill>
                      <a:srgbClr val="154734"/>
                    </a:solidFill>
                  </a:tcPr>
                </a:tc>
                <a:tc>
                  <a:txBody>
                    <a:bodyPr/>
                    <a:lstStyle/>
                    <a:p>
                      <a:r>
                        <a:rPr lang="en-US" sz="1800" b="1">
                          <a:solidFill>
                            <a:srgbClr val="FFFFFF"/>
                          </a:solidFill>
                        </a:rPr>
                        <a:t>Rationale</a:t>
                      </a:r>
                    </a:p>
                  </a:txBody>
                  <a:tcPr marL="72000" marR="72000" marT="40000" marB="40000" anchor="ctr">
                    <a:lnB w="6350">
                      <a:solidFill>
                        <a:srgbClr val="B7CDC2"/>
                      </a:solidFill>
                    </a:lnB>
                    <a:solidFill>
                      <a:srgbClr val="154734"/>
                    </a:solidFill>
                  </a:tcPr>
                </a:tc>
                <a:tc>
                  <a:txBody>
                    <a:bodyPr/>
                    <a:lstStyle/>
                    <a:p>
                      <a:r>
                        <a:rPr lang="en-US" sz="1800" b="1">
                          <a:solidFill>
                            <a:srgbClr val="FFFFFF"/>
                          </a:solidFill>
                        </a:rPr>
                        <a:t>Verification</a:t>
                      </a:r>
                    </a:p>
                  </a:txBody>
                  <a:tcPr marL="72000" marR="72000" marT="40000" marB="40000" anchor="ctr">
                    <a:lnB w="6350">
                      <a:solidFill>
                        <a:srgbClr val="B7CDC2"/>
                      </a:solidFill>
                    </a:lnB>
                    <a:solidFill>
                      <a:srgbClr val="154734"/>
                    </a:solidFill>
                  </a:tcPr>
                </a:tc>
                <a:extLst>
                  <a:ext uri="{0D108BD9-81ED-4DB2-BD59-A6C34878D82A}">
                    <a16:rowId xmlns:a16="http://schemas.microsoft.com/office/drawing/2014/main" val="10000"/>
                  </a:ext>
                </a:extLst>
              </a:tr>
              <a:tr h="678640">
                <a:tc>
                  <a:txBody>
                    <a:bodyPr/>
                    <a:lstStyle/>
                    <a:p>
                      <a:r>
                        <a:rPr lang="en-US" sz="1800">
                          <a:solidFill>
                            <a:schemeClr val="tx1"/>
                          </a:solidFill>
                        </a:rPr>
                        <a:t>6</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800">
                          <a:solidFill>
                            <a:schemeClr val="tx1"/>
                          </a:solidFill>
                        </a:rPr>
                        <a:t>No leaks at any seal at operating pressure</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800">
                          <a:solidFill>
                            <a:schemeClr val="tx1"/>
                          </a:solidFill>
                        </a:rPr>
                        <a:t>A leak across the ox/fuel boundary mixes propellants</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800">
                          <a:solidFill>
                            <a:schemeClr val="tx1"/>
                          </a:solidFill>
                        </a:rPr>
                        <a:t>Test: Hydrostatic and cold flow</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extLst>
                  <a:ext uri="{0D108BD9-81ED-4DB2-BD59-A6C34878D82A}">
                    <a16:rowId xmlns:a16="http://schemas.microsoft.com/office/drawing/2014/main" val="10001"/>
                  </a:ext>
                </a:extLst>
              </a:tr>
              <a:tr h="678640">
                <a:tc>
                  <a:txBody>
                    <a:bodyPr/>
                    <a:lstStyle/>
                    <a:p>
                      <a:r>
                        <a:rPr lang="en-US" sz="1800">
                          <a:solidFill>
                            <a:schemeClr val="tx1"/>
                          </a:solidFill>
                        </a:rPr>
                        <a:t>7</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800">
                          <a:solidFill>
                            <a:schemeClr val="tx1"/>
                          </a:solidFill>
                        </a:rPr>
                        <a:t>All features printable at 1.0 mm minimum</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800">
                          <a:solidFill>
                            <a:schemeClr val="tx1"/>
                          </a:solidFill>
                        </a:rPr>
                        <a:t>Vendor process limit</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800">
                          <a:solidFill>
                            <a:schemeClr val="tx1"/>
                          </a:solidFill>
                        </a:rPr>
                        <a:t>Inspection: Sectioned sample</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extLst>
                  <a:ext uri="{0D108BD9-81ED-4DB2-BD59-A6C34878D82A}">
                    <a16:rowId xmlns:a16="http://schemas.microsoft.com/office/drawing/2014/main" val="10002"/>
                  </a:ext>
                </a:extLst>
              </a:tr>
              <a:tr h="678640">
                <a:tc>
                  <a:txBody>
                    <a:bodyPr/>
                    <a:lstStyle/>
                    <a:p>
                      <a:r>
                        <a:rPr lang="en-US" sz="1800">
                          <a:solidFill>
                            <a:schemeClr val="tx1"/>
                          </a:solidFill>
                        </a:rPr>
                        <a:t>8</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800">
                          <a:solidFill>
                            <a:schemeClr val="tx1"/>
                          </a:solidFill>
                        </a:rPr>
                        <a:t>Jacket ΔP within the fuel supply budget</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800">
                          <a:solidFill>
                            <a:schemeClr val="tx1"/>
                          </a:solidFill>
                        </a:rPr>
                        <a:t>Fuel regulated to 700 psi maximum</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800">
                          <a:solidFill>
                            <a:schemeClr val="tx1"/>
                          </a:solidFill>
                        </a:rPr>
                        <a:t>Test: Cold flow with jacket inlet and outlet PTs</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extLst>
                  <a:ext uri="{0D108BD9-81ED-4DB2-BD59-A6C34878D82A}">
                    <a16:rowId xmlns:a16="http://schemas.microsoft.com/office/drawing/2014/main" val="10003"/>
                  </a:ext>
                </a:extLst>
              </a:tr>
              <a:tr h="678640">
                <a:tc>
                  <a:txBody>
                    <a:bodyPr/>
                    <a:lstStyle/>
                    <a:p>
                      <a:r>
                        <a:rPr lang="en-US" sz="1800">
                          <a:solidFill>
                            <a:schemeClr val="tx1"/>
                          </a:solidFill>
                        </a:rPr>
                        <a:t>9</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800">
                          <a:solidFill>
                            <a:schemeClr val="tx1"/>
                          </a:solidFill>
                        </a:rPr>
                        <a:t>Integrates with Bluegrass mounts and plumbing</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800">
                          <a:solidFill>
                            <a:schemeClr val="tx1"/>
                          </a:solidFill>
                        </a:rPr>
                        <a:t>Test site compatibility</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800">
                          <a:solidFill>
                            <a:schemeClr val="tx1"/>
                          </a:solidFill>
                        </a:rPr>
                        <a:t>Inspection: Integration checked, demonstration in cold flow</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126827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7250E-A56A-4D4B-D4C8-B3596982FE5E}"/>
              </a:ext>
            </a:extLst>
          </p:cNvPr>
          <p:cNvSpPr>
            <a:spLocks noGrp="1"/>
          </p:cNvSpPr>
          <p:nvPr>
            <p:ph type="title"/>
          </p:nvPr>
        </p:nvSpPr>
        <p:spPr/>
        <p:txBody>
          <a:bodyPr/>
          <a:lstStyle/>
          <a:p>
            <a:r>
              <a:rPr lang="en-US"/>
              <a:t>End of Overview</a:t>
            </a:r>
          </a:p>
        </p:txBody>
      </p:sp>
      <p:sp>
        <p:nvSpPr>
          <p:cNvPr id="3" name="Text Placeholder 2">
            <a:extLst>
              <a:ext uri="{FF2B5EF4-FFF2-40B4-BE49-F238E27FC236}">
                <a16:creationId xmlns:a16="http://schemas.microsoft.com/office/drawing/2014/main" id="{1DD6AD37-F6B5-6152-7D18-9867F3FBF381}"/>
              </a:ext>
            </a:extLst>
          </p:cNvPr>
          <p:cNvSpPr>
            <a:spLocks noGrp="1"/>
          </p:cNvSpPr>
          <p:nvPr>
            <p:ph type="body" sz="quarter" idx="11"/>
          </p:nvPr>
        </p:nvSpPr>
        <p:spPr>
          <a:xfrm>
            <a:off x="3722619" y="3257835"/>
            <a:ext cx="4612283" cy="342329"/>
          </a:xfrm>
        </p:spPr>
        <p:txBody>
          <a:bodyPr/>
          <a:lstStyle/>
          <a:p>
            <a:r>
              <a:rPr lang="en-US" sz="7200" b="1"/>
              <a:t>Questions?</a:t>
            </a:r>
          </a:p>
        </p:txBody>
      </p:sp>
    </p:spTree>
    <p:extLst>
      <p:ext uri="{BB962C8B-B14F-4D97-AF65-F5344CB8AC3E}">
        <p14:creationId xmlns:p14="http://schemas.microsoft.com/office/powerpoint/2010/main" val="1041723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66374-63FC-6A9A-121A-C37F2C0020EA}"/>
              </a:ext>
            </a:extLst>
          </p:cNvPr>
          <p:cNvSpPr>
            <a:spLocks noGrp="1"/>
          </p:cNvSpPr>
          <p:nvPr>
            <p:ph type="title"/>
          </p:nvPr>
        </p:nvSpPr>
        <p:spPr/>
        <p:txBody>
          <a:bodyPr/>
          <a:lstStyle/>
          <a:p>
            <a:r>
              <a:rPr lang="en-US"/>
              <a:t>Geometry &amp; Cooling</a:t>
            </a:r>
          </a:p>
        </p:txBody>
      </p:sp>
      <p:sp>
        <p:nvSpPr>
          <p:cNvPr id="3" name="Text Placeholder 2">
            <a:extLst>
              <a:ext uri="{FF2B5EF4-FFF2-40B4-BE49-F238E27FC236}">
                <a16:creationId xmlns:a16="http://schemas.microsoft.com/office/drawing/2014/main" id="{78F7B4D2-9976-9443-0A58-C021CEF48906}"/>
              </a:ext>
            </a:extLst>
          </p:cNvPr>
          <p:cNvSpPr>
            <a:spLocks noGrp="1"/>
          </p:cNvSpPr>
          <p:nvPr>
            <p:ph type="body" sz="quarter" idx="11"/>
          </p:nvPr>
        </p:nvSpPr>
        <p:spPr/>
        <p:txBody>
          <a:bodyPr/>
          <a:lstStyle/>
          <a:p>
            <a:r>
              <a:rPr lang="en-US"/>
              <a:t>Presented by Sloan Robbins</a:t>
            </a:r>
          </a:p>
        </p:txBody>
      </p:sp>
    </p:spTree>
    <p:extLst>
      <p:ext uri="{BB962C8B-B14F-4D97-AF65-F5344CB8AC3E}">
        <p14:creationId xmlns:p14="http://schemas.microsoft.com/office/powerpoint/2010/main" val="2111399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2BF5D-8009-2C2C-8CD7-5FA5D9F80FC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32C8622-AF08-B723-B02B-30617A531D79}"/>
              </a:ext>
            </a:extLst>
          </p:cNvPr>
          <p:cNvSpPr>
            <a:spLocks noGrp="1"/>
          </p:cNvSpPr>
          <p:nvPr>
            <p:ph type="ftr" sz="quarter" idx="16"/>
          </p:nvPr>
        </p:nvSpPr>
        <p:spPr/>
        <p:txBody>
          <a:bodyPr/>
          <a:lstStyle/>
          <a:p>
            <a:r>
              <a:rPr lang="en-US" sz="900">
                <a:latin typeface="Source Sans Pro"/>
                <a:ea typeface="Source Sans Pro"/>
              </a:rPr>
              <a:t>REGEN PDR</a:t>
            </a:r>
          </a:p>
        </p:txBody>
      </p:sp>
      <p:sp>
        <p:nvSpPr>
          <p:cNvPr id="4" name="Slide Number Placeholder 3">
            <a:extLst>
              <a:ext uri="{FF2B5EF4-FFF2-40B4-BE49-F238E27FC236}">
                <a16:creationId xmlns:a16="http://schemas.microsoft.com/office/drawing/2014/main" id="{84AF024C-B37B-BDAC-29B1-6511D95455A0}"/>
              </a:ext>
            </a:extLst>
          </p:cNvPr>
          <p:cNvSpPr>
            <a:spLocks noGrp="1"/>
          </p:cNvSpPr>
          <p:nvPr>
            <p:ph type="sldNum" sz="quarter" idx="17"/>
          </p:nvPr>
        </p:nvSpPr>
        <p:spPr/>
        <p:txBody>
          <a:bodyPr/>
          <a:lstStyle/>
          <a:p>
            <a:r>
              <a:rPr lang="en-US" sz="900">
                <a:latin typeface="Source Sans Pro"/>
                <a:ea typeface="Source Sans Pro"/>
              </a:rPr>
              <a:t>/  9</a:t>
            </a:r>
          </a:p>
        </p:txBody>
      </p:sp>
      <p:sp>
        <p:nvSpPr>
          <p:cNvPr id="5" name="Title 4">
            <a:extLst>
              <a:ext uri="{FF2B5EF4-FFF2-40B4-BE49-F238E27FC236}">
                <a16:creationId xmlns:a16="http://schemas.microsoft.com/office/drawing/2014/main" id="{DDE7917D-6458-3841-0DAB-A469EAFF96A8}"/>
              </a:ext>
            </a:extLst>
          </p:cNvPr>
          <p:cNvSpPr>
            <a:spLocks noGrp="1"/>
          </p:cNvSpPr>
          <p:nvPr>
            <p:ph type="title"/>
          </p:nvPr>
        </p:nvSpPr>
        <p:spPr>
          <a:xfrm>
            <a:off x="531848" y="716984"/>
            <a:ext cx="10265547" cy="625567"/>
          </a:xfrm>
        </p:spPr>
        <p:txBody>
          <a:bodyPr/>
          <a:lstStyle/>
          <a:p>
            <a:r>
              <a:rPr lang="en-US">
                <a:solidFill>
                  <a:srgbClr val="154734"/>
                </a:solidFill>
                <a:latin typeface="Munistic"/>
              </a:rPr>
              <a:t>Chamber Geometry </a:t>
            </a:r>
            <a:endParaRPr lang="en-US"/>
          </a:p>
        </p:txBody>
      </p:sp>
      <p:sp>
        <p:nvSpPr>
          <p:cNvPr id="6" name="Body 11">
            <a:extLst>
              <a:ext uri="{FF2B5EF4-FFF2-40B4-BE49-F238E27FC236}">
                <a16:creationId xmlns:a16="http://schemas.microsoft.com/office/drawing/2014/main" id="{425A2E00-BE32-8681-DBFE-BC75CAA675C8}"/>
              </a:ext>
            </a:extLst>
          </p:cNvPr>
          <p:cNvSpPr txBox="1"/>
          <p:nvPr/>
        </p:nvSpPr>
        <p:spPr>
          <a:xfrm>
            <a:off x="560000" y="1640000"/>
            <a:ext cx="6199200" cy="4360000"/>
          </a:xfrm>
          <a:prstGeom prst="rect">
            <a:avLst/>
          </a:prstGeom>
          <a:noFill/>
        </p:spPr>
        <p:txBody>
          <a:bodyPr wrap="square" lIns="91440" tIns="45720" rIns="91440" bIns="45720" anchor="t">
            <a:noAutofit/>
          </a:bodyPr>
          <a:lstStyle/>
          <a:p>
            <a:pPr marL="285750" indent="-285750">
              <a:spcBef>
                <a:spcPts val="900"/>
              </a:spcBef>
              <a:buClr>
                <a:srgbClr val="BD8B13"/>
              </a:buClr>
              <a:buFont typeface="Arial"/>
              <a:buChar char="•"/>
            </a:pPr>
            <a:r>
              <a:rPr lang="en-US" sz="1900">
                <a:solidFill>
                  <a:schemeClr val="tx1"/>
                </a:solidFill>
              </a:rPr>
              <a:t>Chamber 89.0 mm (3.50 in</a:t>
            </a:r>
            <a:r>
              <a:rPr lang="en-US" sz="1900"/>
              <a:t>)</a:t>
            </a:r>
            <a:r>
              <a:rPr lang="en-US" sz="1900">
                <a:solidFill>
                  <a:schemeClr val="tx1"/>
                </a:solidFill>
              </a:rPr>
              <a:t> inner diameter</a:t>
            </a:r>
          </a:p>
          <a:p>
            <a:pPr marL="285750" indent="-285750">
              <a:spcBef>
                <a:spcPts val="900"/>
              </a:spcBef>
              <a:buClr>
                <a:srgbClr val="BD8B13"/>
              </a:buClr>
              <a:buFont typeface="Arial"/>
              <a:buChar char="•"/>
            </a:pPr>
            <a:r>
              <a:rPr lang="en-US" sz="1900">
                <a:solidFill>
                  <a:schemeClr val="tx1"/>
                </a:solidFill>
              </a:rPr>
              <a:t>Outer diameter 100 mm </a:t>
            </a:r>
          </a:p>
          <a:p>
            <a:pPr marL="285750" indent="-285750">
              <a:spcBef>
                <a:spcPts val="900"/>
              </a:spcBef>
              <a:buClr>
                <a:srgbClr val="BD8B13"/>
              </a:buClr>
              <a:buFont typeface="Arial"/>
              <a:buChar char="•"/>
            </a:pPr>
            <a:r>
              <a:rPr lang="en-US" sz="1900">
                <a:solidFill>
                  <a:schemeClr val="tx1"/>
                </a:solidFill>
              </a:rPr>
              <a:t>Throat 31.0 mm, exit 49.5 mm</a:t>
            </a:r>
          </a:p>
          <a:p>
            <a:pPr marL="285750" indent="-285750">
              <a:spcBef>
                <a:spcPts val="900"/>
              </a:spcBef>
              <a:buClr>
                <a:srgbClr val="BD8B13"/>
              </a:buClr>
              <a:buFont typeface="Arial"/>
              <a:buChar char="•"/>
            </a:pPr>
            <a:r>
              <a:rPr lang="en-US" sz="1900">
                <a:solidFill>
                  <a:schemeClr val="tx1"/>
                </a:solidFill>
              </a:rPr>
              <a:t>Expansion ratio 2.56 from optimum expansion: Pc / Pa = 200 / 14.7</a:t>
            </a:r>
          </a:p>
          <a:p>
            <a:pPr marL="285750" indent="-285750">
              <a:spcBef>
                <a:spcPts val="900"/>
              </a:spcBef>
              <a:buClr>
                <a:srgbClr val="BD8B13"/>
              </a:buClr>
              <a:buFont typeface="Arial"/>
              <a:buChar char="•"/>
            </a:pPr>
            <a:r>
              <a:rPr lang="en-US" sz="1900">
                <a:solidFill>
                  <a:schemeClr val="tx1"/>
                </a:solidFill>
              </a:rPr>
              <a:t>L* 1.2 m</a:t>
            </a:r>
          </a:p>
          <a:p>
            <a:pPr marL="285750" indent="-285750">
              <a:spcBef>
                <a:spcPts val="900"/>
              </a:spcBef>
              <a:buClr>
                <a:srgbClr val="BD8B13"/>
              </a:buClr>
              <a:buFont typeface="Arial"/>
              <a:buChar char="•"/>
            </a:pPr>
            <a:r>
              <a:rPr lang="en-US" sz="1900">
                <a:solidFill>
                  <a:schemeClr val="tx1"/>
                </a:solidFill>
              </a:rPr>
              <a:t>Contraction ratio 8.25, convergent 30°, divergent 15°</a:t>
            </a:r>
          </a:p>
          <a:p>
            <a:pPr marL="285750" indent="-285750">
              <a:spcBef>
                <a:spcPts val="900"/>
              </a:spcBef>
              <a:buClr>
                <a:srgbClr val="BD8B13"/>
              </a:buClr>
              <a:buFont typeface="Arial"/>
              <a:buChar char="•"/>
            </a:pPr>
            <a:r>
              <a:rPr lang="en-US" sz="1900"/>
              <a:t>Sized for sea level expansion using CEA outputs and </a:t>
            </a:r>
            <a:r>
              <a:rPr lang="en-US" sz="1900" err="1"/>
              <a:t>MatLab</a:t>
            </a:r>
            <a:r>
              <a:rPr lang="en-US" sz="1900"/>
              <a:t> script with standard NASA rocket equations</a:t>
            </a:r>
            <a:endParaRPr lang="en-US" sz="1900">
              <a:solidFill>
                <a:schemeClr val="tx1"/>
              </a:solidFill>
            </a:endParaRPr>
          </a:p>
        </p:txBody>
      </p:sp>
      <p:pic>
        <p:nvPicPr>
          <p:cNvPr id="7" name="Picture 6">
            <a:extLst>
              <a:ext uri="{FF2B5EF4-FFF2-40B4-BE49-F238E27FC236}">
                <a16:creationId xmlns:a16="http://schemas.microsoft.com/office/drawing/2014/main" id="{5C65837F-F653-7332-936A-2C759D5DCDBF}"/>
              </a:ext>
            </a:extLst>
          </p:cNvPr>
          <p:cNvPicPr>
            <a:picLocks noChangeAspect="1"/>
          </p:cNvPicPr>
          <p:nvPr/>
        </p:nvPicPr>
        <p:blipFill>
          <a:blip r:embed="rId2"/>
          <a:stretch>
            <a:fillRect/>
          </a:stretch>
        </p:blipFill>
        <p:spPr>
          <a:xfrm rot="16200000">
            <a:off x="7606546" y="982299"/>
            <a:ext cx="3359188" cy="5675402"/>
          </a:xfrm>
          <a:prstGeom prst="rect">
            <a:avLst/>
          </a:prstGeom>
        </p:spPr>
      </p:pic>
    </p:spTree>
    <p:extLst>
      <p:ext uri="{BB962C8B-B14F-4D97-AF65-F5344CB8AC3E}">
        <p14:creationId xmlns:p14="http://schemas.microsoft.com/office/powerpoint/2010/main" val="4254507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2BF5D-8009-2C2C-8CD7-5FA5D9F80FC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32C8622-AF08-B723-B02B-30617A531D79}"/>
              </a:ext>
            </a:extLst>
          </p:cNvPr>
          <p:cNvSpPr>
            <a:spLocks noGrp="1"/>
          </p:cNvSpPr>
          <p:nvPr>
            <p:ph type="ftr" sz="quarter" idx="16"/>
          </p:nvPr>
        </p:nvSpPr>
        <p:spPr/>
        <p:txBody>
          <a:bodyPr/>
          <a:lstStyle/>
          <a:p>
            <a:r>
              <a:rPr lang="en-US" sz="900">
                <a:latin typeface="Source Sans Pro"/>
                <a:ea typeface="Source Sans Pro"/>
              </a:rPr>
              <a:t>REGEN PDR</a:t>
            </a:r>
          </a:p>
        </p:txBody>
      </p:sp>
      <p:sp>
        <p:nvSpPr>
          <p:cNvPr id="4" name="Slide Number Placeholder 3">
            <a:extLst>
              <a:ext uri="{FF2B5EF4-FFF2-40B4-BE49-F238E27FC236}">
                <a16:creationId xmlns:a16="http://schemas.microsoft.com/office/drawing/2014/main" id="{84AF024C-B37B-BDAC-29B1-6511D95455A0}"/>
              </a:ext>
            </a:extLst>
          </p:cNvPr>
          <p:cNvSpPr>
            <a:spLocks noGrp="1"/>
          </p:cNvSpPr>
          <p:nvPr>
            <p:ph type="sldNum" sz="quarter" idx="17"/>
          </p:nvPr>
        </p:nvSpPr>
        <p:spPr/>
        <p:txBody>
          <a:bodyPr/>
          <a:lstStyle/>
          <a:p>
            <a:r>
              <a:rPr lang="en-US" sz="900">
                <a:latin typeface="Source Sans Pro"/>
                <a:ea typeface="Source Sans Pro"/>
              </a:rPr>
              <a:t>/  10</a:t>
            </a:r>
          </a:p>
        </p:txBody>
      </p:sp>
      <p:sp>
        <p:nvSpPr>
          <p:cNvPr id="5" name="Title 4">
            <a:extLst>
              <a:ext uri="{FF2B5EF4-FFF2-40B4-BE49-F238E27FC236}">
                <a16:creationId xmlns:a16="http://schemas.microsoft.com/office/drawing/2014/main" id="{DDE7917D-6458-3841-0DAB-A469EAFF96A8}"/>
              </a:ext>
            </a:extLst>
          </p:cNvPr>
          <p:cNvSpPr>
            <a:spLocks noGrp="1"/>
          </p:cNvSpPr>
          <p:nvPr>
            <p:ph type="title"/>
          </p:nvPr>
        </p:nvSpPr>
        <p:spPr>
          <a:xfrm>
            <a:off x="531848" y="716984"/>
            <a:ext cx="10265547" cy="625567"/>
          </a:xfrm>
        </p:spPr>
        <p:txBody>
          <a:bodyPr/>
          <a:lstStyle/>
          <a:p>
            <a:r>
              <a:rPr lang="en-US">
                <a:solidFill>
                  <a:srgbClr val="154734"/>
                </a:solidFill>
                <a:latin typeface="Munistic"/>
              </a:rPr>
              <a:t>Cooling Channels</a:t>
            </a:r>
          </a:p>
        </p:txBody>
      </p:sp>
      <p:sp>
        <p:nvSpPr>
          <p:cNvPr id="6" name="Body 11">
            <a:extLst>
              <a:ext uri="{FF2B5EF4-FFF2-40B4-BE49-F238E27FC236}">
                <a16:creationId xmlns:a16="http://schemas.microsoft.com/office/drawing/2014/main" id="{2F120CD9-D923-D199-10BE-3D5D70EA9AF8}"/>
              </a:ext>
            </a:extLst>
          </p:cNvPr>
          <p:cNvSpPr txBox="1"/>
          <p:nvPr/>
        </p:nvSpPr>
        <p:spPr>
          <a:xfrm>
            <a:off x="560000" y="1640000"/>
            <a:ext cx="6199200" cy="4360000"/>
          </a:xfrm>
          <a:prstGeom prst="rect">
            <a:avLst/>
          </a:prstGeom>
          <a:noFill/>
        </p:spPr>
        <p:txBody>
          <a:bodyPr wrap="square" lIns="91440" tIns="45720" rIns="91440" bIns="45720" anchor="t">
            <a:noAutofit/>
          </a:bodyPr>
          <a:lstStyle/>
          <a:p>
            <a:pPr marL="285750" indent="-285750">
              <a:spcBef>
                <a:spcPts val="900"/>
              </a:spcBef>
              <a:buClr>
                <a:srgbClr val="BD8B13"/>
              </a:buClr>
              <a:buFont typeface="Arial"/>
              <a:buChar char="•"/>
            </a:pPr>
            <a:r>
              <a:rPr lang="en-US" sz="2200">
                <a:solidFill>
                  <a:schemeClr val="tx1"/>
                </a:solidFill>
              </a:rPr>
              <a:t>10 helical starts, constant 1.0 mm wide × 2.5 mm deep</a:t>
            </a:r>
          </a:p>
          <a:p>
            <a:pPr marL="285750" indent="-285750">
              <a:spcBef>
                <a:spcPts val="900"/>
              </a:spcBef>
              <a:buClr>
                <a:srgbClr val="BD8B13"/>
              </a:buClr>
              <a:buFont typeface="Arial"/>
              <a:buChar char="•"/>
            </a:pPr>
            <a:r>
              <a:rPr lang="en-US" sz="2200">
                <a:solidFill>
                  <a:schemeClr val="tx1"/>
                </a:solidFill>
              </a:rPr>
              <a:t>Hot wall 1.0 mm, land 1.0 mm at the throat, opening to 12 mm in the barrel to minimize path length (pressure drop)</a:t>
            </a:r>
          </a:p>
          <a:p>
            <a:pPr marL="285750" indent="-285750">
              <a:spcBef>
                <a:spcPts val="900"/>
              </a:spcBef>
              <a:buClr>
                <a:srgbClr val="BD8B13"/>
              </a:buClr>
              <a:buFont typeface="Arial"/>
              <a:buChar char="•"/>
            </a:pPr>
            <a:r>
              <a:rPr lang="en-US" sz="2200">
                <a:solidFill>
                  <a:schemeClr val="tx1"/>
                </a:solidFill>
              </a:rPr>
              <a:t>Helix angle is set by the land which is based on flux and coolant temp, </a:t>
            </a:r>
            <a:r>
              <a:rPr lang="en-US" sz="2200"/>
              <a:t>effective channel density</a:t>
            </a:r>
          </a:p>
        </p:txBody>
      </p:sp>
      <p:pic>
        <p:nvPicPr>
          <p:cNvPr id="8" name="Picture 7" descr="A drawing of a light bulb&#10;&#10;AI-generated content may be incorrect.">
            <a:extLst>
              <a:ext uri="{FF2B5EF4-FFF2-40B4-BE49-F238E27FC236}">
                <a16:creationId xmlns:a16="http://schemas.microsoft.com/office/drawing/2014/main" id="{93092D59-8BCB-6168-A454-5C1AA7C20B0F}"/>
              </a:ext>
            </a:extLst>
          </p:cNvPr>
          <p:cNvPicPr>
            <a:picLocks noChangeAspect="1"/>
          </p:cNvPicPr>
          <p:nvPr/>
        </p:nvPicPr>
        <p:blipFill>
          <a:blip r:embed="rId2"/>
          <a:stretch>
            <a:fillRect/>
          </a:stretch>
        </p:blipFill>
        <p:spPr>
          <a:xfrm rot="16200000">
            <a:off x="7588380" y="1043555"/>
            <a:ext cx="3327626" cy="5552890"/>
          </a:xfrm>
          <a:prstGeom prst="rect">
            <a:avLst/>
          </a:prstGeom>
        </p:spPr>
      </p:pic>
    </p:spTree>
    <p:extLst>
      <p:ext uri="{BB962C8B-B14F-4D97-AF65-F5344CB8AC3E}">
        <p14:creationId xmlns:p14="http://schemas.microsoft.com/office/powerpoint/2010/main" val="2607914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2BF5D-8009-2C2C-8CD7-5FA5D9F80FC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32C8622-AF08-B723-B02B-30617A531D79}"/>
              </a:ext>
            </a:extLst>
          </p:cNvPr>
          <p:cNvSpPr>
            <a:spLocks noGrp="1"/>
          </p:cNvSpPr>
          <p:nvPr>
            <p:ph type="ftr" sz="quarter" idx="16"/>
          </p:nvPr>
        </p:nvSpPr>
        <p:spPr/>
        <p:txBody>
          <a:bodyPr/>
          <a:lstStyle/>
          <a:p>
            <a:r>
              <a:rPr lang="en-US" sz="900">
                <a:latin typeface="Source Sans Pro"/>
                <a:ea typeface="Source Sans Pro"/>
              </a:rPr>
              <a:t>REGEN PDR</a:t>
            </a:r>
          </a:p>
        </p:txBody>
      </p:sp>
      <p:sp>
        <p:nvSpPr>
          <p:cNvPr id="4" name="Slide Number Placeholder 3">
            <a:extLst>
              <a:ext uri="{FF2B5EF4-FFF2-40B4-BE49-F238E27FC236}">
                <a16:creationId xmlns:a16="http://schemas.microsoft.com/office/drawing/2014/main" id="{84AF024C-B37B-BDAC-29B1-6511D95455A0}"/>
              </a:ext>
            </a:extLst>
          </p:cNvPr>
          <p:cNvSpPr>
            <a:spLocks noGrp="1"/>
          </p:cNvSpPr>
          <p:nvPr>
            <p:ph type="sldNum" sz="quarter" idx="17"/>
          </p:nvPr>
        </p:nvSpPr>
        <p:spPr/>
        <p:txBody>
          <a:bodyPr/>
          <a:lstStyle/>
          <a:p>
            <a:r>
              <a:rPr lang="en-US" sz="900">
                <a:latin typeface="Source Sans Pro"/>
                <a:ea typeface="Source Sans Pro"/>
              </a:rPr>
              <a:t>/  11</a:t>
            </a:r>
          </a:p>
        </p:txBody>
      </p:sp>
      <p:sp>
        <p:nvSpPr>
          <p:cNvPr id="5" name="Title 4">
            <a:extLst>
              <a:ext uri="{FF2B5EF4-FFF2-40B4-BE49-F238E27FC236}">
                <a16:creationId xmlns:a16="http://schemas.microsoft.com/office/drawing/2014/main" id="{DDE7917D-6458-3841-0DAB-A469EAFF96A8}"/>
              </a:ext>
            </a:extLst>
          </p:cNvPr>
          <p:cNvSpPr>
            <a:spLocks noGrp="1"/>
          </p:cNvSpPr>
          <p:nvPr>
            <p:ph type="title"/>
          </p:nvPr>
        </p:nvSpPr>
        <p:spPr>
          <a:xfrm>
            <a:off x="531848" y="716984"/>
            <a:ext cx="10265547" cy="625567"/>
          </a:xfrm>
        </p:spPr>
        <p:txBody>
          <a:bodyPr/>
          <a:lstStyle/>
          <a:p>
            <a:r>
              <a:rPr lang="en-US">
                <a:solidFill>
                  <a:srgbClr val="154734"/>
                </a:solidFill>
                <a:latin typeface="Munistic"/>
              </a:rPr>
              <a:t>Channel Count and Size </a:t>
            </a:r>
            <a:endParaRPr lang="en-US"/>
          </a:p>
        </p:txBody>
      </p:sp>
      <p:sp>
        <p:nvSpPr>
          <p:cNvPr id="6" name="Body 12">
            <a:extLst>
              <a:ext uri="{FF2B5EF4-FFF2-40B4-BE49-F238E27FC236}">
                <a16:creationId xmlns:a16="http://schemas.microsoft.com/office/drawing/2014/main" id="{AF9F0701-1B3C-918D-C9C1-A5226592501E}"/>
              </a:ext>
            </a:extLst>
          </p:cNvPr>
          <p:cNvSpPr txBox="1"/>
          <p:nvPr/>
        </p:nvSpPr>
        <p:spPr>
          <a:xfrm>
            <a:off x="577332" y="1130077"/>
            <a:ext cx="10668668" cy="4360000"/>
          </a:xfrm>
          <a:prstGeom prst="rect">
            <a:avLst/>
          </a:prstGeom>
          <a:noFill/>
        </p:spPr>
        <p:txBody>
          <a:bodyPr wrap="square" lIns="91440" tIns="45720" rIns="91440" bIns="45720" anchor="t">
            <a:noAutofit/>
          </a:bodyPr>
          <a:lstStyle/>
          <a:p>
            <a:pPr>
              <a:spcBef>
                <a:spcPts val="900"/>
              </a:spcBef>
              <a:buClr>
                <a:srgbClr val="BD8B13"/>
              </a:buClr>
            </a:pPr>
            <a:endParaRPr lang="en-US" sz="2200">
              <a:solidFill>
                <a:schemeClr val="tx1"/>
              </a:solidFill>
            </a:endParaRPr>
          </a:p>
          <a:p>
            <a:pPr marL="285750" indent="-285750">
              <a:spcBef>
                <a:spcPts val="900"/>
              </a:spcBef>
              <a:buClr>
                <a:srgbClr val="BD8B13"/>
              </a:buClr>
              <a:buFont typeface="Arial"/>
              <a:buChar char="•"/>
            </a:pPr>
            <a:r>
              <a:rPr lang="en-US" sz="2200">
                <a:solidFill>
                  <a:schemeClr val="tx1"/>
                </a:solidFill>
              </a:rPr>
              <a:t>Lower limit of geometry is set at 1.0mm by manufacturing method</a:t>
            </a:r>
          </a:p>
          <a:p>
            <a:pPr marL="285750" indent="-285750">
              <a:spcBef>
                <a:spcPts val="900"/>
              </a:spcBef>
              <a:buClr>
                <a:srgbClr val="BD8B13"/>
              </a:buClr>
              <a:buFont typeface="Arial"/>
              <a:buChar char="•"/>
            </a:pPr>
            <a:r>
              <a:rPr lang="en-US" sz="2200"/>
              <a:t>Three channel variables yield two properties: width, depth, count -&gt; ΔP, velocity</a:t>
            </a:r>
          </a:p>
          <a:p>
            <a:pPr marL="285750" indent="-285750">
              <a:spcBef>
                <a:spcPts val="900"/>
              </a:spcBef>
              <a:buClr>
                <a:srgbClr val="BD8B13"/>
              </a:buClr>
              <a:buFont typeface="Arial"/>
              <a:buChar char="•"/>
            </a:pPr>
            <a:r>
              <a:rPr lang="en-US" sz="2200">
                <a:solidFill>
                  <a:schemeClr val="tx1"/>
                </a:solidFill>
              </a:rPr>
              <a:t>Any increase in any variable decreases both pressure drop and velocity, therefore cooling</a:t>
            </a:r>
          </a:p>
          <a:p>
            <a:pPr marL="285750" indent="-285750">
              <a:spcBef>
                <a:spcPts val="900"/>
              </a:spcBef>
              <a:buClr>
                <a:srgbClr val="BD8B13"/>
              </a:buClr>
              <a:buFont typeface="Arial"/>
              <a:buChar char="•"/>
            </a:pPr>
            <a:r>
              <a:rPr lang="en-US" sz="2200"/>
              <a:t>Any decrease in any variable therefore increases performance, at the cost of higher feed pressures</a:t>
            </a:r>
            <a:endParaRPr lang="en-US" sz="2200">
              <a:solidFill>
                <a:schemeClr val="tx1"/>
              </a:solidFill>
            </a:endParaRPr>
          </a:p>
          <a:p>
            <a:pPr marL="285750" indent="-285750">
              <a:spcBef>
                <a:spcPts val="900"/>
              </a:spcBef>
              <a:buClr>
                <a:srgbClr val="BD8B13"/>
              </a:buClr>
              <a:buFont typeface="Arial"/>
              <a:buChar char="•"/>
            </a:pPr>
            <a:r>
              <a:rPr lang="en-US" sz="2200">
                <a:solidFill>
                  <a:schemeClr val="tx1"/>
                </a:solidFill>
              </a:rPr>
              <a:t>10 × 1.0 × 2.5 is a balance of cooling performance with a “reasonable” pressure drop (~300psi)</a:t>
            </a:r>
          </a:p>
          <a:p>
            <a:pPr marL="285750" indent="-285750">
              <a:spcBef>
                <a:spcPts val="900"/>
              </a:spcBef>
              <a:buClr>
                <a:srgbClr val="BD8B13"/>
              </a:buClr>
              <a:buFont typeface="Arial"/>
              <a:buChar char="•"/>
            </a:pPr>
            <a:r>
              <a:rPr lang="en-US" sz="2200">
                <a:solidFill>
                  <a:schemeClr val="tx1"/>
                </a:solidFill>
              </a:rPr>
              <a:t>Supply pressure only acts as a lever for bulk coolant subcooling and has no impact on actual cooling performance. </a:t>
            </a:r>
          </a:p>
        </p:txBody>
      </p:sp>
    </p:spTree>
    <p:extLst>
      <p:ext uri="{BB962C8B-B14F-4D97-AF65-F5344CB8AC3E}">
        <p14:creationId xmlns:p14="http://schemas.microsoft.com/office/powerpoint/2010/main" val="703557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2BF5D-8009-2C2C-8CD7-5FA5D9F80FC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32C8622-AF08-B723-B02B-30617A531D79}"/>
              </a:ext>
            </a:extLst>
          </p:cNvPr>
          <p:cNvSpPr>
            <a:spLocks noGrp="1"/>
          </p:cNvSpPr>
          <p:nvPr>
            <p:ph type="ftr" sz="quarter" idx="16"/>
          </p:nvPr>
        </p:nvSpPr>
        <p:spPr/>
        <p:txBody>
          <a:bodyPr/>
          <a:lstStyle/>
          <a:p>
            <a:r>
              <a:rPr lang="en-US" sz="900">
                <a:latin typeface="Source Sans Pro"/>
                <a:ea typeface="Source Sans Pro"/>
              </a:rPr>
              <a:t>REGEN PDR</a:t>
            </a:r>
          </a:p>
        </p:txBody>
      </p:sp>
      <p:sp>
        <p:nvSpPr>
          <p:cNvPr id="4" name="Slide Number Placeholder 3">
            <a:extLst>
              <a:ext uri="{FF2B5EF4-FFF2-40B4-BE49-F238E27FC236}">
                <a16:creationId xmlns:a16="http://schemas.microsoft.com/office/drawing/2014/main" id="{84AF024C-B37B-BDAC-29B1-6511D95455A0}"/>
              </a:ext>
            </a:extLst>
          </p:cNvPr>
          <p:cNvSpPr>
            <a:spLocks noGrp="1"/>
          </p:cNvSpPr>
          <p:nvPr>
            <p:ph type="sldNum" sz="quarter" idx="17"/>
          </p:nvPr>
        </p:nvSpPr>
        <p:spPr/>
        <p:txBody>
          <a:bodyPr/>
          <a:lstStyle/>
          <a:p>
            <a:r>
              <a:rPr lang="en-US" sz="900">
                <a:latin typeface="Source Sans Pro"/>
                <a:ea typeface="Source Sans Pro"/>
              </a:rPr>
              <a:t>/  12</a:t>
            </a:r>
          </a:p>
        </p:txBody>
      </p:sp>
      <p:sp>
        <p:nvSpPr>
          <p:cNvPr id="5" name="Title 4">
            <a:extLst>
              <a:ext uri="{FF2B5EF4-FFF2-40B4-BE49-F238E27FC236}">
                <a16:creationId xmlns:a16="http://schemas.microsoft.com/office/drawing/2014/main" id="{DDE7917D-6458-3841-0DAB-A469EAFF96A8}"/>
              </a:ext>
            </a:extLst>
          </p:cNvPr>
          <p:cNvSpPr>
            <a:spLocks noGrp="1"/>
          </p:cNvSpPr>
          <p:nvPr>
            <p:ph type="title"/>
          </p:nvPr>
        </p:nvSpPr>
        <p:spPr>
          <a:xfrm>
            <a:off x="531848" y="716984"/>
            <a:ext cx="10265547" cy="625567"/>
          </a:xfrm>
        </p:spPr>
        <p:txBody>
          <a:bodyPr/>
          <a:lstStyle/>
          <a:p>
            <a:r>
              <a:rPr lang="en-US">
                <a:solidFill>
                  <a:srgbClr val="154734"/>
                </a:solidFill>
                <a:latin typeface="Munistic"/>
              </a:rPr>
              <a:t>Helical vs. Axial</a:t>
            </a:r>
          </a:p>
        </p:txBody>
      </p:sp>
      <p:sp>
        <p:nvSpPr>
          <p:cNvPr id="6" name="Body 11">
            <a:extLst>
              <a:ext uri="{FF2B5EF4-FFF2-40B4-BE49-F238E27FC236}">
                <a16:creationId xmlns:a16="http://schemas.microsoft.com/office/drawing/2014/main" id="{0403A4E0-1F64-C0CF-B88E-66778D5CC8BA}"/>
              </a:ext>
            </a:extLst>
          </p:cNvPr>
          <p:cNvSpPr txBox="1"/>
          <p:nvPr/>
        </p:nvSpPr>
        <p:spPr>
          <a:xfrm>
            <a:off x="389879" y="1597470"/>
            <a:ext cx="7676688" cy="4360000"/>
          </a:xfrm>
          <a:prstGeom prst="rect">
            <a:avLst/>
          </a:prstGeom>
          <a:noFill/>
        </p:spPr>
        <p:txBody>
          <a:bodyPr wrap="square" lIns="91440" tIns="45720" rIns="91440" bIns="45720" anchor="t">
            <a:noAutofit/>
          </a:bodyPr>
          <a:lstStyle/>
          <a:p>
            <a:pPr marL="285750" indent="-285750">
              <a:spcBef>
                <a:spcPts val="600"/>
              </a:spcBef>
              <a:buClr>
                <a:srgbClr val="BD8B13"/>
              </a:buClr>
              <a:buFont typeface="Arial"/>
              <a:buChar char="•"/>
            </a:pPr>
            <a:r>
              <a:rPr lang="en-US" sz="2200">
                <a:solidFill>
                  <a:schemeClr val="tx1"/>
                </a:solidFill>
              </a:rPr>
              <a:t>Land width fixes channel count</a:t>
            </a:r>
          </a:p>
          <a:p>
            <a:pPr marL="285750" indent="-285750">
              <a:spcBef>
                <a:spcPts val="600"/>
              </a:spcBef>
              <a:buClr>
                <a:srgbClr val="BD8B13"/>
              </a:buClr>
              <a:buFont typeface="Arial"/>
              <a:buChar char="•"/>
            </a:pPr>
            <a:r>
              <a:rPr lang="en-US" sz="2200">
                <a:solidFill>
                  <a:schemeClr val="tx1"/>
                </a:solidFill>
              </a:rPr>
              <a:t>Axial channels at the throat force about 49 starts, which means slower coolant and worse cooling</a:t>
            </a:r>
          </a:p>
          <a:p>
            <a:pPr marL="285750" indent="-285750">
              <a:spcBef>
                <a:spcPts val="600"/>
              </a:spcBef>
              <a:buClr>
                <a:srgbClr val="BD8B13"/>
              </a:buClr>
              <a:buFont typeface="Arial"/>
              <a:buChar char="•"/>
            </a:pPr>
            <a:r>
              <a:rPr lang="en-US" sz="2200">
                <a:solidFill>
                  <a:schemeClr val="tx1"/>
                </a:solidFill>
              </a:rPr>
              <a:t>The helix shrinks perpendicular pitch by cos θ, a </a:t>
            </a:r>
            <a:r>
              <a:rPr lang="en-US" sz="2200"/>
              <a:t>~5</a:t>
            </a:r>
            <a:r>
              <a:rPr lang="en-US" sz="2200">
                <a:solidFill>
                  <a:schemeClr val="tx1"/>
                </a:solidFill>
              </a:rPr>
              <a:t>× gain in effective channel density</a:t>
            </a:r>
          </a:p>
          <a:p>
            <a:pPr marL="285750" indent="-285750">
              <a:spcBef>
                <a:spcPts val="600"/>
              </a:spcBef>
              <a:buClr>
                <a:srgbClr val="BD8B13"/>
              </a:buClr>
              <a:buFont typeface="Arial"/>
              <a:buChar char="•"/>
            </a:pPr>
            <a:r>
              <a:rPr lang="en-US" sz="2200">
                <a:solidFill>
                  <a:schemeClr val="tx1"/>
                </a:solidFill>
              </a:rPr>
              <a:t>Deep channels add sidewall without adding gas side footprint, which means the benefits of a larger channel without the downsides of a wide channel </a:t>
            </a:r>
          </a:p>
          <a:p>
            <a:pPr marL="285750" indent="-285750">
              <a:spcBef>
                <a:spcPts val="600"/>
              </a:spcBef>
              <a:buClr>
                <a:srgbClr val="BD8B13"/>
              </a:buClr>
              <a:buFont typeface="Arial"/>
              <a:buChar char="•"/>
            </a:pPr>
            <a:r>
              <a:rPr lang="en-US" sz="2200">
                <a:solidFill>
                  <a:schemeClr val="tx1"/>
                </a:solidFill>
              </a:rPr>
              <a:t>Cost is path length</a:t>
            </a:r>
            <a:r>
              <a:rPr lang="en-US" sz="2200"/>
              <a:t>, nearly triple the axial</a:t>
            </a:r>
            <a:r>
              <a:rPr lang="en-US" sz="2200">
                <a:solidFill>
                  <a:schemeClr val="tx1"/>
                </a:solidFill>
              </a:rPr>
              <a:t>, paid in feed pressure</a:t>
            </a:r>
          </a:p>
          <a:p>
            <a:pPr marL="285750" indent="-285750">
              <a:spcBef>
                <a:spcPts val="600"/>
              </a:spcBef>
              <a:buClr>
                <a:srgbClr val="BD8B13"/>
              </a:buClr>
              <a:buFont typeface="Arial"/>
              <a:buChar char="•"/>
            </a:pPr>
            <a:endParaRPr lang="en-US" sz="2200"/>
          </a:p>
          <a:p>
            <a:pPr lvl="1">
              <a:spcBef>
                <a:spcPts val="600"/>
              </a:spcBef>
              <a:buClr>
                <a:srgbClr val="BD8B13"/>
              </a:buClr>
            </a:pPr>
            <a:r>
              <a:rPr lang="en-US" sz="2200">
                <a:solidFill>
                  <a:schemeClr val="tx1"/>
                </a:solidFill>
              </a:rPr>
              <a:t>Takeaway: Helical channels act to maximize channel density independent of actual channel size</a:t>
            </a:r>
          </a:p>
        </p:txBody>
      </p:sp>
      <p:cxnSp>
        <p:nvCxnSpPr>
          <p:cNvPr id="20" name="Straight Connector 19">
            <a:extLst>
              <a:ext uri="{FF2B5EF4-FFF2-40B4-BE49-F238E27FC236}">
                <a16:creationId xmlns:a16="http://schemas.microsoft.com/office/drawing/2014/main" id="{CF6A2A14-9E98-B069-7159-7DE2FC602AA3}"/>
              </a:ext>
            </a:extLst>
          </p:cNvPr>
          <p:cNvCxnSpPr>
            <a:cxnSpLocks/>
          </p:cNvCxnSpPr>
          <p:nvPr/>
        </p:nvCxnSpPr>
        <p:spPr>
          <a:xfrm flipV="1">
            <a:off x="8343012" y="1658679"/>
            <a:ext cx="0" cy="310321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2A2DBF8-7F02-F7ED-4B39-75B6B27E53BF}"/>
              </a:ext>
            </a:extLst>
          </p:cNvPr>
          <p:cNvSpPr txBox="1"/>
          <p:nvPr/>
        </p:nvSpPr>
        <p:spPr>
          <a:xfrm>
            <a:off x="10020734" y="3524678"/>
            <a:ext cx="375424" cy="523220"/>
          </a:xfrm>
          <a:prstGeom prst="rect">
            <a:avLst/>
          </a:prstGeom>
          <a:noFill/>
        </p:spPr>
        <p:txBody>
          <a:bodyPr wrap="none" rtlCol="0">
            <a:spAutoFit/>
          </a:bodyPr>
          <a:lstStyle/>
          <a:p>
            <a:r>
              <a:rPr lang="el-GR" sz="2800"/>
              <a:t>θ</a:t>
            </a:r>
            <a:endParaRPr lang="en-US" sz="2800"/>
          </a:p>
        </p:txBody>
      </p:sp>
      <p:sp>
        <p:nvSpPr>
          <p:cNvPr id="8" name="Rectangle 7">
            <a:extLst>
              <a:ext uri="{FF2B5EF4-FFF2-40B4-BE49-F238E27FC236}">
                <a16:creationId xmlns:a16="http://schemas.microsoft.com/office/drawing/2014/main" id="{C666D076-7345-1E26-7B8D-45B9C58A6C1A}"/>
              </a:ext>
            </a:extLst>
          </p:cNvPr>
          <p:cNvSpPr/>
          <p:nvPr/>
        </p:nvSpPr>
        <p:spPr>
          <a:xfrm>
            <a:off x="8566366" y="1821712"/>
            <a:ext cx="1538178" cy="117666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30B3EA5A-F164-6F57-A4CF-60045079C8E2}"/>
              </a:ext>
            </a:extLst>
          </p:cNvPr>
          <p:cNvSpPr/>
          <p:nvPr/>
        </p:nvSpPr>
        <p:spPr>
          <a:xfrm>
            <a:off x="10109862" y="1821712"/>
            <a:ext cx="1538178" cy="117666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07FFCE54-87E4-ACDE-FB01-276FEBB3DC0C}"/>
              </a:ext>
            </a:extLst>
          </p:cNvPr>
          <p:cNvSpPr/>
          <p:nvPr/>
        </p:nvSpPr>
        <p:spPr>
          <a:xfrm rot="1469926">
            <a:off x="8517738" y="3875847"/>
            <a:ext cx="1538178" cy="117666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4" name="Rectangle 13">
            <a:extLst>
              <a:ext uri="{FF2B5EF4-FFF2-40B4-BE49-F238E27FC236}">
                <a16:creationId xmlns:a16="http://schemas.microsoft.com/office/drawing/2014/main" id="{B11EE333-8F67-8531-2D75-8CC26F29608E}"/>
              </a:ext>
            </a:extLst>
          </p:cNvPr>
          <p:cNvSpPr/>
          <p:nvPr/>
        </p:nvSpPr>
        <p:spPr>
          <a:xfrm rot="1469926">
            <a:off x="9935135" y="4514849"/>
            <a:ext cx="1538178" cy="117666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4312DCC4-AEEA-B506-CDF9-C642B31DFDF1}"/>
              </a:ext>
            </a:extLst>
          </p:cNvPr>
          <p:cNvCxnSpPr>
            <a:cxnSpLocks/>
          </p:cNvCxnSpPr>
          <p:nvPr/>
        </p:nvCxnSpPr>
        <p:spPr>
          <a:xfrm>
            <a:off x="8343012" y="4761895"/>
            <a:ext cx="3305027" cy="109870"/>
          </a:xfrm>
          <a:prstGeom prst="straightConnector1">
            <a:avLst/>
          </a:pr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a:extLst>
              <a:ext uri="{FF2B5EF4-FFF2-40B4-BE49-F238E27FC236}">
                <a16:creationId xmlns:a16="http://schemas.microsoft.com/office/drawing/2014/main" id="{622ED289-EA94-D510-719B-68C03EE5D115}"/>
              </a:ext>
            </a:extLst>
          </p:cNvPr>
          <p:cNvCxnSpPr>
            <a:cxnSpLocks/>
          </p:cNvCxnSpPr>
          <p:nvPr/>
        </p:nvCxnSpPr>
        <p:spPr>
          <a:xfrm>
            <a:off x="8571684" y="2410046"/>
            <a:ext cx="3076356" cy="0"/>
          </a:xfrm>
          <a:prstGeom prst="straightConnector1">
            <a:avLst/>
          </a:pr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EA6290-3256-C315-2188-BF0AF0AA4DC4}"/>
              </a:ext>
            </a:extLst>
          </p:cNvPr>
          <p:cNvCxnSpPr>
            <a:cxnSpLocks/>
          </p:cNvCxnSpPr>
          <p:nvPr/>
        </p:nvCxnSpPr>
        <p:spPr>
          <a:xfrm flipV="1">
            <a:off x="10004376" y="3456683"/>
            <a:ext cx="0" cy="1337897"/>
          </a:xfrm>
          <a:prstGeom prst="line">
            <a:avLst/>
          </a:prstGeom>
          <a:ln w="19050">
            <a:solidFill>
              <a:srgbClr val="000000"/>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15F282D-FAD2-80B8-9A1C-7773DE6C6CC7}"/>
              </a:ext>
            </a:extLst>
          </p:cNvPr>
          <p:cNvCxnSpPr>
            <a:cxnSpLocks/>
          </p:cNvCxnSpPr>
          <p:nvPr/>
        </p:nvCxnSpPr>
        <p:spPr>
          <a:xfrm flipV="1">
            <a:off x="10004376" y="3544186"/>
            <a:ext cx="557298" cy="1240076"/>
          </a:xfrm>
          <a:prstGeom prst="line">
            <a:avLst/>
          </a:prstGeom>
          <a:ln w="19050">
            <a:solidFill>
              <a:srgbClr val="000000"/>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348FD3A-5EB4-F0E2-1AC4-0FF8F3A52543}"/>
              </a:ext>
            </a:extLst>
          </p:cNvPr>
          <p:cNvCxnSpPr>
            <a:cxnSpLocks/>
          </p:cNvCxnSpPr>
          <p:nvPr/>
        </p:nvCxnSpPr>
        <p:spPr>
          <a:xfrm flipV="1">
            <a:off x="11637404" y="1877392"/>
            <a:ext cx="0" cy="310321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79195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2BF5D-8009-2C2C-8CD7-5FA5D9F80FC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32C8622-AF08-B723-B02B-30617A531D79}"/>
              </a:ext>
            </a:extLst>
          </p:cNvPr>
          <p:cNvSpPr>
            <a:spLocks noGrp="1"/>
          </p:cNvSpPr>
          <p:nvPr>
            <p:ph type="ftr" sz="quarter" idx="16"/>
          </p:nvPr>
        </p:nvSpPr>
        <p:spPr/>
        <p:txBody>
          <a:bodyPr/>
          <a:lstStyle/>
          <a:p>
            <a:r>
              <a:rPr lang="en-US" sz="900">
                <a:latin typeface="Source Sans Pro"/>
                <a:ea typeface="Source Sans Pro"/>
              </a:rPr>
              <a:t>REGEN PDR</a:t>
            </a:r>
          </a:p>
        </p:txBody>
      </p:sp>
      <p:sp>
        <p:nvSpPr>
          <p:cNvPr id="4" name="Slide Number Placeholder 3">
            <a:extLst>
              <a:ext uri="{FF2B5EF4-FFF2-40B4-BE49-F238E27FC236}">
                <a16:creationId xmlns:a16="http://schemas.microsoft.com/office/drawing/2014/main" id="{84AF024C-B37B-BDAC-29B1-6511D95455A0}"/>
              </a:ext>
            </a:extLst>
          </p:cNvPr>
          <p:cNvSpPr>
            <a:spLocks noGrp="1"/>
          </p:cNvSpPr>
          <p:nvPr>
            <p:ph type="sldNum" sz="quarter" idx="17"/>
          </p:nvPr>
        </p:nvSpPr>
        <p:spPr/>
        <p:txBody>
          <a:bodyPr/>
          <a:lstStyle/>
          <a:p>
            <a:r>
              <a:rPr lang="en-US" sz="900">
                <a:latin typeface="Source Sans Pro"/>
                <a:ea typeface="Source Sans Pro"/>
              </a:rPr>
              <a:t>/  13</a:t>
            </a:r>
          </a:p>
        </p:txBody>
      </p:sp>
      <p:sp>
        <p:nvSpPr>
          <p:cNvPr id="5" name="Title 4">
            <a:extLst>
              <a:ext uri="{FF2B5EF4-FFF2-40B4-BE49-F238E27FC236}">
                <a16:creationId xmlns:a16="http://schemas.microsoft.com/office/drawing/2014/main" id="{DDE7917D-6458-3841-0DAB-A469EAFF96A8}"/>
              </a:ext>
            </a:extLst>
          </p:cNvPr>
          <p:cNvSpPr>
            <a:spLocks noGrp="1"/>
          </p:cNvSpPr>
          <p:nvPr>
            <p:ph type="title"/>
          </p:nvPr>
        </p:nvSpPr>
        <p:spPr>
          <a:xfrm>
            <a:off x="531848" y="716984"/>
            <a:ext cx="10265547" cy="625567"/>
          </a:xfrm>
        </p:spPr>
        <p:txBody>
          <a:bodyPr/>
          <a:lstStyle/>
          <a:p>
            <a:r>
              <a:rPr lang="en-US">
                <a:solidFill>
                  <a:srgbClr val="154734"/>
                </a:solidFill>
                <a:latin typeface="Munistic"/>
              </a:rPr>
              <a:t>Thermal Model</a:t>
            </a:r>
          </a:p>
        </p:txBody>
      </p:sp>
      <p:sp>
        <p:nvSpPr>
          <p:cNvPr id="6" name="Body 11">
            <a:extLst>
              <a:ext uri="{FF2B5EF4-FFF2-40B4-BE49-F238E27FC236}">
                <a16:creationId xmlns:a16="http://schemas.microsoft.com/office/drawing/2014/main" id="{731F0185-633C-444F-81A9-3B69D90A1A52}"/>
              </a:ext>
            </a:extLst>
          </p:cNvPr>
          <p:cNvSpPr txBox="1"/>
          <p:nvPr/>
        </p:nvSpPr>
        <p:spPr>
          <a:xfrm>
            <a:off x="560000" y="1640000"/>
            <a:ext cx="11070000" cy="3312489"/>
          </a:xfrm>
          <a:prstGeom prst="rect">
            <a:avLst/>
          </a:prstGeom>
          <a:noFill/>
        </p:spPr>
        <p:txBody>
          <a:bodyPr wrap="square" lIns="91440" tIns="45720" rIns="91440" bIns="45720" anchor="t">
            <a:noAutofit/>
          </a:bodyPr>
          <a:lstStyle/>
          <a:p>
            <a:pPr marL="285750" indent="-285750">
              <a:spcBef>
                <a:spcPts val="600"/>
              </a:spcBef>
              <a:buClr>
                <a:srgbClr val="BD8B13"/>
              </a:buClr>
              <a:buFont typeface="Arial"/>
              <a:buChar char="•"/>
            </a:pPr>
            <a:r>
              <a:rPr lang="en-US" sz="2200">
                <a:solidFill>
                  <a:schemeClr val="tx1"/>
                </a:solidFill>
              </a:rPr>
              <a:t>Looped in </a:t>
            </a:r>
            <a:r>
              <a:rPr lang="en-US" sz="2200" err="1">
                <a:solidFill>
                  <a:schemeClr val="tx1"/>
                </a:solidFill>
              </a:rPr>
              <a:t>MatLab</a:t>
            </a:r>
            <a:r>
              <a:rPr lang="en-US" sz="2200">
                <a:solidFill>
                  <a:schemeClr val="tx1"/>
                </a:solidFill>
              </a:rPr>
              <a:t> from coolant inlet to injector, for entire length of engine.</a:t>
            </a:r>
          </a:p>
          <a:p>
            <a:pPr marL="285750" indent="-285750">
              <a:spcBef>
                <a:spcPts val="600"/>
              </a:spcBef>
              <a:buClr>
                <a:srgbClr val="BD8B13"/>
              </a:buClr>
              <a:buFont typeface="Arial"/>
              <a:buChar char="•"/>
            </a:pPr>
            <a:r>
              <a:rPr lang="en-US" sz="2200"/>
              <a:t>Gas side: Bartz with sigma correction, NASA CEA gas properties</a:t>
            </a:r>
            <a:endParaRPr lang="en-US" sz="2200">
              <a:solidFill>
                <a:schemeClr val="tx1"/>
              </a:solidFill>
            </a:endParaRPr>
          </a:p>
          <a:p>
            <a:pPr marL="285750" indent="-285750">
              <a:spcBef>
                <a:spcPts val="600"/>
              </a:spcBef>
              <a:buClr>
                <a:srgbClr val="BD8B13"/>
              </a:buClr>
              <a:buFont typeface="Arial"/>
              <a:buChar char="•"/>
            </a:pPr>
            <a:r>
              <a:rPr lang="en-US" sz="2200">
                <a:solidFill>
                  <a:schemeClr val="tx1"/>
                </a:solidFill>
              </a:rPr>
              <a:t>Coolant side: </a:t>
            </a:r>
            <a:r>
              <a:rPr lang="en-US" sz="2200" err="1">
                <a:solidFill>
                  <a:schemeClr val="tx1"/>
                </a:solidFill>
              </a:rPr>
              <a:t>Gnielinski</a:t>
            </a:r>
            <a:r>
              <a:rPr lang="en-US" sz="2200">
                <a:solidFill>
                  <a:schemeClr val="tx1"/>
                </a:solidFill>
              </a:rPr>
              <a:t> for Nusselt with </a:t>
            </a:r>
            <a:r>
              <a:rPr lang="en-US" sz="2200" err="1">
                <a:solidFill>
                  <a:schemeClr val="tx1"/>
                </a:solidFill>
              </a:rPr>
              <a:t>Sieder</a:t>
            </a:r>
            <a:r>
              <a:rPr lang="en-US" sz="2200">
                <a:solidFill>
                  <a:schemeClr val="tx1"/>
                </a:solidFill>
              </a:rPr>
              <a:t>-Tate viscosity correction, Haaland to calculate Darcy-Weisbach friction factor for roughness (a</a:t>
            </a:r>
            <a:r>
              <a:rPr lang="en-US" sz="2200"/>
              <a:t>ssumed Ra of 6µm from vendor specs, converted to sand grain using standard industry model of </a:t>
            </a:r>
            <a:r>
              <a:rPr lang="el-GR" sz="2200"/>
              <a:t>ε</a:t>
            </a:r>
            <a:r>
              <a:rPr lang="en-US" sz="2200"/>
              <a:t> = 4 * Ra, which is conservative)</a:t>
            </a:r>
            <a:endParaRPr lang="en-US" sz="2200">
              <a:solidFill>
                <a:schemeClr val="tx1"/>
              </a:solidFill>
            </a:endParaRPr>
          </a:p>
          <a:p>
            <a:pPr marL="285750" indent="-285750">
              <a:spcBef>
                <a:spcPts val="600"/>
              </a:spcBef>
              <a:buClr>
                <a:srgbClr val="BD8B13"/>
              </a:buClr>
              <a:buFont typeface="Arial"/>
              <a:buChar char="•"/>
            </a:pPr>
            <a:r>
              <a:rPr lang="en-US" sz="2200">
                <a:solidFill>
                  <a:schemeClr val="tx1"/>
                </a:solidFill>
              </a:rPr>
              <a:t>Lands treated as straight fins in heat transfer</a:t>
            </a:r>
          </a:p>
          <a:p>
            <a:pPr marL="285750" indent="-285750">
              <a:spcBef>
                <a:spcPts val="600"/>
              </a:spcBef>
              <a:buClr>
                <a:srgbClr val="BD8B13"/>
              </a:buClr>
              <a:buFont typeface="Arial"/>
              <a:buChar char="•"/>
            </a:pPr>
            <a:r>
              <a:rPr lang="en-US" sz="2200"/>
              <a:t>Solved for steady state heat transfer for cold wall and hot wall</a:t>
            </a:r>
            <a:endParaRPr lang="en-US" sz="2200">
              <a:solidFill>
                <a:schemeClr val="tx1"/>
              </a:solidFill>
            </a:endParaRPr>
          </a:p>
          <a:p>
            <a:pPr marL="285750" indent="-285750">
              <a:spcBef>
                <a:spcPts val="600"/>
              </a:spcBef>
              <a:buClr>
                <a:srgbClr val="BD8B13"/>
              </a:buClr>
              <a:buFont typeface="Arial"/>
              <a:buChar char="•"/>
            </a:pPr>
            <a:r>
              <a:rPr lang="en-US" sz="2200">
                <a:solidFill>
                  <a:schemeClr val="tx1"/>
                </a:solidFill>
              </a:rPr>
              <a:t>Hot Wall Flux -&gt; Bulk Coolant Temp -&gt; Cold Wall Temp -&gt; Hot Wall Temp</a:t>
            </a:r>
          </a:p>
        </p:txBody>
      </p:sp>
    </p:spTree>
    <p:extLst>
      <p:ext uri="{BB962C8B-B14F-4D97-AF65-F5344CB8AC3E}">
        <p14:creationId xmlns:p14="http://schemas.microsoft.com/office/powerpoint/2010/main" val="2499137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2BF5D-8009-2C2C-8CD7-5FA5D9F80FC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32C8622-AF08-B723-B02B-30617A531D79}"/>
              </a:ext>
            </a:extLst>
          </p:cNvPr>
          <p:cNvSpPr>
            <a:spLocks noGrp="1"/>
          </p:cNvSpPr>
          <p:nvPr>
            <p:ph type="ftr" sz="quarter" idx="16"/>
          </p:nvPr>
        </p:nvSpPr>
        <p:spPr/>
        <p:txBody>
          <a:bodyPr/>
          <a:lstStyle/>
          <a:p>
            <a:r>
              <a:rPr lang="en-US" sz="900">
                <a:latin typeface="Source Sans Pro"/>
                <a:ea typeface="Source Sans Pro"/>
              </a:rPr>
              <a:t>REGEN PDR</a:t>
            </a:r>
          </a:p>
        </p:txBody>
      </p:sp>
      <p:sp>
        <p:nvSpPr>
          <p:cNvPr id="4" name="Slide Number Placeholder 3">
            <a:extLst>
              <a:ext uri="{FF2B5EF4-FFF2-40B4-BE49-F238E27FC236}">
                <a16:creationId xmlns:a16="http://schemas.microsoft.com/office/drawing/2014/main" id="{84AF024C-B37B-BDAC-29B1-6511D95455A0}"/>
              </a:ext>
            </a:extLst>
          </p:cNvPr>
          <p:cNvSpPr>
            <a:spLocks noGrp="1"/>
          </p:cNvSpPr>
          <p:nvPr>
            <p:ph type="sldNum" sz="quarter" idx="17"/>
          </p:nvPr>
        </p:nvSpPr>
        <p:spPr/>
        <p:txBody>
          <a:bodyPr/>
          <a:lstStyle/>
          <a:p>
            <a:r>
              <a:rPr lang="en-US" sz="900">
                <a:latin typeface="Source Sans Pro"/>
                <a:ea typeface="Source Sans Pro"/>
              </a:rPr>
              <a:t>/  14</a:t>
            </a:r>
          </a:p>
        </p:txBody>
      </p:sp>
      <p:sp>
        <p:nvSpPr>
          <p:cNvPr id="5" name="Title 4">
            <a:extLst>
              <a:ext uri="{FF2B5EF4-FFF2-40B4-BE49-F238E27FC236}">
                <a16:creationId xmlns:a16="http://schemas.microsoft.com/office/drawing/2014/main" id="{DDE7917D-6458-3841-0DAB-A469EAFF96A8}"/>
              </a:ext>
            </a:extLst>
          </p:cNvPr>
          <p:cNvSpPr>
            <a:spLocks noGrp="1"/>
          </p:cNvSpPr>
          <p:nvPr>
            <p:ph type="title"/>
          </p:nvPr>
        </p:nvSpPr>
        <p:spPr>
          <a:xfrm>
            <a:off x="531848" y="716984"/>
            <a:ext cx="10265547" cy="625567"/>
          </a:xfrm>
        </p:spPr>
        <p:txBody>
          <a:bodyPr/>
          <a:lstStyle/>
          <a:p>
            <a:r>
              <a:rPr lang="en-US">
                <a:solidFill>
                  <a:srgbClr val="154734"/>
                </a:solidFill>
                <a:latin typeface="Munistic"/>
              </a:rPr>
              <a:t>Thermal Model Equations</a:t>
            </a:r>
          </a:p>
        </p:txBody>
      </p:sp>
      <p:pic>
        <p:nvPicPr>
          <p:cNvPr id="8" name="Picture 7" descr="Gnielinski equation - correlation">
            <a:extLst>
              <a:ext uri="{FF2B5EF4-FFF2-40B4-BE49-F238E27FC236}">
                <a16:creationId xmlns:a16="http://schemas.microsoft.com/office/drawing/2014/main" id="{C35103C5-F638-DE6D-477A-2B832EEADF3F}"/>
              </a:ext>
            </a:extLst>
          </p:cNvPr>
          <p:cNvPicPr>
            <a:picLocks noChangeAspect="1"/>
          </p:cNvPicPr>
          <p:nvPr/>
        </p:nvPicPr>
        <p:blipFill>
          <a:blip r:embed="rId2"/>
          <a:srcRect l="-2481" t="18897" r="46155" b="50776"/>
          <a:stretch>
            <a:fillRect/>
          </a:stretch>
        </p:blipFill>
        <p:spPr>
          <a:xfrm>
            <a:off x="21676" y="4474602"/>
            <a:ext cx="4804527" cy="1241709"/>
          </a:xfrm>
          <a:prstGeom prst="rect">
            <a:avLst/>
          </a:prstGeom>
        </p:spPr>
      </p:pic>
      <p:pic>
        <p:nvPicPr>
          <p:cNvPr id="10" name="Picture 9">
            <a:extLst>
              <a:ext uri="{FF2B5EF4-FFF2-40B4-BE49-F238E27FC236}">
                <a16:creationId xmlns:a16="http://schemas.microsoft.com/office/drawing/2014/main" id="{C6F740F5-732E-754D-B2E1-371628B0BEB0}"/>
              </a:ext>
            </a:extLst>
          </p:cNvPr>
          <p:cNvPicPr>
            <a:picLocks noChangeAspect="1"/>
          </p:cNvPicPr>
          <p:nvPr/>
        </p:nvPicPr>
        <p:blipFill>
          <a:blip r:embed="rId3"/>
          <a:stretch>
            <a:fillRect/>
          </a:stretch>
        </p:blipFill>
        <p:spPr>
          <a:xfrm>
            <a:off x="5840078" y="2086326"/>
            <a:ext cx="4181475" cy="866775"/>
          </a:xfrm>
          <a:prstGeom prst="rect">
            <a:avLst/>
          </a:prstGeom>
        </p:spPr>
      </p:pic>
      <p:sp>
        <p:nvSpPr>
          <p:cNvPr id="12" name="TextBox 11">
            <a:extLst>
              <a:ext uri="{FF2B5EF4-FFF2-40B4-BE49-F238E27FC236}">
                <a16:creationId xmlns:a16="http://schemas.microsoft.com/office/drawing/2014/main" id="{426960C6-4058-399B-227A-17D8F1C9EE40}"/>
              </a:ext>
            </a:extLst>
          </p:cNvPr>
          <p:cNvSpPr txBox="1"/>
          <p:nvPr/>
        </p:nvSpPr>
        <p:spPr>
          <a:xfrm>
            <a:off x="5340247" y="1624661"/>
            <a:ext cx="5916235" cy="461665"/>
          </a:xfrm>
          <a:prstGeom prst="rect">
            <a:avLst/>
          </a:prstGeom>
          <a:noFill/>
        </p:spPr>
        <p:txBody>
          <a:bodyPr wrap="none" rtlCol="0">
            <a:spAutoFit/>
          </a:bodyPr>
          <a:lstStyle/>
          <a:p>
            <a:r>
              <a:rPr lang="en-US" sz="2400"/>
              <a:t>Haaland Equation for Darcy-Weisbach Friction</a:t>
            </a:r>
          </a:p>
        </p:txBody>
      </p:sp>
      <p:sp>
        <p:nvSpPr>
          <p:cNvPr id="14" name="TextBox 13">
            <a:extLst>
              <a:ext uri="{FF2B5EF4-FFF2-40B4-BE49-F238E27FC236}">
                <a16:creationId xmlns:a16="http://schemas.microsoft.com/office/drawing/2014/main" id="{D913B0F7-2707-8678-821B-A35DDE14E819}"/>
              </a:ext>
            </a:extLst>
          </p:cNvPr>
          <p:cNvSpPr txBox="1"/>
          <p:nvPr/>
        </p:nvSpPr>
        <p:spPr>
          <a:xfrm>
            <a:off x="263676" y="4085985"/>
            <a:ext cx="4292585" cy="461665"/>
          </a:xfrm>
          <a:prstGeom prst="rect">
            <a:avLst/>
          </a:prstGeom>
          <a:noFill/>
        </p:spPr>
        <p:txBody>
          <a:bodyPr wrap="none" rtlCol="0">
            <a:spAutoFit/>
          </a:bodyPr>
          <a:lstStyle/>
          <a:p>
            <a:r>
              <a:rPr lang="en-US" sz="2400"/>
              <a:t>Gnielinski Correlation for Nusselt</a:t>
            </a:r>
          </a:p>
        </p:txBody>
      </p:sp>
      <p:sp>
        <p:nvSpPr>
          <p:cNvPr id="7" name="TextBox 6">
            <a:extLst>
              <a:ext uri="{FF2B5EF4-FFF2-40B4-BE49-F238E27FC236}">
                <a16:creationId xmlns:a16="http://schemas.microsoft.com/office/drawing/2014/main" id="{96C11D4A-35D7-6188-8C4B-AD2288A361A6}"/>
              </a:ext>
            </a:extLst>
          </p:cNvPr>
          <p:cNvSpPr txBox="1"/>
          <p:nvPr/>
        </p:nvSpPr>
        <p:spPr>
          <a:xfrm>
            <a:off x="2587256" y="2683874"/>
            <a:ext cx="184731" cy="369332"/>
          </a:xfrm>
          <a:prstGeom prst="rect">
            <a:avLst/>
          </a:prstGeom>
          <a:noFill/>
        </p:spPr>
        <p:txBody>
          <a:bodyPr wrap="none" rtlCol="0">
            <a:spAutoFit/>
          </a:bodyPr>
          <a:lstStyle/>
          <a:p>
            <a:endParaRPr lang="en-US"/>
          </a:p>
        </p:txBody>
      </p:sp>
      <p:pic>
        <p:nvPicPr>
          <p:cNvPr id="11" name="Picture 10">
            <a:extLst>
              <a:ext uri="{FF2B5EF4-FFF2-40B4-BE49-F238E27FC236}">
                <a16:creationId xmlns:a16="http://schemas.microsoft.com/office/drawing/2014/main" id="{5490B391-A2C0-1083-8767-2563A7FC9BC3}"/>
              </a:ext>
            </a:extLst>
          </p:cNvPr>
          <p:cNvPicPr>
            <a:picLocks noChangeAspect="1"/>
          </p:cNvPicPr>
          <p:nvPr/>
        </p:nvPicPr>
        <p:blipFill>
          <a:blip r:embed="rId4"/>
          <a:stretch>
            <a:fillRect/>
          </a:stretch>
        </p:blipFill>
        <p:spPr>
          <a:xfrm>
            <a:off x="453206" y="2479158"/>
            <a:ext cx="2171067" cy="949842"/>
          </a:xfrm>
          <a:prstGeom prst="rect">
            <a:avLst/>
          </a:prstGeom>
        </p:spPr>
      </p:pic>
      <p:sp>
        <p:nvSpPr>
          <p:cNvPr id="15" name="TextBox 14">
            <a:extLst>
              <a:ext uri="{FF2B5EF4-FFF2-40B4-BE49-F238E27FC236}">
                <a16:creationId xmlns:a16="http://schemas.microsoft.com/office/drawing/2014/main" id="{A3DF1A47-3BED-57FB-697D-CAD4C4E74E13}"/>
              </a:ext>
            </a:extLst>
          </p:cNvPr>
          <p:cNvSpPr txBox="1"/>
          <p:nvPr/>
        </p:nvSpPr>
        <p:spPr>
          <a:xfrm>
            <a:off x="0" y="1585176"/>
            <a:ext cx="184731" cy="369332"/>
          </a:xfrm>
          <a:prstGeom prst="rect">
            <a:avLst/>
          </a:prstGeom>
          <a:noFill/>
        </p:spPr>
        <p:txBody>
          <a:bodyPr wrap="none" rtlCol="0">
            <a:spAutoFit/>
          </a:bodyPr>
          <a:lstStyle/>
          <a:p>
            <a:endParaRPr lang="en-US"/>
          </a:p>
        </p:txBody>
      </p:sp>
      <p:sp>
        <p:nvSpPr>
          <p:cNvPr id="17" name="TextBox 16">
            <a:extLst>
              <a:ext uri="{FF2B5EF4-FFF2-40B4-BE49-F238E27FC236}">
                <a16:creationId xmlns:a16="http://schemas.microsoft.com/office/drawing/2014/main" id="{AC12E8FB-4DA7-2AE7-2312-F1F5B6F60A49}"/>
              </a:ext>
            </a:extLst>
          </p:cNvPr>
          <p:cNvSpPr txBox="1"/>
          <p:nvPr/>
        </p:nvSpPr>
        <p:spPr>
          <a:xfrm>
            <a:off x="263676" y="1545803"/>
            <a:ext cx="4478006" cy="830997"/>
          </a:xfrm>
          <a:prstGeom prst="rect">
            <a:avLst/>
          </a:prstGeom>
          <a:noFill/>
        </p:spPr>
        <p:txBody>
          <a:bodyPr wrap="square" rtlCol="0">
            <a:spAutoFit/>
          </a:bodyPr>
          <a:lstStyle/>
          <a:p>
            <a:r>
              <a:rPr lang="en-US" sz="2400"/>
              <a:t>Convective Heat Transfer Coefficient for Internal Fluid Flow</a:t>
            </a:r>
          </a:p>
        </p:txBody>
      </p:sp>
      <p:pic>
        <p:nvPicPr>
          <p:cNvPr id="20" name="Picture 19" descr="Sieder-Tate Equation - correlation">
            <a:extLst>
              <a:ext uri="{FF2B5EF4-FFF2-40B4-BE49-F238E27FC236}">
                <a16:creationId xmlns:a16="http://schemas.microsoft.com/office/drawing/2014/main" id="{54B6B795-C223-395E-B6BB-2A9EA272678F}"/>
              </a:ext>
            </a:extLst>
          </p:cNvPr>
          <p:cNvPicPr>
            <a:picLocks noChangeAspect="1"/>
          </p:cNvPicPr>
          <p:nvPr/>
        </p:nvPicPr>
        <p:blipFill>
          <a:blip r:embed="rId5"/>
          <a:srcRect t="20111" r="42636" b="47449"/>
          <a:stretch>
            <a:fillRect/>
          </a:stretch>
        </p:blipFill>
        <p:spPr>
          <a:xfrm>
            <a:off x="7491867" y="4771674"/>
            <a:ext cx="4146033" cy="1138680"/>
          </a:xfrm>
          <a:prstGeom prst="rect">
            <a:avLst/>
          </a:prstGeom>
        </p:spPr>
      </p:pic>
      <p:sp>
        <p:nvSpPr>
          <p:cNvPr id="22" name="TextBox 21">
            <a:extLst>
              <a:ext uri="{FF2B5EF4-FFF2-40B4-BE49-F238E27FC236}">
                <a16:creationId xmlns:a16="http://schemas.microsoft.com/office/drawing/2014/main" id="{935BBFE4-E918-D237-C7A0-35E395D24842}"/>
              </a:ext>
            </a:extLst>
          </p:cNvPr>
          <p:cNvSpPr txBox="1"/>
          <p:nvPr/>
        </p:nvSpPr>
        <p:spPr>
          <a:xfrm>
            <a:off x="7644368" y="3940677"/>
            <a:ext cx="4387702" cy="830997"/>
          </a:xfrm>
          <a:prstGeom prst="rect">
            <a:avLst/>
          </a:prstGeom>
          <a:noFill/>
        </p:spPr>
        <p:txBody>
          <a:bodyPr wrap="square" rtlCol="0">
            <a:spAutoFit/>
          </a:bodyPr>
          <a:lstStyle/>
          <a:p>
            <a:r>
              <a:rPr lang="en-US" sz="2400"/>
              <a:t>Sieder-Tate Correlation for Nusselt (Viscosity Correction)</a:t>
            </a:r>
          </a:p>
        </p:txBody>
      </p:sp>
      <p:sp>
        <p:nvSpPr>
          <p:cNvPr id="24" name="Rectangle 23">
            <a:extLst>
              <a:ext uri="{FF2B5EF4-FFF2-40B4-BE49-F238E27FC236}">
                <a16:creationId xmlns:a16="http://schemas.microsoft.com/office/drawing/2014/main" id="{88226DC3-2B07-22E2-78C9-A5E8013897F8}"/>
              </a:ext>
            </a:extLst>
          </p:cNvPr>
          <p:cNvSpPr/>
          <p:nvPr/>
        </p:nvSpPr>
        <p:spPr>
          <a:xfrm>
            <a:off x="10578953" y="4858542"/>
            <a:ext cx="1058947" cy="96494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1087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9946BBB-669F-6A85-9A00-B824288CDFE9}"/>
              </a:ext>
            </a:extLst>
          </p:cNvPr>
          <p:cNvSpPr>
            <a:spLocks noGrp="1"/>
          </p:cNvSpPr>
          <p:nvPr>
            <p:ph type="ftr" sz="quarter" idx="16"/>
          </p:nvPr>
        </p:nvSpPr>
        <p:spPr/>
        <p:txBody>
          <a:bodyPr/>
          <a:lstStyle/>
          <a:p>
            <a:r>
              <a:rPr lang="en-US"/>
              <a:t>REGEN PDR</a:t>
            </a:r>
          </a:p>
        </p:txBody>
      </p:sp>
      <p:sp>
        <p:nvSpPr>
          <p:cNvPr id="4" name="Slide Number Placeholder 3">
            <a:extLst>
              <a:ext uri="{FF2B5EF4-FFF2-40B4-BE49-F238E27FC236}">
                <a16:creationId xmlns:a16="http://schemas.microsoft.com/office/drawing/2014/main" id="{A3A0BB99-BF0C-4524-4827-8C912774EC63}"/>
              </a:ext>
            </a:extLst>
          </p:cNvPr>
          <p:cNvSpPr>
            <a:spLocks noGrp="1"/>
          </p:cNvSpPr>
          <p:nvPr>
            <p:ph type="sldNum" sz="quarter" idx="17"/>
          </p:nvPr>
        </p:nvSpPr>
        <p:spPr/>
        <p:txBody>
          <a:bodyPr/>
          <a:lstStyle/>
          <a:p>
            <a:r>
              <a:rPr lang="en-US"/>
              <a:t>/   15</a:t>
            </a:r>
          </a:p>
        </p:txBody>
      </p:sp>
      <p:sp>
        <p:nvSpPr>
          <p:cNvPr id="5" name="Title 4">
            <a:extLst>
              <a:ext uri="{FF2B5EF4-FFF2-40B4-BE49-F238E27FC236}">
                <a16:creationId xmlns:a16="http://schemas.microsoft.com/office/drawing/2014/main" id="{D40FA097-1139-595F-218F-5F05D775F567}"/>
              </a:ext>
            </a:extLst>
          </p:cNvPr>
          <p:cNvSpPr>
            <a:spLocks noGrp="1"/>
          </p:cNvSpPr>
          <p:nvPr>
            <p:ph type="title"/>
          </p:nvPr>
        </p:nvSpPr>
        <p:spPr>
          <a:xfrm>
            <a:off x="531848" y="716984"/>
            <a:ext cx="8744232" cy="625567"/>
          </a:xfrm>
        </p:spPr>
        <p:txBody>
          <a:bodyPr/>
          <a:lstStyle/>
          <a:p>
            <a:r>
              <a:rPr lang="en-US">
                <a:latin typeface="Munistic"/>
              </a:rPr>
              <a:t>Steady State Heat Transfer</a:t>
            </a:r>
            <a:endParaRPr lang="en-US"/>
          </a:p>
        </p:txBody>
      </p:sp>
      <p:pic>
        <p:nvPicPr>
          <p:cNvPr id="7" name="Picture 6" descr="A white paper with black text&#10;&#10;AI-generated content may be incorrect.">
            <a:extLst>
              <a:ext uri="{FF2B5EF4-FFF2-40B4-BE49-F238E27FC236}">
                <a16:creationId xmlns:a16="http://schemas.microsoft.com/office/drawing/2014/main" id="{950C37F9-7C0C-59A5-464B-4180C4F1D9EA}"/>
              </a:ext>
            </a:extLst>
          </p:cNvPr>
          <p:cNvPicPr>
            <a:picLocks noChangeAspect="1"/>
          </p:cNvPicPr>
          <p:nvPr/>
        </p:nvPicPr>
        <p:blipFill>
          <a:blip r:embed="rId3"/>
          <a:srcRect b="9443"/>
          <a:stretch>
            <a:fillRect/>
          </a:stretch>
        </p:blipFill>
        <p:spPr>
          <a:xfrm>
            <a:off x="5826750" y="1452800"/>
            <a:ext cx="5450850" cy="4746295"/>
          </a:xfrm>
          <a:prstGeom prst="rect">
            <a:avLst/>
          </a:prstGeom>
        </p:spPr>
      </p:pic>
      <p:sp>
        <p:nvSpPr>
          <p:cNvPr id="6" name="TextBox 5">
            <a:extLst>
              <a:ext uri="{FF2B5EF4-FFF2-40B4-BE49-F238E27FC236}">
                <a16:creationId xmlns:a16="http://schemas.microsoft.com/office/drawing/2014/main" id="{EDFAF1BB-1BC4-5085-E45F-E13EF661D19D}"/>
              </a:ext>
            </a:extLst>
          </p:cNvPr>
          <p:cNvSpPr txBox="1"/>
          <p:nvPr/>
        </p:nvSpPr>
        <p:spPr>
          <a:xfrm>
            <a:off x="914400" y="1766758"/>
            <a:ext cx="4779390" cy="1200329"/>
          </a:xfrm>
          <a:prstGeom prst="rect">
            <a:avLst/>
          </a:prstGeom>
          <a:noFill/>
        </p:spPr>
        <p:txBody>
          <a:bodyPr wrap="square" rtlCol="0">
            <a:spAutoFit/>
          </a:bodyPr>
          <a:lstStyle/>
          <a:p>
            <a:r>
              <a:rPr lang="en-US" sz="2400"/>
              <a:t>Derived relationships between coolant temperature versus cold wall and cold wall versus hot wall</a:t>
            </a:r>
          </a:p>
        </p:txBody>
      </p:sp>
    </p:spTree>
    <p:extLst>
      <p:ext uri="{BB962C8B-B14F-4D97-AF65-F5344CB8AC3E}">
        <p14:creationId xmlns:p14="http://schemas.microsoft.com/office/powerpoint/2010/main" val="1203170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2BF5D-8009-2C2C-8CD7-5FA5D9F80FC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32C8622-AF08-B723-B02B-30617A531D79}"/>
              </a:ext>
            </a:extLst>
          </p:cNvPr>
          <p:cNvSpPr>
            <a:spLocks noGrp="1"/>
          </p:cNvSpPr>
          <p:nvPr>
            <p:ph type="ftr" sz="quarter" idx="16"/>
          </p:nvPr>
        </p:nvSpPr>
        <p:spPr/>
        <p:txBody>
          <a:bodyPr/>
          <a:lstStyle/>
          <a:p>
            <a:r>
              <a:rPr lang="en-US" sz="900">
                <a:latin typeface="Source Sans Pro"/>
                <a:ea typeface="Source Sans Pro"/>
              </a:rPr>
              <a:t>REGEN PDR</a:t>
            </a:r>
          </a:p>
        </p:txBody>
      </p:sp>
      <p:sp>
        <p:nvSpPr>
          <p:cNvPr id="4" name="Slide Number Placeholder 3">
            <a:extLst>
              <a:ext uri="{FF2B5EF4-FFF2-40B4-BE49-F238E27FC236}">
                <a16:creationId xmlns:a16="http://schemas.microsoft.com/office/drawing/2014/main" id="{84AF024C-B37B-BDAC-29B1-6511D95455A0}"/>
              </a:ext>
            </a:extLst>
          </p:cNvPr>
          <p:cNvSpPr>
            <a:spLocks noGrp="1"/>
          </p:cNvSpPr>
          <p:nvPr>
            <p:ph type="sldNum" sz="quarter" idx="17"/>
          </p:nvPr>
        </p:nvSpPr>
        <p:spPr/>
        <p:txBody>
          <a:bodyPr/>
          <a:lstStyle/>
          <a:p>
            <a:r>
              <a:rPr lang="en-US" sz="900">
                <a:latin typeface="Source Sans Pro"/>
                <a:ea typeface="Source Sans Pro"/>
              </a:rPr>
              <a:t>/  16</a:t>
            </a:r>
          </a:p>
        </p:txBody>
      </p:sp>
      <p:sp>
        <p:nvSpPr>
          <p:cNvPr id="5" name="Title 4">
            <a:extLst>
              <a:ext uri="{FF2B5EF4-FFF2-40B4-BE49-F238E27FC236}">
                <a16:creationId xmlns:a16="http://schemas.microsoft.com/office/drawing/2014/main" id="{DDE7917D-6458-3841-0DAB-A469EAFF96A8}"/>
              </a:ext>
            </a:extLst>
          </p:cNvPr>
          <p:cNvSpPr>
            <a:spLocks noGrp="1"/>
          </p:cNvSpPr>
          <p:nvPr>
            <p:ph type="title"/>
          </p:nvPr>
        </p:nvSpPr>
        <p:spPr>
          <a:xfrm>
            <a:off x="531848" y="716984"/>
            <a:ext cx="10265547" cy="625567"/>
          </a:xfrm>
        </p:spPr>
        <p:txBody>
          <a:bodyPr/>
          <a:lstStyle/>
          <a:p>
            <a:r>
              <a:rPr lang="en-US">
                <a:solidFill>
                  <a:srgbClr val="154734"/>
                </a:solidFill>
                <a:latin typeface="Munistic"/>
              </a:rPr>
              <a:t>Thermal Results</a:t>
            </a:r>
          </a:p>
        </p:txBody>
      </p:sp>
      <p:pic>
        <p:nvPicPr>
          <p:cNvPr id="6" name="Picture 5" descr="A graph of a blue line and a black background&#10;&#10;AI-generated content may be incorrect.">
            <a:extLst>
              <a:ext uri="{FF2B5EF4-FFF2-40B4-BE49-F238E27FC236}">
                <a16:creationId xmlns:a16="http://schemas.microsoft.com/office/drawing/2014/main" id="{26FE826F-191B-E96C-0A68-BD908DAE5485}"/>
              </a:ext>
            </a:extLst>
          </p:cNvPr>
          <p:cNvPicPr>
            <a:picLocks noChangeAspect="1"/>
          </p:cNvPicPr>
          <p:nvPr/>
        </p:nvPicPr>
        <p:blipFill>
          <a:blip r:embed="rId2"/>
          <a:stretch>
            <a:fillRect/>
          </a:stretch>
        </p:blipFill>
        <p:spPr>
          <a:xfrm>
            <a:off x="5079803" y="3946035"/>
            <a:ext cx="7029680" cy="2267132"/>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20339287-50E5-7971-BB3C-8296960CE481}"/>
              </a:ext>
            </a:extLst>
          </p:cNvPr>
          <p:cNvPicPr>
            <a:picLocks noChangeAspect="1"/>
          </p:cNvPicPr>
          <p:nvPr/>
        </p:nvPicPr>
        <p:blipFill>
          <a:blip r:embed="rId3"/>
          <a:stretch>
            <a:fillRect/>
          </a:stretch>
        </p:blipFill>
        <p:spPr>
          <a:xfrm>
            <a:off x="988246" y="1844146"/>
            <a:ext cx="2946744" cy="2021967"/>
          </a:xfrm>
          <a:prstGeom prst="rect">
            <a:avLst/>
          </a:prstGeom>
        </p:spPr>
      </p:pic>
      <p:pic>
        <p:nvPicPr>
          <p:cNvPr id="10" name="Picture 9" descr="A graph of a temperature&#10;&#10;AI-generated content may be incorrect.">
            <a:extLst>
              <a:ext uri="{FF2B5EF4-FFF2-40B4-BE49-F238E27FC236}">
                <a16:creationId xmlns:a16="http://schemas.microsoft.com/office/drawing/2014/main" id="{F8E50187-8FC7-0292-C867-4A5B4492F5C7}"/>
              </a:ext>
            </a:extLst>
          </p:cNvPr>
          <p:cNvPicPr>
            <a:picLocks noChangeAspect="1"/>
          </p:cNvPicPr>
          <p:nvPr/>
        </p:nvPicPr>
        <p:blipFill>
          <a:blip r:embed="rId4"/>
          <a:stretch>
            <a:fillRect/>
          </a:stretch>
        </p:blipFill>
        <p:spPr>
          <a:xfrm>
            <a:off x="5079802" y="1462205"/>
            <a:ext cx="6998154" cy="2206110"/>
          </a:xfrm>
          <a:prstGeom prst="rect">
            <a:avLst/>
          </a:prstGeom>
        </p:spPr>
      </p:pic>
      <p:sp>
        <p:nvSpPr>
          <p:cNvPr id="12" name="TextBox 11">
            <a:extLst>
              <a:ext uri="{FF2B5EF4-FFF2-40B4-BE49-F238E27FC236}">
                <a16:creationId xmlns:a16="http://schemas.microsoft.com/office/drawing/2014/main" id="{C77D919F-F43B-B3E2-3C77-BFA06C8AFD74}"/>
              </a:ext>
            </a:extLst>
          </p:cNvPr>
          <p:cNvSpPr txBox="1"/>
          <p:nvPr/>
        </p:nvSpPr>
        <p:spPr>
          <a:xfrm>
            <a:off x="642737" y="4007057"/>
            <a:ext cx="4451440" cy="1938992"/>
          </a:xfrm>
          <a:prstGeom prst="rect">
            <a:avLst/>
          </a:prstGeom>
          <a:noFill/>
        </p:spPr>
        <p:txBody>
          <a:bodyPr wrap="square" rtlCol="0">
            <a:spAutoFit/>
          </a:bodyPr>
          <a:lstStyle/>
          <a:p>
            <a:r>
              <a:rPr lang="en-US" sz="2400"/>
              <a:t>Takeaways:</a:t>
            </a:r>
          </a:p>
          <a:p>
            <a:pPr marL="457200" indent="-457200">
              <a:buFont typeface="Arial" panose="020B0604020202020204" pitchFamily="34" charset="0"/>
              <a:buChar char="•"/>
            </a:pPr>
            <a:r>
              <a:rPr lang="en-US" sz="2400"/>
              <a:t>Bulk coolant is ~60K subcooled</a:t>
            </a:r>
          </a:p>
          <a:p>
            <a:pPr marL="457200" indent="-457200">
              <a:buFont typeface="Arial" panose="020B0604020202020204" pitchFamily="34" charset="0"/>
              <a:buChar char="•"/>
            </a:pPr>
            <a:r>
              <a:rPr lang="en-US" sz="2400"/>
              <a:t>Hot wall is ~50K below “failure” temperature</a:t>
            </a:r>
          </a:p>
          <a:p>
            <a:pPr marL="457200" indent="-457200">
              <a:buFont typeface="Arial" panose="020B0604020202020204" pitchFamily="34" charset="0"/>
              <a:buChar char="•"/>
            </a:pPr>
            <a:r>
              <a:rPr lang="en-US" sz="2400"/>
              <a:t>Pressure drop &lt;300psi</a:t>
            </a:r>
          </a:p>
        </p:txBody>
      </p:sp>
    </p:spTree>
    <p:extLst>
      <p:ext uri="{BB962C8B-B14F-4D97-AF65-F5344CB8AC3E}">
        <p14:creationId xmlns:p14="http://schemas.microsoft.com/office/powerpoint/2010/main" val="3432187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2BF5D-8009-2C2C-8CD7-5FA5D9F80FC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32C8622-AF08-B723-B02B-30617A531D79}"/>
              </a:ext>
            </a:extLst>
          </p:cNvPr>
          <p:cNvSpPr>
            <a:spLocks noGrp="1"/>
          </p:cNvSpPr>
          <p:nvPr>
            <p:ph type="ftr" sz="quarter" idx="16"/>
          </p:nvPr>
        </p:nvSpPr>
        <p:spPr/>
        <p:txBody>
          <a:bodyPr/>
          <a:lstStyle/>
          <a:p>
            <a:r>
              <a:rPr lang="en-US" sz="900">
                <a:latin typeface="Source Sans Pro"/>
                <a:ea typeface="Source Sans Pro"/>
              </a:rPr>
              <a:t>REGEN PDR</a:t>
            </a:r>
          </a:p>
        </p:txBody>
      </p:sp>
      <p:sp>
        <p:nvSpPr>
          <p:cNvPr id="4" name="Slide Number Placeholder 3">
            <a:extLst>
              <a:ext uri="{FF2B5EF4-FFF2-40B4-BE49-F238E27FC236}">
                <a16:creationId xmlns:a16="http://schemas.microsoft.com/office/drawing/2014/main" id="{84AF024C-B37B-BDAC-29B1-6511D95455A0}"/>
              </a:ext>
            </a:extLst>
          </p:cNvPr>
          <p:cNvSpPr>
            <a:spLocks noGrp="1"/>
          </p:cNvSpPr>
          <p:nvPr>
            <p:ph type="sldNum" sz="quarter" idx="17"/>
          </p:nvPr>
        </p:nvSpPr>
        <p:spPr/>
        <p:txBody>
          <a:bodyPr/>
          <a:lstStyle/>
          <a:p>
            <a:r>
              <a:rPr lang="en-US" sz="900">
                <a:latin typeface="Source Sans Pro"/>
                <a:ea typeface="Source Sans Pro"/>
              </a:rPr>
              <a:t>/  17</a:t>
            </a:r>
          </a:p>
        </p:txBody>
      </p:sp>
      <p:sp>
        <p:nvSpPr>
          <p:cNvPr id="5" name="Title 4">
            <a:extLst>
              <a:ext uri="{FF2B5EF4-FFF2-40B4-BE49-F238E27FC236}">
                <a16:creationId xmlns:a16="http://schemas.microsoft.com/office/drawing/2014/main" id="{DDE7917D-6458-3841-0DAB-A469EAFF96A8}"/>
              </a:ext>
            </a:extLst>
          </p:cNvPr>
          <p:cNvSpPr>
            <a:spLocks noGrp="1"/>
          </p:cNvSpPr>
          <p:nvPr>
            <p:ph type="title"/>
          </p:nvPr>
        </p:nvSpPr>
        <p:spPr>
          <a:xfrm>
            <a:off x="531848" y="716984"/>
            <a:ext cx="10265547" cy="625567"/>
          </a:xfrm>
        </p:spPr>
        <p:txBody>
          <a:bodyPr/>
          <a:lstStyle/>
          <a:p>
            <a:r>
              <a:rPr lang="en-US">
                <a:solidFill>
                  <a:srgbClr val="154734"/>
                </a:solidFill>
                <a:latin typeface="Munistic"/>
              </a:rPr>
              <a:t>Optimism vs. Pessimism </a:t>
            </a:r>
            <a:endParaRPr lang="en-US"/>
          </a:p>
        </p:txBody>
      </p:sp>
      <p:graphicFrame>
        <p:nvGraphicFramePr>
          <p:cNvPr id="7" name="Table 11">
            <a:extLst>
              <a:ext uri="{FF2B5EF4-FFF2-40B4-BE49-F238E27FC236}">
                <a16:creationId xmlns:a16="http://schemas.microsoft.com/office/drawing/2014/main" id="{18982397-0DD9-61A8-6B15-CAF8A9ABEF04}"/>
              </a:ext>
            </a:extLst>
          </p:cNvPr>
          <p:cNvGraphicFramePr>
            <a:graphicFrameLocks noGrp="1"/>
          </p:cNvGraphicFramePr>
          <p:nvPr>
            <p:extLst>
              <p:ext uri="{D42A27DB-BD31-4B8C-83A1-F6EECF244321}">
                <p14:modId xmlns:p14="http://schemas.microsoft.com/office/powerpoint/2010/main" val="1577475808"/>
              </p:ext>
            </p:extLst>
          </p:nvPr>
        </p:nvGraphicFramePr>
        <p:xfrm>
          <a:off x="560000" y="1990260"/>
          <a:ext cx="11070000" cy="3240799"/>
        </p:xfrm>
        <a:graphic>
          <a:graphicData uri="http://schemas.openxmlformats.org/drawingml/2006/table">
            <a:tbl>
              <a:tblPr firstRow="1" bandRow="1"/>
              <a:tblGrid>
                <a:gridCol w="5535000">
                  <a:extLst>
                    <a:ext uri="{9D8B030D-6E8A-4147-A177-3AD203B41FA5}">
                      <a16:colId xmlns:a16="http://schemas.microsoft.com/office/drawing/2014/main" val="20000"/>
                    </a:ext>
                  </a:extLst>
                </a:gridCol>
                <a:gridCol w="5535000">
                  <a:extLst>
                    <a:ext uri="{9D8B030D-6E8A-4147-A177-3AD203B41FA5}">
                      <a16:colId xmlns:a16="http://schemas.microsoft.com/office/drawing/2014/main" val="20001"/>
                    </a:ext>
                  </a:extLst>
                </a:gridCol>
              </a:tblGrid>
              <a:tr h="389080">
                <a:tc>
                  <a:txBody>
                    <a:bodyPr/>
                    <a:lstStyle/>
                    <a:p>
                      <a:r>
                        <a:rPr lang="en-US" sz="1700" b="1">
                          <a:solidFill>
                            <a:srgbClr val="FFFFFF"/>
                          </a:solidFill>
                        </a:rPr>
                        <a:t>Optimistic: reality likely better</a:t>
                      </a:r>
                    </a:p>
                  </a:txBody>
                  <a:tcPr marL="72000" marR="72000" marT="40000" marB="40000" anchor="ctr">
                    <a:lnB w="6350">
                      <a:solidFill>
                        <a:srgbClr val="B7CDC2"/>
                      </a:solidFill>
                    </a:lnB>
                    <a:solidFill>
                      <a:srgbClr val="154734"/>
                    </a:solidFill>
                  </a:tcPr>
                </a:tc>
                <a:tc>
                  <a:txBody>
                    <a:bodyPr/>
                    <a:lstStyle/>
                    <a:p>
                      <a:r>
                        <a:rPr lang="en-US" sz="1700" b="1">
                          <a:solidFill>
                            <a:srgbClr val="FFFFFF"/>
                          </a:solidFill>
                        </a:rPr>
                        <a:t>Pessimistic: reality could be worse</a:t>
                      </a:r>
                    </a:p>
                  </a:txBody>
                  <a:tcPr marL="72000" marR="72000" marT="40000" marB="40000" anchor="ctr">
                    <a:lnB w="6350">
                      <a:solidFill>
                        <a:srgbClr val="B7CDC2"/>
                      </a:solidFill>
                    </a:lnB>
                    <a:solidFill>
                      <a:srgbClr val="154734"/>
                    </a:solidFill>
                  </a:tcPr>
                </a:tc>
                <a:extLst>
                  <a:ext uri="{0D108BD9-81ED-4DB2-BD59-A6C34878D82A}">
                    <a16:rowId xmlns:a16="http://schemas.microsoft.com/office/drawing/2014/main" val="10000"/>
                  </a:ext>
                </a:extLst>
              </a:tr>
              <a:tr h="907239">
                <a:tc>
                  <a:txBody>
                    <a:bodyPr/>
                    <a:lstStyle/>
                    <a:p>
                      <a:r>
                        <a:rPr lang="en-US" sz="1700">
                          <a:solidFill>
                            <a:schemeClr val="tx1"/>
                          </a:solidFill>
                        </a:rPr>
                        <a:t>Bartz calculated at 1.0, small engines typically measure 0.6–0.8, which drastically drops flux [Smith; </a:t>
                      </a:r>
                      <a:r>
                        <a:rPr lang="en-US" sz="1700" err="1">
                          <a:solidFill>
                            <a:schemeClr val="tx1"/>
                          </a:solidFill>
                        </a:rPr>
                        <a:t>Lv</a:t>
                      </a:r>
                      <a:r>
                        <a:rPr lang="en-US" sz="1700">
                          <a:solidFill>
                            <a:schemeClr val="tx1"/>
                          </a:solidFill>
                        </a:rPr>
                        <a:t> et al.]</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700">
                          <a:solidFill>
                            <a:schemeClr val="tx1"/>
                          </a:solidFill>
                        </a:rPr>
                        <a:t>Without polishing inner bore, hot gas heat transfer will increase beyond what Bartz predicts for hydraulically smooth walls</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extLst>
                  <a:ext uri="{0D108BD9-81ED-4DB2-BD59-A6C34878D82A}">
                    <a16:rowId xmlns:a16="http://schemas.microsoft.com/office/drawing/2014/main" val="10001"/>
                  </a:ext>
                </a:extLst>
              </a:tr>
              <a:tr h="648160">
                <a:tc>
                  <a:txBody>
                    <a:bodyPr/>
                    <a:lstStyle/>
                    <a:p>
                      <a:r>
                        <a:rPr lang="en-US" sz="1700">
                          <a:solidFill>
                            <a:schemeClr val="tx1"/>
                          </a:solidFill>
                        </a:rPr>
                        <a:t>Combustion assumed complete at the injector face, so barrel load is overstated</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700">
                          <a:solidFill>
                            <a:schemeClr val="tx1"/>
                          </a:solidFill>
                        </a:rPr>
                        <a:t>Injector streaks of oxidizer could put lean, hot mixture at the wall locally</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extLst>
                  <a:ext uri="{0D108BD9-81ED-4DB2-BD59-A6C34878D82A}">
                    <a16:rowId xmlns:a16="http://schemas.microsoft.com/office/drawing/2014/main" val="10002"/>
                  </a:ext>
                </a:extLst>
              </a:tr>
              <a:tr h="648160">
                <a:tc>
                  <a:txBody>
                    <a:bodyPr/>
                    <a:lstStyle/>
                    <a:p>
                      <a:r>
                        <a:rPr lang="en-US" sz="1700">
                          <a:solidFill>
                            <a:schemeClr val="tx1"/>
                          </a:solidFill>
                        </a:rPr>
                        <a:t>No credit taken for wall thermal mass</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700">
                          <a:solidFill>
                            <a:schemeClr val="tx1"/>
                          </a:solidFill>
                        </a:rPr>
                        <a:t>Recirculation at the face to wall corner can raise local flux</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extLst>
                  <a:ext uri="{0D108BD9-81ED-4DB2-BD59-A6C34878D82A}">
                    <a16:rowId xmlns:a16="http://schemas.microsoft.com/office/drawing/2014/main" val="10003"/>
                  </a:ext>
                </a:extLst>
              </a:tr>
              <a:tr h="648160">
                <a:tc>
                  <a:txBody>
                    <a:bodyPr/>
                    <a:lstStyle/>
                    <a:p>
                      <a:r>
                        <a:rPr lang="en-US" sz="1700">
                          <a:solidFill>
                            <a:schemeClr val="tx1"/>
                          </a:solidFill>
                        </a:rPr>
                        <a:t>Rougher than assumed channels cool better</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700">
                          <a:solidFill>
                            <a:schemeClr val="tx1"/>
                          </a:solidFill>
                        </a:rPr>
                        <a:t>Smoother channels cool worse</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395059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46239-28B8-4709-078B-5C990CD1A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52D44-6EAA-F2EC-2E54-515AEBAFBE50}"/>
              </a:ext>
            </a:extLst>
          </p:cNvPr>
          <p:cNvSpPr>
            <a:spLocks noGrp="1"/>
          </p:cNvSpPr>
          <p:nvPr>
            <p:ph type="title"/>
          </p:nvPr>
        </p:nvSpPr>
        <p:spPr>
          <a:xfrm>
            <a:off x="401206" y="504496"/>
            <a:ext cx="11390680" cy="1037865"/>
          </a:xfrm>
        </p:spPr>
        <p:txBody>
          <a:bodyPr/>
          <a:lstStyle/>
          <a:p>
            <a:r>
              <a:rPr lang="en-US"/>
              <a:t>End of Geometry &amp; Cooling</a:t>
            </a:r>
          </a:p>
        </p:txBody>
      </p:sp>
      <p:sp>
        <p:nvSpPr>
          <p:cNvPr id="3" name="Text Placeholder 2">
            <a:extLst>
              <a:ext uri="{FF2B5EF4-FFF2-40B4-BE49-F238E27FC236}">
                <a16:creationId xmlns:a16="http://schemas.microsoft.com/office/drawing/2014/main" id="{3454F6C5-71E2-3FDF-B5B6-81C9FC3A5C3A}"/>
              </a:ext>
            </a:extLst>
          </p:cNvPr>
          <p:cNvSpPr>
            <a:spLocks noGrp="1"/>
          </p:cNvSpPr>
          <p:nvPr>
            <p:ph type="body" sz="quarter" idx="11"/>
          </p:nvPr>
        </p:nvSpPr>
        <p:spPr>
          <a:xfrm>
            <a:off x="3722619" y="3257835"/>
            <a:ext cx="4612283" cy="342329"/>
          </a:xfrm>
        </p:spPr>
        <p:txBody>
          <a:bodyPr/>
          <a:lstStyle/>
          <a:p>
            <a:r>
              <a:rPr lang="en-US" sz="7200" b="1"/>
              <a:t>Questions?</a:t>
            </a:r>
          </a:p>
        </p:txBody>
      </p:sp>
    </p:spTree>
    <p:extLst>
      <p:ext uri="{BB962C8B-B14F-4D97-AF65-F5344CB8AC3E}">
        <p14:creationId xmlns:p14="http://schemas.microsoft.com/office/powerpoint/2010/main" val="504144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8E215-DAC9-230D-EA62-9AA396D5D8CB}"/>
              </a:ext>
            </a:extLst>
          </p:cNvPr>
          <p:cNvSpPr>
            <a:spLocks noGrp="1"/>
          </p:cNvSpPr>
          <p:nvPr>
            <p:ph type="title"/>
          </p:nvPr>
        </p:nvSpPr>
        <p:spPr/>
        <p:txBody>
          <a:bodyPr/>
          <a:lstStyle/>
          <a:p>
            <a:r>
              <a:rPr lang="en-US"/>
              <a:t>Stresses &amp; FOS</a:t>
            </a:r>
          </a:p>
        </p:txBody>
      </p:sp>
      <p:sp>
        <p:nvSpPr>
          <p:cNvPr id="5" name="Text Placeholder 4">
            <a:extLst>
              <a:ext uri="{FF2B5EF4-FFF2-40B4-BE49-F238E27FC236}">
                <a16:creationId xmlns:a16="http://schemas.microsoft.com/office/drawing/2014/main" id="{7174CD21-7057-AC82-24FF-E3BC1538CC71}"/>
              </a:ext>
            </a:extLst>
          </p:cNvPr>
          <p:cNvSpPr>
            <a:spLocks noGrp="1"/>
          </p:cNvSpPr>
          <p:nvPr>
            <p:ph type="body" sz="quarter" idx="11"/>
          </p:nvPr>
        </p:nvSpPr>
        <p:spPr/>
        <p:txBody>
          <a:bodyPr/>
          <a:lstStyle/>
          <a:p>
            <a:r>
              <a:rPr lang="en-US" sz="1850">
                <a:ea typeface="Source Sans Pro"/>
                <a:cs typeface="Calibri"/>
              </a:rPr>
              <a:t>Presented by Ellen Poulsen</a:t>
            </a:r>
            <a:endParaRPr lang="en-US"/>
          </a:p>
        </p:txBody>
      </p:sp>
    </p:spTree>
    <p:extLst>
      <p:ext uri="{BB962C8B-B14F-4D97-AF65-F5344CB8AC3E}">
        <p14:creationId xmlns:p14="http://schemas.microsoft.com/office/powerpoint/2010/main" val="24159355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13A4AB1-C5BD-CCC6-9D1B-63751E25C92D}"/>
              </a:ext>
            </a:extLst>
          </p:cNvPr>
          <p:cNvSpPr>
            <a:spLocks noGrp="1"/>
          </p:cNvSpPr>
          <p:nvPr>
            <p:ph type="ftr" sz="quarter" idx="16"/>
          </p:nvPr>
        </p:nvSpPr>
        <p:spPr/>
        <p:txBody>
          <a:bodyPr/>
          <a:lstStyle/>
          <a:p>
            <a:r>
              <a:rPr lang="en-US"/>
              <a:t>REGEN PDR</a:t>
            </a:r>
          </a:p>
        </p:txBody>
      </p:sp>
      <p:sp>
        <p:nvSpPr>
          <p:cNvPr id="4" name="Slide Number Placeholder 3">
            <a:extLst>
              <a:ext uri="{FF2B5EF4-FFF2-40B4-BE49-F238E27FC236}">
                <a16:creationId xmlns:a16="http://schemas.microsoft.com/office/drawing/2014/main" id="{0BD1E80B-B350-30F5-C03E-014C1611618D}"/>
              </a:ext>
            </a:extLst>
          </p:cNvPr>
          <p:cNvSpPr>
            <a:spLocks noGrp="1"/>
          </p:cNvSpPr>
          <p:nvPr>
            <p:ph type="sldNum" sz="quarter" idx="17"/>
          </p:nvPr>
        </p:nvSpPr>
        <p:spPr/>
        <p:txBody>
          <a:bodyPr/>
          <a:lstStyle/>
          <a:p>
            <a:r>
              <a:rPr lang="en-US"/>
              <a:t>/   20</a:t>
            </a:r>
          </a:p>
        </p:txBody>
      </p:sp>
      <p:sp>
        <p:nvSpPr>
          <p:cNvPr id="5" name="Title 4">
            <a:extLst>
              <a:ext uri="{FF2B5EF4-FFF2-40B4-BE49-F238E27FC236}">
                <a16:creationId xmlns:a16="http://schemas.microsoft.com/office/drawing/2014/main" id="{5359F792-A37A-F3F2-6A86-472B1833C978}"/>
              </a:ext>
            </a:extLst>
          </p:cNvPr>
          <p:cNvSpPr>
            <a:spLocks noGrp="1"/>
          </p:cNvSpPr>
          <p:nvPr>
            <p:ph type="title"/>
          </p:nvPr>
        </p:nvSpPr>
        <p:spPr>
          <a:xfrm>
            <a:off x="552168" y="716984"/>
            <a:ext cx="9831987" cy="625567"/>
          </a:xfrm>
        </p:spPr>
        <p:txBody>
          <a:bodyPr/>
          <a:lstStyle/>
          <a:p>
            <a:r>
              <a:rPr lang="en-US">
                <a:latin typeface="Munistic"/>
              </a:rPr>
              <a:t>Channel Stress and Hoop Stress</a:t>
            </a:r>
            <a:endParaRPr lang="en-US"/>
          </a:p>
        </p:txBody>
      </p:sp>
      <p:sp>
        <p:nvSpPr>
          <p:cNvPr id="14" name="Body 11">
            <a:extLst>
              <a:ext uri="{FF2B5EF4-FFF2-40B4-BE49-F238E27FC236}">
                <a16:creationId xmlns:a16="http://schemas.microsoft.com/office/drawing/2014/main" id="{84AEB7E5-2EC8-B301-DE00-6FE1402D72B5}"/>
              </a:ext>
            </a:extLst>
          </p:cNvPr>
          <p:cNvSpPr txBox="1"/>
          <p:nvPr/>
        </p:nvSpPr>
        <p:spPr>
          <a:xfrm>
            <a:off x="672347" y="1717040"/>
            <a:ext cx="10998880" cy="1572960"/>
          </a:xfrm>
          <a:prstGeom prst="rect">
            <a:avLst/>
          </a:prstGeom>
          <a:noFill/>
        </p:spPr>
        <p:txBody>
          <a:bodyPr wrap="square" lIns="91440" tIns="45720" rIns="91440" bIns="45720" anchor="t">
            <a:noAutofit/>
          </a:bodyPr>
          <a:lstStyle/>
          <a:p>
            <a:pPr marL="285750" indent="-285750">
              <a:spcBef>
                <a:spcPts val="500"/>
              </a:spcBef>
              <a:buClr>
                <a:srgbClr val="BD8B13"/>
              </a:buClr>
              <a:buFont typeface="Arial"/>
              <a:buChar char="•"/>
            </a:pPr>
            <a:r>
              <a:rPr lang="en-US">
                <a:ea typeface="Calibri"/>
                <a:cs typeface="Calibri"/>
              </a:rPr>
              <a:t>Thermal stress is more significant concern than mechanical stress, check worst case mechanical stress during fuel leads and cold flows (700psi in jacket, chamber at 0psi). Use hot yield temp for conservative calcs.</a:t>
            </a:r>
          </a:p>
          <a:p>
            <a:pPr marL="285750" indent="-285750">
              <a:spcBef>
                <a:spcPts val="500"/>
              </a:spcBef>
              <a:buClr>
                <a:srgbClr val="BD8B13"/>
              </a:buClr>
              <a:buFont typeface="Arial"/>
              <a:buChar char="•"/>
            </a:pPr>
            <a:r>
              <a:rPr lang="en-US" sz="1800">
                <a:solidFill>
                  <a:schemeClr val="tx1"/>
                </a:solidFill>
              </a:rPr>
              <a:t>Pressure stresses are small because each channel spans only 1.0 mm</a:t>
            </a:r>
            <a:endParaRPr lang="en-US" sz="1800">
              <a:ea typeface="Calibri"/>
              <a:cs typeface="Calibri"/>
            </a:endParaRPr>
          </a:p>
        </p:txBody>
      </p:sp>
      <p:graphicFrame>
        <p:nvGraphicFramePr>
          <p:cNvPr id="16" name="Table 12">
            <a:extLst>
              <a:ext uri="{FF2B5EF4-FFF2-40B4-BE49-F238E27FC236}">
                <a16:creationId xmlns:a16="http://schemas.microsoft.com/office/drawing/2014/main" id="{4C19D7A3-936C-FE34-7E3F-D885C413E64E}"/>
              </a:ext>
            </a:extLst>
          </p:cNvPr>
          <p:cNvGraphicFramePr>
            <a:graphicFrameLocks noGrp="1"/>
          </p:cNvGraphicFramePr>
          <p:nvPr>
            <p:extLst>
              <p:ext uri="{D42A27DB-BD31-4B8C-83A1-F6EECF244321}">
                <p14:modId xmlns:p14="http://schemas.microsoft.com/office/powerpoint/2010/main" val="1712392057"/>
              </p:ext>
            </p:extLst>
          </p:nvPr>
        </p:nvGraphicFramePr>
        <p:xfrm>
          <a:off x="539613" y="4975282"/>
          <a:ext cx="11069998" cy="1312480"/>
        </p:xfrm>
        <a:graphic>
          <a:graphicData uri="http://schemas.openxmlformats.org/drawingml/2006/table">
            <a:tbl>
              <a:tblPr firstRow="1" bandRow="1"/>
              <a:tblGrid>
                <a:gridCol w="5319350">
                  <a:extLst>
                    <a:ext uri="{9D8B030D-6E8A-4147-A177-3AD203B41FA5}">
                      <a16:colId xmlns:a16="http://schemas.microsoft.com/office/drawing/2014/main" val="20000"/>
                    </a:ext>
                  </a:extLst>
                </a:gridCol>
                <a:gridCol w="1725194">
                  <a:extLst>
                    <a:ext uri="{9D8B030D-6E8A-4147-A177-3AD203B41FA5}">
                      <a16:colId xmlns:a16="http://schemas.microsoft.com/office/drawing/2014/main" val="20001"/>
                    </a:ext>
                  </a:extLst>
                </a:gridCol>
                <a:gridCol w="2731558">
                  <a:extLst>
                    <a:ext uri="{9D8B030D-6E8A-4147-A177-3AD203B41FA5}">
                      <a16:colId xmlns:a16="http://schemas.microsoft.com/office/drawing/2014/main" val="20002"/>
                    </a:ext>
                  </a:extLst>
                </a:gridCol>
                <a:gridCol w="1293896">
                  <a:extLst>
                    <a:ext uri="{9D8B030D-6E8A-4147-A177-3AD203B41FA5}">
                      <a16:colId xmlns:a16="http://schemas.microsoft.com/office/drawing/2014/main" val="20003"/>
                    </a:ext>
                  </a:extLst>
                </a:gridCol>
              </a:tblGrid>
              <a:tr h="328120">
                <a:tc>
                  <a:txBody>
                    <a:bodyPr/>
                    <a:lstStyle/>
                    <a:p>
                      <a:r>
                        <a:rPr lang="en-US" sz="1300" b="1">
                          <a:solidFill>
                            <a:srgbClr val="FFFFFF"/>
                          </a:solidFill>
                        </a:rPr>
                        <a:t>Location</a:t>
                      </a:r>
                    </a:p>
                  </a:txBody>
                  <a:tcPr marL="72000" marR="72000" marT="40000" marB="40000" anchor="ctr">
                    <a:lnB w="6350">
                      <a:solidFill>
                        <a:srgbClr val="B7CDC2"/>
                      </a:solidFill>
                    </a:lnB>
                    <a:solidFill>
                      <a:srgbClr val="154734"/>
                    </a:solidFill>
                  </a:tcPr>
                </a:tc>
                <a:tc>
                  <a:txBody>
                    <a:bodyPr/>
                    <a:lstStyle/>
                    <a:p>
                      <a:r>
                        <a:rPr lang="en-US" sz="1300" b="1">
                          <a:solidFill>
                            <a:srgbClr val="FFFFFF"/>
                          </a:solidFill>
                        </a:rPr>
                        <a:t>Stress</a:t>
                      </a:r>
                    </a:p>
                  </a:txBody>
                  <a:tcPr marL="72000" marR="72000" marT="40000" marB="40000" anchor="ctr">
                    <a:lnB w="6350">
                      <a:solidFill>
                        <a:srgbClr val="B7CDC2"/>
                      </a:solidFill>
                    </a:lnB>
                    <a:solidFill>
                      <a:srgbClr val="154734"/>
                    </a:solidFill>
                  </a:tcPr>
                </a:tc>
                <a:tc>
                  <a:txBody>
                    <a:bodyPr/>
                    <a:lstStyle/>
                    <a:p>
                      <a:r>
                        <a:rPr lang="en-US" sz="1300" b="1">
                          <a:solidFill>
                            <a:srgbClr val="FFFFFF"/>
                          </a:solidFill>
                        </a:rPr>
                        <a:t>Allowable</a:t>
                      </a:r>
                    </a:p>
                  </a:txBody>
                  <a:tcPr marL="72000" marR="72000" marT="40000" marB="40000" anchor="ctr">
                    <a:lnB w="6350">
                      <a:solidFill>
                        <a:srgbClr val="B7CDC2"/>
                      </a:solidFill>
                    </a:lnB>
                    <a:solidFill>
                      <a:srgbClr val="154734"/>
                    </a:solidFill>
                  </a:tcPr>
                </a:tc>
                <a:tc>
                  <a:txBody>
                    <a:bodyPr/>
                    <a:lstStyle/>
                    <a:p>
                      <a:r>
                        <a:rPr lang="en-US" sz="1300" b="1">
                          <a:solidFill>
                            <a:srgbClr val="FFFFFF"/>
                          </a:solidFill>
                        </a:rPr>
                        <a:t>FoS</a:t>
                      </a:r>
                    </a:p>
                  </a:txBody>
                  <a:tcPr marL="72000" marR="72000" marT="40000" marB="40000" anchor="ctr">
                    <a:lnB w="6350">
                      <a:solidFill>
                        <a:srgbClr val="B7CDC2"/>
                      </a:solidFill>
                    </a:lnB>
                    <a:solidFill>
                      <a:srgbClr val="154734"/>
                    </a:solidFill>
                  </a:tcPr>
                </a:tc>
                <a:extLst>
                  <a:ext uri="{0D108BD9-81ED-4DB2-BD59-A6C34878D82A}">
                    <a16:rowId xmlns:a16="http://schemas.microsoft.com/office/drawing/2014/main" val="10000"/>
                  </a:ext>
                </a:extLst>
              </a:tr>
              <a:tr h="328120">
                <a:tc>
                  <a:txBody>
                    <a:bodyPr/>
                    <a:lstStyle/>
                    <a:p>
                      <a:r>
                        <a:rPr lang="en-US" sz="1300">
                          <a:solidFill>
                            <a:schemeClr val="tx1"/>
                          </a:solidFill>
                        </a:rPr>
                        <a:t>Wall bending over 1.0 mm channel due to pressure</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chemeClr val="bg1"/>
                    </a:solidFill>
                  </a:tcPr>
                </a:tc>
                <a:tc>
                  <a:txBody>
                    <a:bodyPr/>
                    <a:lstStyle/>
                    <a:p>
                      <a:r>
                        <a:rPr lang="en-US" sz="1300">
                          <a:solidFill>
                            <a:schemeClr val="tx1"/>
                          </a:solidFill>
                        </a:rPr>
                        <a:t>3.4 </a:t>
                      </a:r>
                      <a:r>
                        <a:rPr lang="en-US" sz="1300" err="1">
                          <a:solidFill>
                            <a:schemeClr val="tx1"/>
                          </a:solidFill>
                        </a:rPr>
                        <a:t>Mpa</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chemeClr val="bg1"/>
                    </a:solidFill>
                  </a:tcPr>
                </a:tc>
                <a:tc>
                  <a:txBody>
                    <a:bodyPr/>
                    <a:lstStyle/>
                    <a:p>
                      <a:r>
                        <a:rPr lang="en-US" sz="1300">
                          <a:solidFill>
                            <a:schemeClr val="tx1"/>
                          </a:solidFill>
                        </a:rPr>
                        <a:t>110 MPa at 250 °C</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chemeClr val="bg1"/>
                    </a:solidFill>
                  </a:tcPr>
                </a:tc>
                <a:tc>
                  <a:txBody>
                    <a:bodyPr/>
                    <a:lstStyle/>
                    <a:p>
                      <a:r>
                        <a:rPr lang="en-US" sz="1300">
                          <a:solidFill>
                            <a:schemeClr val="tx1"/>
                          </a:solidFill>
                        </a:rPr>
                        <a:t>32.4</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chemeClr val="bg1"/>
                    </a:solidFill>
                  </a:tcPr>
                </a:tc>
                <a:extLst>
                  <a:ext uri="{0D108BD9-81ED-4DB2-BD59-A6C34878D82A}">
                    <a16:rowId xmlns:a16="http://schemas.microsoft.com/office/drawing/2014/main" val="10001"/>
                  </a:ext>
                </a:extLst>
              </a:tr>
              <a:tr h="328120">
                <a:tc>
                  <a:txBody>
                    <a:bodyPr/>
                    <a:lstStyle/>
                    <a:p>
                      <a:r>
                        <a:rPr lang="en-US" sz="1300">
                          <a:solidFill>
                            <a:schemeClr val="tx1"/>
                          </a:solidFill>
                        </a:rPr>
                        <a:t>Closeout hoop, barrel</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300">
                          <a:solidFill>
                            <a:schemeClr val="tx1"/>
                          </a:solidFill>
                        </a:rPr>
                        <a:t>46 MPa</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300">
                          <a:solidFill>
                            <a:schemeClr val="tx1"/>
                          </a:solidFill>
                        </a:rPr>
                        <a:t>140 MPa at 150 °C</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300">
                          <a:solidFill>
                            <a:schemeClr val="tx1"/>
                          </a:solidFill>
                        </a:rPr>
                        <a:t>3.0</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extLst>
                  <a:ext uri="{0D108BD9-81ED-4DB2-BD59-A6C34878D82A}">
                    <a16:rowId xmlns:a16="http://schemas.microsoft.com/office/drawing/2014/main" val="10003"/>
                  </a:ext>
                </a:extLst>
              </a:tr>
              <a:tr h="328120">
                <a:tc>
                  <a:txBody>
                    <a:bodyPr/>
                    <a:lstStyle/>
                    <a:p>
                      <a:r>
                        <a:rPr lang="en-US" sz="1300">
                          <a:solidFill>
                            <a:schemeClr val="tx1"/>
                          </a:solidFill>
                        </a:rPr>
                        <a:t>Closeout hoop, throat</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300">
                          <a:solidFill>
                            <a:schemeClr val="tx1"/>
                          </a:solidFill>
                        </a:rPr>
                        <a:t>10.69 MPa</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300">
                          <a:solidFill>
                            <a:schemeClr val="tx1"/>
                          </a:solidFill>
                        </a:rPr>
                        <a:t>140 MPa at 150 °C</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300">
                          <a:solidFill>
                            <a:schemeClr val="tx1"/>
                          </a:solidFill>
                        </a:rPr>
                        <a:t>13</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extLst>
                  <a:ext uri="{0D108BD9-81ED-4DB2-BD59-A6C34878D82A}">
                    <a16:rowId xmlns:a16="http://schemas.microsoft.com/office/drawing/2014/main" val="10004"/>
                  </a:ext>
                </a:extLst>
              </a:tr>
            </a:tbl>
          </a:graphicData>
        </a:graphic>
      </p:graphicFrame>
      <p:pic>
        <p:nvPicPr>
          <p:cNvPr id="6" name="Picture 5" descr="A close-up of a diagram&#10;&#10;AI-generated content may be incorrect.">
            <a:extLst>
              <a:ext uri="{FF2B5EF4-FFF2-40B4-BE49-F238E27FC236}">
                <a16:creationId xmlns:a16="http://schemas.microsoft.com/office/drawing/2014/main" id="{A1FBB027-E2CB-0B82-56B8-D393D6F88B14}"/>
              </a:ext>
            </a:extLst>
          </p:cNvPr>
          <p:cNvPicPr>
            <a:picLocks noChangeAspect="1"/>
          </p:cNvPicPr>
          <p:nvPr/>
        </p:nvPicPr>
        <p:blipFill>
          <a:blip r:embed="rId2"/>
          <a:srcRect l="3260" t="13259" r="9992" b="11251"/>
          <a:stretch>
            <a:fillRect/>
          </a:stretch>
        </p:blipFill>
        <p:spPr>
          <a:xfrm>
            <a:off x="6092085" y="2743352"/>
            <a:ext cx="4047738" cy="1894755"/>
          </a:xfrm>
          <a:prstGeom prst="rect">
            <a:avLst/>
          </a:prstGeom>
        </p:spPr>
      </p:pic>
      <p:pic>
        <p:nvPicPr>
          <p:cNvPr id="7" name="Picture 6" descr="A math equations on a white board&#10;&#10;AI-generated content may be incorrect.">
            <a:extLst>
              <a:ext uri="{FF2B5EF4-FFF2-40B4-BE49-F238E27FC236}">
                <a16:creationId xmlns:a16="http://schemas.microsoft.com/office/drawing/2014/main" id="{F1B69F14-1578-30DD-F61E-15DD06B1F92A}"/>
              </a:ext>
            </a:extLst>
          </p:cNvPr>
          <p:cNvPicPr>
            <a:picLocks noChangeAspect="1"/>
          </p:cNvPicPr>
          <p:nvPr/>
        </p:nvPicPr>
        <p:blipFill>
          <a:blip r:embed="rId3"/>
          <a:stretch>
            <a:fillRect/>
          </a:stretch>
        </p:blipFill>
        <p:spPr>
          <a:xfrm>
            <a:off x="1036320" y="2747264"/>
            <a:ext cx="4927600" cy="2155952"/>
          </a:xfrm>
          <a:prstGeom prst="rect">
            <a:avLst/>
          </a:prstGeom>
        </p:spPr>
      </p:pic>
    </p:spTree>
    <p:extLst>
      <p:ext uri="{BB962C8B-B14F-4D97-AF65-F5344CB8AC3E}">
        <p14:creationId xmlns:p14="http://schemas.microsoft.com/office/powerpoint/2010/main" val="2044433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5D83F9E-733D-559A-ECA6-0C1C63B8F785}"/>
              </a:ext>
            </a:extLst>
          </p:cNvPr>
          <p:cNvSpPr>
            <a:spLocks noGrp="1"/>
          </p:cNvSpPr>
          <p:nvPr>
            <p:ph type="ftr" sz="quarter" idx="16"/>
          </p:nvPr>
        </p:nvSpPr>
        <p:spPr/>
        <p:txBody>
          <a:bodyPr/>
          <a:lstStyle/>
          <a:p>
            <a:r>
              <a:rPr lang="en-US"/>
              <a:t>REGEN PDR</a:t>
            </a:r>
          </a:p>
        </p:txBody>
      </p:sp>
      <p:sp>
        <p:nvSpPr>
          <p:cNvPr id="4" name="Slide Number Placeholder 3">
            <a:extLst>
              <a:ext uri="{FF2B5EF4-FFF2-40B4-BE49-F238E27FC236}">
                <a16:creationId xmlns:a16="http://schemas.microsoft.com/office/drawing/2014/main" id="{0F29DA85-0A9D-B32A-1952-A2BBC1AE5609}"/>
              </a:ext>
            </a:extLst>
          </p:cNvPr>
          <p:cNvSpPr>
            <a:spLocks noGrp="1"/>
          </p:cNvSpPr>
          <p:nvPr>
            <p:ph type="sldNum" sz="quarter" idx="17"/>
          </p:nvPr>
        </p:nvSpPr>
        <p:spPr/>
        <p:txBody>
          <a:bodyPr/>
          <a:lstStyle/>
          <a:p>
            <a:r>
              <a:rPr lang="en-US"/>
              <a:t>/   21</a:t>
            </a:r>
          </a:p>
        </p:txBody>
      </p:sp>
      <p:sp>
        <p:nvSpPr>
          <p:cNvPr id="5" name="Title 4">
            <a:extLst>
              <a:ext uri="{FF2B5EF4-FFF2-40B4-BE49-F238E27FC236}">
                <a16:creationId xmlns:a16="http://schemas.microsoft.com/office/drawing/2014/main" id="{F25B6E39-B1AF-E66A-4B69-EB5637D59A4A}"/>
              </a:ext>
            </a:extLst>
          </p:cNvPr>
          <p:cNvSpPr>
            <a:spLocks noGrp="1"/>
          </p:cNvSpPr>
          <p:nvPr>
            <p:ph type="title"/>
          </p:nvPr>
        </p:nvSpPr>
        <p:spPr/>
        <p:txBody>
          <a:bodyPr/>
          <a:lstStyle/>
          <a:p>
            <a:r>
              <a:rPr lang="en-US">
                <a:latin typeface="Munistic"/>
              </a:rPr>
              <a:t>Thermal Stress</a:t>
            </a:r>
            <a:endParaRPr lang="en-US"/>
          </a:p>
        </p:txBody>
      </p:sp>
      <p:pic>
        <p:nvPicPr>
          <p:cNvPr id="8" name="Picture 7">
            <a:extLst>
              <a:ext uri="{FF2B5EF4-FFF2-40B4-BE49-F238E27FC236}">
                <a16:creationId xmlns:a16="http://schemas.microsoft.com/office/drawing/2014/main" id="{37C4E20F-4889-0293-1A16-9098F3E8A311}"/>
              </a:ext>
            </a:extLst>
          </p:cNvPr>
          <p:cNvPicPr>
            <a:picLocks noChangeAspect="1"/>
          </p:cNvPicPr>
          <p:nvPr/>
        </p:nvPicPr>
        <p:blipFill>
          <a:blip r:embed="rId2"/>
          <a:srcRect l="-688" t="4701" r="230" b="-62"/>
          <a:stretch>
            <a:fillRect/>
          </a:stretch>
        </p:blipFill>
        <p:spPr>
          <a:xfrm>
            <a:off x="525776" y="1439354"/>
            <a:ext cx="4436666" cy="3720464"/>
          </a:xfrm>
          <a:prstGeom prst="rect">
            <a:avLst/>
          </a:prstGeom>
        </p:spPr>
      </p:pic>
      <p:sp>
        <p:nvSpPr>
          <p:cNvPr id="9" name="TextBox 8">
            <a:extLst>
              <a:ext uri="{FF2B5EF4-FFF2-40B4-BE49-F238E27FC236}">
                <a16:creationId xmlns:a16="http://schemas.microsoft.com/office/drawing/2014/main" id="{ED4EEE29-7738-CF83-A572-AEC16A7836B7}"/>
              </a:ext>
            </a:extLst>
          </p:cNvPr>
          <p:cNvSpPr txBox="1"/>
          <p:nvPr/>
        </p:nvSpPr>
        <p:spPr>
          <a:xfrm>
            <a:off x="243275" y="5059163"/>
            <a:ext cx="510991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"The maximum stress occurs at the</a:t>
            </a:r>
            <a:endParaRPr lang="en-US"/>
          </a:p>
          <a:p>
            <a:r>
              <a:rPr lang="en-US">
                <a:ea typeface="Calibri"/>
                <a:cs typeface="Calibri"/>
              </a:rPr>
              <a:t>inner-wall surface of the inner shell and can be</a:t>
            </a:r>
            <a:endParaRPr lang="en-US"/>
          </a:p>
          <a:p>
            <a:r>
              <a:rPr lang="en-US">
                <a:ea typeface="Calibri"/>
                <a:cs typeface="Calibri"/>
              </a:rPr>
              <a:t>calculated from this equation" (</a:t>
            </a:r>
            <a:r>
              <a:rPr lang="en-US" err="1">
                <a:ea typeface="Calibri"/>
                <a:cs typeface="Calibri"/>
              </a:rPr>
              <a:t>Huzel</a:t>
            </a:r>
            <a:r>
              <a:rPr lang="en-US">
                <a:ea typeface="Calibri" panose="020F0502020204030204"/>
                <a:cs typeface="Calibri" panose="020F0502020204030204"/>
              </a:rPr>
              <a:t> and Huang).</a:t>
            </a:r>
          </a:p>
          <a:p>
            <a:endParaRPr lang="en-US">
              <a:ea typeface="Calibri" panose="020F0502020204030204"/>
              <a:cs typeface="Calibri" panose="020F0502020204030204"/>
            </a:endParaRPr>
          </a:p>
        </p:txBody>
      </p:sp>
      <p:sp>
        <p:nvSpPr>
          <p:cNvPr id="11" name="TextBox 10">
            <a:extLst>
              <a:ext uri="{FF2B5EF4-FFF2-40B4-BE49-F238E27FC236}">
                <a16:creationId xmlns:a16="http://schemas.microsoft.com/office/drawing/2014/main" id="{78EF2723-8257-1AF8-BD9E-624A4CC0C01B}"/>
              </a:ext>
            </a:extLst>
          </p:cNvPr>
          <p:cNvSpPr txBox="1"/>
          <p:nvPr/>
        </p:nvSpPr>
        <p:spPr>
          <a:xfrm>
            <a:off x="6231559" y="1154363"/>
            <a:ext cx="372438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Calibri"/>
                <a:cs typeface="Calibri"/>
              </a:rPr>
              <a:t>*Substitute with Fourier's Law of One-Dimensional Heat Conduction (use delta T = </a:t>
            </a:r>
            <a:r>
              <a:rPr lang="en-US" sz="1200" err="1">
                <a:ea typeface="Calibri"/>
                <a:cs typeface="Calibri"/>
              </a:rPr>
              <a:t>T_hotwall</a:t>
            </a:r>
            <a:r>
              <a:rPr lang="en-US" sz="1200">
                <a:ea typeface="Calibri"/>
                <a:cs typeface="Calibri"/>
              </a:rPr>
              <a:t> – </a:t>
            </a:r>
            <a:r>
              <a:rPr lang="en-US" sz="1200" err="1">
                <a:ea typeface="Calibri"/>
                <a:cs typeface="Calibri"/>
              </a:rPr>
              <a:t>T_coldwall</a:t>
            </a:r>
          </a:p>
        </p:txBody>
      </p:sp>
      <p:pic>
        <p:nvPicPr>
          <p:cNvPr id="12" name="Picture 11" descr="A white board with math equations&#10;&#10;AI-generated content may be incorrect.">
            <a:extLst>
              <a:ext uri="{FF2B5EF4-FFF2-40B4-BE49-F238E27FC236}">
                <a16:creationId xmlns:a16="http://schemas.microsoft.com/office/drawing/2014/main" id="{9B24CF19-38D8-7F1B-9592-8E0E6041B7E8}"/>
              </a:ext>
            </a:extLst>
          </p:cNvPr>
          <p:cNvPicPr>
            <a:picLocks noChangeAspect="1"/>
          </p:cNvPicPr>
          <p:nvPr/>
        </p:nvPicPr>
        <p:blipFill>
          <a:blip r:embed="rId3"/>
          <a:stretch>
            <a:fillRect/>
          </a:stretch>
        </p:blipFill>
        <p:spPr>
          <a:xfrm>
            <a:off x="6098999" y="1615440"/>
            <a:ext cx="4870802" cy="3058160"/>
          </a:xfrm>
          <a:prstGeom prst="rect">
            <a:avLst/>
          </a:prstGeom>
        </p:spPr>
      </p:pic>
      <p:sp>
        <p:nvSpPr>
          <p:cNvPr id="13" name="TextBox 12">
            <a:extLst>
              <a:ext uri="{FF2B5EF4-FFF2-40B4-BE49-F238E27FC236}">
                <a16:creationId xmlns:a16="http://schemas.microsoft.com/office/drawing/2014/main" id="{742AC489-7448-D01F-CD5F-ABF74FFA2D05}"/>
              </a:ext>
            </a:extLst>
          </p:cNvPr>
          <p:cNvSpPr txBox="1"/>
          <p:nvPr/>
        </p:nvSpPr>
        <p:spPr>
          <a:xfrm>
            <a:off x="5043810" y="4679173"/>
            <a:ext cx="662391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a:ea typeface="Calibri"/>
                <a:cs typeface="Calibri"/>
              </a:rPr>
              <a:t>At maximum stress conditions and at 1mm wall thickness, FOS &lt; 1</a:t>
            </a:r>
          </a:p>
          <a:p>
            <a:pPr marL="285750" indent="-285750">
              <a:buFont typeface="Calibri"/>
              <a:buChar char="-"/>
            </a:pPr>
            <a:r>
              <a:rPr lang="en-US">
                <a:ea typeface="Calibri"/>
                <a:cs typeface="Calibri"/>
              </a:rPr>
              <a:t>Local yielding alone does not prove immediate elastic failure, should be paired with consideration of cycle fatigue determine how plastic deformation stabilizes and effects material over time</a:t>
            </a:r>
          </a:p>
        </p:txBody>
      </p:sp>
    </p:spTree>
    <p:extLst>
      <p:ext uri="{BB962C8B-B14F-4D97-AF65-F5344CB8AC3E}">
        <p14:creationId xmlns:p14="http://schemas.microsoft.com/office/powerpoint/2010/main" val="38022691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9E1F15A-2B1F-3EF7-036A-AA8B873DA643}"/>
              </a:ext>
            </a:extLst>
          </p:cNvPr>
          <p:cNvSpPr>
            <a:spLocks noGrp="1"/>
          </p:cNvSpPr>
          <p:nvPr>
            <p:ph type="ftr" sz="quarter" idx="16"/>
          </p:nvPr>
        </p:nvSpPr>
        <p:spPr/>
        <p:txBody>
          <a:bodyPr/>
          <a:lstStyle/>
          <a:p>
            <a:r>
              <a:rPr lang="en-US"/>
              <a:t>REGEN PDR</a:t>
            </a:r>
          </a:p>
        </p:txBody>
      </p:sp>
      <p:sp>
        <p:nvSpPr>
          <p:cNvPr id="4" name="Slide Number Placeholder 3">
            <a:extLst>
              <a:ext uri="{FF2B5EF4-FFF2-40B4-BE49-F238E27FC236}">
                <a16:creationId xmlns:a16="http://schemas.microsoft.com/office/drawing/2014/main" id="{EB5906AE-AB96-D534-71E4-02502FE6BC57}"/>
              </a:ext>
            </a:extLst>
          </p:cNvPr>
          <p:cNvSpPr>
            <a:spLocks noGrp="1"/>
          </p:cNvSpPr>
          <p:nvPr>
            <p:ph type="sldNum" sz="quarter" idx="17"/>
          </p:nvPr>
        </p:nvSpPr>
        <p:spPr/>
        <p:txBody>
          <a:bodyPr/>
          <a:lstStyle/>
          <a:p>
            <a:r>
              <a:rPr lang="en-US"/>
              <a:t>/   22</a:t>
            </a:r>
          </a:p>
        </p:txBody>
      </p:sp>
      <p:sp>
        <p:nvSpPr>
          <p:cNvPr id="5" name="Title 4">
            <a:extLst>
              <a:ext uri="{FF2B5EF4-FFF2-40B4-BE49-F238E27FC236}">
                <a16:creationId xmlns:a16="http://schemas.microsoft.com/office/drawing/2014/main" id="{D8C04352-5978-43C9-A8F8-C6E2CBCDB455}"/>
              </a:ext>
            </a:extLst>
          </p:cNvPr>
          <p:cNvSpPr>
            <a:spLocks noGrp="1"/>
          </p:cNvSpPr>
          <p:nvPr>
            <p:ph type="title"/>
          </p:nvPr>
        </p:nvSpPr>
        <p:spPr>
          <a:xfrm>
            <a:off x="531848" y="716984"/>
            <a:ext cx="6041672" cy="625567"/>
          </a:xfrm>
        </p:spPr>
        <p:txBody>
          <a:bodyPr/>
          <a:lstStyle/>
          <a:p>
            <a:r>
              <a:rPr lang="en-US">
                <a:latin typeface="Munistic"/>
              </a:rPr>
              <a:t>Life Cycle Fatigue</a:t>
            </a:r>
            <a:endParaRPr lang="en-US"/>
          </a:p>
        </p:txBody>
      </p:sp>
      <p:sp>
        <p:nvSpPr>
          <p:cNvPr id="6" name="TextBox 5">
            <a:extLst>
              <a:ext uri="{FF2B5EF4-FFF2-40B4-BE49-F238E27FC236}">
                <a16:creationId xmlns:a16="http://schemas.microsoft.com/office/drawing/2014/main" id="{A26665CF-58ED-9CF8-3B9B-6DAFFE1B3AE3}"/>
              </a:ext>
            </a:extLst>
          </p:cNvPr>
          <p:cNvSpPr txBox="1"/>
          <p:nvPr/>
        </p:nvSpPr>
        <p:spPr>
          <a:xfrm>
            <a:off x="465667" y="1693333"/>
            <a:ext cx="10907888" cy="29854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a:ea typeface="Calibri"/>
                <a:cs typeface="Calibri"/>
              </a:rPr>
              <a:t>Low Cycle Fatigue is a common point of failure from regenerative engines</a:t>
            </a:r>
          </a:p>
          <a:p>
            <a:pPr marL="285750" indent="-285750">
              <a:buFont typeface="Arial"/>
              <a:buChar char="•"/>
            </a:pPr>
            <a:r>
              <a:rPr lang="en-US" sz="2400">
                <a:ea typeface="Calibri"/>
                <a:cs typeface="Calibri"/>
              </a:rPr>
              <a:t>Complex analysis exists but often require datasets or more complex material properties from testing (such as exponents in Morrow Design Rule, only plastic deformation considered in Coffin Manson equation, elastic only in Basquin's equation).</a:t>
            </a:r>
          </a:p>
          <a:p>
            <a:pPr marL="285750" indent="-285750">
              <a:buFont typeface="Arial"/>
              <a:buChar char="•"/>
            </a:pPr>
            <a:r>
              <a:rPr lang="en-US" sz="2400">
                <a:ea typeface="Calibri"/>
                <a:cs typeface="Calibri"/>
              </a:rPr>
              <a:t>The Manson Universal Slopes Equation is a version of the Morrow Design rule with unknown exponents set as an average across metals.</a:t>
            </a:r>
          </a:p>
          <a:p>
            <a:pPr marL="285750" indent="-285750">
              <a:buFont typeface="Arial"/>
              <a:buChar char="•"/>
            </a:pPr>
            <a:endParaRPr lang="en-US" sz="2000">
              <a:ea typeface="Calibri"/>
              <a:cs typeface="Calibri"/>
            </a:endParaRPr>
          </a:p>
        </p:txBody>
      </p:sp>
      <p:pic>
        <p:nvPicPr>
          <p:cNvPr id="7" name="Picture 6">
            <a:extLst>
              <a:ext uri="{FF2B5EF4-FFF2-40B4-BE49-F238E27FC236}">
                <a16:creationId xmlns:a16="http://schemas.microsoft.com/office/drawing/2014/main" id="{22A17625-7056-75DC-FDF6-655102D59BC1}"/>
              </a:ext>
            </a:extLst>
          </p:cNvPr>
          <p:cNvPicPr>
            <a:picLocks noChangeAspect="1"/>
          </p:cNvPicPr>
          <p:nvPr/>
        </p:nvPicPr>
        <p:blipFill>
          <a:blip r:embed="rId3"/>
          <a:stretch>
            <a:fillRect/>
          </a:stretch>
        </p:blipFill>
        <p:spPr>
          <a:xfrm>
            <a:off x="3241040" y="4530344"/>
            <a:ext cx="4805680" cy="733552"/>
          </a:xfrm>
          <a:prstGeom prst="rect">
            <a:avLst/>
          </a:prstGeom>
        </p:spPr>
      </p:pic>
      <p:sp>
        <p:nvSpPr>
          <p:cNvPr id="8" name="TextBox 7">
            <a:extLst>
              <a:ext uri="{FF2B5EF4-FFF2-40B4-BE49-F238E27FC236}">
                <a16:creationId xmlns:a16="http://schemas.microsoft.com/office/drawing/2014/main" id="{ED2A6E05-8B9E-A39F-049E-3DBF80948DA1}"/>
              </a:ext>
            </a:extLst>
          </p:cNvPr>
          <p:cNvSpPr txBox="1"/>
          <p:nvPr/>
        </p:nvSpPr>
        <p:spPr>
          <a:xfrm>
            <a:off x="3226364" y="5261750"/>
            <a:ext cx="500436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Example of Morrow Design Rule (elastic + plastic)</a:t>
            </a:r>
            <a:endParaRPr lang="en-US"/>
          </a:p>
        </p:txBody>
      </p:sp>
    </p:spTree>
    <p:extLst>
      <p:ext uri="{BB962C8B-B14F-4D97-AF65-F5344CB8AC3E}">
        <p14:creationId xmlns:p14="http://schemas.microsoft.com/office/powerpoint/2010/main" val="2521310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9E1F15A-2B1F-3EF7-036A-AA8B873DA643}"/>
              </a:ext>
            </a:extLst>
          </p:cNvPr>
          <p:cNvSpPr>
            <a:spLocks noGrp="1"/>
          </p:cNvSpPr>
          <p:nvPr>
            <p:ph type="ftr" sz="quarter" idx="16"/>
          </p:nvPr>
        </p:nvSpPr>
        <p:spPr/>
        <p:txBody>
          <a:bodyPr/>
          <a:lstStyle/>
          <a:p>
            <a:r>
              <a:rPr lang="en-US"/>
              <a:t>REGEN PDR</a:t>
            </a:r>
          </a:p>
        </p:txBody>
      </p:sp>
      <p:sp>
        <p:nvSpPr>
          <p:cNvPr id="4" name="Slide Number Placeholder 3">
            <a:extLst>
              <a:ext uri="{FF2B5EF4-FFF2-40B4-BE49-F238E27FC236}">
                <a16:creationId xmlns:a16="http://schemas.microsoft.com/office/drawing/2014/main" id="{EB5906AE-AB96-D534-71E4-02502FE6BC57}"/>
              </a:ext>
            </a:extLst>
          </p:cNvPr>
          <p:cNvSpPr>
            <a:spLocks noGrp="1"/>
          </p:cNvSpPr>
          <p:nvPr>
            <p:ph type="sldNum" sz="quarter" idx="17"/>
          </p:nvPr>
        </p:nvSpPr>
        <p:spPr/>
        <p:txBody>
          <a:bodyPr/>
          <a:lstStyle/>
          <a:p>
            <a:r>
              <a:rPr lang="en-US"/>
              <a:t>/   23</a:t>
            </a:r>
          </a:p>
        </p:txBody>
      </p:sp>
      <p:sp>
        <p:nvSpPr>
          <p:cNvPr id="5" name="Title 4">
            <a:extLst>
              <a:ext uri="{FF2B5EF4-FFF2-40B4-BE49-F238E27FC236}">
                <a16:creationId xmlns:a16="http://schemas.microsoft.com/office/drawing/2014/main" id="{D8C04352-5978-43C9-A8F8-C6E2CBCDB455}"/>
              </a:ext>
            </a:extLst>
          </p:cNvPr>
          <p:cNvSpPr>
            <a:spLocks noGrp="1"/>
          </p:cNvSpPr>
          <p:nvPr>
            <p:ph type="title"/>
          </p:nvPr>
        </p:nvSpPr>
        <p:spPr>
          <a:xfrm>
            <a:off x="531848" y="716984"/>
            <a:ext cx="6041672" cy="625567"/>
          </a:xfrm>
        </p:spPr>
        <p:txBody>
          <a:bodyPr/>
          <a:lstStyle/>
          <a:p>
            <a:r>
              <a:rPr lang="en-US">
                <a:latin typeface="Munistic"/>
              </a:rPr>
              <a:t>Life Cycle Fatigue</a:t>
            </a:r>
            <a:endParaRPr lang="en-US"/>
          </a:p>
        </p:txBody>
      </p:sp>
      <p:sp>
        <p:nvSpPr>
          <p:cNvPr id="6" name="TextBox 5">
            <a:extLst>
              <a:ext uri="{FF2B5EF4-FFF2-40B4-BE49-F238E27FC236}">
                <a16:creationId xmlns:a16="http://schemas.microsoft.com/office/drawing/2014/main" id="{A26665CF-58ED-9CF8-3B9B-6DAFFE1B3AE3}"/>
              </a:ext>
            </a:extLst>
          </p:cNvPr>
          <p:cNvSpPr txBox="1"/>
          <p:nvPr/>
        </p:nvSpPr>
        <p:spPr>
          <a:xfrm>
            <a:off x="343747" y="1540933"/>
            <a:ext cx="6061568" cy="51706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200">
                <a:ea typeface="Calibri"/>
                <a:cs typeface="Calibri"/>
              </a:rPr>
              <a:t>Manson &amp; Halford Research: how to accurately estimate high temperature low cycle fatigue, and application of linear damage analysis of fatigue and stress rupture</a:t>
            </a:r>
          </a:p>
          <a:p>
            <a:pPr marL="285750" indent="-285750">
              <a:buFont typeface="Arial"/>
              <a:buChar char="•"/>
            </a:pPr>
            <a:r>
              <a:rPr lang="en-US" sz="2200">
                <a:ea typeface="Calibri"/>
                <a:cs typeface="Calibri"/>
              </a:rPr>
              <a:t>10% rule: life lower bound for thermal applications can be safely approximated as 10% of  cycles found for non-thermal applications (accounting for thermal and creep)</a:t>
            </a:r>
          </a:p>
          <a:p>
            <a:pPr marL="285750" indent="-285750">
              <a:buFont typeface="Arial"/>
              <a:buChar char="•"/>
            </a:pPr>
            <a:r>
              <a:rPr lang="en-US" sz="2200">
                <a:ea typeface="Calibri"/>
                <a:cs typeface="Calibri"/>
              </a:rPr>
              <a:t>Therefore, given our low overall number of tests (and lower number of hot fires) results indicating a high FOS for cyclical loading can be used among other considerations to help validate safety of engine.</a:t>
            </a:r>
          </a:p>
          <a:p>
            <a:pPr marL="742950" lvl="1" indent="-285750">
              <a:buFont typeface="Arial"/>
              <a:buChar char="•"/>
            </a:pPr>
            <a:endParaRPr lang="en-US" sz="2200">
              <a:ea typeface="Calibri"/>
              <a:cs typeface="Calibri"/>
            </a:endParaRPr>
          </a:p>
          <a:p>
            <a:pPr marL="285750" indent="-285750">
              <a:buFont typeface="Arial"/>
              <a:buChar char="•"/>
            </a:pPr>
            <a:endParaRPr lang="en-US" sz="2200">
              <a:ea typeface="Calibri"/>
              <a:cs typeface="Calibri"/>
            </a:endParaRPr>
          </a:p>
        </p:txBody>
      </p:sp>
      <p:pic>
        <p:nvPicPr>
          <p:cNvPr id="2" name="Picture 1" descr="A white paper with black text&#10;&#10;AI-generated content may be incorrect.">
            <a:extLst>
              <a:ext uri="{FF2B5EF4-FFF2-40B4-BE49-F238E27FC236}">
                <a16:creationId xmlns:a16="http://schemas.microsoft.com/office/drawing/2014/main" id="{3852BFD9-870D-9E3B-87A1-70A609A55068}"/>
              </a:ext>
            </a:extLst>
          </p:cNvPr>
          <p:cNvPicPr>
            <a:picLocks noChangeAspect="1"/>
          </p:cNvPicPr>
          <p:nvPr/>
        </p:nvPicPr>
        <p:blipFill>
          <a:blip r:embed="rId3"/>
          <a:stretch>
            <a:fillRect/>
          </a:stretch>
        </p:blipFill>
        <p:spPr>
          <a:xfrm>
            <a:off x="6400800" y="3006466"/>
            <a:ext cx="5252720" cy="2805948"/>
          </a:xfrm>
          <a:prstGeom prst="rect">
            <a:avLst/>
          </a:prstGeom>
        </p:spPr>
      </p:pic>
      <p:pic>
        <p:nvPicPr>
          <p:cNvPr id="7" name="Picture 6" descr="A close-up of black text&#10;&#10;AI-generated content may be incorrect.">
            <a:extLst>
              <a:ext uri="{FF2B5EF4-FFF2-40B4-BE49-F238E27FC236}">
                <a16:creationId xmlns:a16="http://schemas.microsoft.com/office/drawing/2014/main" id="{407236C1-EBF1-492F-BE6B-C7FD32AB1262}"/>
              </a:ext>
            </a:extLst>
          </p:cNvPr>
          <p:cNvPicPr>
            <a:picLocks noChangeAspect="1"/>
          </p:cNvPicPr>
          <p:nvPr/>
        </p:nvPicPr>
        <p:blipFill>
          <a:blip r:embed="rId4"/>
          <a:stretch>
            <a:fillRect/>
          </a:stretch>
        </p:blipFill>
        <p:spPr>
          <a:xfrm>
            <a:off x="6116320" y="1709137"/>
            <a:ext cx="5811520" cy="1153725"/>
          </a:xfrm>
          <a:prstGeom prst="rect">
            <a:avLst/>
          </a:prstGeom>
        </p:spPr>
      </p:pic>
    </p:spTree>
    <p:extLst>
      <p:ext uri="{BB962C8B-B14F-4D97-AF65-F5344CB8AC3E}">
        <p14:creationId xmlns:p14="http://schemas.microsoft.com/office/powerpoint/2010/main" val="3783189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10F36-E357-DDF5-5270-C5048B608D1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A2705BC-BCA2-ABB6-1ED2-BD3A2F381A78}"/>
              </a:ext>
            </a:extLst>
          </p:cNvPr>
          <p:cNvSpPr>
            <a:spLocks noGrp="1"/>
          </p:cNvSpPr>
          <p:nvPr>
            <p:ph type="ftr" sz="quarter" idx="16"/>
          </p:nvPr>
        </p:nvSpPr>
        <p:spPr/>
        <p:txBody>
          <a:bodyPr/>
          <a:lstStyle/>
          <a:p>
            <a:r>
              <a:rPr lang="en-US"/>
              <a:t>REGEN PDR</a:t>
            </a:r>
          </a:p>
        </p:txBody>
      </p:sp>
      <p:sp>
        <p:nvSpPr>
          <p:cNvPr id="4" name="Slide Number Placeholder 3">
            <a:extLst>
              <a:ext uri="{FF2B5EF4-FFF2-40B4-BE49-F238E27FC236}">
                <a16:creationId xmlns:a16="http://schemas.microsoft.com/office/drawing/2014/main" id="{7EF5E609-ED44-EE72-468D-1C8D42029EED}"/>
              </a:ext>
            </a:extLst>
          </p:cNvPr>
          <p:cNvSpPr>
            <a:spLocks noGrp="1"/>
          </p:cNvSpPr>
          <p:nvPr>
            <p:ph type="sldNum" sz="quarter" idx="17"/>
          </p:nvPr>
        </p:nvSpPr>
        <p:spPr/>
        <p:txBody>
          <a:bodyPr/>
          <a:lstStyle/>
          <a:p>
            <a:r>
              <a:rPr lang="en-US"/>
              <a:t>/   24</a:t>
            </a:r>
          </a:p>
        </p:txBody>
      </p:sp>
      <p:sp>
        <p:nvSpPr>
          <p:cNvPr id="5" name="Title 4">
            <a:extLst>
              <a:ext uri="{FF2B5EF4-FFF2-40B4-BE49-F238E27FC236}">
                <a16:creationId xmlns:a16="http://schemas.microsoft.com/office/drawing/2014/main" id="{D7B1E93D-8D7F-956A-1405-F9226516A443}"/>
              </a:ext>
            </a:extLst>
          </p:cNvPr>
          <p:cNvSpPr>
            <a:spLocks noGrp="1"/>
          </p:cNvSpPr>
          <p:nvPr>
            <p:ph type="title"/>
          </p:nvPr>
        </p:nvSpPr>
        <p:spPr>
          <a:xfrm>
            <a:off x="531848" y="716984"/>
            <a:ext cx="7596152" cy="625567"/>
          </a:xfrm>
        </p:spPr>
        <p:txBody>
          <a:bodyPr/>
          <a:lstStyle/>
          <a:p>
            <a:r>
              <a:rPr lang="en-US">
                <a:latin typeface="Munistic"/>
              </a:rPr>
              <a:t>Life Cycle Fatigue Calcs</a:t>
            </a:r>
            <a:endParaRPr lang="en-US"/>
          </a:p>
        </p:txBody>
      </p:sp>
      <p:pic>
        <p:nvPicPr>
          <p:cNvPr id="10" name="Picture 9" descr="A white board with black text&#10;&#10;AI-generated content may be incorrect.">
            <a:extLst>
              <a:ext uri="{FF2B5EF4-FFF2-40B4-BE49-F238E27FC236}">
                <a16:creationId xmlns:a16="http://schemas.microsoft.com/office/drawing/2014/main" id="{0BEFB2B5-B703-615F-3615-CD60EED46AC5}"/>
              </a:ext>
            </a:extLst>
          </p:cNvPr>
          <p:cNvPicPr>
            <a:picLocks noChangeAspect="1"/>
          </p:cNvPicPr>
          <p:nvPr/>
        </p:nvPicPr>
        <p:blipFill>
          <a:blip r:embed="rId3"/>
          <a:stretch>
            <a:fillRect/>
          </a:stretch>
        </p:blipFill>
        <p:spPr>
          <a:xfrm>
            <a:off x="3579223" y="1591341"/>
            <a:ext cx="8344082" cy="4197831"/>
          </a:xfrm>
          <a:prstGeom prst="rect">
            <a:avLst/>
          </a:prstGeom>
        </p:spPr>
      </p:pic>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17508DE8-32D5-B6BB-7B6B-33896A14C4B0}"/>
                  </a:ext>
                </a:extLst>
              </p14:cNvPr>
              <p14:cNvContentPartPr/>
              <p14:nvPr/>
            </p14:nvContentPartPr>
            <p14:xfrm>
              <a:off x="5438321" y="4270375"/>
              <a:ext cx="11339" cy="11339"/>
            </p14:xfrm>
          </p:contentPart>
        </mc:Choice>
        <mc:Fallback xmlns="">
          <p:pic>
            <p:nvPicPr>
              <p:cNvPr id="11" name="Ink 10">
                <a:extLst>
                  <a:ext uri="{FF2B5EF4-FFF2-40B4-BE49-F238E27FC236}">
                    <a16:creationId xmlns:a16="http://schemas.microsoft.com/office/drawing/2014/main" id="{17508DE8-32D5-B6BB-7B6B-33896A14C4B0}"/>
                  </a:ext>
                </a:extLst>
              </p:cNvPr>
              <p:cNvPicPr/>
              <p:nvPr/>
            </p:nvPicPr>
            <p:blipFill>
              <a:blip r:embed="rId5"/>
              <a:stretch>
                <a:fillRect/>
              </a:stretch>
            </p:blipFill>
            <p:spPr>
              <a:xfrm>
                <a:off x="4871371" y="3703425"/>
                <a:ext cx="1133900" cy="1133900"/>
              </a:xfrm>
              <a:prstGeom prst="rect">
                <a:avLst/>
              </a:prstGeom>
            </p:spPr>
          </p:pic>
        </mc:Fallback>
      </mc:AlternateContent>
      <p:sp>
        <p:nvSpPr>
          <p:cNvPr id="14" name="TextBox 13">
            <a:extLst>
              <a:ext uri="{FF2B5EF4-FFF2-40B4-BE49-F238E27FC236}">
                <a16:creationId xmlns:a16="http://schemas.microsoft.com/office/drawing/2014/main" id="{F601201F-AE70-F9EC-8819-80F3B924E47A}"/>
              </a:ext>
            </a:extLst>
          </p:cNvPr>
          <p:cNvSpPr txBox="1"/>
          <p:nvPr/>
        </p:nvSpPr>
        <p:spPr>
          <a:xfrm>
            <a:off x="748317" y="1827496"/>
            <a:ext cx="2494178"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Calculated at throat, where thermal stress will be the greatest. Uses material properties at peak hot wall temp.</a:t>
            </a:r>
            <a:endParaRPr lang="en-US"/>
          </a:p>
        </p:txBody>
      </p:sp>
    </p:spTree>
    <p:extLst>
      <p:ext uri="{BB962C8B-B14F-4D97-AF65-F5344CB8AC3E}">
        <p14:creationId xmlns:p14="http://schemas.microsoft.com/office/powerpoint/2010/main" val="19569331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9811E-72F7-DAC6-7A1E-487786E8FD9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BC35D19-9E18-1B29-7B5B-E9E612BA109D}"/>
              </a:ext>
            </a:extLst>
          </p:cNvPr>
          <p:cNvSpPr>
            <a:spLocks noGrp="1"/>
          </p:cNvSpPr>
          <p:nvPr>
            <p:ph type="ftr" sz="quarter" idx="16"/>
          </p:nvPr>
        </p:nvSpPr>
        <p:spPr/>
        <p:txBody>
          <a:bodyPr/>
          <a:lstStyle/>
          <a:p>
            <a:r>
              <a:rPr lang="en-US"/>
              <a:t>REGEN PDR</a:t>
            </a:r>
          </a:p>
        </p:txBody>
      </p:sp>
      <p:sp>
        <p:nvSpPr>
          <p:cNvPr id="4" name="Slide Number Placeholder 3">
            <a:extLst>
              <a:ext uri="{FF2B5EF4-FFF2-40B4-BE49-F238E27FC236}">
                <a16:creationId xmlns:a16="http://schemas.microsoft.com/office/drawing/2014/main" id="{2C3686B3-40CB-B610-2C77-193704960A05}"/>
              </a:ext>
            </a:extLst>
          </p:cNvPr>
          <p:cNvSpPr>
            <a:spLocks noGrp="1"/>
          </p:cNvSpPr>
          <p:nvPr>
            <p:ph type="sldNum" sz="quarter" idx="17"/>
          </p:nvPr>
        </p:nvSpPr>
        <p:spPr/>
        <p:txBody>
          <a:bodyPr/>
          <a:lstStyle/>
          <a:p>
            <a:r>
              <a:rPr lang="en-US"/>
              <a:t>/   25</a:t>
            </a:r>
          </a:p>
        </p:txBody>
      </p:sp>
      <p:sp>
        <p:nvSpPr>
          <p:cNvPr id="5" name="Title 4">
            <a:extLst>
              <a:ext uri="{FF2B5EF4-FFF2-40B4-BE49-F238E27FC236}">
                <a16:creationId xmlns:a16="http://schemas.microsoft.com/office/drawing/2014/main" id="{FD202F85-F407-A174-4BE7-35E454DBCA64}"/>
              </a:ext>
            </a:extLst>
          </p:cNvPr>
          <p:cNvSpPr>
            <a:spLocks noGrp="1"/>
          </p:cNvSpPr>
          <p:nvPr>
            <p:ph type="title"/>
          </p:nvPr>
        </p:nvSpPr>
        <p:spPr>
          <a:xfrm>
            <a:off x="531848" y="716984"/>
            <a:ext cx="7596152" cy="625567"/>
          </a:xfrm>
        </p:spPr>
        <p:txBody>
          <a:bodyPr/>
          <a:lstStyle/>
          <a:p>
            <a:r>
              <a:rPr lang="en-US">
                <a:latin typeface="Munistic"/>
              </a:rPr>
              <a:t>Life Cycle Fatigue Calcs</a:t>
            </a:r>
            <a:endParaRPr lang="en-US"/>
          </a:p>
        </p:txBody>
      </p:sp>
      <p:pic>
        <p:nvPicPr>
          <p:cNvPr id="2" name="Picture 1" descr="A close-up of math equations&#10;&#10;AI-generated content may be incorrect.">
            <a:extLst>
              <a:ext uri="{FF2B5EF4-FFF2-40B4-BE49-F238E27FC236}">
                <a16:creationId xmlns:a16="http://schemas.microsoft.com/office/drawing/2014/main" id="{AFD6BFDF-AD86-7E3B-24D4-B699C40F2500}"/>
              </a:ext>
            </a:extLst>
          </p:cNvPr>
          <p:cNvPicPr>
            <a:picLocks noChangeAspect="1"/>
          </p:cNvPicPr>
          <p:nvPr/>
        </p:nvPicPr>
        <p:blipFill>
          <a:blip r:embed="rId3"/>
          <a:srcRect t="-431" r="3333" b="21659"/>
          <a:stretch>
            <a:fillRect/>
          </a:stretch>
        </p:blipFill>
        <p:spPr>
          <a:xfrm>
            <a:off x="4233568" y="1713795"/>
            <a:ext cx="7693477" cy="3897534"/>
          </a:xfrm>
          <a:prstGeom prst="rect">
            <a:avLst/>
          </a:prstGeom>
        </p:spPr>
      </p:pic>
      <p:sp>
        <p:nvSpPr>
          <p:cNvPr id="11" name="TextBox 10">
            <a:extLst>
              <a:ext uri="{FF2B5EF4-FFF2-40B4-BE49-F238E27FC236}">
                <a16:creationId xmlns:a16="http://schemas.microsoft.com/office/drawing/2014/main" id="{CCE9E736-01CA-B5BE-75BC-6C65B460D925}"/>
              </a:ext>
            </a:extLst>
          </p:cNvPr>
          <p:cNvSpPr txBox="1"/>
          <p:nvPr/>
        </p:nvSpPr>
        <p:spPr>
          <a:xfrm>
            <a:off x="207259" y="1456909"/>
            <a:ext cx="4121117"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Hot wall wants to expand but is limited by wall around it. With temperature gradient across, hot wall is forced into compression.</a:t>
            </a:r>
            <a:br>
              <a:rPr lang="en-US">
                <a:ea typeface="Calibri"/>
                <a:cs typeface="Calibri"/>
              </a:rPr>
            </a:br>
            <a:br>
              <a:rPr lang="en-US">
                <a:ea typeface="Calibri"/>
                <a:cs typeface="Calibri"/>
              </a:rPr>
            </a:br>
            <a:r>
              <a:rPr lang="en-US">
                <a:ea typeface="Calibri"/>
                <a:cs typeface="Calibri"/>
              </a:rPr>
              <a:t>Break thermal strain into two parts: </a:t>
            </a:r>
          </a:p>
          <a:p>
            <a:endParaRPr lang="en-US">
              <a:ea typeface="Calibri"/>
              <a:cs typeface="Calibri"/>
            </a:endParaRPr>
          </a:p>
          <a:p>
            <a:r>
              <a:rPr lang="en-US">
                <a:ea typeface="Calibri"/>
                <a:cs typeface="Calibri"/>
              </a:rPr>
              <a:t>ε₁ (inner layer vs. outer layer): assume bonded layers see strain together (balancing forces). Use temperature value for inner wall, sees greater strain in compression, therefore uses compressed value.</a:t>
            </a:r>
          </a:p>
          <a:p>
            <a:endParaRPr lang="en-US">
              <a:ea typeface="Calibri"/>
              <a:cs typeface="Calibri"/>
            </a:endParaRPr>
          </a:p>
          <a:p>
            <a:r>
              <a:rPr lang="en-US">
                <a:ea typeface="Calibri"/>
                <a:cs typeface="Calibri"/>
              </a:rPr>
              <a:t>ε₂ (hot face vs. mean inner temperature):</a:t>
            </a:r>
            <a:endParaRPr lang="en-US"/>
          </a:p>
          <a:p>
            <a:r>
              <a:rPr lang="en-US">
                <a:ea typeface="Calibri"/>
                <a:cs typeface="Calibri"/>
              </a:rPr>
              <a:t>523.15 K − 498.15 K = 25 K, with bending ignored.</a:t>
            </a:r>
            <a:endParaRPr lang="en-US"/>
          </a:p>
          <a:p>
            <a:endParaRPr lang="en-US">
              <a:ea typeface="Calibri"/>
              <a:cs typeface="Calibri"/>
            </a:endParaRPr>
          </a:p>
        </p:txBody>
      </p:sp>
    </p:spTree>
    <p:extLst>
      <p:ext uri="{BB962C8B-B14F-4D97-AF65-F5344CB8AC3E}">
        <p14:creationId xmlns:p14="http://schemas.microsoft.com/office/powerpoint/2010/main" val="19758625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FEBA2-99B0-8683-C42C-1CFC16EF3AE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ED97A94-95A5-8A5A-49AF-00F16C4B681D}"/>
              </a:ext>
            </a:extLst>
          </p:cNvPr>
          <p:cNvSpPr>
            <a:spLocks noGrp="1"/>
          </p:cNvSpPr>
          <p:nvPr>
            <p:ph type="ftr" sz="quarter" idx="16"/>
          </p:nvPr>
        </p:nvSpPr>
        <p:spPr/>
        <p:txBody>
          <a:bodyPr/>
          <a:lstStyle/>
          <a:p>
            <a:r>
              <a:rPr lang="en-US"/>
              <a:t>REGEN PDR</a:t>
            </a:r>
          </a:p>
        </p:txBody>
      </p:sp>
      <p:sp>
        <p:nvSpPr>
          <p:cNvPr id="4" name="Slide Number Placeholder 3">
            <a:extLst>
              <a:ext uri="{FF2B5EF4-FFF2-40B4-BE49-F238E27FC236}">
                <a16:creationId xmlns:a16="http://schemas.microsoft.com/office/drawing/2014/main" id="{B16BBA16-7F06-C280-BACE-F65D826A7754}"/>
              </a:ext>
            </a:extLst>
          </p:cNvPr>
          <p:cNvSpPr>
            <a:spLocks noGrp="1"/>
          </p:cNvSpPr>
          <p:nvPr>
            <p:ph type="sldNum" sz="quarter" idx="17"/>
          </p:nvPr>
        </p:nvSpPr>
        <p:spPr/>
        <p:txBody>
          <a:bodyPr/>
          <a:lstStyle/>
          <a:p>
            <a:r>
              <a:rPr lang="en-US"/>
              <a:t>/   26</a:t>
            </a:r>
          </a:p>
        </p:txBody>
      </p:sp>
      <p:sp>
        <p:nvSpPr>
          <p:cNvPr id="5" name="Title 4">
            <a:extLst>
              <a:ext uri="{FF2B5EF4-FFF2-40B4-BE49-F238E27FC236}">
                <a16:creationId xmlns:a16="http://schemas.microsoft.com/office/drawing/2014/main" id="{05B9244D-16CA-5D8F-7C85-F8CDE3EEF91F}"/>
              </a:ext>
            </a:extLst>
          </p:cNvPr>
          <p:cNvSpPr>
            <a:spLocks noGrp="1"/>
          </p:cNvSpPr>
          <p:nvPr>
            <p:ph type="title"/>
          </p:nvPr>
        </p:nvSpPr>
        <p:spPr>
          <a:xfrm>
            <a:off x="531848" y="716984"/>
            <a:ext cx="7596152" cy="625567"/>
          </a:xfrm>
        </p:spPr>
        <p:txBody>
          <a:bodyPr/>
          <a:lstStyle/>
          <a:p>
            <a:r>
              <a:rPr lang="en-US">
                <a:latin typeface="Munistic"/>
              </a:rPr>
              <a:t>Life Cycle Fatigue Calcs</a:t>
            </a:r>
            <a:endParaRPr lang="en-US"/>
          </a:p>
        </p:txBody>
      </p:sp>
      <p:pic>
        <p:nvPicPr>
          <p:cNvPr id="6" name="Picture 5" descr="A close-up of a paper&#10;&#10;AI-generated content may be incorrect.">
            <a:extLst>
              <a:ext uri="{FF2B5EF4-FFF2-40B4-BE49-F238E27FC236}">
                <a16:creationId xmlns:a16="http://schemas.microsoft.com/office/drawing/2014/main" id="{00AA5AD8-2B27-AEA4-071B-AEDCB0B050BF}"/>
              </a:ext>
            </a:extLst>
          </p:cNvPr>
          <p:cNvPicPr>
            <a:picLocks noChangeAspect="1"/>
          </p:cNvPicPr>
          <p:nvPr/>
        </p:nvPicPr>
        <p:blipFill>
          <a:blip r:embed="rId3"/>
          <a:srcRect l="-81" r="46629"/>
          <a:stretch>
            <a:fillRect/>
          </a:stretch>
        </p:blipFill>
        <p:spPr>
          <a:xfrm>
            <a:off x="3175611" y="1612365"/>
            <a:ext cx="4607548" cy="3560801"/>
          </a:xfrm>
          <a:prstGeom prst="rect">
            <a:avLst/>
          </a:prstGeom>
        </p:spPr>
      </p:pic>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7B6F8A5B-5CFF-311E-09AA-2B07E6090A58}"/>
                  </a:ext>
                </a:extLst>
              </p14:cNvPr>
              <p14:cNvContentPartPr/>
              <p14:nvPr/>
            </p14:nvContentPartPr>
            <p14:xfrm>
              <a:off x="5839513" y="2311044"/>
              <a:ext cx="555914" cy="323479"/>
            </p14:xfrm>
          </p:contentPart>
        </mc:Choice>
        <mc:Fallback xmlns="">
          <p:pic>
            <p:nvPicPr>
              <p:cNvPr id="11" name="Ink 10">
                <a:extLst>
                  <a:ext uri="{FF2B5EF4-FFF2-40B4-BE49-F238E27FC236}">
                    <a16:creationId xmlns:a16="http://schemas.microsoft.com/office/drawing/2014/main" id="{7B6F8A5B-5CFF-311E-09AA-2B07E6090A58}"/>
                  </a:ext>
                </a:extLst>
              </p:cNvPr>
              <p:cNvPicPr/>
              <p:nvPr/>
            </p:nvPicPr>
            <p:blipFill>
              <a:blip r:embed="rId5"/>
              <a:stretch>
                <a:fillRect/>
              </a:stretch>
            </p:blipFill>
            <p:spPr>
              <a:xfrm>
                <a:off x="5821534" y="2293053"/>
                <a:ext cx="591513" cy="359101"/>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3B980313-A252-D7FE-9168-04C4F121668A}"/>
                  </a:ext>
                </a:extLst>
              </p14:cNvPr>
              <p14:cNvContentPartPr/>
              <p14:nvPr/>
            </p14:nvContentPartPr>
            <p14:xfrm>
              <a:off x="3756887" y="4879419"/>
              <a:ext cx="16690" cy="94770"/>
            </p14:xfrm>
          </p:contentPart>
        </mc:Choice>
        <mc:Fallback xmlns="">
          <p:pic>
            <p:nvPicPr>
              <p:cNvPr id="15" name="Ink 14">
                <a:extLst>
                  <a:ext uri="{FF2B5EF4-FFF2-40B4-BE49-F238E27FC236}">
                    <a16:creationId xmlns:a16="http://schemas.microsoft.com/office/drawing/2014/main" id="{3B980313-A252-D7FE-9168-04C4F121668A}"/>
                  </a:ext>
                </a:extLst>
              </p:cNvPr>
              <p:cNvPicPr/>
              <p:nvPr/>
            </p:nvPicPr>
            <p:blipFill>
              <a:blip r:embed="rId7"/>
              <a:stretch>
                <a:fillRect/>
              </a:stretch>
            </p:blipFill>
            <p:spPr>
              <a:xfrm>
                <a:off x="3739132" y="4861538"/>
                <a:ext cx="51846" cy="130175"/>
              </a:xfrm>
              <a:prstGeom prst="rect">
                <a:avLst/>
              </a:prstGeom>
            </p:spPr>
          </p:pic>
        </mc:Fallback>
      </mc:AlternateContent>
      <p:sp>
        <p:nvSpPr>
          <p:cNvPr id="16" name="TextBox 15">
            <a:extLst>
              <a:ext uri="{FF2B5EF4-FFF2-40B4-BE49-F238E27FC236}">
                <a16:creationId xmlns:a16="http://schemas.microsoft.com/office/drawing/2014/main" id="{ECB78FEE-835A-C15C-B904-F2195F7183EC}"/>
              </a:ext>
            </a:extLst>
          </p:cNvPr>
          <p:cNvSpPr txBox="1"/>
          <p:nvPr/>
        </p:nvSpPr>
        <p:spPr>
          <a:xfrm>
            <a:off x="191779" y="1614023"/>
            <a:ext cx="2972949"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Strain range:</a:t>
            </a:r>
            <a:endParaRPr lang="en-US"/>
          </a:p>
          <a:p>
            <a:r>
              <a:rPr lang="en-US">
                <a:ea typeface="Calibri"/>
                <a:cs typeface="Calibri"/>
              </a:rPr>
              <a:t>The wall starts cold at zero mechanical strain, and the hot condition is the most compressive.</a:t>
            </a:r>
            <a:endParaRPr lang="en-US"/>
          </a:p>
          <a:p>
            <a:r>
              <a:rPr lang="en-US">
                <a:ea typeface="Calibri"/>
                <a:cs typeface="Calibri"/>
              </a:rPr>
              <a:t>The range is the magnitude of that swing, 0.291%.</a:t>
            </a:r>
            <a:endParaRPr lang="en-US"/>
          </a:p>
        </p:txBody>
      </p:sp>
      <p:sp>
        <p:nvSpPr>
          <p:cNvPr id="17" name="TextBox 16">
            <a:extLst>
              <a:ext uri="{FF2B5EF4-FFF2-40B4-BE49-F238E27FC236}">
                <a16:creationId xmlns:a16="http://schemas.microsoft.com/office/drawing/2014/main" id="{9C5C5FD1-677A-BB27-ADE5-D5CD2E4BC766}"/>
              </a:ext>
            </a:extLst>
          </p:cNvPr>
          <p:cNvSpPr txBox="1"/>
          <p:nvPr/>
        </p:nvSpPr>
        <p:spPr>
          <a:xfrm>
            <a:off x="218476" y="4052455"/>
            <a:ext cx="282952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Solve: The equation gives </a:t>
            </a:r>
            <a:r>
              <a:rPr lang="en-US" err="1"/>
              <a:t>Nf</a:t>
            </a:r>
            <a:r>
              <a:rPr lang="en-US"/>
              <a:t> ≈ 6.25×10⁵ cycles. 10% rule: Following Halford &amp; Manson, the lower-bound life is 10% of that, so 62,500 cycles.</a:t>
            </a:r>
          </a:p>
          <a:p>
            <a:pPr algn="ctr"/>
            <a:endParaRPr lang="en-US"/>
          </a:p>
        </p:txBody>
      </p:sp>
      <p:pic>
        <p:nvPicPr>
          <p:cNvPr id="18" name="Picture 17" descr="A close-up of a paper&#10;&#10;AI-generated content may be incorrect.">
            <a:extLst>
              <a:ext uri="{FF2B5EF4-FFF2-40B4-BE49-F238E27FC236}">
                <a16:creationId xmlns:a16="http://schemas.microsoft.com/office/drawing/2014/main" id="{FC032D2E-86EC-4982-1525-A030D0A257AB}"/>
              </a:ext>
            </a:extLst>
          </p:cNvPr>
          <p:cNvPicPr>
            <a:picLocks noChangeAspect="1"/>
          </p:cNvPicPr>
          <p:nvPr/>
        </p:nvPicPr>
        <p:blipFill>
          <a:blip r:embed="rId3"/>
          <a:srcRect l="54964" t="2372" r="-1175" b="-1946"/>
          <a:stretch>
            <a:fillRect/>
          </a:stretch>
        </p:blipFill>
        <p:spPr>
          <a:xfrm>
            <a:off x="7357379" y="1712793"/>
            <a:ext cx="4574875" cy="4057184"/>
          </a:xfrm>
          <a:prstGeom prst="rect">
            <a:avLst/>
          </a:prstGeom>
        </p:spPr>
      </p:pic>
    </p:spTree>
    <p:extLst>
      <p:ext uri="{BB962C8B-B14F-4D97-AF65-F5344CB8AC3E}">
        <p14:creationId xmlns:p14="http://schemas.microsoft.com/office/powerpoint/2010/main" val="7525589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DD5F223-5FD9-4A1F-FD07-4C50ED896A75}"/>
              </a:ext>
            </a:extLst>
          </p:cNvPr>
          <p:cNvSpPr>
            <a:spLocks noGrp="1"/>
          </p:cNvSpPr>
          <p:nvPr>
            <p:ph type="ftr" sz="quarter" idx="16"/>
          </p:nvPr>
        </p:nvSpPr>
        <p:spPr/>
        <p:txBody>
          <a:bodyPr/>
          <a:lstStyle/>
          <a:p>
            <a:r>
              <a:rPr lang="en-US"/>
              <a:t>REGEN PDR</a:t>
            </a:r>
          </a:p>
        </p:txBody>
      </p:sp>
      <p:sp>
        <p:nvSpPr>
          <p:cNvPr id="4" name="Slide Number Placeholder 3">
            <a:extLst>
              <a:ext uri="{FF2B5EF4-FFF2-40B4-BE49-F238E27FC236}">
                <a16:creationId xmlns:a16="http://schemas.microsoft.com/office/drawing/2014/main" id="{43496F71-7D3E-7CC6-456E-EC3910D9F220}"/>
              </a:ext>
            </a:extLst>
          </p:cNvPr>
          <p:cNvSpPr>
            <a:spLocks noGrp="1"/>
          </p:cNvSpPr>
          <p:nvPr>
            <p:ph type="sldNum" sz="quarter" idx="17"/>
          </p:nvPr>
        </p:nvSpPr>
        <p:spPr/>
        <p:txBody>
          <a:bodyPr/>
          <a:lstStyle/>
          <a:p>
            <a:r>
              <a:rPr lang="en-US"/>
              <a:t>/   27</a:t>
            </a:r>
          </a:p>
        </p:txBody>
      </p:sp>
      <p:sp>
        <p:nvSpPr>
          <p:cNvPr id="5" name="Title 4">
            <a:extLst>
              <a:ext uri="{FF2B5EF4-FFF2-40B4-BE49-F238E27FC236}">
                <a16:creationId xmlns:a16="http://schemas.microsoft.com/office/drawing/2014/main" id="{902E1D38-D2C3-9D79-AE5A-8E5718DB67ED}"/>
              </a:ext>
            </a:extLst>
          </p:cNvPr>
          <p:cNvSpPr>
            <a:spLocks noGrp="1"/>
          </p:cNvSpPr>
          <p:nvPr>
            <p:ph type="title"/>
          </p:nvPr>
        </p:nvSpPr>
        <p:spPr/>
        <p:txBody>
          <a:bodyPr/>
          <a:lstStyle/>
          <a:p>
            <a:r>
              <a:rPr lang="en-US">
                <a:latin typeface="Munistic"/>
              </a:rPr>
              <a:t>Integration Plate</a:t>
            </a:r>
            <a:endParaRPr lang="en-US"/>
          </a:p>
        </p:txBody>
      </p:sp>
      <p:sp>
        <p:nvSpPr>
          <p:cNvPr id="7" name="TextBox 6">
            <a:extLst>
              <a:ext uri="{FF2B5EF4-FFF2-40B4-BE49-F238E27FC236}">
                <a16:creationId xmlns:a16="http://schemas.microsoft.com/office/drawing/2014/main" id="{D5D6AF82-5721-A71F-EB8C-0FE25D21C99B}"/>
              </a:ext>
            </a:extLst>
          </p:cNvPr>
          <p:cNvSpPr txBox="1"/>
          <p:nvPr/>
        </p:nvSpPr>
        <p:spPr>
          <a:xfrm>
            <a:off x="618179" y="1602218"/>
            <a:ext cx="440294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a:ea typeface="Calibri"/>
                <a:cs typeface="Calibri"/>
              </a:rPr>
              <a:t>A36 Steel, 3/8"</a:t>
            </a:r>
          </a:p>
          <a:p>
            <a:pPr marL="285750" indent="-285750">
              <a:buFont typeface="Calibri"/>
              <a:buChar char="-"/>
            </a:pPr>
            <a:r>
              <a:rPr lang="en-US">
                <a:ea typeface="Calibri"/>
                <a:cs typeface="Calibri"/>
              </a:rPr>
              <a:t>Holes for 10 ¼"-20 bolts</a:t>
            </a:r>
          </a:p>
          <a:p>
            <a:pPr marL="285750" indent="-285750">
              <a:buFont typeface="Calibri"/>
              <a:buChar char="-"/>
            </a:pPr>
            <a:r>
              <a:rPr lang="en-US">
                <a:ea typeface="Calibri"/>
                <a:cs typeface="Calibri"/>
              </a:rPr>
              <a:t>Integration for Bluegrass test stand</a:t>
            </a:r>
          </a:p>
          <a:p>
            <a:pPr marL="285750" indent="-285750">
              <a:buFont typeface="Calibri"/>
              <a:buChar char="-"/>
            </a:pPr>
            <a:endParaRPr lang="en-US">
              <a:ea typeface="Calibri"/>
              <a:cs typeface="Calibri"/>
            </a:endParaRPr>
          </a:p>
        </p:txBody>
      </p:sp>
      <p:sp>
        <p:nvSpPr>
          <p:cNvPr id="12" name="TextBox 11">
            <a:extLst>
              <a:ext uri="{FF2B5EF4-FFF2-40B4-BE49-F238E27FC236}">
                <a16:creationId xmlns:a16="http://schemas.microsoft.com/office/drawing/2014/main" id="{A7CCA87D-155C-A395-F39E-888FE43AEFD8}"/>
              </a:ext>
            </a:extLst>
          </p:cNvPr>
          <p:cNvSpPr txBox="1"/>
          <p:nvPr/>
        </p:nvSpPr>
        <p:spPr>
          <a:xfrm>
            <a:off x="6693219" y="4998248"/>
            <a:ext cx="495932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With 300lbf / 1334.47N applied on inner radius (where engine contacts plate), there is a FOS &gt; 10 </a:t>
            </a:r>
            <a:endParaRPr lang="en-US"/>
          </a:p>
        </p:txBody>
      </p:sp>
      <p:pic>
        <p:nvPicPr>
          <p:cNvPr id="13" name="Picture 12" descr="A drawing of a circular object with numbers and symbols&#10;&#10;AI-generated content may be incorrect.">
            <a:extLst>
              <a:ext uri="{FF2B5EF4-FFF2-40B4-BE49-F238E27FC236}">
                <a16:creationId xmlns:a16="http://schemas.microsoft.com/office/drawing/2014/main" id="{0ABF06D1-8ED3-60CE-6083-097932A44323}"/>
              </a:ext>
            </a:extLst>
          </p:cNvPr>
          <p:cNvPicPr>
            <a:picLocks noChangeAspect="1"/>
          </p:cNvPicPr>
          <p:nvPr/>
        </p:nvPicPr>
        <p:blipFill>
          <a:blip r:embed="rId2"/>
          <a:stretch>
            <a:fillRect/>
          </a:stretch>
        </p:blipFill>
        <p:spPr>
          <a:xfrm>
            <a:off x="539505" y="2661920"/>
            <a:ext cx="5555470" cy="3108960"/>
          </a:xfrm>
          <a:prstGeom prst="rect">
            <a:avLst/>
          </a:prstGeom>
        </p:spPr>
      </p:pic>
      <p:pic>
        <p:nvPicPr>
          <p:cNvPr id="14" name="Picture 13" descr="A blue circle with white circles and black text&#10;&#10;AI-generated content may be incorrect.">
            <a:extLst>
              <a:ext uri="{FF2B5EF4-FFF2-40B4-BE49-F238E27FC236}">
                <a16:creationId xmlns:a16="http://schemas.microsoft.com/office/drawing/2014/main" id="{1B40F136-631F-C4E0-C842-BDEA59A3E49C}"/>
              </a:ext>
            </a:extLst>
          </p:cNvPr>
          <p:cNvPicPr>
            <a:picLocks noChangeAspect="1"/>
          </p:cNvPicPr>
          <p:nvPr/>
        </p:nvPicPr>
        <p:blipFill>
          <a:blip r:embed="rId3"/>
          <a:stretch>
            <a:fillRect/>
          </a:stretch>
        </p:blipFill>
        <p:spPr>
          <a:xfrm>
            <a:off x="6552208" y="1341120"/>
            <a:ext cx="5102304" cy="3444240"/>
          </a:xfrm>
          <a:prstGeom prst="rect">
            <a:avLst/>
          </a:prstGeom>
        </p:spPr>
      </p:pic>
    </p:spTree>
    <p:extLst>
      <p:ext uri="{BB962C8B-B14F-4D97-AF65-F5344CB8AC3E}">
        <p14:creationId xmlns:p14="http://schemas.microsoft.com/office/powerpoint/2010/main" val="40316989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2D895ED-1F75-61DE-73C8-AD36AFC83FB2}"/>
              </a:ext>
            </a:extLst>
          </p:cNvPr>
          <p:cNvSpPr>
            <a:spLocks noGrp="1"/>
          </p:cNvSpPr>
          <p:nvPr>
            <p:ph type="ftr" sz="quarter" idx="16"/>
          </p:nvPr>
        </p:nvSpPr>
        <p:spPr/>
        <p:txBody>
          <a:bodyPr/>
          <a:lstStyle/>
          <a:p>
            <a:r>
              <a:rPr lang="en-US"/>
              <a:t>REGEN PDR</a:t>
            </a:r>
          </a:p>
        </p:txBody>
      </p:sp>
      <p:sp>
        <p:nvSpPr>
          <p:cNvPr id="4" name="Slide Number Placeholder 3">
            <a:extLst>
              <a:ext uri="{FF2B5EF4-FFF2-40B4-BE49-F238E27FC236}">
                <a16:creationId xmlns:a16="http://schemas.microsoft.com/office/drawing/2014/main" id="{A6077DBA-0DDD-A23E-E00A-EB950B12ABEB}"/>
              </a:ext>
            </a:extLst>
          </p:cNvPr>
          <p:cNvSpPr>
            <a:spLocks noGrp="1"/>
          </p:cNvSpPr>
          <p:nvPr>
            <p:ph type="sldNum" sz="quarter" idx="17"/>
          </p:nvPr>
        </p:nvSpPr>
        <p:spPr/>
        <p:txBody>
          <a:bodyPr/>
          <a:lstStyle/>
          <a:p>
            <a:r>
              <a:rPr lang="en-US"/>
              <a:t>/  28</a:t>
            </a:r>
          </a:p>
        </p:txBody>
      </p:sp>
      <p:sp>
        <p:nvSpPr>
          <p:cNvPr id="5" name="Title 4">
            <a:extLst>
              <a:ext uri="{FF2B5EF4-FFF2-40B4-BE49-F238E27FC236}">
                <a16:creationId xmlns:a16="http://schemas.microsoft.com/office/drawing/2014/main" id="{876C72E2-C1C1-71B7-2DA6-22D2ECA1A649}"/>
              </a:ext>
            </a:extLst>
          </p:cNvPr>
          <p:cNvSpPr>
            <a:spLocks noGrp="1"/>
          </p:cNvSpPr>
          <p:nvPr>
            <p:ph type="title"/>
          </p:nvPr>
        </p:nvSpPr>
        <p:spPr/>
        <p:txBody>
          <a:bodyPr/>
          <a:lstStyle/>
          <a:p>
            <a:r>
              <a:rPr lang="en-US"/>
              <a:t>Bolted Joint </a:t>
            </a:r>
          </a:p>
        </p:txBody>
      </p:sp>
      <p:sp>
        <p:nvSpPr>
          <p:cNvPr id="8" name="Body 11">
            <a:extLst>
              <a:ext uri="{FF2B5EF4-FFF2-40B4-BE49-F238E27FC236}">
                <a16:creationId xmlns:a16="http://schemas.microsoft.com/office/drawing/2014/main" id="{17338A81-9607-8A00-9F77-787FC49D991D}"/>
              </a:ext>
            </a:extLst>
          </p:cNvPr>
          <p:cNvSpPr txBox="1"/>
          <p:nvPr/>
        </p:nvSpPr>
        <p:spPr>
          <a:xfrm>
            <a:off x="560000" y="1639999"/>
            <a:ext cx="5976267" cy="4439067"/>
          </a:xfrm>
          <a:prstGeom prst="rect">
            <a:avLst/>
          </a:prstGeom>
          <a:noFill/>
        </p:spPr>
        <p:txBody>
          <a:bodyPr wrap="square" lIns="91440" tIns="45720" rIns="91440" bIns="45720" anchor="t">
            <a:noAutofit/>
          </a:bodyPr>
          <a:lstStyle/>
          <a:p>
            <a:pPr marL="285750" indent="-285750">
              <a:spcBef>
                <a:spcPts val="500"/>
              </a:spcBef>
              <a:buClr>
                <a:srgbClr val="BD8B13"/>
              </a:buClr>
              <a:buFont typeface="Arial"/>
              <a:buChar char="•"/>
            </a:pPr>
            <a:r>
              <a:rPr lang="en-US" sz="1600">
                <a:solidFill>
                  <a:schemeClr val="tx1"/>
                </a:solidFill>
              </a:rPr>
              <a:t>10x 1/4-20 stainless bolts with hex nuts, through bolted</a:t>
            </a:r>
          </a:p>
          <a:p>
            <a:pPr marL="285750" indent="-285750">
              <a:spcBef>
                <a:spcPts val="500"/>
              </a:spcBef>
              <a:buClr>
                <a:srgbClr val="BD8B13"/>
              </a:buClr>
              <a:buFont typeface="Arial"/>
              <a:buChar char="•"/>
            </a:pPr>
            <a:r>
              <a:rPr lang="en-US" sz="1600">
                <a:solidFill>
                  <a:schemeClr val="tx1"/>
                </a:solidFill>
              </a:rPr>
              <a:t>Per bolt yield:  2,</a:t>
            </a:r>
            <a:r>
              <a:rPr lang="en-US" sz="1600"/>
              <a:t>230 </a:t>
            </a:r>
            <a:r>
              <a:rPr lang="en-US" sz="1600" err="1">
                <a:solidFill>
                  <a:schemeClr val="tx1"/>
                </a:solidFill>
              </a:rPr>
              <a:t>lbf</a:t>
            </a:r>
            <a:endParaRPr lang="en-US" sz="1600"/>
          </a:p>
          <a:p>
            <a:pPr marL="285750" indent="-285750">
              <a:spcBef>
                <a:spcPts val="500"/>
              </a:spcBef>
              <a:buClr>
                <a:srgbClr val="BD8B13"/>
              </a:buClr>
              <a:buFont typeface="Arial"/>
              <a:buChar char="•"/>
            </a:pPr>
            <a:r>
              <a:rPr lang="en-US" sz="1600">
                <a:solidFill>
                  <a:schemeClr val="tx1"/>
                </a:solidFill>
              </a:rPr>
              <a:t>With 60% preload, conservative bolt FoS of 1.62</a:t>
            </a:r>
          </a:p>
        </p:txBody>
      </p:sp>
      <p:pic>
        <p:nvPicPr>
          <p:cNvPr id="6" name="Picture 5">
            <a:extLst>
              <a:ext uri="{FF2B5EF4-FFF2-40B4-BE49-F238E27FC236}">
                <a16:creationId xmlns:a16="http://schemas.microsoft.com/office/drawing/2014/main" id="{E1EC300E-7A2D-72D4-F01E-483078EBE616}"/>
              </a:ext>
              <a:ext uri="{C183D7F6-B498-43B3-948B-1728B52AA6E4}">
                <adec:decorative xmlns:adec="http://schemas.microsoft.com/office/drawing/2017/decorative" val="1"/>
              </a:ext>
            </a:extLst>
          </p:cNvPr>
          <p:cNvPicPr>
            <a:picLocks noChangeAspect="1"/>
          </p:cNvPicPr>
          <p:nvPr/>
        </p:nvPicPr>
        <p:blipFill>
          <a:blip r:embed="rId3"/>
          <a:srcRect t="43874"/>
          <a:stretch>
            <a:fillRect/>
          </a:stretch>
        </p:blipFill>
        <p:spPr>
          <a:xfrm>
            <a:off x="5469465" y="3420535"/>
            <a:ext cx="5909734" cy="2658531"/>
          </a:xfrm>
          <a:prstGeom prst="rect">
            <a:avLst/>
          </a:prstGeom>
        </p:spPr>
      </p:pic>
      <p:pic>
        <p:nvPicPr>
          <p:cNvPr id="9" name="Picture 8">
            <a:extLst>
              <a:ext uri="{FF2B5EF4-FFF2-40B4-BE49-F238E27FC236}">
                <a16:creationId xmlns:a16="http://schemas.microsoft.com/office/drawing/2014/main" id="{40997331-D71C-26A0-26AA-950037402D6F}"/>
              </a:ext>
              <a:ext uri="{C183D7F6-B498-43B3-948B-1728B52AA6E4}">
                <adec:decorative xmlns:adec="http://schemas.microsoft.com/office/drawing/2017/decorative" val="1"/>
              </a:ext>
            </a:extLst>
          </p:cNvPr>
          <p:cNvPicPr>
            <a:picLocks noChangeAspect="1"/>
          </p:cNvPicPr>
          <p:nvPr/>
        </p:nvPicPr>
        <p:blipFill>
          <a:blip r:embed="rId3"/>
          <a:srcRect l="41868" r="15867" b="56619"/>
          <a:stretch>
            <a:fillRect/>
          </a:stretch>
        </p:blipFill>
        <p:spPr>
          <a:xfrm>
            <a:off x="1328134" y="3429000"/>
            <a:ext cx="3149599" cy="2591080"/>
          </a:xfrm>
          <a:prstGeom prst="rect">
            <a:avLst/>
          </a:prstGeom>
        </p:spPr>
      </p:pic>
    </p:spTree>
    <p:extLst>
      <p:ext uri="{BB962C8B-B14F-4D97-AF65-F5344CB8AC3E}">
        <p14:creationId xmlns:p14="http://schemas.microsoft.com/office/powerpoint/2010/main" val="4163961477"/>
      </p:ext>
    </p:extLst>
  </p:cSld>
  <p:clrMapOvr>
    <a:masterClrMapping/>
  </p:clrMapOvr>
  <p:extLst>
    <p:ext uri="{6950BFC3-D8DA-4A85-94F7-54DA5524770B}">
      <p188:commentRel xmlns:p188="http://schemas.microsoft.com/office/powerpoint/2018/8/main" r:id="rId2"/>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E7DEE-DF46-2AC9-9758-DDFF32C9D0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27AA0-82A7-FC19-0F36-A10A033265B9}"/>
              </a:ext>
            </a:extLst>
          </p:cNvPr>
          <p:cNvSpPr>
            <a:spLocks noGrp="1"/>
          </p:cNvSpPr>
          <p:nvPr>
            <p:ph type="title"/>
          </p:nvPr>
        </p:nvSpPr>
        <p:spPr/>
        <p:txBody>
          <a:bodyPr/>
          <a:lstStyle/>
          <a:p>
            <a:r>
              <a:rPr lang="en-US"/>
              <a:t>End of Stresses &amp; FOS</a:t>
            </a:r>
          </a:p>
        </p:txBody>
      </p:sp>
      <p:sp>
        <p:nvSpPr>
          <p:cNvPr id="3" name="Text Placeholder 2">
            <a:extLst>
              <a:ext uri="{FF2B5EF4-FFF2-40B4-BE49-F238E27FC236}">
                <a16:creationId xmlns:a16="http://schemas.microsoft.com/office/drawing/2014/main" id="{254BCC7B-B369-5878-C508-F3A191A5002F}"/>
              </a:ext>
            </a:extLst>
          </p:cNvPr>
          <p:cNvSpPr>
            <a:spLocks noGrp="1"/>
          </p:cNvSpPr>
          <p:nvPr>
            <p:ph type="body" sz="quarter" idx="11"/>
          </p:nvPr>
        </p:nvSpPr>
        <p:spPr>
          <a:xfrm>
            <a:off x="3722619" y="3257835"/>
            <a:ext cx="4612283" cy="342329"/>
          </a:xfrm>
        </p:spPr>
        <p:txBody>
          <a:bodyPr/>
          <a:lstStyle/>
          <a:p>
            <a:r>
              <a:rPr lang="en-US" sz="7200" b="1"/>
              <a:t>Questions?</a:t>
            </a:r>
          </a:p>
        </p:txBody>
      </p:sp>
    </p:spTree>
    <p:extLst>
      <p:ext uri="{BB962C8B-B14F-4D97-AF65-F5344CB8AC3E}">
        <p14:creationId xmlns:p14="http://schemas.microsoft.com/office/powerpoint/2010/main" val="9923734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48584-B61B-00B6-42A5-7EC8CDF0022D}"/>
              </a:ext>
            </a:extLst>
          </p:cNvPr>
          <p:cNvSpPr>
            <a:spLocks noGrp="1"/>
          </p:cNvSpPr>
          <p:nvPr>
            <p:ph type="title"/>
          </p:nvPr>
        </p:nvSpPr>
        <p:spPr/>
        <p:txBody>
          <a:bodyPr/>
          <a:lstStyle/>
          <a:p>
            <a:r>
              <a:rPr lang="en-US"/>
              <a:t>Injector &amp; Plumbing</a:t>
            </a:r>
          </a:p>
        </p:txBody>
      </p:sp>
      <p:sp>
        <p:nvSpPr>
          <p:cNvPr id="3" name="Text Placeholder 2">
            <a:extLst>
              <a:ext uri="{FF2B5EF4-FFF2-40B4-BE49-F238E27FC236}">
                <a16:creationId xmlns:a16="http://schemas.microsoft.com/office/drawing/2014/main" id="{EF7F68CB-52E9-4D4F-EF4E-79E59466802C}"/>
              </a:ext>
            </a:extLst>
          </p:cNvPr>
          <p:cNvSpPr>
            <a:spLocks noGrp="1"/>
          </p:cNvSpPr>
          <p:nvPr>
            <p:ph type="body" sz="quarter" idx="11"/>
          </p:nvPr>
        </p:nvSpPr>
        <p:spPr/>
        <p:txBody>
          <a:bodyPr/>
          <a:lstStyle/>
          <a:p>
            <a:r>
              <a:rPr lang="en-US" sz="1850">
                <a:ea typeface="Source Sans Pro"/>
              </a:rPr>
              <a:t>Presented by Wyatt Matthews</a:t>
            </a:r>
            <a:endParaRPr lang="en-US"/>
          </a:p>
        </p:txBody>
      </p:sp>
      <p:pic>
        <p:nvPicPr>
          <p:cNvPr id="11" name="Picture 10">
            <a:extLst>
              <a:ext uri="{FF2B5EF4-FFF2-40B4-BE49-F238E27FC236}">
                <a16:creationId xmlns:a16="http://schemas.microsoft.com/office/drawing/2014/main" id="{11221159-9E22-6D39-94A4-093B8C0429E5}"/>
              </a:ext>
            </a:extLst>
          </p:cNvPr>
          <p:cNvPicPr>
            <a:picLocks noChangeAspect="1"/>
          </p:cNvPicPr>
          <p:nvPr/>
        </p:nvPicPr>
        <p:blipFill>
          <a:blip r:embed="rId2"/>
          <a:stretch>
            <a:fillRect/>
          </a:stretch>
        </p:blipFill>
        <p:spPr>
          <a:xfrm>
            <a:off x="3909625" y="1720816"/>
            <a:ext cx="7874405" cy="4210266"/>
          </a:xfrm>
          <a:prstGeom prst="rect">
            <a:avLst/>
          </a:prstGeom>
        </p:spPr>
      </p:pic>
    </p:spTree>
    <p:extLst>
      <p:ext uri="{BB962C8B-B14F-4D97-AF65-F5344CB8AC3E}">
        <p14:creationId xmlns:p14="http://schemas.microsoft.com/office/powerpoint/2010/main" val="969384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2BF5D-8009-2C2C-8CD7-5FA5D9F80FC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32C8622-AF08-B723-B02B-30617A531D79}"/>
              </a:ext>
            </a:extLst>
          </p:cNvPr>
          <p:cNvSpPr>
            <a:spLocks noGrp="1"/>
          </p:cNvSpPr>
          <p:nvPr>
            <p:ph type="ftr" sz="quarter" idx="16"/>
          </p:nvPr>
        </p:nvSpPr>
        <p:spPr/>
        <p:txBody>
          <a:bodyPr/>
          <a:lstStyle/>
          <a:p>
            <a:r>
              <a:rPr lang="en-US" sz="900">
                <a:latin typeface="Source Sans Pro"/>
                <a:ea typeface="Source Sans Pro"/>
              </a:rPr>
              <a:t>REGEN PDR</a:t>
            </a:r>
          </a:p>
        </p:txBody>
      </p:sp>
      <p:sp>
        <p:nvSpPr>
          <p:cNvPr id="4" name="Slide Number Placeholder 3">
            <a:extLst>
              <a:ext uri="{FF2B5EF4-FFF2-40B4-BE49-F238E27FC236}">
                <a16:creationId xmlns:a16="http://schemas.microsoft.com/office/drawing/2014/main" id="{84AF024C-B37B-BDAC-29B1-6511D95455A0}"/>
              </a:ext>
            </a:extLst>
          </p:cNvPr>
          <p:cNvSpPr>
            <a:spLocks noGrp="1"/>
          </p:cNvSpPr>
          <p:nvPr>
            <p:ph type="sldNum" sz="quarter" idx="17"/>
          </p:nvPr>
        </p:nvSpPr>
        <p:spPr/>
        <p:txBody>
          <a:bodyPr/>
          <a:lstStyle/>
          <a:p>
            <a:r>
              <a:rPr lang="en-US" sz="900">
                <a:latin typeface="Source Sans Pro"/>
                <a:ea typeface="Source Sans Pro"/>
              </a:rPr>
              <a:t>/  31</a:t>
            </a:r>
          </a:p>
        </p:txBody>
      </p:sp>
      <p:sp>
        <p:nvSpPr>
          <p:cNvPr id="5" name="Title 4">
            <a:extLst>
              <a:ext uri="{FF2B5EF4-FFF2-40B4-BE49-F238E27FC236}">
                <a16:creationId xmlns:a16="http://schemas.microsoft.com/office/drawing/2014/main" id="{DDE7917D-6458-3841-0DAB-A469EAFF96A8}"/>
              </a:ext>
            </a:extLst>
          </p:cNvPr>
          <p:cNvSpPr>
            <a:spLocks noGrp="1"/>
          </p:cNvSpPr>
          <p:nvPr>
            <p:ph type="title"/>
          </p:nvPr>
        </p:nvSpPr>
        <p:spPr>
          <a:xfrm>
            <a:off x="531848" y="716984"/>
            <a:ext cx="10265547" cy="625567"/>
          </a:xfrm>
        </p:spPr>
        <p:txBody>
          <a:bodyPr/>
          <a:lstStyle/>
          <a:p>
            <a:r>
              <a:rPr lang="en-US">
                <a:solidFill>
                  <a:srgbClr val="154734"/>
                </a:solidFill>
                <a:latin typeface="Munistic"/>
              </a:rPr>
              <a:t>Sealing and O-rings</a:t>
            </a:r>
          </a:p>
        </p:txBody>
      </p:sp>
      <p:sp>
        <p:nvSpPr>
          <p:cNvPr id="6" name="Body 11">
            <a:extLst>
              <a:ext uri="{FF2B5EF4-FFF2-40B4-BE49-F238E27FC236}">
                <a16:creationId xmlns:a16="http://schemas.microsoft.com/office/drawing/2014/main" id="{C7FD08ED-8C3C-B954-4257-1298D486FFFD}"/>
              </a:ext>
            </a:extLst>
          </p:cNvPr>
          <p:cNvSpPr txBox="1"/>
          <p:nvPr/>
        </p:nvSpPr>
        <p:spPr>
          <a:xfrm>
            <a:off x="560000" y="1640000"/>
            <a:ext cx="11070000" cy="4360000"/>
          </a:xfrm>
          <a:prstGeom prst="rect">
            <a:avLst/>
          </a:prstGeom>
          <a:noFill/>
        </p:spPr>
        <p:txBody>
          <a:bodyPr wrap="square" lIns="91440" tIns="45720" rIns="91440" bIns="45720" anchor="t">
            <a:noAutofit/>
          </a:bodyPr>
          <a:lstStyle/>
          <a:p>
            <a:pPr marL="285750" indent="-285750">
              <a:spcBef>
                <a:spcPts val="600"/>
              </a:spcBef>
              <a:buClr>
                <a:srgbClr val="BD8B13"/>
              </a:buClr>
              <a:buFont typeface="Arial"/>
              <a:buChar char="•"/>
            </a:pPr>
            <a:r>
              <a:rPr lang="en-US" sz="2200"/>
              <a:t>AFLAS (TFE/P): copolymer O-ring compatible with ethanol and N2O, rated up to 204 °C against ~160 °C at the fuel outlet</a:t>
            </a:r>
          </a:p>
          <a:p>
            <a:pPr marL="285750" indent="-285750">
              <a:spcBef>
                <a:spcPts val="600"/>
              </a:spcBef>
              <a:buClr>
                <a:srgbClr val="BD8B13"/>
              </a:buClr>
              <a:buFont typeface="Arial"/>
              <a:buChar char="•"/>
            </a:pPr>
            <a:r>
              <a:rPr lang="en-US" sz="2200">
                <a:solidFill>
                  <a:schemeClr val="tx1"/>
                </a:solidFill>
              </a:rPr>
              <a:t>.07 in O-rings</a:t>
            </a:r>
          </a:p>
          <a:p>
            <a:pPr marL="285750" indent="-285750">
              <a:spcBef>
                <a:spcPts val="600"/>
              </a:spcBef>
              <a:buClr>
                <a:srgbClr val="BD8B13"/>
              </a:buClr>
              <a:buFont typeface="Arial"/>
              <a:buChar char="•"/>
            </a:pPr>
            <a:r>
              <a:rPr lang="en-US" sz="2200">
                <a:solidFill>
                  <a:schemeClr val="tx1"/>
                </a:solidFill>
              </a:rPr>
              <a:t>Face seals: 0.051 in x .106 </a:t>
            </a:r>
            <a:r>
              <a:rPr lang="en-US" sz="2200"/>
              <a:t>in </a:t>
            </a:r>
            <a:r>
              <a:rPr lang="en-US" sz="2200">
                <a:solidFill>
                  <a:schemeClr val="tx1"/>
                </a:solidFill>
              </a:rPr>
              <a:t>gland sizing gives 27% squeeze, 71% fill</a:t>
            </a:r>
          </a:p>
          <a:p>
            <a:pPr marL="285750" indent="-285750">
              <a:spcBef>
                <a:spcPts val="600"/>
              </a:spcBef>
              <a:buClr>
                <a:srgbClr val="BD8B13"/>
              </a:buClr>
              <a:buFont typeface="Arial"/>
              <a:buChar char="•"/>
            </a:pPr>
            <a:r>
              <a:rPr lang="en-US" sz="2200"/>
              <a:t>Double O-rings between ox/fuel and single O-rings between ignitor/ox and fuel/exterior</a:t>
            </a:r>
            <a:endParaRPr lang="en-US" sz="2200">
              <a:ea typeface="Calibri"/>
              <a:cs typeface="Calibri"/>
            </a:endParaRPr>
          </a:p>
        </p:txBody>
      </p:sp>
      <p:pic>
        <p:nvPicPr>
          <p:cNvPr id="8" name="Picture 7">
            <a:extLst>
              <a:ext uri="{FF2B5EF4-FFF2-40B4-BE49-F238E27FC236}">
                <a16:creationId xmlns:a16="http://schemas.microsoft.com/office/drawing/2014/main" id="{3A91B369-9964-C0BA-82A1-2548CEC7E15D}"/>
              </a:ext>
            </a:extLst>
          </p:cNvPr>
          <p:cNvPicPr>
            <a:picLocks noChangeAspect="1"/>
          </p:cNvPicPr>
          <p:nvPr/>
        </p:nvPicPr>
        <p:blipFill>
          <a:blip r:embed="rId2"/>
          <a:stretch>
            <a:fillRect/>
          </a:stretch>
        </p:blipFill>
        <p:spPr>
          <a:xfrm>
            <a:off x="672346" y="3700131"/>
            <a:ext cx="10856376" cy="2299870"/>
          </a:xfrm>
          <a:prstGeom prst="rect">
            <a:avLst/>
          </a:prstGeom>
        </p:spPr>
      </p:pic>
    </p:spTree>
    <p:extLst>
      <p:ext uri="{BB962C8B-B14F-4D97-AF65-F5344CB8AC3E}">
        <p14:creationId xmlns:p14="http://schemas.microsoft.com/office/powerpoint/2010/main" val="4762677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9E56E-FAA1-F730-C439-6CCD1F1B1CC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A33B9FB-9D1B-BAF6-7E6D-C79512CB3848}"/>
              </a:ext>
            </a:extLst>
          </p:cNvPr>
          <p:cNvSpPr>
            <a:spLocks noGrp="1"/>
          </p:cNvSpPr>
          <p:nvPr>
            <p:ph type="ftr" sz="quarter" idx="16"/>
          </p:nvPr>
        </p:nvSpPr>
        <p:spPr/>
        <p:txBody>
          <a:bodyPr/>
          <a:lstStyle/>
          <a:p>
            <a:r>
              <a:rPr lang="en-US" sz="900">
                <a:latin typeface="Source Sans Pro"/>
                <a:ea typeface="Source Sans Pro"/>
              </a:rPr>
              <a:t>REGEN PDR</a:t>
            </a:r>
          </a:p>
        </p:txBody>
      </p:sp>
      <p:sp>
        <p:nvSpPr>
          <p:cNvPr id="4" name="Slide Number Placeholder 3">
            <a:extLst>
              <a:ext uri="{FF2B5EF4-FFF2-40B4-BE49-F238E27FC236}">
                <a16:creationId xmlns:a16="http://schemas.microsoft.com/office/drawing/2014/main" id="{BF1A5056-162F-8E0A-1B00-6B4A2E57108C}"/>
              </a:ext>
            </a:extLst>
          </p:cNvPr>
          <p:cNvSpPr>
            <a:spLocks noGrp="1"/>
          </p:cNvSpPr>
          <p:nvPr>
            <p:ph type="sldNum" sz="quarter" idx="17"/>
          </p:nvPr>
        </p:nvSpPr>
        <p:spPr/>
        <p:txBody>
          <a:bodyPr/>
          <a:lstStyle/>
          <a:p>
            <a:r>
              <a:rPr lang="en-US" sz="900">
                <a:latin typeface="Source Sans Pro"/>
                <a:ea typeface="Source Sans Pro"/>
              </a:rPr>
              <a:t>/  32</a:t>
            </a:r>
          </a:p>
        </p:txBody>
      </p:sp>
      <p:sp>
        <p:nvSpPr>
          <p:cNvPr id="5" name="Title 4">
            <a:extLst>
              <a:ext uri="{FF2B5EF4-FFF2-40B4-BE49-F238E27FC236}">
                <a16:creationId xmlns:a16="http://schemas.microsoft.com/office/drawing/2014/main" id="{390BEC85-26C1-2D64-024A-87DA388F4E57}"/>
              </a:ext>
            </a:extLst>
          </p:cNvPr>
          <p:cNvSpPr>
            <a:spLocks noGrp="1"/>
          </p:cNvSpPr>
          <p:nvPr>
            <p:ph type="title"/>
          </p:nvPr>
        </p:nvSpPr>
        <p:spPr>
          <a:xfrm>
            <a:off x="531848" y="716984"/>
            <a:ext cx="10265547" cy="625567"/>
          </a:xfrm>
        </p:spPr>
        <p:txBody>
          <a:bodyPr/>
          <a:lstStyle/>
          <a:p>
            <a:r>
              <a:rPr lang="en-US">
                <a:solidFill>
                  <a:srgbClr val="154734"/>
                </a:solidFill>
                <a:latin typeface="Munistic"/>
              </a:rPr>
              <a:t>Injector Configuration</a:t>
            </a:r>
          </a:p>
        </p:txBody>
      </p:sp>
      <p:sp>
        <p:nvSpPr>
          <p:cNvPr id="6" name="Body 11">
            <a:extLst>
              <a:ext uri="{FF2B5EF4-FFF2-40B4-BE49-F238E27FC236}">
                <a16:creationId xmlns:a16="http://schemas.microsoft.com/office/drawing/2014/main" id="{F8728FEB-6FA8-A811-0C8E-1BC8989AB97A}"/>
              </a:ext>
            </a:extLst>
          </p:cNvPr>
          <p:cNvSpPr txBox="1"/>
          <p:nvPr/>
        </p:nvSpPr>
        <p:spPr>
          <a:xfrm>
            <a:off x="560000" y="1640000"/>
            <a:ext cx="11070000" cy="3226400"/>
          </a:xfrm>
          <a:prstGeom prst="rect">
            <a:avLst/>
          </a:prstGeom>
          <a:noFill/>
        </p:spPr>
        <p:txBody>
          <a:bodyPr wrap="square" lIns="91440" tIns="45720" rIns="91440" bIns="45720" anchor="t">
            <a:noAutofit/>
          </a:bodyPr>
          <a:lstStyle/>
          <a:p>
            <a:pPr marL="285750" indent="-285750">
              <a:spcBef>
                <a:spcPts val="900"/>
              </a:spcBef>
              <a:buClr>
                <a:srgbClr val="BD8B13"/>
              </a:buClr>
              <a:buFont typeface="Arial"/>
              <a:buChar char="•"/>
            </a:pPr>
            <a:r>
              <a:rPr lang="en-US" sz="2000">
                <a:solidFill>
                  <a:schemeClr val="tx1"/>
                </a:solidFill>
              </a:rPr>
              <a:t>10 element pairs: 10 oxidizer orifices at 1.60 mm, 10 fuel orifices at 1.30 mm</a:t>
            </a:r>
          </a:p>
          <a:p>
            <a:pPr marL="285750" indent="-285750">
              <a:spcBef>
                <a:spcPts val="900"/>
              </a:spcBef>
              <a:buClr>
                <a:srgbClr val="BD8B13"/>
              </a:buClr>
              <a:buFont typeface="Arial"/>
              <a:buChar char="•"/>
            </a:pPr>
            <a:r>
              <a:rPr lang="en-US" sz="2000">
                <a:solidFill>
                  <a:schemeClr val="tx1"/>
                </a:solidFill>
              </a:rPr>
              <a:t>Fuel canted 65° into axial oxidizer, impinging </a:t>
            </a:r>
            <a:r>
              <a:rPr lang="en-US" sz="2000"/>
              <a:t>~8</a:t>
            </a:r>
            <a:r>
              <a:rPr lang="en-US" sz="2000">
                <a:solidFill>
                  <a:schemeClr val="tx1"/>
                </a:solidFill>
              </a:rPr>
              <a:t> mm off the face (about 5 ox diameters)</a:t>
            </a:r>
          </a:p>
          <a:p>
            <a:pPr marL="285750" indent="-285750">
              <a:spcBef>
                <a:spcPts val="900"/>
              </a:spcBef>
              <a:buClr>
                <a:srgbClr val="BD8B13"/>
              </a:buClr>
              <a:buFont typeface="Arial"/>
              <a:buChar char="•"/>
            </a:pPr>
            <a:r>
              <a:rPr lang="en-US" sz="2000"/>
              <a:t>J = </a:t>
            </a:r>
            <a:r>
              <a:rPr lang="en-US" sz="2000" err="1"/>
              <a:t>ρ_ox</a:t>
            </a:r>
            <a:r>
              <a:rPr lang="en-US" sz="2000"/>
              <a:t> v_ox² / </a:t>
            </a:r>
            <a:r>
              <a:rPr lang="en-US" sz="2000" err="1"/>
              <a:t>ρ_f</a:t>
            </a:r>
            <a:r>
              <a:rPr lang="en-US" sz="2000"/>
              <a:t> v_f², the ratio of the two jets' momentum flux</a:t>
            </a:r>
            <a:endParaRPr lang="en-US" sz="2000">
              <a:ea typeface="Calibri"/>
              <a:cs typeface="Calibri"/>
            </a:endParaRPr>
          </a:p>
          <a:p>
            <a:pPr marL="285750" indent="-285750">
              <a:spcBef>
                <a:spcPts val="900"/>
              </a:spcBef>
              <a:buClr>
                <a:srgbClr val="BD8B13"/>
              </a:buClr>
              <a:buFont typeface="Arial"/>
              <a:buChar char="•"/>
            </a:pPr>
            <a:r>
              <a:rPr lang="en-US" sz="2000"/>
              <a:t>At J ≈ 12 the oxidizer jet dominates, so it shears and atomizes the fuel rather than colliding head on </a:t>
            </a:r>
          </a:p>
          <a:p>
            <a:pPr marL="742950" lvl="1" indent="-285750">
              <a:spcBef>
                <a:spcPts val="900"/>
              </a:spcBef>
              <a:buClr>
                <a:srgbClr val="BD8B13"/>
              </a:buClr>
              <a:buFont typeface="Courier New"/>
              <a:buChar char="o"/>
            </a:pPr>
            <a:r>
              <a:rPr lang="en-US" sz="2000"/>
              <a:t>(verified by cold flow)</a:t>
            </a:r>
            <a:endParaRPr lang="en-US" sz="2000">
              <a:ea typeface="Calibri"/>
              <a:cs typeface="Calibri"/>
            </a:endParaRPr>
          </a:p>
          <a:p>
            <a:pPr marL="285750" indent="-285750">
              <a:spcBef>
                <a:spcPts val="900"/>
              </a:spcBef>
              <a:buClr>
                <a:srgbClr val="BD8B13"/>
              </a:buClr>
              <a:buFont typeface="Arial"/>
              <a:buChar char="•"/>
            </a:pPr>
            <a:r>
              <a:rPr lang="en-US" sz="2000">
                <a:solidFill>
                  <a:schemeClr val="tx1"/>
                </a:solidFill>
              </a:rPr>
              <a:t>Machined in two pieces, so the plate can be re-drilled after cold flow</a:t>
            </a:r>
            <a:r>
              <a:rPr lang="en-US" sz="2000"/>
              <a:t> or </a:t>
            </a:r>
            <a:r>
              <a:rPr lang="en-US" sz="2000">
                <a:solidFill>
                  <a:schemeClr val="tx1"/>
                </a:solidFill>
              </a:rPr>
              <a:t>easily switched out for different designs</a:t>
            </a:r>
          </a:p>
        </p:txBody>
      </p:sp>
      <p:pic>
        <p:nvPicPr>
          <p:cNvPr id="8" name="Picture 7">
            <a:extLst>
              <a:ext uri="{FF2B5EF4-FFF2-40B4-BE49-F238E27FC236}">
                <a16:creationId xmlns:a16="http://schemas.microsoft.com/office/drawing/2014/main" id="{99E2CA01-48DB-1394-02E4-01B9E99BA2B4}"/>
              </a:ext>
            </a:extLst>
          </p:cNvPr>
          <p:cNvPicPr>
            <a:picLocks noChangeAspect="1"/>
          </p:cNvPicPr>
          <p:nvPr/>
        </p:nvPicPr>
        <p:blipFill>
          <a:blip r:embed="rId2"/>
          <a:stretch>
            <a:fillRect/>
          </a:stretch>
        </p:blipFill>
        <p:spPr>
          <a:xfrm>
            <a:off x="268208" y="4621566"/>
            <a:ext cx="11548107" cy="1235517"/>
          </a:xfrm>
          <a:prstGeom prst="rect">
            <a:avLst/>
          </a:prstGeom>
        </p:spPr>
      </p:pic>
    </p:spTree>
    <p:extLst>
      <p:ext uri="{BB962C8B-B14F-4D97-AF65-F5344CB8AC3E}">
        <p14:creationId xmlns:p14="http://schemas.microsoft.com/office/powerpoint/2010/main" val="42529095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2BF5D-8009-2C2C-8CD7-5FA5D9F80FC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32C8622-AF08-B723-B02B-30617A531D79}"/>
              </a:ext>
            </a:extLst>
          </p:cNvPr>
          <p:cNvSpPr>
            <a:spLocks noGrp="1"/>
          </p:cNvSpPr>
          <p:nvPr>
            <p:ph type="ftr" sz="quarter" idx="16"/>
          </p:nvPr>
        </p:nvSpPr>
        <p:spPr/>
        <p:txBody>
          <a:bodyPr/>
          <a:lstStyle/>
          <a:p>
            <a:r>
              <a:rPr lang="en-US" sz="900">
                <a:latin typeface="Source Sans Pro"/>
                <a:ea typeface="Source Sans Pro"/>
              </a:rPr>
              <a:t>REGEN PDR</a:t>
            </a:r>
          </a:p>
        </p:txBody>
      </p:sp>
      <p:sp>
        <p:nvSpPr>
          <p:cNvPr id="4" name="Slide Number Placeholder 3">
            <a:extLst>
              <a:ext uri="{FF2B5EF4-FFF2-40B4-BE49-F238E27FC236}">
                <a16:creationId xmlns:a16="http://schemas.microsoft.com/office/drawing/2014/main" id="{84AF024C-B37B-BDAC-29B1-6511D95455A0}"/>
              </a:ext>
            </a:extLst>
          </p:cNvPr>
          <p:cNvSpPr>
            <a:spLocks noGrp="1"/>
          </p:cNvSpPr>
          <p:nvPr>
            <p:ph type="sldNum" sz="quarter" idx="17"/>
          </p:nvPr>
        </p:nvSpPr>
        <p:spPr/>
        <p:txBody>
          <a:bodyPr/>
          <a:lstStyle/>
          <a:p>
            <a:r>
              <a:rPr lang="en-US" sz="900">
                <a:latin typeface="Source Sans Pro"/>
                <a:ea typeface="Source Sans Pro"/>
              </a:rPr>
              <a:t>/  33</a:t>
            </a:r>
          </a:p>
        </p:txBody>
      </p:sp>
      <p:sp>
        <p:nvSpPr>
          <p:cNvPr id="5" name="Title 4">
            <a:extLst>
              <a:ext uri="{FF2B5EF4-FFF2-40B4-BE49-F238E27FC236}">
                <a16:creationId xmlns:a16="http://schemas.microsoft.com/office/drawing/2014/main" id="{DDE7917D-6458-3841-0DAB-A469EAFF96A8}"/>
              </a:ext>
            </a:extLst>
          </p:cNvPr>
          <p:cNvSpPr>
            <a:spLocks noGrp="1"/>
          </p:cNvSpPr>
          <p:nvPr>
            <p:ph type="title"/>
          </p:nvPr>
        </p:nvSpPr>
        <p:spPr>
          <a:xfrm>
            <a:off x="531848" y="716984"/>
            <a:ext cx="10265547" cy="625567"/>
          </a:xfrm>
        </p:spPr>
        <p:txBody>
          <a:bodyPr/>
          <a:lstStyle/>
          <a:p>
            <a:r>
              <a:rPr lang="en-US">
                <a:solidFill>
                  <a:srgbClr val="154734"/>
                </a:solidFill>
                <a:latin typeface="Munistic"/>
              </a:rPr>
              <a:t>N2O Two-Phase Flow </a:t>
            </a:r>
            <a:endParaRPr lang="en-US"/>
          </a:p>
        </p:txBody>
      </p:sp>
      <p:sp>
        <p:nvSpPr>
          <p:cNvPr id="7" name="Body 11">
            <a:extLst>
              <a:ext uri="{FF2B5EF4-FFF2-40B4-BE49-F238E27FC236}">
                <a16:creationId xmlns:a16="http://schemas.microsoft.com/office/drawing/2014/main" id="{760A3F61-9D28-1A0B-140F-B1DEB05674E6}"/>
              </a:ext>
            </a:extLst>
          </p:cNvPr>
          <p:cNvSpPr txBox="1"/>
          <p:nvPr/>
        </p:nvSpPr>
        <p:spPr>
          <a:xfrm>
            <a:off x="560000" y="1640000"/>
            <a:ext cx="11070000" cy="1240880"/>
          </a:xfrm>
          <a:prstGeom prst="rect">
            <a:avLst/>
          </a:prstGeom>
          <a:noFill/>
        </p:spPr>
        <p:txBody>
          <a:bodyPr wrap="square" lIns="91440" tIns="45720" rIns="91440" bIns="45720" anchor="t">
            <a:noAutofit/>
          </a:bodyPr>
          <a:lstStyle/>
          <a:p>
            <a:pPr marL="285750" indent="-285750">
              <a:spcBef>
                <a:spcPts val="600"/>
              </a:spcBef>
              <a:buClr>
                <a:srgbClr val="BD8B13"/>
              </a:buClr>
              <a:buFont typeface="Arial"/>
              <a:buChar char="•"/>
            </a:pPr>
            <a:r>
              <a:rPr lang="en-US" sz="2000">
                <a:solidFill>
                  <a:schemeClr val="tx1"/>
                </a:solidFill>
              </a:rPr>
              <a:t>N2O orifice sizing calculated using Dyer two phase model</a:t>
            </a:r>
          </a:p>
          <a:p>
            <a:pPr marL="285750" indent="-285750">
              <a:spcBef>
                <a:spcPts val="600"/>
              </a:spcBef>
              <a:buClr>
                <a:srgbClr val="BD8B13"/>
              </a:buClr>
              <a:buFont typeface="Arial"/>
              <a:buChar char="•"/>
            </a:pPr>
            <a:r>
              <a:rPr lang="en-US" sz="2000">
                <a:solidFill>
                  <a:schemeClr val="tx1"/>
                </a:solidFill>
              </a:rPr>
              <a:t>Feed at 600 psi gives 400 psi across the ox injector, 200% of Pc</a:t>
            </a:r>
          </a:p>
          <a:p>
            <a:pPr marL="285750" indent="-285750">
              <a:spcBef>
                <a:spcPts val="600"/>
              </a:spcBef>
              <a:buClr>
                <a:srgbClr val="BD8B13"/>
              </a:buClr>
              <a:buFont typeface="Arial"/>
              <a:buChar char="•"/>
            </a:pPr>
            <a:r>
              <a:rPr lang="en-US" sz="2000">
                <a:solidFill>
                  <a:schemeClr val="tx1"/>
                </a:solidFill>
              </a:rPr>
              <a:t>Oxidizer orifices checked in cold flow with carbon dioxide</a:t>
            </a:r>
            <a:r>
              <a:rPr lang="en-US" sz="2000"/>
              <a:t> to verify behavior</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71256A9-5F2E-85A7-E4E0-F3A543B98BA0}"/>
                  </a:ext>
                </a:extLst>
              </p:cNvPr>
              <p:cNvSpPr txBox="1"/>
              <p:nvPr/>
            </p:nvSpPr>
            <p:spPr>
              <a:xfrm>
                <a:off x="3849657" y="4148347"/>
                <a:ext cx="4490685" cy="7146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𝑁𝐻𝑁𝐸</m:t>
                              </m:r>
                            </m:sub>
                          </m:sSub>
                        </m:e>
                      </m:acc>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m:t>
                              </m:r>
                              <m:r>
                                <a:rPr lang="en-US" i="1">
                                  <a:latin typeface="Cambria Math" panose="02040503050406030204" pitchFamily="18" charset="0"/>
                                </a:rPr>
                                <m:t>𝜅</m:t>
                              </m:r>
                            </m:den>
                          </m:f>
                        </m:e>
                      </m:d>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𝑆𝑃𝐼</m:t>
                              </m:r>
                            </m:sub>
                          </m:sSub>
                        </m:e>
                      </m:acc>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m:t>
                          </m:r>
                          <m:r>
                            <a:rPr lang="en-US" i="1">
                              <a:latin typeface="Cambria Math" panose="02040503050406030204" pitchFamily="18" charset="0"/>
                            </a:rPr>
                            <m:t>𝜅</m:t>
                          </m:r>
                        </m:den>
                      </m:f>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𝐻𝐸𝑀</m:t>
                              </m:r>
                            </m:sub>
                          </m:sSub>
                        </m:e>
                      </m:acc>
                    </m:oMath>
                  </m:oMathPara>
                </a14:m>
                <a:endParaRPr lang="en-US"/>
              </a:p>
            </p:txBody>
          </p:sp>
        </mc:Choice>
        <mc:Fallback xmlns="">
          <p:sp>
            <p:nvSpPr>
              <p:cNvPr id="12" name="TextBox 11">
                <a:extLst>
                  <a:ext uri="{FF2B5EF4-FFF2-40B4-BE49-F238E27FC236}">
                    <a16:creationId xmlns:a16="http://schemas.microsoft.com/office/drawing/2014/main" id="{671256A9-5F2E-85A7-E4E0-F3A543B98BA0}"/>
                  </a:ext>
                </a:extLst>
              </p:cNvPr>
              <p:cNvSpPr txBox="1">
                <a:spLocks noRot="1" noChangeAspect="1" noMove="1" noResize="1" noEditPoints="1" noAdjustHandles="1" noChangeArrowheads="1" noChangeShapeType="1" noTextEdit="1"/>
              </p:cNvSpPr>
              <p:nvPr/>
            </p:nvSpPr>
            <p:spPr>
              <a:xfrm>
                <a:off x="3849657" y="4148347"/>
                <a:ext cx="4490685" cy="714683"/>
              </a:xfrm>
              <a:prstGeom prst="rect">
                <a:avLst/>
              </a:prstGeom>
              <a:blipFill>
                <a:blip r:embed="rId2"/>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6DB0132D-CDD5-40E8-65CF-F0F5A936A845}"/>
              </a:ext>
            </a:extLst>
          </p:cNvPr>
          <p:cNvSpPr txBox="1"/>
          <p:nvPr/>
        </p:nvSpPr>
        <p:spPr>
          <a:xfrm>
            <a:off x="4887073" y="3687289"/>
            <a:ext cx="2415854" cy="369332"/>
          </a:xfrm>
          <a:prstGeom prst="rect">
            <a:avLst/>
          </a:prstGeom>
          <a:noFill/>
        </p:spPr>
        <p:txBody>
          <a:bodyPr wrap="none" rtlCol="0">
            <a:spAutoFit/>
          </a:bodyPr>
          <a:lstStyle/>
          <a:p>
            <a:r>
              <a:rPr lang="en-US"/>
              <a:t>Dyer Two-Phase Model:</a:t>
            </a:r>
          </a:p>
        </p:txBody>
      </p:sp>
    </p:spTree>
    <p:extLst>
      <p:ext uri="{BB962C8B-B14F-4D97-AF65-F5344CB8AC3E}">
        <p14:creationId xmlns:p14="http://schemas.microsoft.com/office/powerpoint/2010/main" val="6055825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2BF5D-8009-2C2C-8CD7-5FA5D9F80FC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32C8622-AF08-B723-B02B-30617A531D79}"/>
              </a:ext>
            </a:extLst>
          </p:cNvPr>
          <p:cNvSpPr>
            <a:spLocks noGrp="1"/>
          </p:cNvSpPr>
          <p:nvPr>
            <p:ph type="ftr" sz="quarter" idx="16"/>
          </p:nvPr>
        </p:nvSpPr>
        <p:spPr/>
        <p:txBody>
          <a:bodyPr/>
          <a:lstStyle/>
          <a:p>
            <a:r>
              <a:rPr lang="en-US" sz="900">
                <a:latin typeface="Source Sans Pro"/>
                <a:ea typeface="Source Sans Pro"/>
              </a:rPr>
              <a:t>REGEN PDR</a:t>
            </a:r>
          </a:p>
        </p:txBody>
      </p:sp>
      <p:sp>
        <p:nvSpPr>
          <p:cNvPr id="4" name="Slide Number Placeholder 3">
            <a:extLst>
              <a:ext uri="{FF2B5EF4-FFF2-40B4-BE49-F238E27FC236}">
                <a16:creationId xmlns:a16="http://schemas.microsoft.com/office/drawing/2014/main" id="{84AF024C-B37B-BDAC-29B1-6511D95455A0}"/>
              </a:ext>
            </a:extLst>
          </p:cNvPr>
          <p:cNvSpPr>
            <a:spLocks noGrp="1"/>
          </p:cNvSpPr>
          <p:nvPr>
            <p:ph type="sldNum" sz="quarter" idx="17"/>
          </p:nvPr>
        </p:nvSpPr>
        <p:spPr/>
        <p:txBody>
          <a:bodyPr/>
          <a:lstStyle/>
          <a:p>
            <a:r>
              <a:rPr lang="en-US" sz="900">
                <a:latin typeface="Source Sans Pro"/>
                <a:ea typeface="Source Sans Pro"/>
              </a:rPr>
              <a:t>/  34</a:t>
            </a:r>
          </a:p>
        </p:txBody>
      </p:sp>
      <p:sp>
        <p:nvSpPr>
          <p:cNvPr id="5" name="Title 4">
            <a:extLst>
              <a:ext uri="{FF2B5EF4-FFF2-40B4-BE49-F238E27FC236}">
                <a16:creationId xmlns:a16="http://schemas.microsoft.com/office/drawing/2014/main" id="{DDE7917D-6458-3841-0DAB-A469EAFF96A8}"/>
              </a:ext>
            </a:extLst>
          </p:cNvPr>
          <p:cNvSpPr>
            <a:spLocks noGrp="1"/>
          </p:cNvSpPr>
          <p:nvPr>
            <p:ph type="title"/>
          </p:nvPr>
        </p:nvSpPr>
        <p:spPr>
          <a:xfrm>
            <a:off x="531848" y="716984"/>
            <a:ext cx="10265547" cy="625567"/>
          </a:xfrm>
        </p:spPr>
        <p:txBody>
          <a:bodyPr/>
          <a:lstStyle/>
          <a:p>
            <a:r>
              <a:rPr lang="en-US">
                <a:solidFill>
                  <a:srgbClr val="154734"/>
                </a:solidFill>
                <a:latin typeface="Munistic"/>
              </a:rPr>
              <a:t>Injector Manufacturing </a:t>
            </a:r>
            <a:endParaRPr lang="en-US"/>
          </a:p>
        </p:txBody>
      </p:sp>
      <p:sp>
        <p:nvSpPr>
          <p:cNvPr id="6" name="Body 11">
            <a:extLst>
              <a:ext uri="{FF2B5EF4-FFF2-40B4-BE49-F238E27FC236}">
                <a16:creationId xmlns:a16="http://schemas.microsoft.com/office/drawing/2014/main" id="{2269A792-8471-DCA4-E965-3698DC638A97}"/>
              </a:ext>
            </a:extLst>
          </p:cNvPr>
          <p:cNvSpPr txBox="1"/>
          <p:nvPr/>
        </p:nvSpPr>
        <p:spPr>
          <a:xfrm>
            <a:off x="560000" y="1640000"/>
            <a:ext cx="11070000" cy="2391952"/>
          </a:xfrm>
          <a:prstGeom prst="rect">
            <a:avLst/>
          </a:prstGeom>
          <a:noFill/>
        </p:spPr>
        <p:txBody>
          <a:bodyPr wrap="square" lIns="91440" tIns="45720" rIns="91440" bIns="45720" anchor="t">
            <a:noAutofit/>
          </a:bodyPr>
          <a:lstStyle/>
          <a:p>
            <a:pPr marL="285750" indent="-285750">
              <a:spcBef>
                <a:spcPts val="600"/>
              </a:spcBef>
              <a:buClr>
                <a:srgbClr val="BD8B13"/>
              </a:buClr>
              <a:buFont typeface="Arial"/>
              <a:buChar char="•"/>
            </a:pPr>
            <a:r>
              <a:rPr lang="en-US" sz="2200">
                <a:solidFill>
                  <a:schemeClr val="tx1"/>
                </a:solidFill>
              </a:rPr>
              <a:t>Carbide drills at the exact design sizes</a:t>
            </a:r>
          </a:p>
          <a:p>
            <a:pPr marL="285750" indent="-285750">
              <a:spcBef>
                <a:spcPts val="600"/>
              </a:spcBef>
              <a:buClr>
                <a:srgbClr val="BD8B13"/>
              </a:buClr>
              <a:buFont typeface="Arial"/>
              <a:buChar char="•"/>
            </a:pPr>
            <a:r>
              <a:rPr lang="en-US" sz="2200">
                <a:solidFill>
                  <a:schemeClr val="tx1"/>
                </a:solidFill>
              </a:rPr>
              <a:t>Carbide stays straight at L/D ≈ 10, HSS prone to wandering</a:t>
            </a:r>
          </a:p>
          <a:p>
            <a:pPr marL="285750" indent="-285750">
              <a:spcBef>
                <a:spcPts val="600"/>
              </a:spcBef>
              <a:buClr>
                <a:srgbClr val="BD8B13"/>
              </a:buClr>
              <a:buFont typeface="Arial"/>
              <a:buChar char="•"/>
            </a:pPr>
            <a:r>
              <a:rPr lang="en-US" sz="2200"/>
              <a:t>Each canted hole is spot faced normal to its axis, so the drill starts true</a:t>
            </a:r>
            <a:endParaRPr lang="en-US" sz="2200">
              <a:ea typeface="Calibri"/>
              <a:cs typeface="Calibri"/>
            </a:endParaRPr>
          </a:p>
          <a:p>
            <a:pPr marL="285750" indent="-285750">
              <a:spcBef>
                <a:spcPts val="600"/>
              </a:spcBef>
              <a:buClr>
                <a:srgbClr val="BD8B13"/>
              </a:buClr>
              <a:buFont typeface="Arial"/>
              <a:buChar char="•"/>
            </a:pPr>
            <a:r>
              <a:rPr lang="en-US" sz="2200">
                <a:solidFill>
                  <a:schemeClr val="tx1"/>
                </a:solidFill>
              </a:rPr>
              <a:t>Chamfered orifice inlets raise discharge coefficient</a:t>
            </a:r>
          </a:p>
          <a:p>
            <a:pPr marL="285750" indent="-285750">
              <a:spcBef>
                <a:spcPts val="600"/>
              </a:spcBef>
              <a:buClr>
                <a:srgbClr val="BD8B13"/>
              </a:buClr>
              <a:buFont typeface="Arial"/>
              <a:buChar char="•"/>
            </a:pPr>
            <a:r>
              <a:rPr lang="en-US" sz="2200">
                <a:solidFill>
                  <a:schemeClr val="tx1"/>
                </a:solidFill>
              </a:rPr>
              <a:t>Chamfered channel entries in the printed jacket cut entrance loss</a:t>
            </a:r>
          </a:p>
          <a:p>
            <a:pPr marL="342900" indent="-342900">
              <a:spcBef>
                <a:spcPts val="600"/>
              </a:spcBef>
              <a:buClr>
                <a:srgbClr val="BD8B13"/>
              </a:buClr>
              <a:buFont typeface="Arial" panose="020B0604020202020204" pitchFamily="34" charset="0"/>
              <a:buChar char="•"/>
            </a:pPr>
            <a:r>
              <a:rPr lang="en-US" sz="2200">
                <a:ea typeface="Calibri"/>
                <a:cs typeface="Calibri"/>
              </a:rPr>
              <a:t>CNC available for top and bottom injector plate</a:t>
            </a:r>
          </a:p>
          <a:p>
            <a:pPr marL="800100" lvl="1" indent="-342900">
              <a:spcBef>
                <a:spcPts val="600"/>
              </a:spcBef>
              <a:buClr>
                <a:srgbClr val="BD8B13"/>
              </a:buClr>
              <a:buFont typeface="Courier New"/>
              <a:buChar char="o"/>
            </a:pPr>
            <a:r>
              <a:rPr lang="en-US" sz="2200">
                <a:ea typeface="Calibri"/>
                <a:cs typeface="Calibri"/>
              </a:rPr>
              <a:t>Fuel orifices will be drilled</a:t>
            </a:r>
          </a:p>
        </p:txBody>
      </p:sp>
    </p:spTree>
    <p:extLst>
      <p:ext uri="{BB962C8B-B14F-4D97-AF65-F5344CB8AC3E}">
        <p14:creationId xmlns:p14="http://schemas.microsoft.com/office/powerpoint/2010/main" val="4181604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2BF5D-8009-2C2C-8CD7-5FA5D9F80FC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32C8622-AF08-B723-B02B-30617A531D79}"/>
              </a:ext>
            </a:extLst>
          </p:cNvPr>
          <p:cNvSpPr>
            <a:spLocks noGrp="1"/>
          </p:cNvSpPr>
          <p:nvPr>
            <p:ph type="ftr" sz="quarter" idx="16"/>
          </p:nvPr>
        </p:nvSpPr>
        <p:spPr/>
        <p:txBody>
          <a:bodyPr/>
          <a:lstStyle/>
          <a:p>
            <a:r>
              <a:rPr lang="en-US" sz="900">
                <a:latin typeface="Source Sans Pro"/>
                <a:ea typeface="Source Sans Pro"/>
              </a:rPr>
              <a:t>REGEN PDR</a:t>
            </a:r>
          </a:p>
        </p:txBody>
      </p:sp>
      <p:sp>
        <p:nvSpPr>
          <p:cNvPr id="4" name="Slide Number Placeholder 3">
            <a:extLst>
              <a:ext uri="{FF2B5EF4-FFF2-40B4-BE49-F238E27FC236}">
                <a16:creationId xmlns:a16="http://schemas.microsoft.com/office/drawing/2014/main" id="{84AF024C-B37B-BDAC-29B1-6511D95455A0}"/>
              </a:ext>
            </a:extLst>
          </p:cNvPr>
          <p:cNvSpPr>
            <a:spLocks noGrp="1"/>
          </p:cNvSpPr>
          <p:nvPr>
            <p:ph type="sldNum" sz="quarter" idx="17"/>
          </p:nvPr>
        </p:nvSpPr>
        <p:spPr/>
        <p:txBody>
          <a:bodyPr/>
          <a:lstStyle/>
          <a:p>
            <a:r>
              <a:rPr lang="en-US" sz="900">
                <a:latin typeface="Source Sans Pro"/>
                <a:ea typeface="Source Sans Pro"/>
              </a:rPr>
              <a:t>/  35</a:t>
            </a:r>
          </a:p>
        </p:txBody>
      </p:sp>
      <p:sp>
        <p:nvSpPr>
          <p:cNvPr id="5" name="Title 4">
            <a:extLst>
              <a:ext uri="{FF2B5EF4-FFF2-40B4-BE49-F238E27FC236}">
                <a16:creationId xmlns:a16="http://schemas.microsoft.com/office/drawing/2014/main" id="{DDE7917D-6458-3841-0DAB-A469EAFF96A8}"/>
              </a:ext>
            </a:extLst>
          </p:cNvPr>
          <p:cNvSpPr>
            <a:spLocks noGrp="1"/>
          </p:cNvSpPr>
          <p:nvPr>
            <p:ph type="title"/>
          </p:nvPr>
        </p:nvSpPr>
        <p:spPr>
          <a:xfrm>
            <a:off x="531848" y="716984"/>
            <a:ext cx="10265547" cy="625567"/>
          </a:xfrm>
        </p:spPr>
        <p:txBody>
          <a:bodyPr/>
          <a:lstStyle/>
          <a:p>
            <a:r>
              <a:rPr lang="en-US">
                <a:solidFill>
                  <a:srgbClr val="154734"/>
                </a:solidFill>
                <a:latin typeface="Munistic"/>
              </a:rPr>
              <a:t>Feed System and Integration </a:t>
            </a:r>
            <a:endParaRPr lang="en-US"/>
          </a:p>
        </p:txBody>
      </p:sp>
      <p:sp>
        <p:nvSpPr>
          <p:cNvPr id="6" name="Body 11">
            <a:extLst>
              <a:ext uri="{FF2B5EF4-FFF2-40B4-BE49-F238E27FC236}">
                <a16:creationId xmlns:a16="http://schemas.microsoft.com/office/drawing/2014/main" id="{35BADCD6-1A43-2217-BA0B-68725E3CC819}"/>
              </a:ext>
            </a:extLst>
          </p:cNvPr>
          <p:cNvSpPr txBox="1"/>
          <p:nvPr/>
        </p:nvSpPr>
        <p:spPr>
          <a:xfrm>
            <a:off x="560000" y="1640000"/>
            <a:ext cx="7285552" cy="3717525"/>
          </a:xfrm>
          <a:prstGeom prst="rect">
            <a:avLst/>
          </a:prstGeom>
          <a:noFill/>
        </p:spPr>
        <p:txBody>
          <a:bodyPr wrap="square" lIns="91440" tIns="45720" rIns="91440" bIns="45720" anchor="t">
            <a:noAutofit/>
          </a:bodyPr>
          <a:lstStyle/>
          <a:p>
            <a:pPr marL="285750" indent="-285750">
              <a:spcBef>
                <a:spcPts val="600"/>
              </a:spcBef>
              <a:buClr>
                <a:srgbClr val="BD8B13"/>
              </a:buClr>
              <a:buFont typeface="Arial"/>
              <a:buChar char="•"/>
            </a:pPr>
            <a:r>
              <a:rPr lang="en-US" sz="2200"/>
              <a:t>Oxidizer self-pressurized; injector feed assumed at 600 psi</a:t>
            </a:r>
          </a:p>
          <a:p>
            <a:pPr marL="285750" indent="-285750">
              <a:spcBef>
                <a:spcPts val="600"/>
              </a:spcBef>
              <a:buClr>
                <a:srgbClr val="BD8B13"/>
              </a:buClr>
              <a:buFont typeface="Arial"/>
              <a:buChar char="•"/>
            </a:pPr>
            <a:r>
              <a:rPr lang="en-US" sz="2200">
                <a:solidFill>
                  <a:schemeClr val="tx1"/>
                </a:solidFill>
              </a:rPr>
              <a:t>Fuel nitrogen regulated up to 700 psi</a:t>
            </a:r>
            <a:endParaRPr lang="en-US" sz="2200"/>
          </a:p>
          <a:p>
            <a:pPr marL="285750" indent="-285750">
              <a:spcBef>
                <a:spcPts val="600"/>
              </a:spcBef>
              <a:buClr>
                <a:srgbClr val="BD8B13"/>
              </a:buClr>
              <a:buFont typeface="Arial"/>
              <a:buChar char="•"/>
            </a:pPr>
            <a:r>
              <a:rPr lang="en-US" sz="2200"/>
              <a:t>Fuel e</a:t>
            </a:r>
            <a:r>
              <a:rPr lang="en-US" sz="2200">
                <a:solidFill>
                  <a:schemeClr val="tx1"/>
                </a:solidFill>
              </a:rPr>
              <a:t>nters at the nozzle end, leaves the jacket at the injector</a:t>
            </a:r>
          </a:p>
          <a:p>
            <a:pPr marL="285750" indent="-285750">
              <a:spcBef>
                <a:spcPts val="600"/>
              </a:spcBef>
              <a:buClr>
                <a:srgbClr val="BD8B13"/>
              </a:buClr>
              <a:buFont typeface="Arial"/>
              <a:buChar char="•"/>
            </a:pPr>
            <a:r>
              <a:rPr lang="en-US" sz="2200"/>
              <a:t>Budget: 200 psi Pc + 200 psi injector + 300 psi jacket = 700 psi, regulator set point fixed in cold flow</a:t>
            </a:r>
            <a:endParaRPr lang="en-US" sz="2200">
              <a:ea typeface="Calibri"/>
              <a:cs typeface="Calibri"/>
            </a:endParaRPr>
          </a:p>
          <a:p>
            <a:pPr marL="285750" indent="-285750">
              <a:spcBef>
                <a:spcPts val="600"/>
              </a:spcBef>
              <a:buClr>
                <a:srgbClr val="BD8B13"/>
              </a:buClr>
              <a:buFont typeface="Arial"/>
              <a:buChar char="•"/>
            </a:pPr>
            <a:r>
              <a:rPr lang="en-US" sz="2200">
                <a:solidFill>
                  <a:schemeClr val="tx1"/>
                </a:solidFill>
              </a:rPr>
              <a:t>Oxidizer enters the injector top</a:t>
            </a:r>
          </a:p>
          <a:p>
            <a:pPr marL="285750" indent="-285750">
              <a:spcBef>
                <a:spcPts val="600"/>
              </a:spcBef>
              <a:buClr>
                <a:srgbClr val="BD8B13"/>
              </a:buClr>
              <a:buFont typeface="Arial"/>
              <a:buChar char="•"/>
            </a:pPr>
            <a:r>
              <a:rPr lang="en-US" sz="2200"/>
              <a:t>F</a:t>
            </a:r>
            <a:r>
              <a:rPr lang="en-US" sz="2200">
                <a:solidFill>
                  <a:schemeClr val="tx1"/>
                </a:solidFill>
              </a:rPr>
              <a:t>uel stays inside the jacket and injector fuel manifold</a:t>
            </a:r>
          </a:p>
          <a:p>
            <a:pPr marL="285750" indent="-285750">
              <a:spcBef>
                <a:spcPts val="600"/>
              </a:spcBef>
              <a:buClr>
                <a:srgbClr val="BD8B13"/>
              </a:buClr>
              <a:buFont typeface="Arial"/>
              <a:buChar char="•"/>
            </a:pPr>
            <a:r>
              <a:rPr lang="en-US" sz="2200"/>
              <a:t>Both fuel and oxidizer use 2 × 1/8 NPT inlets to support uniform flow</a:t>
            </a:r>
          </a:p>
          <a:p>
            <a:pPr marL="285750" indent="-285750">
              <a:spcBef>
                <a:spcPts val="600"/>
              </a:spcBef>
              <a:buClr>
                <a:srgbClr val="BD8B13"/>
              </a:buClr>
              <a:buFont typeface="Arial"/>
              <a:buChar char="•"/>
            </a:pPr>
            <a:r>
              <a:rPr lang="en-US" sz="2200"/>
              <a:t>Adaptors will be manufactured to convert 1/4 NPT to 2 × 1/8 NPT </a:t>
            </a:r>
            <a:endParaRPr lang="en-US" sz="2200">
              <a:solidFill>
                <a:schemeClr val="tx1"/>
              </a:solidFill>
            </a:endParaRPr>
          </a:p>
        </p:txBody>
      </p:sp>
      <p:pic>
        <p:nvPicPr>
          <p:cNvPr id="9" name="Picture 8">
            <a:extLst>
              <a:ext uri="{FF2B5EF4-FFF2-40B4-BE49-F238E27FC236}">
                <a16:creationId xmlns:a16="http://schemas.microsoft.com/office/drawing/2014/main" id="{34138BF4-B348-80A9-0E34-A5EF5FDC96B6}"/>
              </a:ext>
            </a:extLst>
          </p:cNvPr>
          <p:cNvPicPr>
            <a:picLocks noChangeAspect="1"/>
          </p:cNvPicPr>
          <p:nvPr/>
        </p:nvPicPr>
        <p:blipFill>
          <a:blip r:embed="rId2"/>
          <a:srcRect l="11114" t="4317" r="10808" b="4141"/>
          <a:stretch>
            <a:fillRect/>
          </a:stretch>
        </p:blipFill>
        <p:spPr>
          <a:xfrm>
            <a:off x="8807832" y="1438781"/>
            <a:ext cx="2571367" cy="4816101"/>
          </a:xfrm>
          <a:prstGeom prst="rect">
            <a:avLst/>
          </a:prstGeom>
        </p:spPr>
      </p:pic>
    </p:spTree>
    <p:extLst>
      <p:ext uri="{BB962C8B-B14F-4D97-AF65-F5344CB8AC3E}">
        <p14:creationId xmlns:p14="http://schemas.microsoft.com/office/powerpoint/2010/main" val="14468470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5A9B5-E049-C248-882F-8BB65D929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799F7B-D8E6-1C7B-29C9-5D822DD56153}"/>
              </a:ext>
            </a:extLst>
          </p:cNvPr>
          <p:cNvSpPr>
            <a:spLocks noGrp="1"/>
          </p:cNvSpPr>
          <p:nvPr>
            <p:ph type="title"/>
          </p:nvPr>
        </p:nvSpPr>
        <p:spPr/>
        <p:txBody>
          <a:bodyPr>
            <a:normAutofit/>
          </a:bodyPr>
          <a:lstStyle/>
          <a:p>
            <a:r>
              <a:rPr lang="en-US" sz="3200"/>
              <a:t>Ignitor</a:t>
            </a:r>
          </a:p>
        </p:txBody>
      </p:sp>
      <p:sp>
        <p:nvSpPr>
          <p:cNvPr id="11" name="Body 11">
            <a:extLst>
              <a:ext uri="{FF2B5EF4-FFF2-40B4-BE49-F238E27FC236}">
                <a16:creationId xmlns:a16="http://schemas.microsoft.com/office/drawing/2014/main" id="{4C53639D-B0D2-A61F-CC2B-0F358D0EDFE9}"/>
              </a:ext>
            </a:extLst>
          </p:cNvPr>
          <p:cNvSpPr txBox="1"/>
          <p:nvPr/>
        </p:nvSpPr>
        <p:spPr>
          <a:xfrm>
            <a:off x="560000" y="1640000"/>
            <a:ext cx="11070000" cy="3717525"/>
          </a:xfrm>
          <a:prstGeom prst="rect">
            <a:avLst/>
          </a:prstGeom>
          <a:noFill/>
        </p:spPr>
        <p:txBody>
          <a:bodyPr wrap="square" lIns="91440" tIns="45720" rIns="91440" bIns="45720" anchor="t">
            <a:noAutofit/>
          </a:bodyPr>
          <a:lstStyle/>
          <a:p>
            <a:pPr marL="342900" indent="-342900">
              <a:spcBef>
                <a:spcPts val="600"/>
              </a:spcBef>
              <a:buClr>
                <a:srgbClr val="BD8B13"/>
              </a:buClr>
              <a:buFont typeface="Arial" panose="020B0604020202020204" pitchFamily="34" charset="0"/>
              <a:buChar char="•"/>
            </a:pPr>
            <a:r>
              <a:rPr lang="en-US" sz="2200">
                <a:solidFill>
                  <a:schemeClr val="tx1"/>
                </a:solidFill>
              </a:rPr>
              <a:t>Estes C6-0 engine fitted into a 1/4in NPT socket</a:t>
            </a:r>
          </a:p>
          <a:p>
            <a:pPr marL="342900" indent="-342900">
              <a:spcBef>
                <a:spcPts val="600"/>
              </a:spcBef>
              <a:buClr>
                <a:srgbClr val="BD8B13"/>
              </a:buClr>
              <a:buFont typeface="Arial" panose="020B0604020202020204" pitchFamily="34" charset="0"/>
              <a:buChar char="•"/>
            </a:pPr>
            <a:r>
              <a:rPr lang="en-US" sz="2200"/>
              <a:t>Nichrome wire ignition</a:t>
            </a:r>
          </a:p>
          <a:p>
            <a:pPr marL="342900" indent="-342900">
              <a:spcBef>
                <a:spcPts val="600"/>
              </a:spcBef>
              <a:buClr>
                <a:srgbClr val="BD8B13"/>
              </a:buClr>
              <a:buFont typeface="Arial" panose="020B0604020202020204" pitchFamily="34" charset="0"/>
              <a:buChar char="•"/>
            </a:pPr>
            <a:r>
              <a:rPr lang="en-US" sz="2200"/>
              <a:t>Burns for 1.6-1.9s</a:t>
            </a:r>
          </a:p>
          <a:p>
            <a:pPr marL="342900" indent="-342900">
              <a:spcBef>
                <a:spcPts val="600"/>
              </a:spcBef>
              <a:buClr>
                <a:srgbClr val="BD8B13"/>
              </a:buClr>
              <a:buFont typeface="Arial" panose="020B0604020202020204" pitchFamily="34" charset="0"/>
              <a:buChar char="•"/>
            </a:pPr>
            <a:r>
              <a:rPr lang="en-US" sz="2200"/>
              <a:t>Historically reliable design, used on all other CPSS rocket engines</a:t>
            </a:r>
            <a:endParaRPr lang="en-US" sz="2200">
              <a:solidFill>
                <a:schemeClr val="tx1"/>
              </a:solidFill>
            </a:endParaRPr>
          </a:p>
        </p:txBody>
      </p:sp>
      <p:sp>
        <p:nvSpPr>
          <p:cNvPr id="3" name="Slide Number">
            <a:extLst>
              <a:ext uri="{FF2B5EF4-FFF2-40B4-BE49-F238E27FC236}">
                <a16:creationId xmlns:a16="http://schemas.microsoft.com/office/drawing/2014/main" id="{590C8482-41AC-0D22-4F62-351878A50692}"/>
              </a:ext>
            </a:extLst>
          </p:cNvPr>
          <p:cNvSpPr>
            <a:spLocks noGrp="1"/>
          </p:cNvSpPr>
          <p:nvPr>
            <p:ph type="sldNum" sz="quarter" idx="4294967295"/>
          </p:nvPr>
        </p:nvSpPr>
        <p:spPr>
          <a:xfrm>
            <a:off x="10300000" y="6351588"/>
            <a:ext cx="1892000" cy="365125"/>
          </a:xfrm>
        </p:spPr>
        <p:txBody>
          <a:bodyPr/>
          <a:lstStyle/>
          <a:p>
            <a:pPr algn="r"/>
            <a:r>
              <a:rPr lang="en-US"/>
              <a:t>Regen PDR  / 36 </a:t>
            </a:r>
          </a:p>
        </p:txBody>
      </p:sp>
      <p:pic>
        <p:nvPicPr>
          <p:cNvPr id="10" name="Picture 9" descr="The image depicts a ceramic nozzle with specified dimensions: outer diameter (OD) of 0.69 inches, inner diameter (ID) of 0.5 inches, and a length of 2.75 inches, including a nozzle throat width of 0.13 inches.&#10;&#10;AI-generated content may be incorrect.">
            <a:extLst>
              <a:ext uri="{FF2B5EF4-FFF2-40B4-BE49-F238E27FC236}">
                <a16:creationId xmlns:a16="http://schemas.microsoft.com/office/drawing/2014/main" id="{E39EFEED-BAA5-94C1-1A0C-05F1353C77A8}"/>
              </a:ext>
            </a:extLst>
          </p:cNvPr>
          <p:cNvPicPr>
            <a:picLocks noChangeAspect="1"/>
          </p:cNvPicPr>
          <p:nvPr/>
        </p:nvPicPr>
        <p:blipFill>
          <a:blip r:embed="rId2"/>
          <a:stretch>
            <a:fillRect/>
          </a:stretch>
        </p:blipFill>
        <p:spPr>
          <a:xfrm>
            <a:off x="4245251" y="4610951"/>
            <a:ext cx="3701498" cy="1493147"/>
          </a:xfrm>
          <a:prstGeom prst="rect">
            <a:avLst/>
          </a:prstGeom>
        </p:spPr>
      </p:pic>
    </p:spTree>
    <p:extLst>
      <p:ext uri="{BB962C8B-B14F-4D97-AF65-F5344CB8AC3E}">
        <p14:creationId xmlns:p14="http://schemas.microsoft.com/office/powerpoint/2010/main" val="34006281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334ED-3CE7-7D9D-BCD4-BA5415D2F3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E33C6B-F2A8-2A8D-CE84-613A1FAA47F2}"/>
              </a:ext>
            </a:extLst>
          </p:cNvPr>
          <p:cNvSpPr>
            <a:spLocks noGrp="1"/>
          </p:cNvSpPr>
          <p:nvPr>
            <p:ph type="title"/>
          </p:nvPr>
        </p:nvSpPr>
        <p:spPr>
          <a:xfrm>
            <a:off x="337944" y="367446"/>
            <a:ext cx="11376152" cy="1037865"/>
          </a:xfrm>
        </p:spPr>
        <p:txBody>
          <a:bodyPr/>
          <a:lstStyle/>
          <a:p>
            <a:r>
              <a:rPr lang="en-US"/>
              <a:t>End of Injector &amp; Plumbing</a:t>
            </a:r>
          </a:p>
        </p:txBody>
      </p:sp>
      <p:sp>
        <p:nvSpPr>
          <p:cNvPr id="3" name="Text Placeholder 2">
            <a:extLst>
              <a:ext uri="{FF2B5EF4-FFF2-40B4-BE49-F238E27FC236}">
                <a16:creationId xmlns:a16="http://schemas.microsoft.com/office/drawing/2014/main" id="{4058583E-7C9B-EB84-3A81-A12E639ADD2B}"/>
              </a:ext>
            </a:extLst>
          </p:cNvPr>
          <p:cNvSpPr>
            <a:spLocks noGrp="1"/>
          </p:cNvSpPr>
          <p:nvPr>
            <p:ph type="body" sz="quarter" idx="11"/>
          </p:nvPr>
        </p:nvSpPr>
        <p:spPr>
          <a:xfrm>
            <a:off x="3722619" y="3257835"/>
            <a:ext cx="4612283" cy="342329"/>
          </a:xfrm>
        </p:spPr>
        <p:txBody>
          <a:bodyPr/>
          <a:lstStyle/>
          <a:p>
            <a:r>
              <a:rPr lang="en-US" sz="7200" b="1"/>
              <a:t>Questions?</a:t>
            </a:r>
          </a:p>
        </p:txBody>
      </p:sp>
    </p:spTree>
    <p:extLst>
      <p:ext uri="{BB962C8B-B14F-4D97-AF65-F5344CB8AC3E}">
        <p14:creationId xmlns:p14="http://schemas.microsoft.com/office/powerpoint/2010/main" val="13952095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E02D7-BD16-EDDF-E58E-48349A82BA46}"/>
              </a:ext>
            </a:extLst>
          </p:cNvPr>
          <p:cNvSpPr>
            <a:spLocks noGrp="1"/>
          </p:cNvSpPr>
          <p:nvPr>
            <p:ph type="title"/>
          </p:nvPr>
        </p:nvSpPr>
        <p:spPr/>
        <p:txBody>
          <a:bodyPr/>
          <a:lstStyle/>
          <a:p>
            <a:r>
              <a:rPr lang="en-US">
                <a:latin typeface="Munistic"/>
              </a:rPr>
              <a:t>Peripherals</a:t>
            </a:r>
          </a:p>
        </p:txBody>
      </p:sp>
      <p:sp>
        <p:nvSpPr>
          <p:cNvPr id="3" name="Text Placeholder 2">
            <a:extLst>
              <a:ext uri="{FF2B5EF4-FFF2-40B4-BE49-F238E27FC236}">
                <a16:creationId xmlns:a16="http://schemas.microsoft.com/office/drawing/2014/main" id="{CA22144C-AB8A-6C43-B991-5700C5944DA5}"/>
              </a:ext>
            </a:extLst>
          </p:cNvPr>
          <p:cNvSpPr>
            <a:spLocks noGrp="1"/>
          </p:cNvSpPr>
          <p:nvPr>
            <p:ph type="body" sz="quarter" idx="11"/>
          </p:nvPr>
        </p:nvSpPr>
        <p:spPr/>
        <p:txBody>
          <a:bodyPr/>
          <a:lstStyle/>
          <a:p>
            <a:r>
              <a:rPr lang="en-US" sz="1850">
                <a:ea typeface="Source Sans Pro"/>
                <a:cs typeface="Calibri"/>
              </a:rPr>
              <a:t>Presented by Jeremiah</a:t>
            </a:r>
            <a:endParaRPr lang="en-US"/>
          </a:p>
        </p:txBody>
      </p:sp>
    </p:spTree>
    <p:extLst>
      <p:ext uri="{BB962C8B-B14F-4D97-AF65-F5344CB8AC3E}">
        <p14:creationId xmlns:p14="http://schemas.microsoft.com/office/powerpoint/2010/main" val="34477726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4DF0E-E8FB-7FA3-5A9A-FAD86B15DB0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9B5AF5D-E790-3DAD-9391-DDC09D3D44A8}"/>
              </a:ext>
            </a:extLst>
          </p:cNvPr>
          <p:cNvSpPr>
            <a:spLocks noGrp="1"/>
          </p:cNvSpPr>
          <p:nvPr>
            <p:ph type="ftr" sz="quarter" idx="16"/>
          </p:nvPr>
        </p:nvSpPr>
        <p:spPr/>
        <p:txBody>
          <a:bodyPr/>
          <a:lstStyle/>
          <a:p>
            <a:r>
              <a:rPr lang="en-US" sz="900">
                <a:latin typeface="Source Sans Pro"/>
                <a:ea typeface="Source Sans Pro"/>
              </a:rPr>
              <a:t>REGEN PDR</a:t>
            </a:r>
          </a:p>
        </p:txBody>
      </p:sp>
      <p:sp>
        <p:nvSpPr>
          <p:cNvPr id="4" name="Slide Number Placeholder 3">
            <a:extLst>
              <a:ext uri="{FF2B5EF4-FFF2-40B4-BE49-F238E27FC236}">
                <a16:creationId xmlns:a16="http://schemas.microsoft.com/office/drawing/2014/main" id="{FE6CA592-A594-9659-05A7-115B8A77C83D}"/>
              </a:ext>
            </a:extLst>
          </p:cNvPr>
          <p:cNvSpPr>
            <a:spLocks noGrp="1"/>
          </p:cNvSpPr>
          <p:nvPr>
            <p:ph type="sldNum" sz="quarter" idx="17"/>
          </p:nvPr>
        </p:nvSpPr>
        <p:spPr/>
        <p:txBody>
          <a:bodyPr/>
          <a:lstStyle/>
          <a:p>
            <a:r>
              <a:rPr lang="en-US" sz="900">
                <a:latin typeface="Source Sans Pro"/>
                <a:ea typeface="Source Sans Pro"/>
              </a:rPr>
              <a:t>/  39</a:t>
            </a:r>
          </a:p>
        </p:txBody>
      </p:sp>
      <p:sp>
        <p:nvSpPr>
          <p:cNvPr id="5" name="Title 4">
            <a:extLst>
              <a:ext uri="{FF2B5EF4-FFF2-40B4-BE49-F238E27FC236}">
                <a16:creationId xmlns:a16="http://schemas.microsoft.com/office/drawing/2014/main" id="{82D7A081-2E1F-DB44-6458-AE21A5C9D496}"/>
              </a:ext>
            </a:extLst>
          </p:cNvPr>
          <p:cNvSpPr>
            <a:spLocks noGrp="1"/>
          </p:cNvSpPr>
          <p:nvPr>
            <p:ph type="title"/>
          </p:nvPr>
        </p:nvSpPr>
        <p:spPr>
          <a:xfrm>
            <a:off x="531848" y="716984"/>
            <a:ext cx="10265547" cy="625567"/>
          </a:xfrm>
        </p:spPr>
        <p:txBody>
          <a:bodyPr/>
          <a:lstStyle/>
          <a:p>
            <a:r>
              <a:rPr lang="en-US"/>
              <a:t>Instrumentation </a:t>
            </a:r>
          </a:p>
        </p:txBody>
      </p:sp>
      <p:sp>
        <p:nvSpPr>
          <p:cNvPr id="7" name="Body 11">
            <a:extLst>
              <a:ext uri="{FF2B5EF4-FFF2-40B4-BE49-F238E27FC236}">
                <a16:creationId xmlns:a16="http://schemas.microsoft.com/office/drawing/2014/main" id="{6A2AA89B-8EED-E8B4-5D20-B0EB75948F5A}"/>
              </a:ext>
            </a:extLst>
          </p:cNvPr>
          <p:cNvSpPr txBox="1"/>
          <p:nvPr/>
        </p:nvSpPr>
        <p:spPr>
          <a:xfrm>
            <a:off x="541186" y="1687037"/>
            <a:ext cx="6488592" cy="4435013"/>
          </a:xfrm>
          <a:prstGeom prst="rect">
            <a:avLst/>
          </a:prstGeom>
          <a:noFill/>
        </p:spPr>
        <p:txBody>
          <a:bodyPr wrap="square" lIns="91440" tIns="45720" rIns="91440" bIns="45720" anchor="t">
            <a:noAutofit/>
          </a:bodyPr>
          <a:lstStyle/>
          <a:p>
            <a:pPr marL="285750" indent="-285750">
              <a:spcBef>
                <a:spcPts val="600"/>
              </a:spcBef>
              <a:buClr>
                <a:srgbClr val="BD8B13"/>
              </a:buClr>
              <a:buFont typeface="Arial"/>
              <a:buChar char="•"/>
            </a:pPr>
            <a:r>
              <a:rPr lang="en-US" sz="2100">
                <a:ea typeface="+mn-lt"/>
                <a:cs typeface="+mn-lt"/>
              </a:rPr>
              <a:t>Pressure: Pc, fuel jacket inlet and outlet (jacket ΔP directly), both supplies</a:t>
            </a:r>
          </a:p>
          <a:p>
            <a:pPr marL="285750" indent="-285750">
              <a:spcBef>
                <a:spcPts val="600"/>
              </a:spcBef>
              <a:buClr>
                <a:srgbClr val="BD8B13"/>
              </a:buClr>
              <a:buFont typeface="Arial"/>
              <a:buChar char="•"/>
            </a:pPr>
            <a:r>
              <a:rPr lang="en-US" sz="2100">
                <a:ea typeface="+mn-lt"/>
                <a:cs typeface="+mn-lt"/>
              </a:rPr>
              <a:t>Thrust: Load cells</a:t>
            </a:r>
          </a:p>
          <a:p>
            <a:pPr marL="285750" indent="-285750">
              <a:spcBef>
                <a:spcPts val="600"/>
              </a:spcBef>
              <a:buClr>
                <a:srgbClr val="BD8B13"/>
              </a:buClr>
              <a:buFont typeface="Arial"/>
              <a:buChar char="•"/>
            </a:pPr>
            <a:r>
              <a:rPr lang="en-US" sz="2100">
                <a:ea typeface="+mn-lt"/>
                <a:cs typeface="+mn-lt"/>
              </a:rPr>
              <a:t>Coolant inlet/outlet thermocouples: Gives total heat load, which calibrates Bartz directly</a:t>
            </a:r>
            <a:endParaRPr lang="en-US"/>
          </a:p>
          <a:p>
            <a:pPr marL="285750" indent="-285750">
              <a:spcBef>
                <a:spcPts val="600"/>
              </a:spcBef>
              <a:buClr>
                <a:srgbClr val="BD8B13"/>
              </a:buClr>
              <a:buFont typeface="Arial"/>
              <a:buChar char="•"/>
            </a:pPr>
            <a:r>
              <a:rPr lang="en-US" sz="2100">
                <a:ea typeface="+mn-lt"/>
                <a:cs typeface="+mn-lt"/>
              </a:rPr>
              <a:t>Three thermocouples: the model predicts a linear wall gradient there, and three points separate linear from curved</a:t>
            </a:r>
            <a:endParaRPr lang="en-US"/>
          </a:p>
          <a:p>
            <a:pPr marL="285750" indent="-285750">
              <a:spcBef>
                <a:spcPts val="600"/>
              </a:spcBef>
              <a:buClr>
                <a:srgbClr val="BD8B13"/>
              </a:buClr>
              <a:buFont typeface="Arial"/>
              <a:buChar char="•"/>
            </a:pPr>
            <a:r>
              <a:rPr lang="en-US" sz="2100">
                <a:ea typeface="+mn-lt"/>
                <a:cs typeface="+mn-lt"/>
              </a:rPr>
              <a:t>Blind holes into lands, wall temperature extrapolated from hole depth</a:t>
            </a:r>
            <a:endParaRPr lang="en-US"/>
          </a:p>
          <a:p>
            <a:pPr marL="285750" indent="-285750">
              <a:spcBef>
                <a:spcPts val="600"/>
              </a:spcBef>
              <a:buClr>
                <a:srgbClr val="BD8B13"/>
              </a:buClr>
              <a:buFont typeface="Arial"/>
              <a:buChar char="•"/>
            </a:pPr>
            <a:r>
              <a:rPr lang="en-US" sz="2100">
                <a:ea typeface="+mn-lt"/>
                <a:cs typeface="+mn-lt"/>
              </a:rPr>
              <a:t>Remaining 2 thermocouples on throat to extrapolate peak wall temp at worst station</a:t>
            </a:r>
            <a:endParaRPr lang="en-US"/>
          </a:p>
          <a:p>
            <a:pPr>
              <a:spcBef>
                <a:spcPts val="600"/>
              </a:spcBef>
            </a:pPr>
            <a:endParaRPr lang="en-US" sz="2100" i="1">
              <a:solidFill>
                <a:srgbClr val="BD8B13"/>
              </a:solidFill>
              <a:ea typeface="Calibri"/>
              <a:cs typeface="Calibri"/>
            </a:endParaRPr>
          </a:p>
        </p:txBody>
      </p:sp>
      <p:pic>
        <p:nvPicPr>
          <p:cNvPr id="6" name="Picture 5">
            <a:extLst>
              <a:ext uri="{FF2B5EF4-FFF2-40B4-BE49-F238E27FC236}">
                <a16:creationId xmlns:a16="http://schemas.microsoft.com/office/drawing/2014/main" id="{BD93D61D-D9F1-A021-D9B0-CEA06045779B}"/>
              </a:ext>
            </a:extLst>
          </p:cNvPr>
          <p:cNvPicPr>
            <a:picLocks noChangeAspect="1"/>
          </p:cNvPicPr>
          <p:nvPr/>
        </p:nvPicPr>
        <p:blipFill>
          <a:blip r:embed="rId2"/>
          <a:srcRect l="11114" t="4317" r="10808" b="4141"/>
          <a:stretch>
            <a:fillRect/>
          </a:stretch>
        </p:blipFill>
        <p:spPr>
          <a:xfrm>
            <a:off x="8215555" y="1497382"/>
            <a:ext cx="2571367" cy="4816101"/>
          </a:xfrm>
          <a:prstGeom prst="rect">
            <a:avLst/>
          </a:prstGeom>
        </p:spPr>
      </p:pic>
      <p:sp>
        <p:nvSpPr>
          <p:cNvPr id="23" name="TextBox 22">
            <a:extLst>
              <a:ext uri="{FF2B5EF4-FFF2-40B4-BE49-F238E27FC236}">
                <a16:creationId xmlns:a16="http://schemas.microsoft.com/office/drawing/2014/main" id="{4C652070-A6BA-BD85-7B4C-D45FB6E4DDCE}"/>
              </a:ext>
            </a:extLst>
          </p:cNvPr>
          <p:cNvSpPr txBox="1"/>
          <p:nvPr/>
        </p:nvSpPr>
        <p:spPr>
          <a:xfrm>
            <a:off x="7395810" y="2889111"/>
            <a:ext cx="133871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b="1">
                <a:ea typeface="Calibri"/>
                <a:cs typeface="Calibri"/>
              </a:rPr>
              <a:t>TC</a:t>
            </a:r>
          </a:p>
        </p:txBody>
      </p:sp>
      <p:sp>
        <p:nvSpPr>
          <p:cNvPr id="14" name="TextBox 13">
            <a:extLst>
              <a:ext uri="{FF2B5EF4-FFF2-40B4-BE49-F238E27FC236}">
                <a16:creationId xmlns:a16="http://schemas.microsoft.com/office/drawing/2014/main" id="{7BFBA7FB-41E9-9403-AA51-6CC7209D1785}"/>
              </a:ext>
            </a:extLst>
          </p:cNvPr>
          <p:cNvSpPr txBox="1"/>
          <p:nvPr/>
        </p:nvSpPr>
        <p:spPr>
          <a:xfrm>
            <a:off x="9217243" y="4607174"/>
            <a:ext cx="133871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b="1">
                <a:ea typeface="Calibri"/>
                <a:cs typeface="Calibri"/>
              </a:rPr>
              <a:t>TC</a:t>
            </a:r>
          </a:p>
        </p:txBody>
      </p:sp>
      <p:sp>
        <p:nvSpPr>
          <p:cNvPr id="19" name="TextBox 18">
            <a:extLst>
              <a:ext uri="{FF2B5EF4-FFF2-40B4-BE49-F238E27FC236}">
                <a16:creationId xmlns:a16="http://schemas.microsoft.com/office/drawing/2014/main" id="{82218190-9E29-5555-EFCD-698E968D5B9C}"/>
              </a:ext>
            </a:extLst>
          </p:cNvPr>
          <p:cNvSpPr txBox="1"/>
          <p:nvPr/>
        </p:nvSpPr>
        <p:spPr>
          <a:xfrm>
            <a:off x="11179537" y="2936993"/>
            <a:ext cx="548355" cy="584775"/>
          </a:xfrm>
          <a:prstGeom prst="rect">
            <a:avLst/>
          </a:prstGeom>
          <a:noFill/>
        </p:spPr>
        <p:txBody>
          <a:bodyPr wrap="none" rtlCol="0">
            <a:spAutoFit/>
          </a:bodyPr>
          <a:lstStyle/>
          <a:p>
            <a:r>
              <a:rPr lang="en-US" sz="3200" b="1"/>
              <a:t>Pt</a:t>
            </a:r>
          </a:p>
        </p:txBody>
      </p:sp>
      <p:cxnSp>
        <p:nvCxnSpPr>
          <p:cNvPr id="21" name="Straight Arrow Connector 20">
            <a:extLst>
              <a:ext uri="{FF2B5EF4-FFF2-40B4-BE49-F238E27FC236}">
                <a16:creationId xmlns:a16="http://schemas.microsoft.com/office/drawing/2014/main" id="{F356153F-DEE0-89B4-334D-23B9DA5379A1}"/>
              </a:ext>
            </a:extLst>
          </p:cNvPr>
          <p:cNvCxnSpPr>
            <a:cxnSpLocks/>
          </p:cNvCxnSpPr>
          <p:nvPr/>
        </p:nvCxnSpPr>
        <p:spPr>
          <a:xfrm flipH="1" flipV="1">
            <a:off x="10608733" y="3191751"/>
            <a:ext cx="570804" cy="1807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4" name="Straight Arrow Connector 23">
            <a:extLst>
              <a:ext uri="{FF2B5EF4-FFF2-40B4-BE49-F238E27FC236}">
                <a16:creationId xmlns:a16="http://schemas.microsoft.com/office/drawing/2014/main" id="{433C534F-DB4B-7906-298C-2134A2451AFC}"/>
              </a:ext>
            </a:extLst>
          </p:cNvPr>
          <p:cNvCxnSpPr>
            <a:cxnSpLocks/>
          </p:cNvCxnSpPr>
          <p:nvPr/>
        </p:nvCxnSpPr>
        <p:spPr>
          <a:xfrm flipH="1">
            <a:off x="10465599" y="3559398"/>
            <a:ext cx="713938" cy="226292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8" name="Straight Arrow Connector 27">
            <a:extLst>
              <a:ext uri="{FF2B5EF4-FFF2-40B4-BE49-F238E27FC236}">
                <a16:creationId xmlns:a16="http://schemas.microsoft.com/office/drawing/2014/main" id="{9A230AF9-CF0E-1FD1-329A-5C43277F8919}"/>
              </a:ext>
            </a:extLst>
          </p:cNvPr>
          <p:cNvCxnSpPr>
            <a:cxnSpLocks/>
          </p:cNvCxnSpPr>
          <p:nvPr/>
        </p:nvCxnSpPr>
        <p:spPr>
          <a:xfrm>
            <a:off x="7843151" y="3521768"/>
            <a:ext cx="750516" cy="216783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0" name="Straight Arrow Connector 29">
            <a:extLst>
              <a:ext uri="{FF2B5EF4-FFF2-40B4-BE49-F238E27FC236}">
                <a16:creationId xmlns:a16="http://schemas.microsoft.com/office/drawing/2014/main" id="{1257DFA5-D3B7-1A33-27ED-4D437182BDD6}"/>
              </a:ext>
            </a:extLst>
          </p:cNvPr>
          <p:cNvCxnSpPr>
            <a:cxnSpLocks/>
          </p:cNvCxnSpPr>
          <p:nvPr/>
        </p:nvCxnSpPr>
        <p:spPr>
          <a:xfrm flipV="1">
            <a:off x="7846593" y="2215693"/>
            <a:ext cx="368962" cy="72130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2" name="Straight Arrow Connector 31">
            <a:extLst>
              <a:ext uri="{FF2B5EF4-FFF2-40B4-BE49-F238E27FC236}">
                <a16:creationId xmlns:a16="http://schemas.microsoft.com/office/drawing/2014/main" id="{108BF2E8-ADBB-4B29-55AA-AF41D61D22D0}"/>
              </a:ext>
            </a:extLst>
          </p:cNvPr>
          <p:cNvCxnSpPr>
            <a:cxnSpLocks/>
          </p:cNvCxnSpPr>
          <p:nvPr/>
        </p:nvCxnSpPr>
        <p:spPr>
          <a:xfrm flipH="1" flipV="1">
            <a:off x="10608495" y="2336504"/>
            <a:ext cx="571042" cy="60048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6" name="Left Brace 35">
            <a:extLst>
              <a:ext uri="{FF2B5EF4-FFF2-40B4-BE49-F238E27FC236}">
                <a16:creationId xmlns:a16="http://schemas.microsoft.com/office/drawing/2014/main" id="{B26F5226-6119-6A17-8C81-471EDFF2AD2B}"/>
              </a:ext>
            </a:extLst>
          </p:cNvPr>
          <p:cNvSpPr/>
          <p:nvPr/>
        </p:nvSpPr>
        <p:spPr>
          <a:xfrm>
            <a:off x="8031074" y="2505716"/>
            <a:ext cx="368962" cy="1409700"/>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cxnSp>
        <p:nvCxnSpPr>
          <p:cNvPr id="54" name="Straight Arrow Connector 53">
            <a:extLst>
              <a:ext uri="{FF2B5EF4-FFF2-40B4-BE49-F238E27FC236}">
                <a16:creationId xmlns:a16="http://schemas.microsoft.com/office/drawing/2014/main" id="{340003B8-A6A8-160E-A024-709F687B1EE5}"/>
              </a:ext>
            </a:extLst>
          </p:cNvPr>
          <p:cNvCxnSpPr/>
          <p:nvPr/>
        </p:nvCxnSpPr>
        <p:spPr>
          <a:xfrm flipH="1">
            <a:off x="9304867" y="5054600"/>
            <a:ext cx="169333" cy="40640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56" name="Straight Arrow Connector 55">
            <a:extLst>
              <a:ext uri="{FF2B5EF4-FFF2-40B4-BE49-F238E27FC236}">
                <a16:creationId xmlns:a16="http://schemas.microsoft.com/office/drawing/2014/main" id="{726A37B5-6D01-89FA-912F-A2A3C43DBBC9}"/>
              </a:ext>
            </a:extLst>
          </p:cNvPr>
          <p:cNvCxnSpPr>
            <a:cxnSpLocks/>
          </p:cNvCxnSpPr>
          <p:nvPr/>
        </p:nvCxnSpPr>
        <p:spPr>
          <a:xfrm>
            <a:off x="9533467" y="5054600"/>
            <a:ext cx="125214" cy="40640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446110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4DF0E-E8FB-7FA3-5A9A-FAD86B15DB0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9B5AF5D-E790-3DAD-9391-DDC09D3D44A8}"/>
              </a:ext>
            </a:extLst>
          </p:cNvPr>
          <p:cNvSpPr>
            <a:spLocks noGrp="1"/>
          </p:cNvSpPr>
          <p:nvPr>
            <p:ph type="ftr" sz="quarter" idx="16"/>
          </p:nvPr>
        </p:nvSpPr>
        <p:spPr/>
        <p:txBody>
          <a:bodyPr/>
          <a:lstStyle/>
          <a:p>
            <a:r>
              <a:rPr lang="en-US" sz="900">
                <a:latin typeface="Source Sans Pro"/>
                <a:ea typeface="Source Sans Pro"/>
              </a:rPr>
              <a:t>REGEN PDR</a:t>
            </a:r>
          </a:p>
        </p:txBody>
      </p:sp>
      <p:sp>
        <p:nvSpPr>
          <p:cNvPr id="4" name="Slide Number Placeholder 3">
            <a:extLst>
              <a:ext uri="{FF2B5EF4-FFF2-40B4-BE49-F238E27FC236}">
                <a16:creationId xmlns:a16="http://schemas.microsoft.com/office/drawing/2014/main" id="{FE6CA592-A594-9659-05A7-115B8A77C83D}"/>
              </a:ext>
            </a:extLst>
          </p:cNvPr>
          <p:cNvSpPr>
            <a:spLocks noGrp="1"/>
          </p:cNvSpPr>
          <p:nvPr>
            <p:ph type="sldNum" sz="quarter" idx="17"/>
          </p:nvPr>
        </p:nvSpPr>
        <p:spPr/>
        <p:txBody>
          <a:bodyPr/>
          <a:lstStyle/>
          <a:p>
            <a:r>
              <a:rPr lang="en-US" sz="900">
                <a:latin typeface="Source Sans Pro"/>
                <a:ea typeface="Source Sans Pro"/>
              </a:rPr>
              <a:t>/  40</a:t>
            </a:r>
          </a:p>
        </p:txBody>
      </p:sp>
      <p:sp>
        <p:nvSpPr>
          <p:cNvPr id="5" name="Title 4">
            <a:extLst>
              <a:ext uri="{FF2B5EF4-FFF2-40B4-BE49-F238E27FC236}">
                <a16:creationId xmlns:a16="http://schemas.microsoft.com/office/drawing/2014/main" id="{82D7A081-2E1F-DB44-6458-AE21A5C9D496}"/>
              </a:ext>
            </a:extLst>
          </p:cNvPr>
          <p:cNvSpPr>
            <a:spLocks noGrp="1"/>
          </p:cNvSpPr>
          <p:nvPr>
            <p:ph type="title"/>
          </p:nvPr>
        </p:nvSpPr>
        <p:spPr>
          <a:xfrm>
            <a:off x="531848" y="716984"/>
            <a:ext cx="10265547" cy="625567"/>
          </a:xfrm>
        </p:spPr>
        <p:txBody>
          <a:bodyPr/>
          <a:lstStyle/>
          <a:p>
            <a:r>
              <a:rPr lang="en-US"/>
              <a:t>TC Amplifier/Logger </a:t>
            </a:r>
          </a:p>
        </p:txBody>
      </p:sp>
      <p:sp>
        <p:nvSpPr>
          <p:cNvPr id="6" name="Body 11">
            <a:extLst>
              <a:ext uri="{FF2B5EF4-FFF2-40B4-BE49-F238E27FC236}">
                <a16:creationId xmlns:a16="http://schemas.microsoft.com/office/drawing/2014/main" id="{200376CC-34DA-444D-D991-1B7D38164A8C}"/>
              </a:ext>
            </a:extLst>
          </p:cNvPr>
          <p:cNvSpPr txBox="1"/>
          <p:nvPr/>
        </p:nvSpPr>
        <p:spPr>
          <a:xfrm>
            <a:off x="560000" y="1700960"/>
            <a:ext cx="6193200" cy="3656565"/>
          </a:xfrm>
          <a:prstGeom prst="rect">
            <a:avLst/>
          </a:prstGeom>
          <a:noFill/>
        </p:spPr>
        <p:txBody>
          <a:bodyPr wrap="square" lIns="91440" tIns="45720" rIns="91440" bIns="45720" anchor="t">
            <a:noAutofit/>
          </a:bodyPr>
          <a:lstStyle/>
          <a:p>
            <a:pPr marL="285750" indent="-285750">
              <a:spcBef>
                <a:spcPts val="600"/>
              </a:spcBef>
              <a:buClr>
                <a:srgbClr val="BD8B13"/>
              </a:buClr>
              <a:buFont typeface="Arial"/>
              <a:buChar char="•"/>
            </a:pPr>
            <a:r>
              <a:rPr lang="en-US" sz="2200">
                <a:ea typeface="Calibri"/>
                <a:cs typeface="Calibri"/>
              </a:rPr>
              <a:t>Save money by designing TC data acquisition system (~5x cheaper)</a:t>
            </a:r>
            <a:endParaRPr lang="en-US" sz="2200">
              <a:solidFill>
                <a:schemeClr val="tx1"/>
              </a:solidFill>
              <a:ea typeface="Calibri"/>
              <a:cs typeface="Calibri"/>
            </a:endParaRPr>
          </a:p>
          <a:p>
            <a:pPr marL="285750" indent="-285750">
              <a:spcBef>
                <a:spcPts val="600"/>
              </a:spcBef>
              <a:buClr>
                <a:srgbClr val="BD8B13"/>
              </a:buClr>
              <a:buFont typeface="Arial"/>
              <a:buChar char="•"/>
            </a:pPr>
            <a:r>
              <a:rPr lang="en-US" sz="2200">
                <a:ea typeface="Calibri"/>
                <a:cs typeface="Calibri"/>
              </a:rPr>
              <a:t>7 TCs, each connected to a MAX6675 amplifier</a:t>
            </a:r>
          </a:p>
          <a:p>
            <a:pPr marL="285750" indent="-285750">
              <a:spcBef>
                <a:spcPts val="600"/>
              </a:spcBef>
              <a:buClr>
                <a:srgbClr val="BD8B13"/>
              </a:buClr>
              <a:buFont typeface="Arial"/>
              <a:buChar char="•"/>
            </a:pPr>
            <a:r>
              <a:rPr lang="en-US" sz="2200">
                <a:ea typeface="Calibri"/>
                <a:cs typeface="Calibri"/>
              </a:rPr>
              <a:t>Data logged to a micro-SD card</a:t>
            </a:r>
          </a:p>
          <a:p>
            <a:pPr marL="285750" indent="-285750">
              <a:spcBef>
                <a:spcPts val="600"/>
              </a:spcBef>
              <a:buClr>
                <a:srgbClr val="BD8B13"/>
              </a:buClr>
              <a:buFont typeface="Arial"/>
              <a:buChar char="•"/>
            </a:pPr>
            <a:r>
              <a:rPr lang="en-US" sz="2200">
                <a:ea typeface="Calibri"/>
                <a:cs typeface="Calibri"/>
              </a:rPr>
              <a:t>Processing handled by TI MSP430 using SPI</a:t>
            </a:r>
          </a:p>
          <a:p>
            <a:pPr marL="285750" indent="-285750">
              <a:spcBef>
                <a:spcPts val="600"/>
              </a:spcBef>
              <a:buClr>
                <a:srgbClr val="BD8B13"/>
              </a:buClr>
              <a:buFont typeface="Arial"/>
              <a:buChar char="•"/>
            </a:pPr>
            <a:r>
              <a:rPr lang="en-US" sz="2200">
                <a:ea typeface="Calibri"/>
                <a:cs typeface="Calibri"/>
              </a:rPr>
              <a:t>Using TI to get experience with the hardware</a:t>
            </a:r>
          </a:p>
        </p:txBody>
      </p:sp>
      <p:pic>
        <p:nvPicPr>
          <p:cNvPr id="8" name="Picture 7">
            <a:extLst>
              <a:ext uri="{FF2B5EF4-FFF2-40B4-BE49-F238E27FC236}">
                <a16:creationId xmlns:a16="http://schemas.microsoft.com/office/drawing/2014/main" id="{12770543-B692-649D-7816-F66B421C1457}"/>
              </a:ext>
            </a:extLst>
          </p:cNvPr>
          <p:cNvPicPr>
            <a:picLocks noChangeAspect="1"/>
          </p:cNvPicPr>
          <p:nvPr/>
        </p:nvPicPr>
        <p:blipFill>
          <a:blip r:embed="rId4"/>
          <a:stretch>
            <a:fillRect/>
          </a:stretch>
        </p:blipFill>
        <p:spPr>
          <a:xfrm>
            <a:off x="6551143" y="1863634"/>
            <a:ext cx="5332309" cy="3650342"/>
          </a:xfrm>
          <a:prstGeom prst="rect">
            <a:avLst/>
          </a:prstGeom>
        </p:spPr>
      </p:pic>
    </p:spTree>
    <p:extLst>
      <p:ext uri="{BB962C8B-B14F-4D97-AF65-F5344CB8AC3E}">
        <p14:creationId xmlns:p14="http://schemas.microsoft.com/office/powerpoint/2010/main" val="1507545970"/>
      </p:ext>
    </p:extLst>
  </p:cSld>
  <p:clrMapOvr>
    <a:masterClrMapping/>
  </p:clrMapOvr>
  <p:extLst>
    <p:ext uri="{6950BFC3-D8DA-4A85-94F7-54DA5524770B}">
      <p188:commentRel xmlns:p188="http://schemas.microsoft.com/office/powerpoint/2018/8/main" r:id="rId3"/>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490B0-E5E8-5F7E-5A9A-0AA5989500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F7768B-2123-CA78-00EE-3A4E6F53F0DA}"/>
              </a:ext>
            </a:extLst>
          </p:cNvPr>
          <p:cNvSpPr>
            <a:spLocks noGrp="1"/>
          </p:cNvSpPr>
          <p:nvPr>
            <p:ph type="title"/>
          </p:nvPr>
        </p:nvSpPr>
        <p:spPr>
          <a:xfrm>
            <a:off x="337944" y="367446"/>
            <a:ext cx="11376152" cy="1037865"/>
          </a:xfrm>
        </p:spPr>
        <p:txBody>
          <a:bodyPr/>
          <a:lstStyle/>
          <a:p>
            <a:r>
              <a:rPr lang="en-US">
                <a:latin typeface="Munistic"/>
              </a:rPr>
              <a:t>End of Peripherals</a:t>
            </a:r>
            <a:endParaRPr lang="en-US"/>
          </a:p>
        </p:txBody>
      </p:sp>
      <p:sp>
        <p:nvSpPr>
          <p:cNvPr id="3" name="Text Placeholder 2">
            <a:extLst>
              <a:ext uri="{FF2B5EF4-FFF2-40B4-BE49-F238E27FC236}">
                <a16:creationId xmlns:a16="http://schemas.microsoft.com/office/drawing/2014/main" id="{5702E7E3-51FD-34FF-2E58-E5F7B0971C2C}"/>
              </a:ext>
            </a:extLst>
          </p:cNvPr>
          <p:cNvSpPr>
            <a:spLocks noGrp="1"/>
          </p:cNvSpPr>
          <p:nvPr>
            <p:ph type="body" sz="quarter" idx="11"/>
          </p:nvPr>
        </p:nvSpPr>
        <p:spPr>
          <a:xfrm>
            <a:off x="3722619" y="3257835"/>
            <a:ext cx="4612283" cy="342329"/>
          </a:xfrm>
        </p:spPr>
        <p:txBody>
          <a:bodyPr/>
          <a:lstStyle/>
          <a:p>
            <a:r>
              <a:rPr lang="en-US" sz="7200" b="1"/>
              <a:t>Questions?</a:t>
            </a:r>
          </a:p>
        </p:txBody>
      </p:sp>
    </p:spTree>
    <p:extLst>
      <p:ext uri="{BB962C8B-B14F-4D97-AF65-F5344CB8AC3E}">
        <p14:creationId xmlns:p14="http://schemas.microsoft.com/office/powerpoint/2010/main" val="15242273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0DA1F-1FC1-DB5C-0E50-28C0C9879C96}"/>
              </a:ext>
            </a:extLst>
          </p:cNvPr>
          <p:cNvSpPr>
            <a:spLocks noGrp="1"/>
          </p:cNvSpPr>
          <p:nvPr>
            <p:ph type="title"/>
          </p:nvPr>
        </p:nvSpPr>
        <p:spPr/>
        <p:txBody>
          <a:bodyPr/>
          <a:lstStyle/>
          <a:p>
            <a:r>
              <a:rPr lang="en-US"/>
              <a:t>Testing &amp; Logistics</a:t>
            </a:r>
          </a:p>
        </p:txBody>
      </p:sp>
      <p:sp>
        <p:nvSpPr>
          <p:cNvPr id="3" name="Text Placeholder 2">
            <a:extLst>
              <a:ext uri="{FF2B5EF4-FFF2-40B4-BE49-F238E27FC236}">
                <a16:creationId xmlns:a16="http://schemas.microsoft.com/office/drawing/2014/main" id="{477ABCEF-FF13-9E1B-A4E2-E458EE6DC649}"/>
              </a:ext>
            </a:extLst>
          </p:cNvPr>
          <p:cNvSpPr>
            <a:spLocks noGrp="1"/>
          </p:cNvSpPr>
          <p:nvPr>
            <p:ph type="body" sz="quarter" idx="11"/>
          </p:nvPr>
        </p:nvSpPr>
        <p:spPr/>
        <p:txBody>
          <a:bodyPr/>
          <a:lstStyle/>
          <a:p>
            <a:r>
              <a:rPr lang="en-US" sz="1850">
                <a:ea typeface="Source Sans Pro"/>
              </a:rPr>
              <a:t>Presented by Jeremiah</a:t>
            </a:r>
          </a:p>
        </p:txBody>
      </p:sp>
    </p:spTree>
    <p:extLst>
      <p:ext uri="{BB962C8B-B14F-4D97-AF65-F5344CB8AC3E}">
        <p14:creationId xmlns:p14="http://schemas.microsoft.com/office/powerpoint/2010/main" val="4136649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4DF0E-E8FB-7FA3-5A9A-FAD86B15DB0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9B5AF5D-E790-3DAD-9391-DDC09D3D44A8}"/>
              </a:ext>
            </a:extLst>
          </p:cNvPr>
          <p:cNvSpPr>
            <a:spLocks noGrp="1"/>
          </p:cNvSpPr>
          <p:nvPr>
            <p:ph type="ftr" sz="quarter" idx="16"/>
          </p:nvPr>
        </p:nvSpPr>
        <p:spPr/>
        <p:txBody>
          <a:bodyPr/>
          <a:lstStyle/>
          <a:p>
            <a:r>
              <a:rPr lang="en-US" sz="900">
                <a:latin typeface="Source Sans Pro"/>
                <a:ea typeface="Source Sans Pro"/>
              </a:rPr>
              <a:t>REGEN PDR</a:t>
            </a:r>
          </a:p>
        </p:txBody>
      </p:sp>
      <p:sp>
        <p:nvSpPr>
          <p:cNvPr id="4" name="Slide Number Placeholder 3">
            <a:extLst>
              <a:ext uri="{FF2B5EF4-FFF2-40B4-BE49-F238E27FC236}">
                <a16:creationId xmlns:a16="http://schemas.microsoft.com/office/drawing/2014/main" id="{FE6CA592-A594-9659-05A7-115B8A77C83D}"/>
              </a:ext>
            </a:extLst>
          </p:cNvPr>
          <p:cNvSpPr>
            <a:spLocks noGrp="1"/>
          </p:cNvSpPr>
          <p:nvPr>
            <p:ph type="sldNum" sz="quarter" idx="17"/>
          </p:nvPr>
        </p:nvSpPr>
        <p:spPr/>
        <p:txBody>
          <a:bodyPr/>
          <a:lstStyle/>
          <a:p>
            <a:r>
              <a:rPr lang="en-US" sz="900">
                <a:latin typeface="Source Sans Pro"/>
                <a:ea typeface="Source Sans Pro"/>
              </a:rPr>
              <a:t>/  43</a:t>
            </a:r>
          </a:p>
        </p:txBody>
      </p:sp>
      <p:sp>
        <p:nvSpPr>
          <p:cNvPr id="5" name="Title 4">
            <a:extLst>
              <a:ext uri="{FF2B5EF4-FFF2-40B4-BE49-F238E27FC236}">
                <a16:creationId xmlns:a16="http://schemas.microsoft.com/office/drawing/2014/main" id="{82D7A081-2E1F-DB44-6458-AE21A5C9D496}"/>
              </a:ext>
            </a:extLst>
          </p:cNvPr>
          <p:cNvSpPr>
            <a:spLocks noGrp="1"/>
          </p:cNvSpPr>
          <p:nvPr>
            <p:ph type="title"/>
          </p:nvPr>
        </p:nvSpPr>
        <p:spPr>
          <a:xfrm>
            <a:off x="531848" y="716984"/>
            <a:ext cx="10265547" cy="625567"/>
          </a:xfrm>
        </p:spPr>
        <p:txBody>
          <a:bodyPr/>
          <a:lstStyle/>
          <a:p>
            <a:r>
              <a:rPr lang="en-US"/>
              <a:t>Test Plan </a:t>
            </a:r>
          </a:p>
        </p:txBody>
      </p:sp>
      <p:graphicFrame>
        <p:nvGraphicFramePr>
          <p:cNvPr id="7" name="Table 11">
            <a:extLst>
              <a:ext uri="{FF2B5EF4-FFF2-40B4-BE49-F238E27FC236}">
                <a16:creationId xmlns:a16="http://schemas.microsoft.com/office/drawing/2014/main" id="{AAFF6072-C466-AFAC-30E0-0F169C57F455}"/>
              </a:ext>
            </a:extLst>
          </p:cNvPr>
          <p:cNvGraphicFramePr>
            <a:graphicFrameLocks noGrp="1"/>
          </p:cNvGraphicFramePr>
          <p:nvPr>
            <p:extLst>
              <p:ext uri="{D42A27DB-BD31-4B8C-83A1-F6EECF244321}">
                <p14:modId xmlns:p14="http://schemas.microsoft.com/office/powerpoint/2010/main" val="2680625053"/>
              </p:ext>
            </p:extLst>
          </p:nvPr>
        </p:nvGraphicFramePr>
        <p:xfrm>
          <a:off x="560000" y="1690000"/>
          <a:ext cx="11069998" cy="4467481"/>
        </p:xfrm>
        <a:graphic>
          <a:graphicData uri="http://schemas.openxmlformats.org/drawingml/2006/table">
            <a:tbl>
              <a:tblPr firstRow="1" bandRow="1"/>
              <a:tblGrid>
                <a:gridCol w="2108571">
                  <a:extLst>
                    <a:ext uri="{9D8B030D-6E8A-4147-A177-3AD203B41FA5}">
                      <a16:colId xmlns:a16="http://schemas.microsoft.com/office/drawing/2014/main" val="20000"/>
                    </a:ext>
                  </a:extLst>
                </a:gridCol>
                <a:gridCol w="3795428">
                  <a:extLst>
                    <a:ext uri="{9D8B030D-6E8A-4147-A177-3AD203B41FA5}">
                      <a16:colId xmlns:a16="http://schemas.microsoft.com/office/drawing/2014/main" val="20001"/>
                    </a:ext>
                  </a:extLst>
                </a:gridCol>
                <a:gridCol w="1423285">
                  <a:extLst>
                    <a:ext uri="{9D8B030D-6E8A-4147-A177-3AD203B41FA5}">
                      <a16:colId xmlns:a16="http://schemas.microsoft.com/office/drawing/2014/main" val="20002"/>
                    </a:ext>
                  </a:extLst>
                </a:gridCol>
                <a:gridCol w="3742714">
                  <a:extLst>
                    <a:ext uri="{9D8B030D-6E8A-4147-A177-3AD203B41FA5}">
                      <a16:colId xmlns:a16="http://schemas.microsoft.com/office/drawing/2014/main" val="20003"/>
                    </a:ext>
                  </a:extLst>
                </a:gridCol>
              </a:tblGrid>
              <a:tr h="303144">
                <a:tc>
                  <a:txBody>
                    <a:bodyPr/>
                    <a:lstStyle/>
                    <a:p>
                      <a:r>
                        <a:rPr lang="en-US" sz="1400" b="1">
                          <a:solidFill>
                            <a:srgbClr val="FFFFFF"/>
                          </a:solidFill>
                        </a:rPr>
                        <a:t>Test</a:t>
                      </a:r>
                    </a:p>
                  </a:txBody>
                  <a:tcPr marL="72000" marR="72000" marT="40000" marB="40000" anchor="ctr">
                    <a:lnB w="6350" cap="flat" cmpd="sng" algn="ctr">
                      <a:solidFill>
                        <a:srgbClr val="B7CDC2"/>
                      </a:solidFill>
                      <a:prstDash val="solid"/>
                      <a:round/>
                      <a:headEnd type="none" w="med" len="med"/>
                      <a:tailEnd type="none" w="med" len="med"/>
                    </a:lnB>
                    <a:solidFill>
                      <a:srgbClr val="154734"/>
                    </a:solidFill>
                  </a:tcPr>
                </a:tc>
                <a:tc>
                  <a:txBody>
                    <a:bodyPr/>
                    <a:lstStyle/>
                    <a:p>
                      <a:r>
                        <a:rPr lang="en-US" sz="1400" b="1">
                          <a:solidFill>
                            <a:srgbClr val="FFFFFF"/>
                          </a:solidFill>
                        </a:rPr>
                        <a:t>Goal</a:t>
                      </a:r>
                    </a:p>
                  </a:txBody>
                  <a:tcPr marL="72000" marR="72000" marT="40000" marB="40000" anchor="ctr">
                    <a:lnB w="6350" cap="flat" cmpd="sng" algn="ctr">
                      <a:solidFill>
                        <a:srgbClr val="B7CDC2"/>
                      </a:solidFill>
                      <a:prstDash val="solid"/>
                      <a:round/>
                      <a:headEnd type="none" w="med" len="med"/>
                      <a:tailEnd type="none" w="med" len="med"/>
                    </a:lnB>
                    <a:solidFill>
                      <a:srgbClr val="154734"/>
                    </a:solidFill>
                  </a:tcPr>
                </a:tc>
                <a:tc>
                  <a:txBody>
                    <a:bodyPr/>
                    <a:lstStyle/>
                    <a:p>
                      <a:r>
                        <a:rPr lang="en-US" sz="1400" b="1">
                          <a:solidFill>
                            <a:srgbClr val="FFFFFF"/>
                          </a:solidFill>
                        </a:rPr>
                        <a:t>Duration</a:t>
                      </a:r>
                    </a:p>
                  </a:txBody>
                  <a:tcPr marL="72000" marR="72000" marT="40000" marB="40000" anchor="ctr">
                    <a:lnB w="6350" cap="flat" cmpd="sng" algn="ctr">
                      <a:solidFill>
                        <a:srgbClr val="B7CDC2"/>
                      </a:solidFill>
                      <a:prstDash val="solid"/>
                      <a:round/>
                      <a:headEnd type="none" w="med" len="med"/>
                      <a:tailEnd type="none" w="med" len="med"/>
                    </a:lnB>
                    <a:solidFill>
                      <a:srgbClr val="154734"/>
                    </a:solidFill>
                  </a:tcPr>
                </a:tc>
                <a:tc>
                  <a:txBody>
                    <a:bodyPr/>
                    <a:lstStyle/>
                    <a:p>
                      <a:r>
                        <a:rPr lang="en-US" sz="1400" b="1">
                          <a:solidFill>
                            <a:srgbClr val="FFFFFF"/>
                          </a:solidFill>
                        </a:rPr>
                        <a:t>Success criteria</a:t>
                      </a:r>
                    </a:p>
                  </a:txBody>
                  <a:tcPr marL="72000" marR="72000" marT="40000" marB="40000" anchor="ctr">
                    <a:lnB w="6350" cap="flat" cmpd="sng" algn="ctr">
                      <a:solidFill>
                        <a:srgbClr val="B7CDC2"/>
                      </a:solidFill>
                      <a:prstDash val="solid"/>
                      <a:round/>
                      <a:headEnd type="none" w="med" len="med"/>
                      <a:tailEnd type="none" w="med" len="med"/>
                    </a:lnB>
                    <a:solidFill>
                      <a:srgbClr val="154734"/>
                    </a:solidFill>
                  </a:tcPr>
                </a:tc>
                <a:extLst>
                  <a:ext uri="{0D108BD9-81ED-4DB2-BD59-A6C34878D82A}">
                    <a16:rowId xmlns:a16="http://schemas.microsoft.com/office/drawing/2014/main" val="10000"/>
                  </a:ext>
                </a:extLst>
              </a:tr>
              <a:tr h="531401">
                <a:tc>
                  <a:txBody>
                    <a:bodyPr/>
                    <a:lstStyle/>
                    <a:p>
                      <a:r>
                        <a:rPr lang="en-US" sz="1400">
                          <a:solidFill>
                            <a:schemeClr val="tx1"/>
                          </a:solidFill>
                        </a:rPr>
                        <a:t>Cold flow 1: Injector + Ignitor</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2F3F1"/>
                    </a:solidFill>
                  </a:tcPr>
                </a:tc>
                <a:tc>
                  <a:txBody>
                    <a:bodyPr/>
                    <a:lstStyle/>
                    <a:p>
                      <a:r>
                        <a:rPr lang="en-US" sz="1400">
                          <a:solidFill>
                            <a:schemeClr val="tx1"/>
                          </a:solidFill>
                        </a:rPr>
                        <a:t>Ox vs. ignitor timing</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2F3F1"/>
                    </a:solidFill>
                  </a:tcPr>
                </a:tc>
                <a:tc>
                  <a:txBody>
                    <a:bodyPr/>
                    <a:lstStyle/>
                    <a:p>
                      <a:r>
                        <a:rPr lang="en-US" sz="1400">
                          <a:solidFill>
                            <a:schemeClr val="tx1"/>
                          </a:solidFill>
                        </a:rPr>
                        <a:t>Sequence</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2F3F1"/>
                    </a:solidFill>
                  </a:tcPr>
                </a:tc>
                <a:tc>
                  <a:txBody>
                    <a:bodyPr/>
                    <a:lstStyle/>
                    <a:p>
                      <a:r>
                        <a:rPr lang="en-US" sz="1400">
                          <a:solidFill>
                            <a:schemeClr val="tx1"/>
                          </a:solidFill>
                        </a:rPr>
                        <a:t>Verified timing and oxidizer flow</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2F3F1"/>
                    </a:solidFill>
                  </a:tcPr>
                </a:tc>
                <a:extLst>
                  <a:ext uri="{0D108BD9-81ED-4DB2-BD59-A6C34878D82A}">
                    <a16:rowId xmlns:a16="http://schemas.microsoft.com/office/drawing/2014/main" val="10001"/>
                  </a:ext>
                </a:extLst>
              </a:tr>
              <a:tr h="531400">
                <a:tc>
                  <a:txBody>
                    <a:bodyPr/>
                    <a:lstStyle/>
                    <a:p>
                      <a:pPr lvl="0">
                        <a:buNone/>
                      </a:pPr>
                      <a:r>
                        <a:rPr lang="en-US" sz="1400">
                          <a:solidFill>
                            <a:schemeClr val="tx1"/>
                          </a:solidFill>
                        </a:rPr>
                        <a:t>Hydrostatic</a:t>
                      </a:r>
                    </a:p>
                  </a:txBody>
                  <a:tcPr marL="72000" marR="72000" marT="39999" marB="39999" anchor="ctr">
                    <a:lnT w="6350">
                      <a:solidFill>
                        <a:srgbClr val="B7CDC2"/>
                      </a:solidFill>
                    </a:lnT>
                    <a:lnB w="6350">
                      <a:solidFill>
                        <a:srgbClr val="B7CDC2"/>
                      </a:solidFill>
                    </a:lnB>
                    <a:solidFill>
                      <a:srgbClr val="F2F3F1"/>
                    </a:solidFill>
                  </a:tcPr>
                </a:tc>
                <a:tc>
                  <a:txBody>
                    <a:bodyPr/>
                    <a:lstStyle/>
                    <a:p>
                      <a:pPr lvl="0">
                        <a:buNone/>
                      </a:pPr>
                      <a:r>
                        <a:rPr lang="en-US" sz="1400">
                          <a:solidFill>
                            <a:schemeClr val="tx1"/>
                          </a:solidFill>
                        </a:rPr>
                        <a:t>Verification</a:t>
                      </a:r>
                    </a:p>
                  </a:txBody>
                  <a:tcPr marL="72000" marR="72000" marT="39999" marB="39999" anchor="ctr">
                    <a:lnT w="6350">
                      <a:solidFill>
                        <a:srgbClr val="B7CDC2"/>
                      </a:solidFill>
                    </a:lnT>
                    <a:lnB w="6350">
                      <a:solidFill>
                        <a:srgbClr val="B7CDC2"/>
                      </a:solidFill>
                    </a:lnB>
                    <a:solidFill>
                      <a:srgbClr val="F2F3F1"/>
                    </a:solidFill>
                  </a:tcPr>
                </a:tc>
                <a:tc>
                  <a:txBody>
                    <a:bodyPr/>
                    <a:lstStyle/>
                    <a:p>
                      <a:pPr lvl="0">
                        <a:buNone/>
                      </a:pPr>
                      <a:r>
                        <a:rPr lang="en-US" sz="1400">
                          <a:solidFill>
                            <a:schemeClr val="tx1"/>
                          </a:solidFill>
                        </a:rPr>
                        <a:t>60 s</a:t>
                      </a:r>
                    </a:p>
                  </a:txBody>
                  <a:tcPr marL="72000" marR="72000" marT="39999" marB="39999" anchor="ctr">
                    <a:lnT w="6350">
                      <a:solidFill>
                        <a:srgbClr val="B7CDC2"/>
                      </a:solidFill>
                    </a:lnT>
                    <a:lnB w="6350">
                      <a:solidFill>
                        <a:srgbClr val="B7CDC2"/>
                      </a:solidFill>
                    </a:lnB>
                    <a:solidFill>
                      <a:srgbClr val="F2F3F1"/>
                    </a:solidFill>
                  </a:tcPr>
                </a:tc>
                <a:tc>
                  <a:txBody>
                    <a:bodyPr/>
                    <a:lstStyle/>
                    <a:p>
                      <a:pPr lvl="0">
                        <a:buNone/>
                      </a:pPr>
                      <a:r>
                        <a:rPr lang="en-US" sz="1400">
                          <a:solidFill>
                            <a:schemeClr val="tx1"/>
                          </a:solidFill>
                        </a:rPr>
                        <a:t>Jacket holds pressure and no leaks</a:t>
                      </a:r>
                    </a:p>
                  </a:txBody>
                  <a:tcPr marL="72000" marR="72000" marT="39999" marB="39999" anchor="ctr">
                    <a:lnT w="6350">
                      <a:solidFill>
                        <a:srgbClr val="B7CDC2"/>
                      </a:solidFill>
                    </a:lnT>
                    <a:lnB w="6350">
                      <a:solidFill>
                        <a:srgbClr val="B7CDC2"/>
                      </a:solidFill>
                    </a:lnB>
                    <a:solidFill>
                      <a:srgbClr val="F2F3F1"/>
                    </a:solidFill>
                  </a:tcPr>
                </a:tc>
                <a:extLst>
                  <a:ext uri="{0D108BD9-81ED-4DB2-BD59-A6C34878D82A}">
                    <a16:rowId xmlns:a16="http://schemas.microsoft.com/office/drawing/2014/main" val="1892511637"/>
                  </a:ext>
                </a:extLst>
              </a:tr>
              <a:tr h="531401">
                <a:tc>
                  <a:txBody>
                    <a:bodyPr/>
                    <a:lstStyle/>
                    <a:p>
                      <a:r>
                        <a:rPr lang="en-US" sz="1400">
                          <a:solidFill>
                            <a:schemeClr val="tx1"/>
                          </a:solidFill>
                        </a:rPr>
                        <a:t>Cold flow 2: Injector + Chamber</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400">
                          <a:solidFill>
                            <a:schemeClr val="tx1"/>
                          </a:solidFill>
                        </a:rPr>
                        <a:t>Jacket ΔP, roughness and regulator pressure</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400">
                          <a:solidFill>
                            <a:schemeClr val="tx1"/>
                          </a:solidFill>
                        </a:rPr>
                        <a:t>10 s steady</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400">
                          <a:solidFill>
                            <a:schemeClr val="tx1"/>
                          </a:solidFill>
                        </a:rPr>
                        <a:t>ΔP within budget and fuel flow</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extLst>
                  <a:ext uri="{0D108BD9-81ED-4DB2-BD59-A6C34878D82A}">
                    <a16:rowId xmlns:a16="http://schemas.microsoft.com/office/drawing/2014/main" val="10002"/>
                  </a:ext>
                </a:extLst>
              </a:tr>
              <a:tr h="373838">
                <a:tc>
                  <a:txBody>
                    <a:bodyPr/>
                    <a:lstStyle/>
                    <a:p>
                      <a:r>
                        <a:rPr lang="en-US" sz="1400">
                          <a:solidFill>
                            <a:schemeClr val="tx1"/>
                          </a:solidFill>
                        </a:rPr>
                        <a:t>Cold flow 3: Chamber</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400">
                          <a:solidFill>
                            <a:schemeClr val="tx1"/>
                          </a:solidFill>
                        </a:rPr>
                        <a:t>Uniform channel flow + Cd</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400">
                          <a:solidFill>
                            <a:schemeClr val="tx1"/>
                          </a:solidFill>
                        </a:rPr>
                        <a:t>10 s steady</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400">
                          <a:solidFill>
                            <a:schemeClr val="tx1"/>
                          </a:solidFill>
                        </a:rPr>
                        <a:t>Verified channel discharge uniformity</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extLst>
                  <a:ext uri="{0D108BD9-81ED-4DB2-BD59-A6C34878D82A}">
                    <a16:rowId xmlns:a16="http://schemas.microsoft.com/office/drawing/2014/main" val="10003"/>
                  </a:ext>
                </a:extLst>
              </a:tr>
              <a:tr h="531401">
                <a:tc>
                  <a:txBody>
                    <a:bodyPr/>
                    <a:lstStyle/>
                    <a:p>
                      <a:r>
                        <a:rPr lang="en-US" sz="1400">
                          <a:solidFill>
                            <a:schemeClr val="tx1"/>
                          </a:solidFill>
                        </a:rPr>
                        <a:t>Cold flow 4: Injector + Chamber</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400">
                          <a:solidFill>
                            <a:schemeClr val="tx1"/>
                          </a:solidFill>
                        </a:rPr>
                        <a:t>Ox vs. fuel timing</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400">
                          <a:solidFill>
                            <a:schemeClr val="tx1"/>
                          </a:solidFill>
                        </a:rPr>
                        <a:t>Sequence</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400">
                          <a:solidFill>
                            <a:schemeClr val="tx1"/>
                          </a:solidFill>
                        </a:rPr>
                        <a:t>Fuel lead confirmed</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extLst>
                  <a:ext uri="{0D108BD9-81ED-4DB2-BD59-A6C34878D82A}">
                    <a16:rowId xmlns:a16="http://schemas.microsoft.com/office/drawing/2014/main" val="10004"/>
                  </a:ext>
                </a:extLst>
              </a:tr>
              <a:tr h="759657">
                <a:tc>
                  <a:txBody>
                    <a:bodyPr/>
                    <a:lstStyle/>
                    <a:p>
                      <a:r>
                        <a:rPr lang="en-US" sz="1400">
                          <a:solidFill>
                            <a:schemeClr val="tx1"/>
                          </a:solidFill>
                        </a:rPr>
                        <a:t>Cold flow 5: Injector + Chamber + Ignitor</a:t>
                      </a:r>
                      <a:br>
                        <a:rPr lang="en-US" sz="1400">
                          <a:solidFill>
                            <a:srgbClr val="154734"/>
                          </a:solidFill>
                        </a:rPr>
                      </a:br>
                      <a:endParaRPr lang="en-US" sz="1400">
                        <a:solidFill>
                          <a:srgbClr val="154734"/>
                        </a:solidFill>
                      </a:endParaRP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2F3F1"/>
                    </a:solidFill>
                  </a:tcPr>
                </a:tc>
                <a:tc>
                  <a:txBody>
                    <a:bodyPr/>
                    <a:lstStyle/>
                    <a:p>
                      <a:r>
                        <a:rPr lang="en-US" sz="1400">
                          <a:solidFill>
                            <a:schemeClr val="tx1"/>
                          </a:solidFill>
                        </a:rPr>
                        <a:t>Verification</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2F3F1"/>
                    </a:solidFill>
                  </a:tcPr>
                </a:tc>
                <a:tc>
                  <a:txBody>
                    <a:bodyPr/>
                    <a:lstStyle/>
                    <a:p>
                      <a:r>
                        <a:rPr lang="en-US" sz="1400">
                          <a:solidFill>
                            <a:schemeClr val="tx1"/>
                          </a:solidFill>
                        </a:rPr>
                        <a:t>5 s steady</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2F3F1"/>
                    </a:solidFill>
                  </a:tcPr>
                </a:tc>
                <a:tc>
                  <a:txBody>
                    <a:bodyPr/>
                    <a:lstStyle/>
                    <a:p>
                      <a:r>
                        <a:rPr lang="en-US" sz="1400">
                          <a:solidFill>
                            <a:schemeClr val="tx1"/>
                          </a:solidFill>
                        </a:rPr>
                        <a:t>Uniform flow and correct sequencing</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2F3F1"/>
                    </a:solidFill>
                  </a:tcPr>
                </a:tc>
                <a:extLst>
                  <a:ext uri="{0D108BD9-81ED-4DB2-BD59-A6C34878D82A}">
                    <a16:rowId xmlns:a16="http://schemas.microsoft.com/office/drawing/2014/main" val="10005"/>
                  </a:ext>
                </a:extLst>
              </a:tr>
              <a:tr h="531401">
                <a:tc>
                  <a:txBody>
                    <a:bodyPr/>
                    <a:lstStyle/>
                    <a:p>
                      <a:r>
                        <a:rPr lang="en-US" sz="1400">
                          <a:solidFill>
                            <a:schemeClr val="tx1"/>
                          </a:solidFill>
                        </a:rPr>
                        <a:t>Hot fire 1</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FFFFF"/>
                    </a:solidFill>
                  </a:tcPr>
                </a:tc>
                <a:tc>
                  <a:txBody>
                    <a:bodyPr/>
                    <a:lstStyle/>
                    <a:p>
                      <a:r>
                        <a:rPr lang="en-US" sz="1400">
                          <a:solidFill>
                            <a:schemeClr val="tx1"/>
                          </a:solidFill>
                        </a:rPr>
                        <a:t>Ignition and short burn</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FFFFF"/>
                    </a:solidFill>
                  </a:tcPr>
                </a:tc>
                <a:tc>
                  <a:txBody>
                    <a:bodyPr/>
                    <a:lstStyle/>
                    <a:p>
                      <a:r>
                        <a:rPr lang="en-US" sz="1400">
                          <a:solidFill>
                            <a:schemeClr val="tx1"/>
                          </a:solidFill>
                        </a:rPr>
                        <a:t>2–3 s</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FFFFF"/>
                    </a:solidFill>
                  </a:tcPr>
                </a:tc>
                <a:tc>
                  <a:txBody>
                    <a:bodyPr/>
                    <a:lstStyle/>
                    <a:p>
                      <a:r>
                        <a:rPr lang="en-US" sz="1400">
                          <a:solidFill>
                            <a:schemeClr val="tx1"/>
                          </a:solidFill>
                        </a:rPr>
                        <a:t>Wall and coolant at steady state, readings near model</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73838">
                <a:tc>
                  <a:txBody>
                    <a:bodyPr/>
                    <a:lstStyle/>
                    <a:p>
                      <a:r>
                        <a:rPr lang="en-US" sz="1400">
                          <a:solidFill>
                            <a:schemeClr val="tx1"/>
                          </a:solidFill>
                        </a:rPr>
                        <a:t>Hot fires 2+</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400">
                          <a:solidFill>
                            <a:schemeClr val="tx1"/>
                          </a:solidFill>
                        </a:rPr>
                        <a:t>Duration ladder</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400">
                          <a:solidFill>
                            <a:schemeClr val="tx1"/>
                          </a:solidFill>
                        </a:rPr>
                        <a:t>5 → 10 → 20 s</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400">
                          <a:solidFill>
                            <a:schemeClr val="tx1"/>
                          </a:solidFill>
                        </a:rPr>
                        <a:t>Peak wall &lt; 300 °C, coolant subcooled</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extLst>
                  <a:ext uri="{0D108BD9-81ED-4DB2-BD59-A6C34878D82A}">
                    <a16:rowId xmlns:a16="http://schemas.microsoft.com/office/drawing/2014/main" val="13806384"/>
                  </a:ext>
                </a:extLst>
              </a:tr>
            </a:tbl>
          </a:graphicData>
        </a:graphic>
      </p:graphicFrame>
    </p:spTree>
    <p:extLst>
      <p:ext uri="{BB962C8B-B14F-4D97-AF65-F5344CB8AC3E}">
        <p14:creationId xmlns:p14="http://schemas.microsoft.com/office/powerpoint/2010/main" val="31036634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C2145-8A1F-B4C2-4F1D-091F8728371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DAA39A0-1CEC-3E91-2C70-AC6C532CADE2}"/>
              </a:ext>
            </a:extLst>
          </p:cNvPr>
          <p:cNvSpPr>
            <a:spLocks noGrp="1"/>
          </p:cNvSpPr>
          <p:nvPr>
            <p:ph type="ftr" sz="quarter" idx="16"/>
          </p:nvPr>
        </p:nvSpPr>
        <p:spPr/>
        <p:txBody>
          <a:bodyPr/>
          <a:lstStyle/>
          <a:p>
            <a:r>
              <a:rPr lang="en-US" sz="900">
                <a:latin typeface="Source Sans Pro"/>
                <a:ea typeface="Source Sans Pro"/>
              </a:rPr>
              <a:t>REGEN PDR</a:t>
            </a:r>
          </a:p>
        </p:txBody>
      </p:sp>
      <p:sp>
        <p:nvSpPr>
          <p:cNvPr id="4" name="Slide Number Placeholder 3">
            <a:extLst>
              <a:ext uri="{FF2B5EF4-FFF2-40B4-BE49-F238E27FC236}">
                <a16:creationId xmlns:a16="http://schemas.microsoft.com/office/drawing/2014/main" id="{D746F903-1D1F-E220-F258-04F079694B79}"/>
              </a:ext>
            </a:extLst>
          </p:cNvPr>
          <p:cNvSpPr>
            <a:spLocks noGrp="1"/>
          </p:cNvSpPr>
          <p:nvPr>
            <p:ph type="sldNum" sz="quarter" idx="17"/>
          </p:nvPr>
        </p:nvSpPr>
        <p:spPr/>
        <p:txBody>
          <a:bodyPr/>
          <a:lstStyle/>
          <a:p>
            <a:r>
              <a:rPr lang="en-US" sz="900">
                <a:latin typeface="Source Sans Pro"/>
                <a:ea typeface="Source Sans Pro"/>
              </a:rPr>
              <a:t>/  44</a:t>
            </a:r>
          </a:p>
        </p:txBody>
      </p:sp>
      <p:sp>
        <p:nvSpPr>
          <p:cNvPr id="5" name="Title 4">
            <a:extLst>
              <a:ext uri="{FF2B5EF4-FFF2-40B4-BE49-F238E27FC236}">
                <a16:creationId xmlns:a16="http://schemas.microsoft.com/office/drawing/2014/main" id="{DB9E05C3-E684-D906-804B-74BEAB2CCDCF}"/>
              </a:ext>
            </a:extLst>
          </p:cNvPr>
          <p:cNvSpPr>
            <a:spLocks noGrp="1"/>
          </p:cNvSpPr>
          <p:nvPr>
            <p:ph type="title"/>
          </p:nvPr>
        </p:nvSpPr>
        <p:spPr>
          <a:xfrm>
            <a:off x="531848" y="716984"/>
            <a:ext cx="10265547" cy="625567"/>
          </a:xfrm>
        </p:spPr>
        <p:txBody>
          <a:bodyPr/>
          <a:lstStyle/>
          <a:p>
            <a:r>
              <a:rPr lang="en-US">
                <a:latin typeface="Munistic"/>
              </a:rPr>
              <a:t>Additive Manufacturing</a:t>
            </a:r>
            <a:endParaRPr lang="en-US"/>
          </a:p>
        </p:txBody>
      </p:sp>
      <p:sp>
        <p:nvSpPr>
          <p:cNvPr id="6" name="Body 11">
            <a:extLst>
              <a:ext uri="{FF2B5EF4-FFF2-40B4-BE49-F238E27FC236}">
                <a16:creationId xmlns:a16="http://schemas.microsoft.com/office/drawing/2014/main" id="{1E66B57E-5B8A-0915-0404-5FA545FD7559}"/>
              </a:ext>
            </a:extLst>
          </p:cNvPr>
          <p:cNvSpPr txBox="1"/>
          <p:nvPr/>
        </p:nvSpPr>
        <p:spPr>
          <a:xfrm>
            <a:off x="560000" y="1640000"/>
            <a:ext cx="11070000" cy="4360000"/>
          </a:xfrm>
          <a:prstGeom prst="rect">
            <a:avLst/>
          </a:prstGeom>
          <a:noFill/>
        </p:spPr>
        <p:txBody>
          <a:bodyPr wrap="square" lIns="91440" tIns="45720" rIns="91440" bIns="45720" anchor="t">
            <a:noAutofit/>
          </a:bodyPr>
          <a:lstStyle/>
          <a:p>
            <a:pPr marL="285750" indent="-285750">
              <a:spcBef>
                <a:spcPts val="600"/>
              </a:spcBef>
              <a:buClr>
                <a:srgbClr val="BD8B13"/>
              </a:buClr>
              <a:buFont typeface="Arial"/>
              <a:buChar char="•"/>
            </a:pPr>
            <a:r>
              <a:rPr lang="en-US" sz="2200">
                <a:solidFill>
                  <a:schemeClr val="tx1"/>
                </a:solidFill>
              </a:rPr>
              <a:t>LPBF AlSi10Mg - </a:t>
            </a:r>
            <a:r>
              <a:rPr lang="en-US" sz="2200" err="1">
                <a:solidFill>
                  <a:schemeClr val="tx1"/>
                </a:solidFill>
              </a:rPr>
              <a:t>CuCrZr</a:t>
            </a:r>
            <a:r>
              <a:rPr lang="en-US" sz="2200">
                <a:solidFill>
                  <a:schemeClr val="tx1"/>
                </a:solidFill>
              </a:rPr>
              <a:t> equivalent quoted near $10k</a:t>
            </a:r>
          </a:p>
          <a:p>
            <a:pPr marL="285750" indent="-285750">
              <a:spcBef>
                <a:spcPts val="600"/>
              </a:spcBef>
              <a:buClr>
                <a:srgbClr val="BD8B13"/>
              </a:buClr>
              <a:buFont typeface="Arial"/>
              <a:buChar char="•"/>
            </a:pPr>
            <a:r>
              <a:rPr lang="en-US" sz="2200">
                <a:solidFill>
                  <a:schemeClr val="tx1"/>
                </a:solidFill>
              </a:rPr>
              <a:t>1.0 mm minimum feature on wall, land and channel width</a:t>
            </a:r>
          </a:p>
          <a:p>
            <a:pPr marL="285750" indent="-285750">
              <a:spcBef>
                <a:spcPts val="600"/>
              </a:spcBef>
              <a:buClr>
                <a:srgbClr val="BD8B13"/>
              </a:buClr>
              <a:buFont typeface="Arial"/>
              <a:buChar char="•"/>
            </a:pPr>
            <a:r>
              <a:rPr lang="en-US" sz="2200">
                <a:solidFill>
                  <a:schemeClr val="tx1"/>
                </a:solidFill>
              </a:rPr>
              <a:t>Printed right side up, all surfaces sit &gt;45° from horizontal and self support, only channel ceilings overhang</a:t>
            </a:r>
          </a:p>
          <a:p>
            <a:pPr marL="285750" indent="-285750">
              <a:spcBef>
                <a:spcPts val="600"/>
              </a:spcBef>
              <a:buClr>
                <a:srgbClr val="BD8B13"/>
              </a:buClr>
              <a:buFont typeface="Arial"/>
              <a:buChar char="•"/>
            </a:pPr>
            <a:r>
              <a:rPr lang="en-US" sz="2200">
                <a:solidFill>
                  <a:schemeClr val="tx1"/>
                </a:solidFill>
              </a:rPr>
              <a:t>Channels left as printed, since roughness helps cooling, throat bore polished</a:t>
            </a:r>
          </a:p>
          <a:p>
            <a:pPr marL="285750" indent="-285750">
              <a:spcBef>
                <a:spcPts val="600"/>
              </a:spcBef>
              <a:buClr>
                <a:srgbClr val="BD8B13"/>
              </a:buClr>
              <a:buFont typeface="Arial"/>
              <a:buChar char="•"/>
            </a:pPr>
            <a:r>
              <a:rPr lang="en-US" sz="2200">
                <a:solidFill>
                  <a:schemeClr val="tx1"/>
                </a:solidFill>
              </a:rPr>
              <a:t>Sample ordered to check channel dimensions, land fusion and preliminary roughness</a:t>
            </a:r>
          </a:p>
        </p:txBody>
      </p:sp>
    </p:spTree>
    <p:extLst>
      <p:ext uri="{BB962C8B-B14F-4D97-AF65-F5344CB8AC3E}">
        <p14:creationId xmlns:p14="http://schemas.microsoft.com/office/powerpoint/2010/main" val="3300570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4D648-6092-E9D7-FD33-8579BBB4883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43655F3-6EC2-F619-F7AB-C1B9E6B5FA2D}"/>
              </a:ext>
            </a:extLst>
          </p:cNvPr>
          <p:cNvSpPr>
            <a:spLocks noGrp="1"/>
          </p:cNvSpPr>
          <p:nvPr>
            <p:ph type="ftr" sz="quarter" idx="16"/>
          </p:nvPr>
        </p:nvSpPr>
        <p:spPr/>
        <p:txBody>
          <a:bodyPr/>
          <a:lstStyle/>
          <a:p>
            <a:r>
              <a:rPr lang="en-US" sz="900">
                <a:latin typeface="Source Sans Pro"/>
                <a:ea typeface="Source Sans Pro"/>
              </a:rPr>
              <a:t>REGEN PDR</a:t>
            </a:r>
          </a:p>
        </p:txBody>
      </p:sp>
      <p:sp>
        <p:nvSpPr>
          <p:cNvPr id="4" name="Slide Number Placeholder 3">
            <a:extLst>
              <a:ext uri="{FF2B5EF4-FFF2-40B4-BE49-F238E27FC236}">
                <a16:creationId xmlns:a16="http://schemas.microsoft.com/office/drawing/2014/main" id="{25B208A8-3467-2419-825F-82DB8C23F01F}"/>
              </a:ext>
            </a:extLst>
          </p:cNvPr>
          <p:cNvSpPr>
            <a:spLocks noGrp="1"/>
          </p:cNvSpPr>
          <p:nvPr>
            <p:ph type="sldNum" sz="quarter" idx="17"/>
          </p:nvPr>
        </p:nvSpPr>
        <p:spPr/>
        <p:txBody>
          <a:bodyPr/>
          <a:lstStyle/>
          <a:p>
            <a:r>
              <a:rPr lang="en-US" sz="900">
                <a:latin typeface="Source Sans Pro"/>
                <a:ea typeface="Source Sans Pro"/>
              </a:rPr>
              <a:t>/  45</a:t>
            </a:r>
          </a:p>
        </p:txBody>
      </p:sp>
      <p:sp>
        <p:nvSpPr>
          <p:cNvPr id="5" name="Title 4">
            <a:extLst>
              <a:ext uri="{FF2B5EF4-FFF2-40B4-BE49-F238E27FC236}">
                <a16:creationId xmlns:a16="http://schemas.microsoft.com/office/drawing/2014/main" id="{8A1C5BB5-ED20-5204-400A-4131FA92BE70}"/>
              </a:ext>
            </a:extLst>
          </p:cNvPr>
          <p:cNvSpPr>
            <a:spLocks noGrp="1"/>
          </p:cNvSpPr>
          <p:nvPr>
            <p:ph type="title"/>
          </p:nvPr>
        </p:nvSpPr>
        <p:spPr>
          <a:xfrm>
            <a:off x="531848" y="716984"/>
            <a:ext cx="10265547" cy="625567"/>
          </a:xfrm>
        </p:spPr>
        <p:txBody>
          <a:bodyPr/>
          <a:lstStyle/>
          <a:p>
            <a:r>
              <a:rPr lang="en-US">
                <a:latin typeface="Munistic"/>
              </a:rPr>
              <a:t>Bill of Materials (1/2)</a:t>
            </a:r>
            <a:endParaRPr lang="en-US"/>
          </a:p>
        </p:txBody>
      </p:sp>
      <p:graphicFrame>
        <p:nvGraphicFramePr>
          <p:cNvPr id="6" name="Table 11">
            <a:extLst>
              <a:ext uri="{FF2B5EF4-FFF2-40B4-BE49-F238E27FC236}">
                <a16:creationId xmlns:a16="http://schemas.microsoft.com/office/drawing/2014/main" id="{351D8628-9648-98F9-5A81-6BF7D15467E9}"/>
              </a:ext>
            </a:extLst>
          </p:cNvPr>
          <p:cNvGraphicFramePr>
            <a:graphicFrameLocks noGrp="1"/>
          </p:cNvGraphicFramePr>
          <p:nvPr>
            <p:extLst>
              <p:ext uri="{D42A27DB-BD31-4B8C-83A1-F6EECF244321}">
                <p14:modId xmlns:p14="http://schemas.microsoft.com/office/powerpoint/2010/main" val="3517896845"/>
              </p:ext>
            </p:extLst>
          </p:nvPr>
        </p:nvGraphicFramePr>
        <p:xfrm>
          <a:off x="560000" y="1690000"/>
          <a:ext cx="11069999" cy="4104620"/>
        </p:xfrm>
        <a:graphic>
          <a:graphicData uri="http://schemas.openxmlformats.org/drawingml/2006/table">
            <a:tbl>
              <a:tblPr firstRow="1" bandRow="1"/>
              <a:tblGrid>
                <a:gridCol w="3584571">
                  <a:extLst>
                    <a:ext uri="{9D8B030D-6E8A-4147-A177-3AD203B41FA5}">
                      <a16:colId xmlns:a16="http://schemas.microsoft.com/office/drawing/2014/main" val="20000"/>
                    </a:ext>
                  </a:extLst>
                </a:gridCol>
                <a:gridCol w="738000">
                  <a:extLst>
                    <a:ext uri="{9D8B030D-6E8A-4147-A177-3AD203B41FA5}">
                      <a16:colId xmlns:a16="http://schemas.microsoft.com/office/drawing/2014/main" val="20001"/>
                    </a:ext>
                  </a:extLst>
                </a:gridCol>
                <a:gridCol w="1159714">
                  <a:extLst>
                    <a:ext uri="{9D8B030D-6E8A-4147-A177-3AD203B41FA5}">
                      <a16:colId xmlns:a16="http://schemas.microsoft.com/office/drawing/2014/main" val="20002"/>
                    </a:ext>
                  </a:extLst>
                </a:gridCol>
                <a:gridCol w="5587714">
                  <a:extLst>
                    <a:ext uri="{9D8B030D-6E8A-4147-A177-3AD203B41FA5}">
                      <a16:colId xmlns:a16="http://schemas.microsoft.com/office/drawing/2014/main" val="20003"/>
                    </a:ext>
                  </a:extLst>
                </a:gridCol>
              </a:tblGrid>
              <a:tr h="335740">
                <a:tc>
                  <a:txBody>
                    <a:bodyPr/>
                    <a:lstStyle/>
                    <a:p>
                      <a:r>
                        <a:rPr lang="en-US" sz="1350" b="1">
                          <a:solidFill>
                            <a:srgbClr val="FFFFFF"/>
                          </a:solidFill>
                        </a:rPr>
                        <a:t>Item</a:t>
                      </a:r>
                    </a:p>
                  </a:txBody>
                  <a:tcPr marL="72000" marR="72000" marT="40000" marB="40000" anchor="ctr">
                    <a:lnB w="6350">
                      <a:solidFill>
                        <a:srgbClr val="B7CDC2"/>
                      </a:solidFill>
                    </a:lnB>
                    <a:solidFill>
                      <a:srgbClr val="154734"/>
                    </a:solidFill>
                  </a:tcPr>
                </a:tc>
                <a:tc>
                  <a:txBody>
                    <a:bodyPr/>
                    <a:lstStyle/>
                    <a:p>
                      <a:r>
                        <a:rPr lang="en-US" sz="1350" b="1">
                          <a:solidFill>
                            <a:srgbClr val="FFFFFF"/>
                          </a:solidFill>
                        </a:rPr>
                        <a:t>Qty</a:t>
                      </a:r>
                    </a:p>
                  </a:txBody>
                  <a:tcPr marL="72000" marR="72000" marT="40000" marB="40000" anchor="ctr">
                    <a:lnB w="6350">
                      <a:solidFill>
                        <a:srgbClr val="B7CDC2"/>
                      </a:solidFill>
                    </a:lnB>
                    <a:solidFill>
                      <a:srgbClr val="154734"/>
                    </a:solidFill>
                  </a:tcPr>
                </a:tc>
                <a:tc>
                  <a:txBody>
                    <a:bodyPr/>
                    <a:lstStyle/>
                    <a:p>
                      <a:r>
                        <a:rPr lang="en-US" sz="1350" b="1">
                          <a:solidFill>
                            <a:srgbClr val="FFFFFF"/>
                          </a:solidFill>
                        </a:rPr>
                        <a:t>Total</a:t>
                      </a:r>
                    </a:p>
                  </a:txBody>
                  <a:tcPr marL="72000" marR="72000" marT="40000" marB="40000" anchor="ctr">
                    <a:lnB w="6350">
                      <a:solidFill>
                        <a:srgbClr val="B7CDC2"/>
                      </a:solidFill>
                    </a:lnB>
                    <a:solidFill>
                      <a:srgbClr val="154734"/>
                    </a:solidFill>
                  </a:tcPr>
                </a:tc>
                <a:tc>
                  <a:txBody>
                    <a:bodyPr/>
                    <a:lstStyle/>
                    <a:p>
                      <a:r>
                        <a:rPr lang="en-US" sz="1350" b="1">
                          <a:solidFill>
                            <a:srgbClr val="FFFFFF"/>
                          </a:solidFill>
                        </a:rPr>
                        <a:t>Justification</a:t>
                      </a:r>
                    </a:p>
                  </a:txBody>
                  <a:tcPr marL="72000" marR="72000" marT="40000" marB="40000" anchor="ctr">
                    <a:lnB w="6350">
                      <a:solidFill>
                        <a:srgbClr val="B7CDC2"/>
                      </a:solidFill>
                    </a:lnB>
                    <a:solidFill>
                      <a:srgbClr val="154734"/>
                    </a:solidFill>
                  </a:tcPr>
                </a:tc>
                <a:extLst>
                  <a:ext uri="{0D108BD9-81ED-4DB2-BD59-A6C34878D82A}">
                    <a16:rowId xmlns:a16="http://schemas.microsoft.com/office/drawing/2014/main" val="10000"/>
                  </a:ext>
                </a:extLst>
              </a:tr>
              <a:tr h="335740">
                <a:tc>
                  <a:txBody>
                    <a:bodyPr/>
                    <a:lstStyle/>
                    <a:p>
                      <a:r>
                        <a:rPr lang="en-US" sz="1350">
                          <a:solidFill>
                            <a:schemeClr val="tx1"/>
                          </a:solidFill>
                        </a:rPr>
                        <a:t>K-type thermocouple, TC-K6 (Auberins)</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350">
                          <a:solidFill>
                            <a:schemeClr val="tx1"/>
                          </a:solidFill>
                        </a:rPr>
                        <a:t>6</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350">
                          <a:solidFill>
                            <a:schemeClr val="tx1"/>
                          </a:solidFill>
                        </a:rPr>
                        <a:t>$57.30</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350">
                          <a:solidFill>
                            <a:schemeClr val="tx1"/>
                          </a:solidFill>
                        </a:rPr>
                        <a:t>Wall temperature in barrel lands and near the throat band</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extLst>
                  <a:ext uri="{0D108BD9-81ED-4DB2-BD59-A6C34878D82A}">
                    <a16:rowId xmlns:a16="http://schemas.microsoft.com/office/drawing/2014/main" val="10001"/>
                  </a:ext>
                </a:extLst>
              </a:tr>
              <a:tr h="335740">
                <a:tc>
                  <a:txBody>
                    <a:bodyPr/>
                    <a:lstStyle/>
                    <a:p>
                      <a:r>
                        <a:rPr lang="en-US" sz="1350">
                          <a:solidFill>
                            <a:schemeClr val="tx1"/>
                          </a:solidFill>
                        </a:rPr>
                        <a:t>TC-K-1/8NPT probe (DwyerOmega)</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350">
                          <a:solidFill>
                            <a:schemeClr val="tx1"/>
                          </a:solidFill>
                        </a:rPr>
                        <a:t>2</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350">
                          <a:solidFill>
                            <a:schemeClr val="tx1"/>
                          </a:solidFill>
                        </a:rPr>
                        <a:t>$204.68</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350">
                          <a:solidFill>
                            <a:schemeClr val="tx1"/>
                          </a:solidFill>
                        </a:rPr>
                        <a:t>Coolant inlet and outlet temperature, gives total heat load</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extLst>
                  <a:ext uri="{0D108BD9-81ED-4DB2-BD59-A6C34878D82A}">
                    <a16:rowId xmlns:a16="http://schemas.microsoft.com/office/drawing/2014/main" val="10002"/>
                  </a:ext>
                </a:extLst>
              </a:tr>
              <a:tr h="335740">
                <a:tc>
                  <a:txBody>
                    <a:bodyPr/>
                    <a:lstStyle/>
                    <a:p>
                      <a:r>
                        <a:rPr lang="en-US" sz="1350">
                          <a:solidFill>
                            <a:schemeClr val="tx1"/>
                          </a:solidFill>
                        </a:rPr>
                        <a:t>6061 disc, 5-1/4 in</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350">
                          <a:solidFill>
                            <a:schemeClr val="tx1"/>
                          </a:solidFill>
                        </a:rPr>
                        <a:t>2</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350">
                          <a:solidFill>
                            <a:schemeClr val="tx1"/>
                          </a:solidFill>
                        </a:rPr>
                        <a:t>$89.18</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350">
                          <a:solidFill>
                            <a:schemeClr val="tx1"/>
                          </a:solidFill>
                        </a:rPr>
                        <a:t>Injector body stock, one spare</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extLst>
                  <a:ext uri="{0D108BD9-81ED-4DB2-BD59-A6C34878D82A}">
                    <a16:rowId xmlns:a16="http://schemas.microsoft.com/office/drawing/2014/main" val="10003"/>
                  </a:ext>
                </a:extLst>
              </a:tr>
              <a:tr h="335740">
                <a:tc>
                  <a:txBody>
                    <a:bodyPr/>
                    <a:lstStyle/>
                    <a:p>
                      <a:r>
                        <a:rPr lang="en-US" sz="1350">
                          <a:solidFill>
                            <a:schemeClr val="tx1"/>
                          </a:solidFill>
                        </a:rPr>
                        <a:t>6061 disc, 3-5/8 in</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350">
                          <a:solidFill>
                            <a:schemeClr val="tx1"/>
                          </a:solidFill>
                        </a:rPr>
                        <a:t>3</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350">
                          <a:solidFill>
                            <a:schemeClr val="tx1"/>
                          </a:solidFill>
                        </a:rPr>
                        <a:t>$44.07</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350">
                          <a:solidFill>
                            <a:schemeClr val="tx1"/>
                          </a:solidFill>
                        </a:rPr>
                        <a:t>Oxidizer plate stock, spares for other designs/remanufacture</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extLst>
                  <a:ext uri="{0D108BD9-81ED-4DB2-BD59-A6C34878D82A}">
                    <a16:rowId xmlns:a16="http://schemas.microsoft.com/office/drawing/2014/main" val="10004"/>
                  </a:ext>
                </a:extLst>
              </a:tr>
              <a:tr h="541480">
                <a:tc>
                  <a:txBody>
                    <a:bodyPr/>
                    <a:lstStyle/>
                    <a:p>
                      <a:r>
                        <a:rPr lang="en-US" sz="1350">
                          <a:solidFill>
                            <a:schemeClr val="tx1"/>
                          </a:solidFill>
                        </a:rPr>
                        <a:t>Aflas O-rings, -045/-042/-040/-037/-017</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350">
                          <a:solidFill>
                            <a:schemeClr val="tx1"/>
                          </a:solidFill>
                        </a:rPr>
                        <a:t>12</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350">
                          <a:solidFill>
                            <a:schemeClr val="tx1"/>
                          </a:solidFill>
                        </a:rPr>
                        <a:t>$89.71</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350">
                          <a:solidFill>
                            <a:schemeClr val="tx1"/>
                          </a:solidFill>
                        </a:rPr>
                        <a:t>Ethanol and N2O compatible, rated 200 °C+</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extLst>
                  <a:ext uri="{0D108BD9-81ED-4DB2-BD59-A6C34878D82A}">
                    <a16:rowId xmlns:a16="http://schemas.microsoft.com/office/drawing/2014/main" val="10005"/>
                  </a:ext>
                </a:extLst>
              </a:tr>
              <a:tr h="335740">
                <a:tc>
                  <a:txBody>
                    <a:bodyPr/>
                    <a:lstStyle/>
                    <a:p>
                      <a:r>
                        <a:rPr lang="en-US" sz="1350">
                          <a:solidFill>
                            <a:schemeClr val="tx1"/>
                          </a:solidFill>
                        </a:rPr>
                        <a:t>1/4-20 18-8 SHCS and hex nuts</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350">
                          <a:solidFill>
                            <a:schemeClr val="tx1"/>
                          </a:solidFill>
                        </a:rPr>
                        <a:t>1 pack</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350">
                          <a:solidFill>
                            <a:schemeClr val="tx1"/>
                          </a:solidFill>
                        </a:rPr>
                        <a:t>$49.45</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350">
                          <a:solidFill>
                            <a:schemeClr val="tx1"/>
                          </a:solidFill>
                        </a:rPr>
                        <a:t>Injector to chamber integration</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extLst>
                  <a:ext uri="{0D108BD9-81ED-4DB2-BD59-A6C34878D82A}">
                    <a16:rowId xmlns:a16="http://schemas.microsoft.com/office/drawing/2014/main" val="10006"/>
                  </a:ext>
                </a:extLst>
              </a:tr>
              <a:tr h="335740">
                <a:tc>
                  <a:txBody>
                    <a:bodyPr/>
                    <a:lstStyle/>
                    <a:p>
                      <a:r>
                        <a:rPr lang="en-US" sz="1350">
                          <a:solidFill>
                            <a:schemeClr val="tx1"/>
                          </a:solidFill>
                        </a:rPr>
                        <a:t>Thermal paste</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350">
                          <a:solidFill>
                            <a:schemeClr val="tx1"/>
                          </a:solidFill>
                        </a:rPr>
                        <a:t>1</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350">
                          <a:solidFill>
                            <a:schemeClr val="tx1"/>
                          </a:solidFill>
                        </a:rPr>
                        <a:t>$14.99</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350">
                          <a:solidFill>
                            <a:schemeClr val="tx1"/>
                          </a:solidFill>
                        </a:rPr>
                        <a:t>Thermocouple contact in blind holes</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extLst>
                  <a:ext uri="{0D108BD9-81ED-4DB2-BD59-A6C34878D82A}">
                    <a16:rowId xmlns:a16="http://schemas.microsoft.com/office/drawing/2014/main" val="10007"/>
                  </a:ext>
                </a:extLst>
              </a:tr>
              <a:tr h="335740">
                <a:tc>
                  <a:txBody>
                    <a:bodyPr/>
                    <a:lstStyle/>
                    <a:p>
                      <a:r>
                        <a:rPr lang="en-US" sz="1350">
                          <a:solidFill>
                            <a:schemeClr val="tx1"/>
                          </a:solidFill>
                        </a:rPr>
                        <a:t>Carbide drills</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350">
                          <a:solidFill>
                            <a:schemeClr val="tx1"/>
                          </a:solidFill>
                        </a:rPr>
                        <a:t>4</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350">
                          <a:solidFill>
                            <a:schemeClr val="tx1"/>
                          </a:solidFill>
                        </a:rPr>
                        <a:t>$68.72</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350">
                          <a:solidFill>
                            <a:schemeClr val="tx1"/>
                          </a:solidFill>
                        </a:rPr>
                        <a:t>Orifices at exact design size</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extLst>
                  <a:ext uri="{0D108BD9-81ED-4DB2-BD59-A6C34878D82A}">
                    <a16:rowId xmlns:a16="http://schemas.microsoft.com/office/drawing/2014/main" val="10008"/>
                  </a:ext>
                </a:extLst>
              </a:tr>
              <a:tr h="541480">
                <a:tc>
                  <a:txBody>
                    <a:bodyPr/>
                    <a:lstStyle/>
                    <a:p>
                      <a:r>
                        <a:rPr lang="en-US" sz="1350">
                          <a:solidFill>
                            <a:schemeClr val="tx1"/>
                          </a:solidFill>
                        </a:rPr>
                        <a:t>Engine print, AlSi10Mg</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350">
                          <a:solidFill>
                            <a:schemeClr val="tx1"/>
                          </a:solidFill>
                        </a:rPr>
                        <a:t>1</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350" i="0" strike="sngStrike">
                          <a:solidFill>
                            <a:schemeClr val="tx1"/>
                          </a:solidFill>
                        </a:rPr>
                        <a:t>$800.00</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350" i="0">
                          <a:solidFill>
                            <a:schemeClr val="tx1"/>
                          </a:solidFill>
                        </a:rPr>
                        <a:t>Sponsored by </a:t>
                      </a:r>
                      <a:r>
                        <a:rPr lang="en-US" sz="1350" i="0" err="1">
                          <a:solidFill>
                            <a:schemeClr val="tx1"/>
                          </a:solidFill>
                        </a:rPr>
                        <a:t>UnionFab</a:t>
                      </a:r>
                      <a:endParaRPr lang="en-US" sz="1350" i="0">
                        <a:solidFill>
                          <a:schemeClr val="tx1"/>
                        </a:solidFill>
                      </a:endParaRP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extLst>
                  <a:ext uri="{0D108BD9-81ED-4DB2-BD59-A6C34878D82A}">
                    <a16:rowId xmlns:a16="http://schemas.microsoft.com/office/drawing/2014/main" val="10009"/>
                  </a:ext>
                </a:extLst>
              </a:tr>
              <a:tr h="335740">
                <a:tc>
                  <a:txBody>
                    <a:bodyPr/>
                    <a:lstStyle/>
                    <a:p>
                      <a:r>
                        <a:rPr lang="en-US" sz="1350" b="1">
                          <a:solidFill>
                            <a:schemeClr val="tx1"/>
                          </a:solidFill>
                        </a:rPr>
                        <a:t>Total</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DCE6E1"/>
                    </a:solidFill>
                  </a:tcPr>
                </a:tc>
                <a:tc>
                  <a:txBody>
                    <a:bodyPr/>
                    <a:lstStyle/>
                    <a:p>
                      <a:endParaRPr lang="en-US" sz="1350"/>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DCE6E1"/>
                    </a:solidFill>
                  </a:tcPr>
                </a:tc>
                <a:tc>
                  <a:txBody>
                    <a:bodyPr/>
                    <a:lstStyle/>
                    <a:p>
                      <a:r>
                        <a:rPr lang="en-US" sz="1350" b="1">
                          <a:solidFill>
                            <a:schemeClr val="tx1"/>
                          </a:solidFill>
                        </a:rPr>
                        <a:t>$618.10</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DCE6E1"/>
                    </a:solidFill>
                  </a:tcPr>
                </a:tc>
                <a:tc>
                  <a:txBody>
                    <a:bodyPr/>
                    <a:lstStyle/>
                    <a:p>
                      <a:endParaRPr lang="en-US" sz="1350"/>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DCE6E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5790506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57A8D-FC90-4B9C-2BF4-023BDB31C49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6865FB9-F850-91D9-A4CC-B1A01F123269}"/>
              </a:ext>
            </a:extLst>
          </p:cNvPr>
          <p:cNvSpPr>
            <a:spLocks noGrp="1"/>
          </p:cNvSpPr>
          <p:nvPr>
            <p:ph type="ftr" sz="quarter" idx="16"/>
          </p:nvPr>
        </p:nvSpPr>
        <p:spPr/>
        <p:txBody>
          <a:bodyPr/>
          <a:lstStyle/>
          <a:p>
            <a:r>
              <a:rPr lang="en-US" sz="900">
                <a:latin typeface="Source Sans Pro"/>
                <a:ea typeface="Source Sans Pro"/>
              </a:rPr>
              <a:t>REGEN PDR</a:t>
            </a:r>
          </a:p>
        </p:txBody>
      </p:sp>
      <p:sp>
        <p:nvSpPr>
          <p:cNvPr id="4" name="Slide Number Placeholder 3">
            <a:extLst>
              <a:ext uri="{FF2B5EF4-FFF2-40B4-BE49-F238E27FC236}">
                <a16:creationId xmlns:a16="http://schemas.microsoft.com/office/drawing/2014/main" id="{F1A83F2A-346B-C4FC-4F1B-A3941CC3F3D2}"/>
              </a:ext>
            </a:extLst>
          </p:cNvPr>
          <p:cNvSpPr>
            <a:spLocks noGrp="1"/>
          </p:cNvSpPr>
          <p:nvPr>
            <p:ph type="sldNum" sz="quarter" idx="17"/>
          </p:nvPr>
        </p:nvSpPr>
        <p:spPr/>
        <p:txBody>
          <a:bodyPr/>
          <a:lstStyle/>
          <a:p>
            <a:r>
              <a:rPr lang="en-US" sz="900">
                <a:latin typeface="Source Sans Pro"/>
                <a:ea typeface="Source Sans Pro"/>
              </a:rPr>
              <a:t>/  46</a:t>
            </a:r>
          </a:p>
        </p:txBody>
      </p:sp>
      <p:sp>
        <p:nvSpPr>
          <p:cNvPr id="5" name="Title 4">
            <a:extLst>
              <a:ext uri="{FF2B5EF4-FFF2-40B4-BE49-F238E27FC236}">
                <a16:creationId xmlns:a16="http://schemas.microsoft.com/office/drawing/2014/main" id="{7BACB543-CBD8-576F-D93D-24246DD73824}"/>
              </a:ext>
            </a:extLst>
          </p:cNvPr>
          <p:cNvSpPr>
            <a:spLocks noGrp="1"/>
          </p:cNvSpPr>
          <p:nvPr>
            <p:ph type="title"/>
          </p:nvPr>
        </p:nvSpPr>
        <p:spPr>
          <a:xfrm>
            <a:off x="531848" y="716984"/>
            <a:ext cx="10265547" cy="625567"/>
          </a:xfrm>
        </p:spPr>
        <p:txBody>
          <a:bodyPr/>
          <a:lstStyle/>
          <a:p>
            <a:r>
              <a:rPr lang="en-US">
                <a:latin typeface="Munistic"/>
              </a:rPr>
              <a:t>Bill of Materials (2/2) </a:t>
            </a:r>
          </a:p>
        </p:txBody>
      </p:sp>
      <p:graphicFrame>
        <p:nvGraphicFramePr>
          <p:cNvPr id="6" name="Table 11">
            <a:extLst>
              <a:ext uri="{FF2B5EF4-FFF2-40B4-BE49-F238E27FC236}">
                <a16:creationId xmlns:a16="http://schemas.microsoft.com/office/drawing/2014/main" id="{21D8104C-5F86-C629-5349-259345297611}"/>
              </a:ext>
            </a:extLst>
          </p:cNvPr>
          <p:cNvGraphicFramePr>
            <a:graphicFrameLocks noGrp="1"/>
          </p:cNvGraphicFramePr>
          <p:nvPr>
            <p:extLst>
              <p:ext uri="{D42A27DB-BD31-4B8C-83A1-F6EECF244321}">
                <p14:modId xmlns:p14="http://schemas.microsoft.com/office/powerpoint/2010/main" val="866460923"/>
              </p:ext>
            </p:extLst>
          </p:nvPr>
        </p:nvGraphicFramePr>
        <p:xfrm>
          <a:off x="560000" y="1690000"/>
          <a:ext cx="11069999" cy="1678700"/>
        </p:xfrm>
        <a:graphic>
          <a:graphicData uri="http://schemas.openxmlformats.org/drawingml/2006/table">
            <a:tbl>
              <a:tblPr firstRow="1" bandRow="1"/>
              <a:tblGrid>
                <a:gridCol w="3584571">
                  <a:extLst>
                    <a:ext uri="{9D8B030D-6E8A-4147-A177-3AD203B41FA5}">
                      <a16:colId xmlns:a16="http://schemas.microsoft.com/office/drawing/2014/main" val="20000"/>
                    </a:ext>
                  </a:extLst>
                </a:gridCol>
                <a:gridCol w="738000">
                  <a:extLst>
                    <a:ext uri="{9D8B030D-6E8A-4147-A177-3AD203B41FA5}">
                      <a16:colId xmlns:a16="http://schemas.microsoft.com/office/drawing/2014/main" val="20001"/>
                    </a:ext>
                  </a:extLst>
                </a:gridCol>
                <a:gridCol w="1159714">
                  <a:extLst>
                    <a:ext uri="{9D8B030D-6E8A-4147-A177-3AD203B41FA5}">
                      <a16:colId xmlns:a16="http://schemas.microsoft.com/office/drawing/2014/main" val="20002"/>
                    </a:ext>
                  </a:extLst>
                </a:gridCol>
                <a:gridCol w="5587714">
                  <a:extLst>
                    <a:ext uri="{9D8B030D-6E8A-4147-A177-3AD203B41FA5}">
                      <a16:colId xmlns:a16="http://schemas.microsoft.com/office/drawing/2014/main" val="20003"/>
                    </a:ext>
                  </a:extLst>
                </a:gridCol>
              </a:tblGrid>
              <a:tr h="335740">
                <a:tc>
                  <a:txBody>
                    <a:bodyPr/>
                    <a:lstStyle/>
                    <a:p>
                      <a:r>
                        <a:rPr lang="en-US" sz="1350" b="1">
                          <a:solidFill>
                            <a:srgbClr val="FFFFFF"/>
                          </a:solidFill>
                        </a:rPr>
                        <a:t>Item</a:t>
                      </a:r>
                    </a:p>
                  </a:txBody>
                  <a:tcPr marL="72000" marR="72000" marT="40000" marB="40000" anchor="ctr">
                    <a:lnB w="6350">
                      <a:solidFill>
                        <a:srgbClr val="B7CDC2"/>
                      </a:solidFill>
                    </a:lnB>
                    <a:solidFill>
                      <a:srgbClr val="154734"/>
                    </a:solidFill>
                  </a:tcPr>
                </a:tc>
                <a:tc>
                  <a:txBody>
                    <a:bodyPr/>
                    <a:lstStyle/>
                    <a:p>
                      <a:r>
                        <a:rPr lang="en-US" sz="1350" b="1">
                          <a:solidFill>
                            <a:srgbClr val="FFFFFF"/>
                          </a:solidFill>
                        </a:rPr>
                        <a:t>Qty</a:t>
                      </a:r>
                    </a:p>
                  </a:txBody>
                  <a:tcPr marL="72000" marR="72000" marT="40000" marB="40000" anchor="ctr">
                    <a:lnB w="6350">
                      <a:solidFill>
                        <a:srgbClr val="B7CDC2"/>
                      </a:solidFill>
                    </a:lnB>
                    <a:solidFill>
                      <a:srgbClr val="154734"/>
                    </a:solidFill>
                  </a:tcPr>
                </a:tc>
                <a:tc>
                  <a:txBody>
                    <a:bodyPr/>
                    <a:lstStyle/>
                    <a:p>
                      <a:r>
                        <a:rPr lang="en-US" sz="1350" b="1">
                          <a:solidFill>
                            <a:srgbClr val="FFFFFF"/>
                          </a:solidFill>
                        </a:rPr>
                        <a:t>Total</a:t>
                      </a:r>
                    </a:p>
                  </a:txBody>
                  <a:tcPr marL="72000" marR="72000" marT="40000" marB="40000" anchor="ctr">
                    <a:lnB w="6350">
                      <a:solidFill>
                        <a:srgbClr val="B7CDC2"/>
                      </a:solidFill>
                    </a:lnB>
                    <a:solidFill>
                      <a:srgbClr val="154734"/>
                    </a:solidFill>
                  </a:tcPr>
                </a:tc>
                <a:tc>
                  <a:txBody>
                    <a:bodyPr/>
                    <a:lstStyle/>
                    <a:p>
                      <a:r>
                        <a:rPr lang="en-US" sz="1350" b="1">
                          <a:solidFill>
                            <a:srgbClr val="FFFFFF"/>
                          </a:solidFill>
                        </a:rPr>
                        <a:t>Justification</a:t>
                      </a:r>
                    </a:p>
                  </a:txBody>
                  <a:tcPr marL="72000" marR="72000" marT="40000" marB="40000" anchor="ctr">
                    <a:lnB w="6350">
                      <a:solidFill>
                        <a:srgbClr val="B7CDC2"/>
                      </a:solidFill>
                    </a:lnB>
                    <a:solidFill>
                      <a:srgbClr val="154734"/>
                    </a:solidFill>
                  </a:tcPr>
                </a:tc>
                <a:extLst>
                  <a:ext uri="{0D108BD9-81ED-4DB2-BD59-A6C34878D82A}">
                    <a16:rowId xmlns:a16="http://schemas.microsoft.com/office/drawing/2014/main" val="10000"/>
                  </a:ext>
                </a:extLst>
              </a:tr>
              <a:tr h="335740">
                <a:tc>
                  <a:txBody>
                    <a:bodyPr/>
                    <a:lstStyle/>
                    <a:p>
                      <a:pPr lvl="0">
                        <a:buNone/>
                      </a:pPr>
                      <a:r>
                        <a:rPr lang="en-US" sz="1350">
                          <a:solidFill>
                            <a:schemeClr val="tx1"/>
                          </a:solidFill>
                        </a:rPr>
                        <a:t>MSP430FR2355 Launchpad</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350">
                          <a:solidFill>
                            <a:schemeClr val="tx1"/>
                          </a:solidFill>
                        </a:rPr>
                        <a:t>1</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350">
                          <a:solidFill>
                            <a:schemeClr val="tx1"/>
                          </a:solidFill>
                        </a:rPr>
                        <a:t>$15.72</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pPr lvl="0">
                        <a:buNone/>
                      </a:pPr>
                      <a:r>
                        <a:rPr lang="en-US" sz="1350">
                          <a:solidFill>
                            <a:schemeClr val="tx1"/>
                          </a:solidFill>
                        </a:rPr>
                        <a:t>Read TC data and log to SD card</a:t>
                      </a:r>
                      <a:endParaRPr lang="en-US"/>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extLst>
                  <a:ext uri="{0D108BD9-81ED-4DB2-BD59-A6C34878D82A}">
                    <a16:rowId xmlns:a16="http://schemas.microsoft.com/office/drawing/2014/main" val="10001"/>
                  </a:ext>
                </a:extLst>
              </a:tr>
              <a:tr h="335740">
                <a:tc>
                  <a:txBody>
                    <a:bodyPr/>
                    <a:lstStyle/>
                    <a:p>
                      <a:pPr lvl="0">
                        <a:buNone/>
                      </a:pPr>
                      <a:r>
                        <a:rPr lang="en-US" sz="1350">
                          <a:solidFill>
                            <a:schemeClr val="tx1"/>
                          </a:solidFill>
                        </a:rPr>
                        <a:t>MAX6675 Amplifier</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350">
                          <a:solidFill>
                            <a:schemeClr val="tx1"/>
                          </a:solidFill>
                        </a:rPr>
                        <a:t>7</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350">
                          <a:solidFill>
                            <a:schemeClr val="tx1"/>
                          </a:solidFill>
                        </a:rPr>
                        <a:t>$83.3</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pPr lvl="0">
                        <a:buNone/>
                      </a:pPr>
                      <a:r>
                        <a:rPr lang="en-US" sz="1350">
                          <a:solidFill>
                            <a:schemeClr val="tx1"/>
                          </a:solidFill>
                        </a:rPr>
                        <a:t>Amplify TC signals</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extLst>
                  <a:ext uri="{0D108BD9-81ED-4DB2-BD59-A6C34878D82A}">
                    <a16:rowId xmlns:a16="http://schemas.microsoft.com/office/drawing/2014/main" val="10002"/>
                  </a:ext>
                </a:extLst>
              </a:tr>
              <a:tr h="335740">
                <a:tc>
                  <a:txBody>
                    <a:bodyPr/>
                    <a:lstStyle/>
                    <a:p>
                      <a:pPr lvl="0">
                        <a:buNone/>
                      </a:pPr>
                      <a:r>
                        <a:rPr lang="en-US" sz="1350">
                          <a:solidFill>
                            <a:schemeClr val="tx1"/>
                          </a:solidFill>
                        </a:rPr>
                        <a:t>SD breakout board</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350">
                          <a:solidFill>
                            <a:schemeClr val="tx1"/>
                          </a:solidFill>
                        </a:rPr>
                        <a:t>1</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r>
                        <a:rPr lang="en-US" sz="1350">
                          <a:solidFill>
                            <a:schemeClr val="tx1"/>
                          </a:solidFill>
                        </a:rPr>
                        <a:t>$3.50</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tc>
                  <a:txBody>
                    <a:bodyPr/>
                    <a:lstStyle/>
                    <a:p>
                      <a:pPr lvl="0">
                        <a:buNone/>
                      </a:pPr>
                      <a:r>
                        <a:rPr lang="en-US" sz="1350">
                          <a:solidFill>
                            <a:schemeClr val="tx1"/>
                          </a:solidFill>
                        </a:rPr>
                        <a:t>Integration</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2F3F1"/>
                    </a:solidFill>
                  </a:tcPr>
                </a:tc>
                <a:extLst>
                  <a:ext uri="{0D108BD9-81ED-4DB2-BD59-A6C34878D82A}">
                    <a16:rowId xmlns:a16="http://schemas.microsoft.com/office/drawing/2014/main" val="10003"/>
                  </a:ext>
                </a:extLst>
              </a:tr>
              <a:tr h="335740">
                <a:tc>
                  <a:txBody>
                    <a:bodyPr/>
                    <a:lstStyle/>
                    <a:p>
                      <a:r>
                        <a:rPr lang="en-US" sz="1350" b="1">
                          <a:solidFill>
                            <a:schemeClr val="tx1"/>
                          </a:solidFill>
                        </a:rPr>
                        <a:t>Total (electronics)</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DCE6E1"/>
                    </a:solidFill>
                  </a:tcPr>
                </a:tc>
                <a:tc>
                  <a:txBody>
                    <a:bodyPr/>
                    <a:lstStyle/>
                    <a:p>
                      <a:endParaRPr lang="en-US" sz="1350"/>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DCE6E1"/>
                    </a:solidFill>
                  </a:tcPr>
                </a:tc>
                <a:tc>
                  <a:txBody>
                    <a:bodyPr/>
                    <a:lstStyle/>
                    <a:p>
                      <a:r>
                        <a:rPr lang="en-US" sz="1350" b="1">
                          <a:solidFill>
                            <a:schemeClr val="tx1"/>
                          </a:solidFill>
                        </a:rPr>
                        <a:t>$102.52</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DCE6E1"/>
                    </a:solidFill>
                  </a:tcPr>
                </a:tc>
                <a:tc>
                  <a:txBody>
                    <a:bodyPr/>
                    <a:lstStyle/>
                    <a:p>
                      <a:endParaRPr lang="en-US" sz="1350"/>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DCE6E1"/>
                    </a:solidFill>
                  </a:tcPr>
                </a:tc>
                <a:extLst>
                  <a:ext uri="{0D108BD9-81ED-4DB2-BD59-A6C34878D82A}">
                    <a16:rowId xmlns:a16="http://schemas.microsoft.com/office/drawing/2014/main" val="10010"/>
                  </a:ext>
                </a:extLst>
              </a:tr>
            </a:tbl>
          </a:graphicData>
        </a:graphic>
      </p:graphicFrame>
      <p:graphicFrame>
        <p:nvGraphicFramePr>
          <p:cNvPr id="2" name="Table 11">
            <a:extLst>
              <a:ext uri="{FF2B5EF4-FFF2-40B4-BE49-F238E27FC236}">
                <a16:creationId xmlns:a16="http://schemas.microsoft.com/office/drawing/2014/main" id="{E656C369-984C-38B9-0D99-1B23ED23FC32}"/>
              </a:ext>
            </a:extLst>
          </p:cNvPr>
          <p:cNvGraphicFramePr>
            <a:graphicFrameLocks noGrp="1"/>
          </p:cNvGraphicFramePr>
          <p:nvPr>
            <p:extLst>
              <p:ext uri="{D42A27DB-BD31-4B8C-83A1-F6EECF244321}">
                <p14:modId xmlns:p14="http://schemas.microsoft.com/office/powerpoint/2010/main" val="3421403012"/>
              </p:ext>
            </p:extLst>
          </p:nvPr>
        </p:nvGraphicFramePr>
        <p:xfrm>
          <a:off x="559999" y="3755130"/>
          <a:ext cx="11069999" cy="335740"/>
        </p:xfrm>
        <a:graphic>
          <a:graphicData uri="http://schemas.openxmlformats.org/drawingml/2006/table">
            <a:tbl>
              <a:tblPr firstRow="1" bandRow="1"/>
              <a:tblGrid>
                <a:gridCol w="3584571">
                  <a:extLst>
                    <a:ext uri="{9D8B030D-6E8A-4147-A177-3AD203B41FA5}">
                      <a16:colId xmlns:a16="http://schemas.microsoft.com/office/drawing/2014/main" val="20000"/>
                    </a:ext>
                  </a:extLst>
                </a:gridCol>
                <a:gridCol w="738000">
                  <a:extLst>
                    <a:ext uri="{9D8B030D-6E8A-4147-A177-3AD203B41FA5}">
                      <a16:colId xmlns:a16="http://schemas.microsoft.com/office/drawing/2014/main" val="20001"/>
                    </a:ext>
                  </a:extLst>
                </a:gridCol>
                <a:gridCol w="1159714">
                  <a:extLst>
                    <a:ext uri="{9D8B030D-6E8A-4147-A177-3AD203B41FA5}">
                      <a16:colId xmlns:a16="http://schemas.microsoft.com/office/drawing/2014/main" val="20002"/>
                    </a:ext>
                  </a:extLst>
                </a:gridCol>
                <a:gridCol w="5587714">
                  <a:extLst>
                    <a:ext uri="{9D8B030D-6E8A-4147-A177-3AD203B41FA5}">
                      <a16:colId xmlns:a16="http://schemas.microsoft.com/office/drawing/2014/main" val="20003"/>
                    </a:ext>
                  </a:extLst>
                </a:gridCol>
              </a:tblGrid>
              <a:tr h="335740">
                <a:tc>
                  <a:txBody>
                    <a:bodyPr/>
                    <a:lstStyle/>
                    <a:p>
                      <a:pPr lvl="0">
                        <a:buNone/>
                      </a:pPr>
                      <a:r>
                        <a:rPr lang="en-US" sz="1350" b="1">
                          <a:solidFill>
                            <a:schemeClr val="tx1"/>
                          </a:solidFill>
                        </a:rPr>
                        <a:t>Total</a:t>
                      </a:r>
                    </a:p>
                  </a:txBody>
                  <a:tcPr marL="72000" marR="72000" marT="39999" marB="39999" anchor="ctr">
                    <a:lnT w="6350" cap="flat" cmpd="sng" algn="ctr">
                      <a:solidFill>
                        <a:srgbClr val="B7CDC2"/>
                      </a:solidFill>
                      <a:prstDash val="solid"/>
                      <a:round/>
                      <a:headEnd type="none" w="med" len="med"/>
                      <a:tailEnd type="none" w="med" len="med"/>
                    </a:lnT>
                    <a:lnB w="6350">
                      <a:solidFill>
                        <a:srgbClr val="B7CDC2"/>
                      </a:solidFill>
                    </a:lnB>
                    <a:solidFill>
                      <a:srgbClr val="DCE6E1"/>
                    </a:solidFill>
                  </a:tcPr>
                </a:tc>
                <a:tc>
                  <a:txBody>
                    <a:bodyPr/>
                    <a:lstStyle/>
                    <a:p>
                      <a:pPr lvl="0">
                        <a:buNone/>
                      </a:pPr>
                      <a:endParaRPr lang="en-US" sz="1350"/>
                    </a:p>
                  </a:txBody>
                  <a:tcPr marL="72000" marR="72000" marT="39999" marB="39999" anchor="ctr">
                    <a:lnT w="6350" cap="flat" cmpd="sng" algn="ctr">
                      <a:solidFill>
                        <a:srgbClr val="B7CDC2"/>
                      </a:solidFill>
                      <a:prstDash val="solid"/>
                      <a:round/>
                      <a:headEnd type="none" w="med" len="med"/>
                      <a:tailEnd type="none" w="med" len="med"/>
                    </a:lnT>
                    <a:lnB w="6350">
                      <a:solidFill>
                        <a:srgbClr val="B7CDC2"/>
                      </a:solidFill>
                    </a:lnB>
                    <a:solidFill>
                      <a:srgbClr val="DCE6E1"/>
                    </a:solidFill>
                  </a:tcPr>
                </a:tc>
                <a:tc>
                  <a:txBody>
                    <a:bodyPr/>
                    <a:lstStyle/>
                    <a:p>
                      <a:pPr lvl="0">
                        <a:buNone/>
                      </a:pPr>
                      <a:r>
                        <a:rPr lang="en-US" sz="1350" b="1">
                          <a:solidFill>
                            <a:schemeClr val="tx1"/>
                          </a:solidFill>
                        </a:rPr>
                        <a:t>$720.62</a:t>
                      </a:r>
                    </a:p>
                  </a:txBody>
                  <a:tcPr marL="72000" marR="72000" marT="39999" marB="39999" anchor="ctr">
                    <a:lnT w="6350" cap="flat" cmpd="sng" algn="ctr">
                      <a:solidFill>
                        <a:srgbClr val="B7CDC2"/>
                      </a:solidFill>
                      <a:prstDash val="solid"/>
                      <a:round/>
                      <a:headEnd type="none" w="med" len="med"/>
                      <a:tailEnd type="none" w="med" len="med"/>
                    </a:lnT>
                    <a:lnB w="6350">
                      <a:solidFill>
                        <a:srgbClr val="B7CDC2"/>
                      </a:solidFill>
                    </a:lnB>
                    <a:solidFill>
                      <a:srgbClr val="DCE6E1"/>
                    </a:solidFill>
                  </a:tcPr>
                </a:tc>
                <a:tc>
                  <a:txBody>
                    <a:bodyPr/>
                    <a:lstStyle/>
                    <a:p>
                      <a:pPr lvl="0">
                        <a:buNone/>
                      </a:pPr>
                      <a:endParaRPr lang="en-US" sz="1350"/>
                    </a:p>
                  </a:txBody>
                  <a:tcPr marL="72000" marR="72000" marT="39999" marB="39999" anchor="ctr">
                    <a:lnT w="6350" cap="flat" cmpd="sng" algn="ctr">
                      <a:solidFill>
                        <a:srgbClr val="B7CDC2"/>
                      </a:solidFill>
                      <a:prstDash val="solid"/>
                      <a:round/>
                      <a:headEnd type="none" w="med" len="med"/>
                      <a:tailEnd type="none" w="med" len="med"/>
                    </a:lnT>
                    <a:lnB w="6350">
                      <a:solidFill>
                        <a:srgbClr val="B7CDC2"/>
                      </a:solidFill>
                    </a:lnB>
                    <a:solidFill>
                      <a:srgbClr val="DCE6E1"/>
                    </a:solidFill>
                  </a:tcPr>
                </a:tc>
                <a:extLst>
                  <a:ext uri="{0D108BD9-81ED-4DB2-BD59-A6C34878D82A}">
                    <a16:rowId xmlns:a16="http://schemas.microsoft.com/office/drawing/2014/main" val="803169389"/>
                  </a:ext>
                </a:extLst>
              </a:tr>
            </a:tbl>
          </a:graphicData>
        </a:graphic>
      </p:graphicFrame>
    </p:spTree>
    <p:extLst>
      <p:ext uri="{BB962C8B-B14F-4D97-AF65-F5344CB8AC3E}">
        <p14:creationId xmlns:p14="http://schemas.microsoft.com/office/powerpoint/2010/main" val="927563165"/>
      </p:ext>
    </p:extLst>
  </p:cSld>
  <p:clrMapOvr>
    <a:masterClrMapping/>
  </p:clrMapOvr>
  <p:extLst>
    <p:ext uri="{6950BFC3-D8DA-4A85-94F7-54DA5524770B}">
      <p188:commentRel xmlns:p188="http://schemas.microsoft.com/office/powerpoint/2018/8/main" r:id="rId2"/>
    </p:ext>
  </p:extLs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AAFF5-FD2C-6E8D-85DA-662B2C2BE3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41DCE-254A-9A8F-AD75-9CF16DFAC35E}"/>
              </a:ext>
            </a:extLst>
          </p:cNvPr>
          <p:cNvSpPr>
            <a:spLocks noGrp="1"/>
          </p:cNvSpPr>
          <p:nvPr>
            <p:ph type="title"/>
          </p:nvPr>
        </p:nvSpPr>
        <p:spPr>
          <a:xfrm>
            <a:off x="491725" y="464985"/>
            <a:ext cx="11209539" cy="1037865"/>
          </a:xfrm>
        </p:spPr>
        <p:txBody>
          <a:bodyPr/>
          <a:lstStyle/>
          <a:p>
            <a:r>
              <a:rPr lang="en-US"/>
              <a:t>End of Testing &amp; Logistics</a:t>
            </a:r>
          </a:p>
        </p:txBody>
      </p:sp>
      <p:sp>
        <p:nvSpPr>
          <p:cNvPr id="3" name="Text Placeholder 2">
            <a:extLst>
              <a:ext uri="{FF2B5EF4-FFF2-40B4-BE49-F238E27FC236}">
                <a16:creationId xmlns:a16="http://schemas.microsoft.com/office/drawing/2014/main" id="{6B09A69A-A397-B0BA-0D8E-664FDC78C771}"/>
              </a:ext>
            </a:extLst>
          </p:cNvPr>
          <p:cNvSpPr>
            <a:spLocks noGrp="1"/>
          </p:cNvSpPr>
          <p:nvPr>
            <p:ph type="body" sz="quarter" idx="11"/>
          </p:nvPr>
        </p:nvSpPr>
        <p:spPr>
          <a:xfrm>
            <a:off x="3722619" y="3257835"/>
            <a:ext cx="4612283" cy="342329"/>
          </a:xfrm>
        </p:spPr>
        <p:txBody>
          <a:bodyPr/>
          <a:lstStyle/>
          <a:p>
            <a:r>
              <a:rPr lang="en-US" sz="7200" b="1"/>
              <a:t>Questions?</a:t>
            </a:r>
          </a:p>
        </p:txBody>
      </p:sp>
    </p:spTree>
    <p:extLst>
      <p:ext uri="{BB962C8B-B14F-4D97-AF65-F5344CB8AC3E}">
        <p14:creationId xmlns:p14="http://schemas.microsoft.com/office/powerpoint/2010/main" val="33631225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A01E2-1A9F-4F15-C8A5-92FE2DE7F9C9}"/>
              </a:ext>
            </a:extLst>
          </p:cNvPr>
          <p:cNvSpPr>
            <a:spLocks noGrp="1"/>
          </p:cNvSpPr>
          <p:nvPr>
            <p:ph type="title"/>
          </p:nvPr>
        </p:nvSpPr>
        <p:spPr/>
        <p:txBody>
          <a:bodyPr/>
          <a:lstStyle/>
          <a:p>
            <a:r>
              <a:rPr lang="en-US"/>
              <a:t>Failures &amp; Risks</a:t>
            </a:r>
          </a:p>
        </p:txBody>
      </p:sp>
      <p:sp>
        <p:nvSpPr>
          <p:cNvPr id="3" name="Text Placeholder 2">
            <a:extLst>
              <a:ext uri="{FF2B5EF4-FFF2-40B4-BE49-F238E27FC236}">
                <a16:creationId xmlns:a16="http://schemas.microsoft.com/office/drawing/2014/main" id="{EBE3CDB6-3B3A-6542-5E54-8F62D7F226E8}"/>
              </a:ext>
            </a:extLst>
          </p:cNvPr>
          <p:cNvSpPr>
            <a:spLocks noGrp="1"/>
          </p:cNvSpPr>
          <p:nvPr>
            <p:ph type="body" sz="quarter" idx="11"/>
          </p:nvPr>
        </p:nvSpPr>
        <p:spPr/>
        <p:txBody>
          <a:bodyPr/>
          <a:lstStyle/>
          <a:p>
            <a:r>
              <a:rPr lang="en-US"/>
              <a:t>Presented by Sloan</a:t>
            </a:r>
          </a:p>
        </p:txBody>
      </p:sp>
    </p:spTree>
    <p:extLst>
      <p:ext uri="{BB962C8B-B14F-4D97-AF65-F5344CB8AC3E}">
        <p14:creationId xmlns:p14="http://schemas.microsoft.com/office/powerpoint/2010/main" val="6814781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C3E4E-E8C4-6392-AE10-3AE050C8DD4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D005BAA-6363-29E7-0612-0879C62BB5B6}"/>
              </a:ext>
            </a:extLst>
          </p:cNvPr>
          <p:cNvSpPr>
            <a:spLocks noGrp="1"/>
          </p:cNvSpPr>
          <p:nvPr>
            <p:ph type="ftr" sz="quarter" idx="16"/>
          </p:nvPr>
        </p:nvSpPr>
        <p:spPr/>
        <p:txBody>
          <a:bodyPr/>
          <a:lstStyle/>
          <a:p>
            <a:r>
              <a:rPr lang="en-US" sz="900">
                <a:latin typeface="Source Sans Pro"/>
                <a:ea typeface="Source Sans Pro"/>
              </a:rPr>
              <a:t>REGEN PDR</a:t>
            </a:r>
          </a:p>
        </p:txBody>
      </p:sp>
      <p:sp>
        <p:nvSpPr>
          <p:cNvPr id="4" name="Slide Number Placeholder 3">
            <a:extLst>
              <a:ext uri="{FF2B5EF4-FFF2-40B4-BE49-F238E27FC236}">
                <a16:creationId xmlns:a16="http://schemas.microsoft.com/office/drawing/2014/main" id="{7D6A20C6-FA57-C1BA-6A4C-C5A400213DEA}"/>
              </a:ext>
            </a:extLst>
          </p:cNvPr>
          <p:cNvSpPr>
            <a:spLocks noGrp="1"/>
          </p:cNvSpPr>
          <p:nvPr>
            <p:ph type="sldNum" sz="quarter" idx="17"/>
          </p:nvPr>
        </p:nvSpPr>
        <p:spPr/>
        <p:txBody>
          <a:bodyPr/>
          <a:lstStyle/>
          <a:p>
            <a:r>
              <a:rPr lang="en-US" sz="900">
                <a:latin typeface="Source Sans Pro"/>
                <a:ea typeface="Source Sans Pro"/>
              </a:rPr>
              <a:t>/  49</a:t>
            </a:r>
          </a:p>
        </p:txBody>
      </p:sp>
      <p:sp>
        <p:nvSpPr>
          <p:cNvPr id="5" name="Title 4">
            <a:extLst>
              <a:ext uri="{FF2B5EF4-FFF2-40B4-BE49-F238E27FC236}">
                <a16:creationId xmlns:a16="http://schemas.microsoft.com/office/drawing/2014/main" id="{1CF3996F-C2D2-D023-49F8-865CE92AB744}"/>
              </a:ext>
            </a:extLst>
          </p:cNvPr>
          <p:cNvSpPr>
            <a:spLocks noGrp="1"/>
          </p:cNvSpPr>
          <p:nvPr>
            <p:ph type="title"/>
          </p:nvPr>
        </p:nvSpPr>
        <p:spPr>
          <a:xfrm>
            <a:off x="531848" y="716984"/>
            <a:ext cx="10265547" cy="625567"/>
          </a:xfrm>
        </p:spPr>
        <p:txBody>
          <a:bodyPr/>
          <a:lstStyle/>
          <a:p>
            <a:r>
              <a:rPr lang="en-US">
                <a:latin typeface="Munistic"/>
              </a:rPr>
              <a:t>Failure Modes</a:t>
            </a:r>
            <a:endParaRPr lang="en-US"/>
          </a:p>
        </p:txBody>
      </p:sp>
      <p:graphicFrame>
        <p:nvGraphicFramePr>
          <p:cNvPr id="6" name="Table 11">
            <a:extLst>
              <a:ext uri="{FF2B5EF4-FFF2-40B4-BE49-F238E27FC236}">
                <a16:creationId xmlns:a16="http://schemas.microsoft.com/office/drawing/2014/main" id="{52AB2B5B-60F0-9F8C-624D-4949C60B223B}"/>
              </a:ext>
            </a:extLst>
          </p:cNvPr>
          <p:cNvGraphicFramePr>
            <a:graphicFrameLocks noGrp="1"/>
          </p:cNvGraphicFramePr>
          <p:nvPr>
            <p:extLst>
              <p:ext uri="{D42A27DB-BD31-4B8C-83A1-F6EECF244321}">
                <p14:modId xmlns:p14="http://schemas.microsoft.com/office/powerpoint/2010/main" val="2060500301"/>
              </p:ext>
            </p:extLst>
          </p:nvPr>
        </p:nvGraphicFramePr>
        <p:xfrm>
          <a:off x="560000" y="1690000"/>
          <a:ext cx="11069998" cy="2638820"/>
        </p:xfrm>
        <a:graphic>
          <a:graphicData uri="http://schemas.openxmlformats.org/drawingml/2006/table">
            <a:tbl>
              <a:tblPr firstRow="1" bandRow="1"/>
              <a:tblGrid>
                <a:gridCol w="2424857">
                  <a:extLst>
                    <a:ext uri="{9D8B030D-6E8A-4147-A177-3AD203B41FA5}">
                      <a16:colId xmlns:a16="http://schemas.microsoft.com/office/drawing/2014/main" val="20000"/>
                    </a:ext>
                  </a:extLst>
                </a:gridCol>
                <a:gridCol w="2741142">
                  <a:extLst>
                    <a:ext uri="{9D8B030D-6E8A-4147-A177-3AD203B41FA5}">
                      <a16:colId xmlns:a16="http://schemas.microsoft.com/office/drawing/2014/main" val="20001"/>
                    </a:ext>
                  </a:extLst>
                </a:gridCol>
                <a:gridCol w="2424857">
                  <a:extLst>
                    <a:ext uri="{9D8B030D-6E8A-4147-A177-3AD203B41FA5}">
                      <a16:colId xmlns:a16="http://schemas.microsoft.com/office/drawing/2014/main" val="20002"/>
                    </a:ext>
                  </a:extLst>
                </a:gridCol>
                <a:gridCol w="3479142">
                  <a:extLst>
                    <a:ext uri="{9D8B030D-6E8A-4147-A177-3AD203B41FA5}">
                      <a16:colId xmlns:a16="http://schemas.microsoft.com/office/drawing/2014/main" val="20003"/>
                    </a:ext>
                  </a:extLst>
                </a:gridCol>
              </a:tblGrid>
              <a:tr h="350980">
                <a:tc>
                  <a:txBody>
                    <a:bodyPr/>
                    <a:lstStyle/>
                    <a:p>
                      <a:r>
                        <a:rPr lang="en-US" sz="1450" b="1">
                          <a:solidFill>
                            <a:srgbClr val="FFFFFF"/>
                          </a:solidFill>
                        </a:rPr>
                        <a:t>Mode</a:t>
                      </a:r>
                    </a:p>
                  </a:txBody>
                  <a:tcPr marL="72000" marR="72000" marT="40000" marB="40000" anchor="ctr">
                    <a:lnB w="6350">
                      <a:solidFill>
                        <a:srgbClr val="B7CDC2"/>
                      </a:solidFill>
                    </a:lnB>
                    <a:solidFill>
                      <a:srgbClr val="154734"/>
                    </a:solidFill>
                  </a:tcPr>
                </a:tc>
                <a:tc>
                  <a:txBody>
                    <a:bodyPr/>
                    <a:lstStyle/>
                    <a:p>
                      <a:r>
                        <a:rPr lang="en-US" sz="1450" b="1">
                          <a:solidFill>
                            <a:srgbClr val="FFFFFF"/>
                          </a:solidFill>
                        </a:rPr>
                        <a:t>Mechanism</a:t>
                      </a:r>
                    </a:p>
                  </a:txBody>
                  <a:tcPr marL="72000" marR="72000" marT="40000" marB="40000" anchor="ctr">
                    <a:lnB w="6350">
                      <a:solidFill>
                        <a:srgbClr val="B7CDC2"/>
                      </a:solidFill>
                    </a:lnB>
                    <a:solidFill>
                      <a:srgbClr val="154734"/>
                    </a:solidFill>
                  </a:tcPr>
                </a:tc>
                <a:tc>
                  <a:txBody>
                    <a:bodyPr/>
                    <a:lstStyle/>
                    <a:p>
                      <a:r>
                        <a:rPr lang="en-US" sz="1450" b="1">
                          <a:solidFill>
                            <a:srgbClr val="FFFFFF"/>
                          </a:solidFill>
                        </a:rPr>
                        <a:t>Detection</a:t>
                      </a:r>
                    </a:p>
                  </a:txBody>
                  <a:tcPr marL="72000" marR="72000" marT="40000" marB="40000" anchor="ctr">
                    <a:lnB w="6350">
                      <a:solidFill>
                        <a:srgbClr val="B7CDC2"/>
                      </a:solidFill>
                    </a:lnB>
                    <a:solidFill>
                      <a:srgbClr val="154734"/>
                    </a:solidFill>
                  </a:tcPr>
                </a:tc>
                <a:tc>
                  <a:txBody>
                    <a:bodyPr/>
                    <a:lstStyle/>
                    <a:p>
                      <a:r>
                        <a:rPr lang="en-US" sz="1450" b="1">
                          <a:solidFill>
                            <a:srgbClr val="FFFFFF"/>
                          </a:solidFill>
                        </a:rPr>
                        <a:t>Mitigation</a:t>
                      </a:r>
                    </a:p>
                  </a:txBody>
                  <a:tcPr marL="72000" marR="72000" marT="40000" marB="40000" anchor="ctr">
                    <a:lnB w="6350">
                      <a:solidFill>
                        <a:srgbClr val="B7CDC2"/>
                      </a:solidFill>
                    </a:lnB>
                    <a:solidFill>
                      <a:srgbClr val="154734"/>
                    </a:solidFill>
                  </a:tcPr>
                </a:tc>
                <a:extLst>
                  <a:ext uri="{0D108BD9-81ED-4DB2-BD59-A6C34878D82A}">
                    <a16:rowId xmlns:a16="http://schemas.microsoft.com/office/drawing/2014/main" val="10000"/>
                  </a:ext>
                </a:extLst>
              </a:tr>
              <a:tr h="571960">
                <a:tc>
                  <a:txBody>
                    <a:bodyPr/>
                    <a:lstStyle/>
                    <a:p>
                      <a:r>
                        <a:rPr lang="en-US" sz="1450">
                          <a:solidFill>
                            <a:schemeClr val="tx1"/>
                          </a:solidFill>
                        </a:rPr>
                        <a:t>Bulk coolant boiling</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2F3F1"/>
                    </a:solidFill>
                  </a:tcPr>
                </a:tc>
                <a:tc>
                  <a:txBody>
                    <a:bodyPr/>
                    <a:lstStyle/>
                    <a:p>
                      <a:r>
                        <a:rPr lang="en-US" sz="1450">
                          <a:solidFill>
                            <a:schemeClr val="tx1"/>
                          </a:solidFill>
                        </a:rPr>
                        <a:t>Heat load above coolant capacity</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2F3F1"/>
                    </a:solidFill>
                  </a:tcPr>
                </a:tc>
                <a:tc>
                  <a:txBody>
                    <a:bodyPr/>
                    <a:lstStyle/>
                    <a:p>
                      <a:r>
                        <a:rPr lang="en-US" sz="1450">
                          <a:solidFill>
                            <a:schemeClr val="tx1"/>
                          </a:solidFill>
                        </a:rPr>
                        <a:t>Outlet P drop, Pc drop</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2F3F1"/>
                    </a:solidFill>
                  </a:tcPr>
                </a:tc>
                <a:tc>
                  <a:txBody>
                    <a:bodyPr/>
                    <a:lstStyle/>
                    <a:p>
                      <a:r>
                        <a:rPr lang="en-US" sz="1450">
                          <a:solidFill>
                            <a:schemeClr val="tx1"/>
                          </a:solidFill>
                        </a:rPr>
                        <a:t>Supply pressure regulation up to 700 psi</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2F3F1"/>
                    </a:solidFill>
                  </a:tcPr>
                </a:tc>
                <a:extLst>
                  <a:ext uri="{0D108BD9-81ED-4DB2-BD59-A6C34878D82A}">
                    <a16:rowId xmlns:a16="http://schemas.microsoft.com/office/drawing/2014/main" val="10001"/>
                  </a:ext>
                </a:extLst>
              </a:tr>
              <a:tr h="571960">
                <a:tc>
                  <a:txBody>
                    <a:bodyPr/>
                    <a:lstStyle/>
                    <a:p>
                      <a:r>
                        <a:rPr lang="en-US" sz="1450">
                          <a:solidFill>
                            <a:schemeClr val="tx1"/>
                          </a:solidFill>
                        </a:rPr>
                        <a:t>Channel blockage</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FFFFF"/>
                    </a:solidFill>
                  </a:tcPr>
                </a:tc>
                <a:tc>
                  <a:txBody>
                    <a:bodyPr/>
                    <a:lstStyle/>
                    <a:p>
                      <a:r>
                        <a:rPr lang="en-US" sz="1450">
                          <a:solidFill>
                            <a:schemeClr val="tx1"/>
                          </a:solidFill>
                        </a:rPr>
                        <a:t>Powder left in a channel</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FFFFF"/>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50">
                          <a:solidFill>
                            <a:schemeClr val="tx1"/>
                          </a:solidFill>
                        </a:rPr>
                        <a:t>Cold flow ΔP</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FFFFF"/>
                    </a:solidFill>
                  </a:tcPr>
                </a:tc>
                <a:tc>
                  <a:txBody>
                    <a:bodyPr/>
                    <a:lstStyle/>
                    <a:p>
                      <a:r>
                        <a:rPr lang="en-US" sz="1450">
                          <a:solidFill>
                            <a:schemeClr val="tx1"/>
                          </a:solidFill>
                        </a:rPr>
                        <a:t>Flow test print</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1960">
                <a:tc>
                  <a:txBody>
                    <a:bodyPr/>
                    <a:lstStyle/>
                    <a:p>
                      <a:r>
                        <a:rPr lang="en-US" sz="1450">
                          <a:solidFill>
                            <a:schemeClr val="tx1"/>
                          </a:solidFill>
                        </a:rPr>
                        <a:t>Hot wall ratcheting</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2F3F1"/>
                    </a:solidFill>
                  </a:tcPr>
                </a:tc>
                <a:tc>
                  <a:txBody>
                    <a:bodyPr/>
                    <a:lstStyle/>
                    <a:p>
                      <a:r>
                        <a:rPr lang="en-US" sz="1450">
                          <a:solidFill>
                            <a:schemeClr val="tx1"/>
                          </a:solidFill>
                        </a:rPr>
                        <a:t>Cyclic thermal strain</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2F3F1"/>
                    </a:solidFill>
                  </a:tcPr>
                </a:tc>
                <a:tc>
                  <a:txBody>
                    <a:bodyPr/>
                    <a:lstStyle/>
                    <a:p>
                      <a:r>
                        <a:rPr lang="en-US" sz="1450">
                          <a:solidFill>
                            <a:schemeClr val="tx1"/>
                          </a:solidFill>
                        </a:rPr>
                        <a:t>Visual ridges between lands</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2F3F1"/>
                    </a:solidFill>
                  </a:tcPr>
                </a:tc>
                <a:tc>
                  <a:txBody>
                    <a:bodyPr/>
                    <a:lstStyle/>
                    <a:p>
                      <a:r>
                        <a:rPr lang="en-US" sz="1450">
                          <a:solidFill>
                            <a:schemeClr val="tx1"/>
                          </a:solidFill>
                        </a:rPr>
                        <a:t>Inspect between fires</a:t>
                      </a:r>
                    </a:p>
                  </a:txBody>
                  <a:tcPr marL="72000" marR="72000" marT="40000" marB="40000" anchor="ctr">
                    <a:lnT w="6350" cap="flat" cmpd="sng" algn="ctr">
                      <a:solidFill>
                        <a:srgbClr val="B7CDC2"/>
                      </a:solidFill>
                      <a:prstDash val="solid"/>
                      <a:round/>
                      <a:headEnd type="none" w="med" len="med"/>
                      <a:tailEnd type="none" w="med" len="med"/>
                    </a:lnT>
                    <a:lnB w="6350" cap="flat" cmpd="sng" algn="ctr">
                      <a:solidFill>
                        <a:srgbClr val="B7CDC2"/>
                      </a:solidFill>
                      <a:prstDash val="solid"/>
                      <a:round/>
                      <a:headEnd type="none" w="med" len="med"/>
                      <a:tailEnd type="none" w="med" len="med"/>
                    </a:lnB>
                    <a:solidFill>
                      <a:srgbClr val="F2F3F1"/>
                    </a:solidFill>
                  </a:tcPr>
                </a:tc>
                <a:extLst>
                  <a:ext uri="{0D108BD9-81ED-4DB2-BD59-A6C34878D82A}">
                    <a16:rowId xmlns:a16="http://schemas.microsoft.com/office/drawing/2014/main" val="829712018"/>
                  </a:ext>
                </a:extLst>
              </a:tr>
              <a:tr h="571960">
                <a:tc>
                  <a:txBody>
                    <a:bodyPr/>
                    <a:lstStyle/>
                    <a:p>
                      <a:r>
                        <a:rPr lang="en-US" sz="1450">
                          <a:solidFill>
                            <a:schemeClr val="tx1"/>
                          </a:solidFill>
                        </a:rPr>
                        <a:t>Ox/fuel seal leak</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450">
                          <a:solidFill>
                            <a:schemeClr val="tx1"/>
                          </a:solidFill>
                        </a:rPr>
                        <a:t>O-ring failure</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450">
                          <a:solidFill>
                            <a:schemeClr val="tx1"/>
                          </a:solidFill>
                        </a:rPr>
                        <a:t>Cold flow testing</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tc>
                  <a:txBody>
                    <a:bodyPr/>
                    <a:lstStyle/>
                    <a:p>
                      <a:r>
                        <a:rPr lang="en-US" sz="1450">
                          <a:solidFill>
                            <a:schemeClr val="tx1"/>
                          </a:solidFill>
                        </a:rPr>
                        <a:t>Double O-rings on every ox/fuel boundary</a:t>
                      </a:r>
                    </a:p>
                  </a:txBody>
                  <a:tcPr marL="72000" marR="72000" marT="40000" marB="40000" anchor="ctr">
                    <a:lnT w="6350" cap="flat" cmpd="sng" algn="ctr">
                      <a:solidFill>
                        <a:srgbClr val="B7CDC2"/>
                      </a:solidFill>
                      <a:prstDash val="solid"/>
                      <a:round/>
                      <a:headEnd type="none" w="med" len="med"/>
                      <a:tailEnd type="none" w="med" len="med"/>
                    </a:lnT>
                    <a:lnB w="6350">
                      <a:solidFill>
                        <a:srgbClr val="B7CDC2"/>
                      </a:solidFill>
                    </a:lnB>
                    <a:solidFill>
                      <a:srgbClr val="FFFFFF"/>
                    </a:solidFill>
                  </a:tcPr>
                </a:tc>
                <a:extLst>
                  <a:ext uri="{0D108BD9-81ED-4DB2-BD59-A6C34878D82A}">
                    <a16:rowId xmlns:a16="http://schemas.microsoft.com/office/drawing/2014/main" val="330136822"/>
                  </a:ext>
                </a:extLst>
              </a:tr>
            </a:tbl>
          </a:graphicData>
        </a:graphic>
      </p:graphicFrame>
    </p:spTree>
    <p:extLst>
      <p:ext uri="{BB962C8B-B14F-4D97-AF65-F5344CB8AC3E}">
        <p14:creationId xmlns:p14="http://schemas.microsoft.com/office/powerpoint/2010/main" val="25923718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E6A32-FB1B-69B8-968F-1934F74BB83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0D15A24-3189-8CA0-4FA7-E8F757EE1B17}"/>
              </a:ext>
            </a:extLst>
          </p:cNvPr>
          <p:cNvSpPr>
            <a:spLocks noGrp="1"/>
          </p:cNvSpPr>
          <p:nvPr>
            <p:ph type="ftr" sz="quarter" idx="16"/>
          </p:nvPr>
        </p:nvSpPr>
        <p:spPr/>
        <p:txBody>
          <a:bodyPr/>
          <a:lstStyle/>
          <a:p>
            <a:r>
              <a:rPr lang="en-US" sz="900">
                <a:latin typeface="Source Sans Pro"/>
                <a:ea typeface="Source Sans Pro"/>
              </a:rPr>
              <a:t>REGEN PDR</a:t>
            </a:r>
          </a:p>
        </p:txBody>
      </p:sp>
      <p:sp>
        <p:nvSpPr>
          <p:cNvPr id="4" name="Slide Number Placeholder 3">
            <a:extLst>
              <a:ext uri="{FF2B5EF4-FFF2-40B4-BE49-F238E27FC236}">
                <a16:creationId xmlns:a16="http://schemas.microsoft.com/office/drawing/2014/main" id="{5B3307D2-EC9A-F6B8-C44F-25F27701D2D8}"/>
              </a:ext>
            </a:extLst>
          </p:cNvPr>
          <p:cNvSpPr>
            <a:spLocks noGrp="1"/>
          </p:cNvSpPr>
          <p:nvPr>
            <p:ph type="sldNum" sz="quarter" idx="17"/>
          </p:nvPr>
        </p:nvSpPr>
        <p:spPr/>
        <p:txBody>
          <a:bodyPr/>
          <a:lstStyle/>
          <a:p>
            <a:r>
              <a:rPr lang="en-US" sz="900">
                <a:latin typeface="Source Sans Pro"/>
                <a:ea typeface="Source Sans Pro"/>
              </a:rPr>
              <a:t>/  50</a:t>
            </a:r>
          </a:p>
        </p:txBody>
      </p:sp>
      <p:sp>
        <p:nvSpPr>
          <p:cNvPr id="5" name="Title 4">
            <a:extLst>
              <a:ext uri="{FF2B5EF4-FFF2-40B4-BE49-F238E27FC236}">
                <a16:creationId xmlns:a16="http://schemas.microsoft.com/office/drawing/2014/main" id="{8BC459F8-D15B-2D95-E2E0-E2176BE3FDA9}"/>
              </a:ext>
            </a:extLst>
          </p:cNvPr>
          <p:cNvSpPr>
            <a:spLocks noGrp="1"/>
          </p:cNvSpPr>
          <p:nvPr>
            <p:ph type="title"/>
          </p:nvPr>
        </p:nvSpPr>
        <p:spPr>
          <a:xfrm>
            <a:off x="531848" y="716984"/>
            <a:ext cx="10265547" cy="625567"/>
          </a:xfrm>
        </p:spPr>
        <p:txBody>
          <a:bodyPr/>
          <a:lstStyle/>
          <a:p>
            <a:r>
              <a:rPr lang="en-US">
                <a:latin typeface="Munistic"/>
              </a:rPr>
              <a:t>Open Risks</a:t>
            </a:r>
            <a:endParaRPr lang="en-US"/>
          </a:p>
        </p:txBody>
      </p:sp>
      <p:sp>
        <p:nvSpPr>
          <p:cNvPr id="6" name="Body 11">
            <a:extLst>
              <a:ext uri="{FF2B5EF4-FFF2-40B4-BE49-F238E27FC236}">
                <a16:creationId xmlns:a16="http://schemas.microsoft.com/office/drawing/2014/main" id="{D7340388-3899-1999-2D30-051D95FF3D99}"/>
              </a:ext>
            </a:extLst>
          </p:cNvPr>
          <p:cNvSpPr txBox="1"/>
          <p:nvPr/>
        </p:nvSpPr>
        <p:spPr>
          <a:xfrm>
            <a:off x="560000" y="1640000"/>
            <a:ext cx="11070000" cy="4360000"/>
          </a:xfrm>
          <a:prstGeom prst="rect">
            <a:avLst/>
          </a:prstGeom>
          <a:noFill/>
        </p:spPr>
        <p:txBody>
          <a:bodyPr wrap="square" lIns="91440" tIns="45720" rIns="91440" bIns="45720" anchor="t">
            <a:noAutofit/>
          </a:bodyPr>
          <a:lstStyle/>
          <a:p>
            <a:pPr marL="285750" indent="-285750">
              <a:spcBef>
                <a:spcPts val="600"/>
              </a:spcBef>
              <a:buClr>
                <a:srgbClr val="BD8B13"/>
              </a:buClr>
              <a:buFont typeface="Arial"/>
              <a:buChar char="•"/>
            </a:pPr>
            <a:r>
              <a:rPr lang="en-US" sz="2200">
                <a:solidFill>
                  <a:schemeClr val="tx1"/>
                </a:solidFill>
              </a:rPr>
              <a:t>Bulk coolant margin</a:t>
            </a:r>
          </a:p>
          <a:p>
            <a:pPr marL="285750" indent="-285750">
              <a:spcBef>
                <a:spcPts val="600"/>
              </a:spcBef>
              <a:buClr>
                <a:srgbClr val="BD8B13"/>
              </a:buClr>
              <a:buFont typeface="Arial"/>
              <a:buChar char="•"/>
            </a:pPr>
            <a:r>
              <a:rPr lang="en-US" sz="2200">
                <a:solidFill>
                  <a:schemeClr val="tx1"/>
                </a:solidFill>
              </a:rPr>
              <a:t>Injector face thermal load not analyzed</a:t>
            </a:r>
          </a:p>
          <a:p>
            <a:pPr marL="285750" indent="-285750">
              <a:spcBef>
                <a:spcPts val="600"/>
              </a:spcBef>
              <a:buClr>
                <a:srgbClr val="BD8B13"/>
              </a:buClr>
              <a:buFont typeface="Arial"/>
              <a:buChar char="•"/>
            </a:pPr>
            <a:r>
              <a:rPr lang="en-US" sz="2200">
                <a:solidFill>
                  <a:schemeClr val="tx1"/>
                </a:solidFill>
              </a:rPr>
              <a:t>Channel roughness and blockage unmeasured until cold flow</a:t>
            </a:r>
          </a:p>
          <a:p>
            <a:pPr marL="285750" indent="-285750">
              <a:spcBef>
                <a:spcPts val="600"/>
              </a:spcBef>
              <a:buClr>
                <a:srgbClr val="BD8B13"/>
              </a:buClr>
              <a:buFont typeface="Arial"/>
              <a:buChar char="•"/>
            </a:pPr>
            <a:r>
              <a:rPr lang="en-US" sz="2200">
                <a:solidFill>
                  <a:schemeClr val="tx1"/>
                </a:solidFill>
              </a:rPr>
              <a:t>Throat bore roughness</a:t>
            </a:r>
          </a:p>
        </p:txBody>
      </p:sp>
    </p:spTree>
    <p:extLst>
      <p:ext uri="{BB962C8B-B14F-4D97-AF65-F5344CB8AC3E}">
        <p14:creationId xmlns:p14="http://schemas.microsoft.com/office/powerpoint/2010/main" val="5994467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0BA88-E3CD-769C-6972-3C189D9AAC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7A75C8-3A89-E09C-C8FB-86914F574D7F}"/>
              </a:ext>
            </a:extLst>
          </p:cNvPr>
          <p:cNvSpPr>
            <a:spLocks noGrp="1"/>
          </p:cNvSpPr>
          <p:nvPr>
            <p:ph type="title"/>
          </p:nvPr>
        </p:nvSpPr>
        <p:spPr/>
        <p:txBody>
          <a:bodyPr/>
          <a:lstStyle/>
          <a:p>
            <a:r>
              <a:rPr lang="en-US"/>
              <a:t>End of Failures &amp; Risks</a:t>
            </a:r>
          </a:p>
        </p:txBody>
      </p:sp>
      <p:sp>
        <p:nvSpPr>
          <p:cNvPr id="3" name="Text Placeholder 2">
            <a:extLst>
              <a:ext uri="{FF2B5EF4-FFF2-40B4-BE49-F238E27FC236}">
                <a16:creationId xmlns:a16="http://schemas.microsoft.com/office/drawing/2014/main" id="{AEC1AB22-07E2-109D-3ED4-8A1ABCAFCD25}"/>
              </a:ext>
            </a:extLst>
          </p:cNvPr>
          <p:cNvSpPr>
            <a:spLocks noGrp="1"/>
          </p:cNvSpPr>
          <p:nvPr>
            <p:ph type="body" sz="quarter" idx="11"/>
          </p:nvPr>
        </p:nvSpPr>
        <p:spPr>
          <a:xfrm>
            <a:off x="3722619" y="3257835"/>
            <a:ext cx="4612283" cy="342329"/>
          </a:xfrm>
        </p:spPr>
        <p:txBody>
          <a:bodyPr/>
          <a:lstStyle/>
          <a:p>
            <a:r>
              <a:rPr lang="en-US" sz="7200" b="1"/>
              <a:t>Questions?</a:t>
            </a:r>
          </a:p>
        </p:txBody>
      </p:sp>
    </p:spTree>
    <p:extLst>
      <p:ext uri="{BB962C8B-B14F-4D97-AF65-F5344CB8AC3E}">
        <p14:creationId xmlns:p14="http://schemas.microsoft.com/office/powerpoint/2010/main" val="24334748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F0407-2B81-8F39-F788-7D6090D63F7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C38729B-90D4-FFCA-A8CE-420CF4D2C5F3}"/>
              </a:ext>
            </a:extLst>
          </p:cNvPr>
          <p:cNvSpPr>
            <a:spLocks noGrp="1"/>
          </p:cNvSpPr>
          <p:nvPr>
            <p:ph type="ftr" sz="quarter" idx="16"/>
          </p:nvPr>
        </p:nvSpPr>
        <p:spPr/>
        <p:txBody>
          <a:bodyPr/>
          <a:lstStyle/>
          <a:p>
            <a:r>
              <a:rPr lang="en-US" sz="900">
                <a:latin typeface="Source Sans Pro"/>
                <a:ea typeface="Source Sans Pro"/>
              </a:rPr>
              <a:t>REGEN PDR</a:t>
            </a:r>
          </a:p>
        </p:txBody>
      </p:sp>
      <p:sp>
        <p:nvSpPr>
          <p:cNvPr id="4" name="Slide Number Placeholder 3">
            <a:extLst>
              <a:ext uri="{FF2B5EF4-FFF2-40B4-BE49-F238E27FC236}">
                <a16:creationId xmlns:a16="http://schemas.microsoft.com/office/drawing/2014/main" id="{7D733099-C345-4634-50FA-377E33661572}"/>
              </a:ext>
            </a:extLst>
          </p:cNvPr>
          <p:cNvSpPr>
            <a:spLocks noGrp="1"/>
          </p:cNvSpPr>
          <p:nvPr>
            <p:ph type="sldNum" sz="quarter" idx="17"/>
          </p:nvPr>
        </p:nvSpPr>
        <p:spPr/>
        <p:txBody>
          <a:bodyPr/>
          <a:lstStyle/>
          <a:p>
            <a:r>
              <a:rPr lang="en-US" sz="900">
                <a:latin typeface="Source Sans Pro"/>
                <a:ea typeface="Source Sans Pro"/>
              </a:rPr>
              <a:t>/  52</a:t>
            </a:r>
          </a:p>
        </p:txBody>
      </p:sp>
      <p:sp>
        <p:nvSpPr>
          <p:cNvPr id="5" name="Title 4">
            <a:extLst>
              <a:ext uri="{FF2B5EF4-FFF2-40B4-BE49-F238E27FC236}">
                <a16:creationId xmlns:a16="http://schemas.microsoft.com/office/drawing/2014/main" id="{7415F153-8F9E-CCE6-72F8-545E79455A6C}"/>
              </a:ext>
            </a:extLst>
          </p:cNvPr>
          <p:cNvSpPr>
            <a:spLocks noGrp="1"/>
          </p:cNvSpPr>
          <p:nvPr>
            <p:ph type="title"/>
          </p:nvPr>
        </p:nvSpPr>
        <p:spPr>
          <a:xfrm>
            <a:off x="531848" y="716984"/>
            <a:ext cx="10265547" cy="625567"/>
          </a:xfrm>
        </p:spPr>
        <p:txBody>
          <a:bodyPr/>
          <a:lstStyle/>
          <a:p>
            <a:r>
              <a:rPr lang="en-US">
                <a:latin typeface="Munistic"/>
              </a:rPr>
              <a:t>References</a:t>
            </a:r>
            <a:endParaRPr lang="en-US"/>
          </a:p>
        </p:txBody>
      </p:sp>
      <p:sp>
        <p:nvSpPr>
          <p:cNvPr id="7" name="Body 11">
            <a:extLst>
              <a:ext uri="{FF2B5EF4-FFF2-40B4-BE49-F238E27FC236}">
                <a16:creationId xmlns:a16="http://schemas.microsoft.com/office/drawing/2014/main" id="{D08545EB-C349-732A-0D18-12EC52315B3A}"/>
              </a:ext>
            </a:extLst>
          </p:cNvPr>
          <p:cNvSpPr txBox="1"/>
          <p:nvPr/>
        </p:nvSpPr>
        <p:spPr>
          <a:xfrm>
            <a:off x="560000" y="1640000"/>
            <a:ext cx="11070000" cy="4360000"/>
          </a:xfrm>
          <a:prstGeom prst="rect">
            <a:avLst/>
          </a:prstGeom>
          <a:noFill/>
        </p:spPr>
        <p:txBody>
          <a:bodyPr wrap="square" lIns="91440" tIns="45720" rIns="91440" bIns="45720" anchor="t">
            <a:noAutofit/>
          </a:bodyPr>
          <a:lstStyle/>
          <a:p>
            <a:pPr marL="285750" indent="-285750">
              <a:spcBef>
                <a:spcPts val="300"/>
              </a:spcBef>
              <a:buClr>
                <a:srgbClr val="BD8B13"/>
              </a:buClr>
              <a:buFont typeface="Arial"/>
              <a:buChar char="•"/>
            </a:pPr>
            <a:r>
              <a:rPr lang="en-US" sz="1300" err="1">
                <a:solidFill>
                  <a:schemeClr val="tx1"/>
                </a:solidFill>
              </a:rPr>
              <a:t>Huzel</a:t>
            </a:r>
            <a:r>
              <a:rPr lang="en-US" sz="1300">
                <a:solidFill>
                  <a:schemeClr val="tx1"/>
                </a:solidFill>
              </a:rPr>
              <a:t> &amp; Huang, Modern Engineering for Design of Liquid-Propellant Rocket Engines</a:t>
            </a:r>
          </a:p>
          <a:p>
            <a:pPr marL="285750" indent="-285750">
              <a:spcBef>
                <a:spcPts val="300"/>
              </a:spcBef>
              <a:buClr>
                <a:srgbClr val="BD8B13"/>
              </a:buClr>
              <a:buFont typeface="Arial"/>
              <a:buChar char="•"/>
            </a:pPr>
            <a:r>
              <a:rPr lang="en-US" sz="1300">
                <a:solidFill>
                  <a:schemeClr val="tx1"/>
                </a:solidFill>
              </a:rPr>
              <a:t>Sutton &amp; </a:t>
            </a:r>
            <a:r>
              <a:rPr lang="en-US" sz="1300" err="1">
                <a:solidFill>
                  <a:schemeClr val="tx1"/>
                </a:solidFill>
              </a:rPr>
              <a:t>Biblarz</a:t>
            </a:r>
            <a:r>
              <a:rPr lang="en-US" sz="1300">
                <a:solidFill>
                  <a:schemeClr val="tx1"/>
                </a:solidFill>
              </a:rPr>
              <a:t>, Rocket Propulsion Elements</a:t>
            </a:r>
          </a:p>
          <a:p>
            <a:pPr marL="285750" indent="-285750">
              <a:spcBef>
                <a:spcPts val="300"/>
              </a:spcBef>
              <a:buClr>
                <a:srgbClr val="BD8B13"/>
              </a:buClr>
              <a:buFont typeface="Arial"/>
              <a:buChar char="•"/>
            </a:pPr>
            <a:r>
              <a:rPr lang="en-US" sz="1300">
                <a:solidFill>
                  <a:schemeClr val="tx1"/>
                </a:solidFill>
              </a:rPr>
              <a:t>Bartz, A Simple Equation for Rapid Estimation of Rocket Nozzle Convective Heat Transfer Coefficients, 1957</a:t>
            </a:r>
          </a:p>
          <a:p>
            <a:pPr marL="285750" indent="-285750">
              <a:spcBef>
                <a:spcPts val="300"/>
              </a:spcBef>
              <a:buClr>
                <a:srgbClr val="BD8B13"/>
              </a:buClr>
              <a:buFont typeface="Arial"/>
              <a:buChar char="•"/>
            </a:pPr>
            <a:r>
              <a:rPr lang="en-US" sz="1300">
                <a:solidFill>
                  <a:schemeClr val="tx1"/>
                </a:solidFill>
              </a:rPr>
              <a:t>Smith, A Comparison of Experimental Heat-Transfer Coefficients in a Nozzle with Analytical Predictions from Bartz's Methods</a:t>
            </a:r>
          </a:p>
          <a:p>
            <a:pPr marL="285750" indent="-285750">
              <a:spcBef>
                <a:spcPts val="300"/>
              </a:spcBef>
              <a:buClr>
                <a:srgbClr val="BD8B13"/>
              </a:buClr>
              <a:buFont typeface="Arial"/>
              <a:buChar char="•"/>
            </a:pPr>
            <a:r>
              <a:rPr lang="en-US" sz="1300" err="1">
                <a:solidFill>
                  <a:schemeClr val="tx1"/>
                </a:solidFill>
              </a:rPr>
              <a:t>Lv</a:t>
            </a:r>
            <a:r>
              <a:rPr lang="en-US" sz="1300">
                <a:solidFill>
                  <a:schemeClr val="tx1"/>
                </a:solidFill>
              </a:rPr>
              <a:t> et al., Heat Transfer Analysis and Structural Optimization for Spiral Channel Regenerative Cooling Thrust Chamber, Int. J. Aerospace Eng., 2023</a:t>
            </a:r>
          </a:p>
          <a:p>
            <a:pPr marL="285750" indent="-285750">
              <a:spcBef>
                <a:spcPts val="300"/>
              </a:spcBef>
              <a:buClr>
                <a:srgbClr val="BD8B13"/>
              </a:buClr>
              <a:buFont typeface="Arial"/>
              <a:buChar char="•"/>
            </a:pPr>
            <a:r>
              <a:rPr lang="en-US" sz="1300">
                <a:solidFill>
                  <a:schemeClr val="tx1"/>
                </a:solidFill>
              </a:rPr>
              <a:t>Design of the Regenerative Cooling System for a 4 </a:t>
            </a:r>
            <a:r>
              <a:rPr lang="en-US" sz="1300" err="1">
                <a:solidFill>
                  <a:schemeClr val="tx1"/>
                </a:solidFill>
              </a:rPr>
              <a:t>kN</a:t>
            </a:r>
            <a:r>
              <a:rPr lang="en-US" sz="1300">
                <a:solidFill>
                  <a:schemeClr val="tx1"/>
                </a:solidFill>
              </a:rPr>
              <a:t> LOX/Ethanol Engine, EUCASS2023-035</a:t>
            </a:r>
          </a:p>
          <a:p>
            <a:pPr marL="285750" indent="-285750">
              <a:spcBef>
                <a:spcPts val="300"/>
              </a:spcBef>
              <a:buClr>
                <a:srgbClr val="BD8B13"/>
              </a:buClr>
              <a:buFont typeface="Arial"/>
              <a:buChar char="•"/>
            </a:pPr>
            <a:r>
              <a:rPr lang="en-US" sz="1300">
                <a:solidFill>
                  <a:schemeClr val="tx1"/>
                </a:solidFill>
              </a:rPr>
              <a:t>Gandara, Costa &amp; Dias, A novel heat transfer modeling methodology for regenerative cooling in liquid rocket engines</a:t>
            </a:r>
          </a:p>
          <a:p>
            <a:pPr marL="285750" indent="-285750">
              <a:spcBef>
                <a:spcPts val="300"/>
              </a:spcBef>
              <a:buClr>
                <a:srgbClr val="BD8B13"/>
              </a:buClr>
              <a:buFont typeface="Arial"/>
              <a:buChar char="•"/>
            </a:pPr>
            <a:r>
              <a:rPr lang="en-US" sz="1300">
                <a:solidFill>
                  <a:schemeClr val="tx1"/>
                </a:solidFill>
              </a:rPr>
              <a:t>Gnielinski, New equations for heat and mass transfer in turbulent pipe and channel flow, 1976</a:t>
            </a:r>
          </a:p>
          <a:p>
            <a:pPr marL="285750" indent="-285750">
              <a:spcBef>
                <a:spcPts val="300"/>
              </a:spcBef>
              <a:buClr>
                <a:srgbClr val="BD8B13"/>
              </a:buClr>
              <a:buFont typeface="Arial"/>
              <a:buChar char="•"/>
            </a:pPr>
            <a:r>
              <a:rPr lang="en-US" sz="1300">
                <a:solidFill>
                  <a:schemeClr val="tx1"/>
                </a:solidFill>
              </a:rPr>
              <a:t>Dyer et al., Modeling Feed System Flow Physics for Self-Pressurizing Propellants, 2007</a:t>
            </a:r>
          </a:p>
          <a:p>
            <a:pPr marL="285750" indent="-285750">
              <a:spcBef>
                <a:spcPts val="300"/>
              </a:spcBef>
              <a:buClr>
                <a:srgbClr val="BD8B13"/>
              </a:buClr>
              <a:buFont typeface="Arial"/>
              <a:buChar char="•"/>
            </a:pPr>
            <a:r>
              <a:rPr lang="en-US" sz="1300">
                <a:solidFill>
                  <a:schemeClr val="tx1"/>
                </a:solidFill>
              </a:rPr>
              <a:t>Luna et al., A Two-Phase Mass Flow Rate Model for Nitrous Oxide Based on Void Fraction</a:t>
            </a:r>
          </a:p>
          <a:p>
            <a:pPr marL="285750" indent="-285750">
              <a:spcBef>
                <a:spcPts val="300"/>
              </a:spcBef>
              <a:buClr>
                <a:srgbClr val="BD8B13"/>
              </a:buClr>
              <a:buFont typeface="Arial"/>
              <a:buChar char="•"/>
            </a:pPr>
            <a:r>
              <a:rPr lang="en-US" sz="1300">
                <a:solidFill>
                  <a:schemeClr val="tx1"/>
                </a:solidFill>
              </a:rPr>
              <a:t>Project Sisyphus: An Ethanol-Nitrous Oxide Regeneratively-Cooled Liquid Rocket Engine, Waterloo Rocketry</a:t>
            </a:r>
          </a:p>
          <a:p>
            <a:pPr marL="285750" indent="-285750">
              <a:spcBef>
                <a:spcPts val="300"/>
              </a:spcBef>
              <a:buClr>
                <a:srgbClr val="BD8B13"/>
              </a:buClr>
              <a:buFont typeface="Arial"/>
              <a:buChar char="•"/>
            </a:pPr>
            <a:r>
              <a:rPr lang="en-US" sz="1300"/>
              <a:t>Adrian, Particle image velocimetry measurement in the exhaust of a solid rocket motor, 2004</a:t>
            </a:r>
            <a:endParaRPr lang="en-US" sz="1300">
              <a:solidFill>
                <a:schemeClr val="tx1"/>
              </a:solidFill>
            </a:endParaRPr>
          </a:p>
        </p:txBody>
      </p:sp>
    </p:spTree>
    <p:extLst>
      <p:ext uri="{BB962C8B-B14F-4D97-AF65-F5344CB8AC3E}">
        <p14:creationId xmlns:p14="http://schemas.microsoft.com/office/powerpoint/2010/main" val="31613956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43BDFAB-E03B-F5CA-D4BA-F7E3664EA1F6}"/>
              </a:ext>
            </a:extLst>
          </p:cNvPr>
          <p:cNvSpPr>
            <a:spLocks noGrp="1"/>
          </p:cNvSpPr>
          <p:nvPr>
            <p:ph type="title"/>
          </p:nvPr>
        </p:nvSpPr>
        <p:spPr/>
        <p:txBody>
          <a:bodyPr/>
          <a:lstStyle/>
          <a:p>
            <a:r>
              <a:rPr lang="en-US">
                <a:latin typeface="Munistic"/>
              </a:rPr>
              <a:t>Final Questions?</a:t>
            </a:r>
            <a:endParaRPr lang="en-US"/>
          </a:p>
        </p:txBody>
      </p:sp>
      <p:sp>
        <p:nvSpPr>
          <p:cNvPr id="4" name="Slide Number Placeholder 3">
            <a:extLst>
              <a:ext uri="{FF2B5EF4-FFF2-40B4-BE49-F238E27FC236}">
                <a16:creationId xmlns:a16="http://schemas.microsoft.com/office/drawing/2014/main" id="{9CA947D3-655A-6E02-612F-B19DF7C809E3}"/>
              </a:ext>
            </a:extLst>
          </p:cNvPr>
          <p:cNvSpPr>
            <a:spLocks noGrp="1"/>
          </p:cNvSpPr>
          <p:nvPr>
            <p:ph type="sldNum" sz="quarter" idx="4294967295"/>
          </p:nvPr>
        </p:nvSpPr>
        <p:spPr>
          <a:xfrm>
            <a:off x="10725912" y="6351588"/>
            <a:ext cx="1466088" cy="365125"/>
          </a:xfrm>
        </p:spPr>
        <p:txBody>
          <a:bodyPr/>
          <a:lstStyle/>
          <a:p>
            <a:r>
              <a:rPr lang="en-US"/>
              <a:t> REGEN PDR        /   53</a:t>
            </a:r>
          </a:p>
        </p:txBody>
      </p:sp>
      <p:sp>
        <p:nvSpPr>
          <p:cNvPr id="2" name="TextBox 1">
            <a:extLst>
              <a:ext uri="{FF2B5EF4-FFF2-40B4-BE49-F238E27FC236}">
                <a16:creationId xmlns:a16="http://schemas.microsoft.com/office/drawing/2014/main" id="{D102C648-DF9F-6AAD-48D9-407DB700FB49}"/>
              </a:ext>
            </a:extLst>
          </p:cNvPr>
          <p:cNvSpPr txBox="1"/>
          <p:nvPr/>
        </p:nvSpPr>
        <p:spPr>
          <a:xfrm>
            <a:off x="2905008" y="2824574"/>
            <a:ext cx="639186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No question is a bad question.</a:t>
            </a:r>
            <a:endParaRPr lang="en-US"/>
          </a:p>
          <a:p>
            <a:pPr algn="ctr"/>
            <a:r>
              <a:rPr lang="en-US">
                <a:ea typeface="Calibri"/>
                <a:cs typeface="Calibri"/>
              </a:rPr>
              <a:t>They will allow for us to critically think about our system and reason a proper solution to problems that might arise.</a:t>
            </a:r>
          </a:p>
        </p:txBody>
      </p:sp>
    </p:spTree>
    <p:extLst>
      <p:ext uri="{BB962C8B-B14F-4D97-AF65-F5344CB8AC3E}">
        <p14:creationId xmlns:p14="http://schemas.microsoft.com/office/powerpoint/2010/main" val="12864171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1910D59-985B-0706-5C8F-F7B9C6595596}"/>
              </a:ext>
            </a:extLst>
          </p:cNvPr>
          <p:cNvPicPr>
            <a:picLocks noChangeAspect="1"/>
          </p:cNvPicPr>
          <p:nvPr/>
        </p:nvPicPr>
        <p:blipFill>
          <a:blip r:embed="rId3"/>
          <a:stretch>
            <a:fillRect/>
          </a:stretch>
        </p:blipFill>
        <p:spPr>
          <a:xfrm>
            <a:off x="390362" y="507385"/>
            <a:ext cx="11251647" cy="5560115"/>
          </a:xfrm>
          <a:prstGeom prst="rect">
            <a:avLst/>
          </a:prstGeom>
        </p:spPr>
      </p:pic>
      <p:sp>
        <p:nvSpPr>
          <p:cNvPr id="3" name="Slide Number Placeholder 2">
            <a:extLst>
              <a:ext uri="{FF2B5EF4-FFF2-40B4-BE49-F238E27FC236}">
                <a16:creationId xmlns:a16="http://schemas.microsoft.com/office/drawing/2014/main" id="{8C482E5D-04F4-1A63-3AC9-4E74919D19F5}"/>
              </a:ext>
            </a:extLst>
          </p:cNvPr>
          <p:cNvSpPr>
            <a:spLocks noGrp="1"/>
          </p:cNvSpPr>
          <p:nvPr>
            <p:ph type="sldNum" sz="quarter" idx="15"/>
          </p:nvPr>
        </p:nvSpPr>
        <p:spPr/>
        <p:txBody>
          <a:bodyPr/>
          <a:lstStyle/>
          <a:p>
            <a:r>
              <a:rPr lang="en-US"/>
              <a:t>/   54</a:t>
            </a:r>
          </a:p>
        </p:txBody>
      </p:sp>
      <p:sp>
        <p:nvSpPr>
          <p:cNvPr id="2" name="Footer Placeholder 1">
            <a:extLst>
              <a:ext uri="{FF2B5EF4-FFF2-40B4-BE49-F238E27FC236}">
                <a16:creationId xmlns:a16="http://schemas.microsoft.com/office/drawing/2014/main" id="{8C09FB0B-F5FC-A845-18E9-0BFABC04459C}"/>
              </a:ext>
            </a:extLst>
          </p:cNvPr>
          <p:cNvSpPr>
            <a:spLocks noGrp="1"/>
          </p:cNvSpPr>
          <p:nvPr>
            <p:ph type="ftr" sz="quarter" idx="14"/>
          </p:nvPr>
        </p:nvSpPr>
        <p:spPr/>
        <p:txBody>
          <a:bodyPr/>
          <a:lstStyle/>
          <a:p>
            <a:r>
              <a:rPr lang="en-US"/>
              <a:t>REGEN PDR</a:t>
            </a:r>
          </a:p>
        </p:txBody>
      </p:sp>
    </p:spTree>
    <p:extLst>
      <p:ext uri="{BB962C8B-B14F-4D97-AF65-F5344CB8AC3E}">
        <p14:creationId xmlns:p14="http://schemas.microsoft.com/office/powerpoint/2010/main" val="30324881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4181015-0B58-A357-FAE4-DF9C94B18ECF}"/>
              </a:ext>
            </a:extLst>
          </p:cNvPr>
          <p:cNvSpPr>
            <a:spLocks noGrp="1"/>
          </p:cNvSpPr>
          <p:nvPr>
            <p:ph type="body" sz="quarter" idx="15"/>
          </p:nvPr>
        </p:nvSpPr>
        <p:spPr>
          <a:xfrm>
            <a:off x="716279" y="1715476"/>
            <a:ext cx="10871200" cy="4033401"/>
          </a:xfrm>
        </p:spPr>
        <p:txBody>
          <a:bodyPr vert="horz" lIns="91440" tIns="45720" rIns="91440" bIns="45720" numCol="2" spcCol="457200" rtlCol="0" anchor="t">
            <a:noAutofit/>
          </a:bodyPr>
          <a:lstStyle/>
          <a:p>
            <a:pPr marL="380365" indent="-258445"/>
            <a:r>
              <a:rPr lang="en-US" sz="1850">
                <a:ea typeface="Source Sans Pro"/>
                <a:cs typeface="Calibri" panose="020F0502020204030204"/>
              </a:rPr>
              <a:t>Pictures and diagrams are very useful, need to incorporate more . Full breakdown of physical structure and material early on in the beginning so audience can visual and what you are talking about. Same thing for colors on SolidWorks.</a:t>
            </a:r>
          </a:p>
          <a:p>
            <a:pPr marL="380365" indent="-258445"/>
            <a:r>
              <a:rPr lang="en-US" sz="1850">
                <a:ea typeface="Source Sans Pro"/>
                <a:cs typeface="Calibri" panose="020F0502020204030204"/>
              </a:rPr>
              <a:t>ECF %RTF, table with materials, values, results, FOS, margin, and positive (emphasizing how much greater your found value is than margin value)</a:t>
            </a:r>
          </a:p>
          <a:p>
            <a:pPr marL="380365" indent="-258445"/>
            <a:r>
              <a:rPr lang="en-US" sz="1850">
                <a:ea typeface="Source Sans Pro"/>
                <a:cs typeface="Calibri" panose="020F0502020204030204"/>
              </a:rPr>
              <a:t>Always put assumptions, can be valuable to put them at the beginning of calcs instead of the end.</a:t>
            </a:r>
          </a:p>
          <a:p>
            <a:pPr marL="380365" indent="-258445"/>
            <a:r>
              <a:rPr lang="en-US" sz="1850">
                <a:ea typeface="Source Sans Pro"/>
                <a:cs typeface="Calibri" panose="020F0502020204030204"/>
              </a:rPr>
              <a:t>Citations!!!</a:t>
            </a:r>
            <a:endParaRPr lang="en-US" sz="1850">
              <a:cs typeface="Calibri" panose="020F0502020204030204"/>
            </a:endParaRPr>
          </a:p>
        </p:txBody>
      </p:sp>
      <p:sp>
        <p:nvSpPr>
          <p:cNvPr id="3" name="Footer Placeholder 2">
            <a:extLst>
              <a:ext uri="{FF2B5EF4-FFF2-40B4-BE49-F238E27FC236}">
                <a16:creationId xmlns:a16="http://schemas.microsoft.com/office/drawing/2014/main" id="{941E8F86-91B2-A755-B9BF-18C3C1DEAEC4}"/>
              </a:ext>
            </a:extLst>
          </p:cNvPr>
          <p:cNvSpPr>
            <a:spLocks noGrp="1"/>
          </p:cNvSpPr>
          <p:nvPr>
            <p:ph type="ftr" sz="quarter" idx="16"/>
          </p:nvPr>
        </p:nvSpPr>
        <p:spPr/>
        <p:txBody>
          <a:bodyPr/>
          <a:lstStyle/>
          <a:p>
            <a:r>
              <a:rPr lang="en-US"/>
              <a:t>TVC PDR</a:t>
            </a:r>
          </a:p>
        </p:txBody>
      </p:sp>
      <p:sp>
        <p:nvSpPr>
          <p:cNvPr id="4" name="Slide Number Placeholder 3">
            <a:extLst>
              <a:ext uri="{FF2B5EF4-FFF2-40B4-BE49-F238E27FC236}">
                <a16:creationId xmlns:a16="http://schemas.microsoft.com/office/drawing/2014/main" id="{A7E69028-519D-2882-4CFF-5C4D54DA2933}"/>
              </a:ext>
            </a:extLst>
          </p:cNvPr>
          <p:cNvSpPr>
            <a:spLocks noGrp="1"/>
          </p:cNvSpPr>
          <p:nvPr>
            <p:ph type="sldNum" sz="quarter" idx="17"/>
          </p:nvPr>
        </p:nvSpPr>
        <p:spPr/>
        <p:txBody>
          <a:bodyPr/>
          <a:lstStyle/>
          <a:p>
            <a:r>
              <a:rPr lang="en-US"/>
              <a:t>/   </a:t>
            </a:r>
            <a:fld id="{6C7E6F33-74EE-5541-8108-8353B402F8C1}" type="slidenum">
              <a:rPr lang="en-US" smtClean="0"/>
              <a:pPr/>
              <a:t>57</a:t>
            </a:fld>
            <a:endParaRPr lang="en-US"/>
          </a:p>
        </p:txBody>
      </p:sp>
      <p:sp>
        <p:nvSpPr>
          <p:cNvPr id="5" name="Title 4">
            <a:extLst>
              <a:ext uri="{FF2B5EF4-FFF2-40B4-BE49-F238E27FC236}">
                <a16:creationId xmlns:a16="http://schemas.microsoft.com/office/drawing/2014/main" id="{0E51E080-8B77-CA4B-B275-08A8A4549D63}"/>
              </a:ext>
            </a:extLst>
          </p:cNvPr>
          <p:cNvSpPr>
            <a:spLocks noGrp="1"/>
          </p:cNvSpPr>
          <p:nvPr>
            <p:ph type="title"/>
          </p:nvPr>
        </p:nvSpPr>
        <p:spPr/>
        <p:txBody>
          <a:bodyPr/>
          <a:lstStyle/>
          <a:p>
            <a:r>
              <a:rPr lang="en-US">
                <a:latin typeface="Munistic"/>
              </a:rPr>
              <a:t>Notes PDR</a:t>
            </a:r>
            <a:endParaRPr lang="en-US"/>
          </a:p>
        </p:txBody>
      </p:sp>
    </p:spTree>
    <p:extLst>
      <p:ext uri="{BB962C8B-B14F-4D97-AF65-F5344CB8AC3E}">
        <p14:creationId xmlns:p14="http://schemas.microsoft.com/office/powerpoint/2010/main" val="254185135"/>
      </p:ext>
    </p:extLst>
  </p:cSld>
  <p:clrMapOvr>
    <a:masterClrMapping/>
  </p:clrMapOvr>
</p:sld>
</file>

<file path=ppt/theme/theme1.xml><?xml version="1.0" encoding="utf-8"?>
<a:theme xmlns:a="http://schemas.openxmlformats.org/drawingml/2006/main" name="CPSSTemplateTheme2024">
  <a:themeElements>
    <a:clrScheme name="Cal Poly Brand">
      <a:dk1>
        <a:srgbClr val="154734"/>
      </a:dk1>
      <a:lt1>
        <a:srgbClr val="FFFFFF"/>
      </a:lt1>
      <a:dk2>
        <a:srgbClr val="545859"/>
      </a:dk2>
      <a:lt2>
        <a:srgbClr val="F2F3F1"/>
      </a:lt2>
      <a:accent1>
        <a:srgbClr val="BD8B13"/>
      </a:accent1>
      <a:accent2>
        <a:srgbClr val="597D71"/>
      </a:accent2>
      <a:accent3>
        <a:srgbClr val="348338"/>
      </a:accent3>
      <a:accent4>
        <a:srgbClr val="FFC000"/>
      </a:accent4>
      <a:accent5>
        <a:srgbClr val="B7CDC2"/>
      </a:accent5>
      <a:accent6>
        <a:srgbClr val="F2F3F1"/>
      </a:accent6>
      <a:hlink>
        <a:srgbClr val="BD8A12"/>
      </a:hlink>
      <a:folHlink>
        <a:srgbClr val="535758"/>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AA3B80F5A6244FBAADB4C94974CE15" ma:contentTypeVersion="10" ma:contentTypeDescription="Create a new document." ma:contentTypeScope="" ma:versionID="35daaaee8b3d73354048c056273192c3">
  <xsd:schema xmlns:xsd="http://www.w3.org/2001/XMLSchema" xmlns:xs="http://www.w3.org/2001/XMLSchema" xmlns:p="http://schemas.microsoft.com/office/2006/metadata/properties" xmlns:ns3="0e50d208-1671-499b-89b9-bfda6265a9c8" targetNamespace="http://schemas.microsoft.com/office/2006/metadata/properties" ma:root="true" ma:fieldsID="72945a4e12aee1eff9323394f7af8636" ns3:_="">
    <xsd:import namespace="0e50d208-1671-499b-89b9-bfda6265a9c8"/>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50d208-1671-499b-89b9-bfda6265a9c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0e50d208-1671-499b-89b9-bfda6265a9c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32D5CA5-2F19-4EBE-B415-4888B6B9CE6B}">
  <ds:schemaRefs>
    <ds:schemaRef ds:uri="0e50d208-1671-499b-89b9-bfda6265a9c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2.xml><?xml version="1.0" encoding="utf-8"?>
<ds:datastoreItem xmlns:ds="http://schemas.openxmlformats.org/officeDocument/2006/customXml" ds:itemID="{FF217EE6-0923-4EB7-A904-336E3A229A15}">
  <ds:schemaRefs>
    <ds:schemaRef ds:uri="http://purl.org/dc/dcmitype/"/>
    <ds:schemaRef ds:uri="http://schemas.microsoft.com/office/2006/metadata/properties"/>
    <ds:schemaRef ds:uri="http://schemas.microsoft.com/office/2006/documentManagement/types"/>
    <ds:schemaRef ds:uri="0e50d208-1671-499b-89b9-bfda6265a9c8"/>
    <ds:schemaRef ds:uri="http://www.w3.org/XML/1998/namespace"/>
    <ds:schemaRef ds:uri="http://purl.org/dc/elements/1.1/"/>
    <ds:schemaRef ds:uri="http://purl.org/dc/terms/"/>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98094365-CCCB-4B07-A86A-CA358CD41A7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3592</Words>
  <Application>Microsoft Office PowerPoint</Application>
  <PresentationFormat>Widescreen</PresentationFormat>
  <Paragraphs>551</Paragraphs>
  <Slides>57</Slides>
  <Notes>10</Notes>
  <HiddenSlides>2</HiddenSlides>
  <MMClips>0</MMClips>
  <ScaleCrop>false</ScaleCrop>
  <HeadingPairs>
    <vt:vector size="4" baseType="variant">
      <vt:variant>
        <vt:lpstr>Theme</vt:lpstr>
      </vt:variant>
      <vt:variant>
        <vt:i4>1</vt:i4>
      </vt:variant>
      <vt:variant>
        <vt:lpstr>Slide Titles</vt:lpstr>
      </vt:variant>
      <vt:variant>
        <vt:i4>57</vt:i4>
      </vt:variant>
    </vt:vector>
  </HeadingPairs>
  <TitlesOfParts>
    <vt:vector size="58" baseType="lpstr">
      <vt:lpstr>CPSSTemplateTheme2024</vt:lpstr>
      <vt:lpstr>Section Assignments</vt:lpstr>
      <vt:lpstr>Regenerative Engine PDR</vt:lpstr>
      <vt:lpstr>Agenda</vt:lpstr>
      <vt:lpstr>Project Overview</vt:lpstr>
      <vt:lpstr>Design Point</vt:lpstr>
      <vt:lpstr>Requirements Flowdown </vt:lpstr>
      <vt:lpstr>Requirements &amp; Verification (1/2) </vt:lpstr>
      <vt:lpstr>Requirements &amp; Verification (2/2) </vt:lpstr>
      <vt:lpstr>End of Overview</vt:lpstr>
      <vt:lpstr>Geometry &amp; Cooling</vt:lpstr>
      <vt:lpstr>Chamber Geometry </vt:lpstr>
      <vt:lpstr>Cooling Channels</vt:lpstr>
      <vt:lpstr>Channel Count and Size </vt:lpstr>
      <vt:lpstr>Helical vs. Axial</vt:lpstr>
      <vt:lpstr>Thermal Model</vt:lpstr>
      <vt:lpstr>Thermal Model Equations</vt:lpstr>
      <vt:lpstr>Steady State Heat Transfer</vt:lpstr>
      <vt:lpstr>Thermal Results</vt:lpstr>
      <vt:lpstr>Optimism vs. Pessimism </vt:lpstr>
      <vt:lpstr>End of Geometry &amp; Cooling</vt:lpstr>
      <vt:lpstr>Stresses &amp; FOS</vt:lpstr>
      <vt:lpstr>Channel Stress and Hoop Stress</vt:lpstr>
      <vt:lpstr>Thermal Stress</vt:lpstr>
      <vt:lpstr>Life Cycle Fatigue</vt:lpstr>
      <vt:lpstr>Life Cycle Fatigue</vt:lpstr>
      <vt:lpstr>Life Cycle Fatigue Calcs</vt:lpstr>
      <vt:lpstr>Life Cycle Fatigue Calcs</vt:lpstr>
      <vt:lpstr>Life Cycle Fatigue Calcs</vt:lpstr>
      <vt:lpstr>Integration Plate</vt:lpstr>
      <vt:lpstr>Bolted Joint </vt:lpstr>
      <vt:lpstr>End of Stresses &amp; FOS</vt:lpstr>
      <vt:lpstr>Injector &amp; Plumbing</vt:lpstr>
      <vt:lpstr>Sealing and O-rings</vt:lpstr>
      <vt:lpstr>Injector Configuration</vt:lpstr>
      <vt:lpstr>N2O Two-Phase Flow </vt:lpstr>
      <vt:lpstr>Injector Manufacturing </vt:lpstr>
      <vt:lpstr>Feed System and Integration </vt:lpstr>
      <vt:lpstr>Ignitor</vt:lpstr>
      <vt:lpstr>End of Injector &amp; Plumbing</vt:lpstr>
      <vt:lpstr>Peripherals</vt:lpstr>
      <vt:lpstr>Instrumentation </vt:lpstr>
      <vt:lpstr>TC Amplifier/Logger </vt:lpstr>
      <vt:lpstr>End of Peripherals</vt:lpstr>
      <vt:lpstr>Testing &amp; Logistics</vt:lpstr>
      <vt:lpstr>Test Plan </vt:lpstr>
      <vt:lpstr>Additive Manufacturing</vt:lpstr>
      <vt:lpstr>Bill of Materials (1/2)</vt:lpstr>
      <vt:lpstr>Bill of Materials (2/2) </vt:lpstr>
      <vt:lpstr>End of Testing &amp; Logistics</vt:lpstr>
      <vt:lpstr>Failures &amp; Risks</vt:lpstr>
      <vt:lpstr>Failure Modes</vt:lpstr>
      <vt:lpstr>Open Risks</vt:lpstr>
      <vt:lpstr>End of Failures &amp; Risks</vt:lpstr>
      <vt:lpstr>References</vt:lpstr>
      <vt:lpstr>Final Questions?</vt:lpstr>
      <vt:lpstr>PowerPoint Presentation</vt:lpstr>
      <vt:lpstr>Notes PDR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Cameron John Mcclure-Coleman</dc:creator>
  <cp:lastModifiedBy>Sloan Davian Robbins</cp:lastModifiedBy>
  <cp:revision>2</cp:revision>
  <dcterms:created xsi:type="dcterms:W3CDTF">2024-06-04T18:56:50Z</dcterms:created>
  <dcterms:modified xsi:type="dcterms:W3CDTF">2026-10-22T23:37:14Z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0x0101000FAA3B80F5A6244FBAADB4C94974CE15</vt:lpwstr>
  </property>
  <property fmtid="{D5CDD505-2E9C-101B-9397-08002B2CF9AE}" pid="3" name="MediaServiceImageTags">
    <vt:lpwstr/>
  </property>
</Properties>
</file>